
<file path=[Content_Types].xml><?xml version="1.0" encoding="utf-8"?>
<Types xmlns="http://schemas.openxmlformats.org/package/2006/content-types">
  <Default Extension="jpg" ContentType="image/jp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4.xml" ContentType="application/vnd.openxmlformats-officedocument.drawingml.chart+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3E97C4-ECCE-B7B1-A5A5-B4533CE02D0F}">
          <p14:sldIdLst>
            <p14:sldId id="256"/>
            <p14:sldId id="257"/>
          </p14:sldIdLst>
        </p14:section>
        <p14:section name="01 Domain and Problem" id="{5A8FFADB-E2EC-C113-746A-857D01C2DE9D}">
          <p14:sldIdLst>
            <p14:sldId id="258"/>
            <p14:sldId id="259"/>
            <p14:sldId id="260"/>
            <p14:sldId id="261"/>
            <p14:sldId id="262"/>
            <p14:sldId id="263"/>
          </p14:sldIdLst>
        </p14:section>
        <p14:section name="02 Methodology and Design" id="{9D107BC7-A5DE-2575-3141-34CBAAF96F22}">
          <p14:sldIdLst>
            <p14:sldId id="264"/>
            <p14:sldId id="265"/>
            <p14:sldId id="266"/>
            <p14:sldId id="267"/>
            <p14:sldId id="268"/>
            <p14:sldId id="269"/>
            <p14:sldId id="270"/>
            <p14:sldId id="271"/>
            <p14:sldId id="272"/>
            <p14:sldId id="273"/>
            <p14:sldId id="274"/>
          </p14:sldIdLst>
        </p14:section>
        <p14:section name="03 Completion and Integration" id="{2FC5B5D4-53B7-0DE8-9606-72548D83B36F}">
          <p14:sldIdLst>
            <p14:sldId id="275"/>
            <p14:sldId id="276"/>
            <p14:sldId id="277"/>
            <p14:sldId id="278"/>
            <p14:sldId id="279"/>
            <p14:sldId id="280"/>
          </p14:sldIdLst>
        </p14:section>
        <p14:section name="04 Testing and Results" id="{200CA500-8C2E-AFCA-7156-4CAD2BCC9292}">
          <p14:sldIdLst>
            <p14:sldId id="281"/>
            <p14:sldId id="282"/>
            <p14:sldId id="283"/>
            <p14:sldId id="284"/>
            <p14:sldId id="285"/>
            <p14:sldId id="286"/>
            <p14:sldId id="287"/>
            <p14:sldId id="288"/>
          </p14:sldIdLst>
        </p14:section>
        <p14:section name="05 Innovation and Relevance" id="{D3D83F2A-0AC6-168B-BC52-B5E7C2D974DC}">
          <p14:sldIdLst>
            <p14:sldId id="289"/>
            <p14:sldId id="290"/>
            <p14:sldId id="291"/>
            <p14:sldId id="292"/>
            <p14:sldId id="293"/>
            <p14:sldId id="294"/>
            <p14:sldId id="295"/>
          </p14:sldIdLst>
        </p14:section>
        <p14:section name="06 Conclusion" id="{9A897FEE-BCDC-692B-9B81-B94B19022C24}">
          <p14:sldIdLst>
            <p14:sldId id="296"/>
            <p14:sldId id="297"/>
            <p14:sldId id="298"/>
          </p14:sldIdLst>
        </p14:section>
        <p14:section name="Backup" id="{685F6551-E085-D9C2-D9FB-9636BEC866CD}">
          <p14:sldIdLst>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36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500" b="0" i="0" u="none" strike="noStrike">
                <a:solidFill>
                  <a:srgbClr val="173F2A"/>
                </a:solidFill>
                <a:latin typeface="+mn-lt"/>
              </a:defRPr>
            </a:pPr>
            <a:r>
              <a:rPr lang="en-US" sz="1500" b="0" i="0" u="none" strike="noStrike">
                <a:solidFill>
                  <a:srgbClr val="173F2A"/>
                </a:solidFill>
                <a:latin typeface="+mn-lt"/>
              </a:rPr>
              <a:t>TVOC logged from the sensor node, 14 October 2026</a:t>
            </a:r>
          </a:p>
        </c:rich>
      </c:tx>
      <c:overlay val="0"/>
    </c:title>
    <c:autoTitleDeleted val="0"/>
    <c:plotArea>
      <c:layout/>
      <c:lineChart>
        <c:grouping val="standard"/>
        <c:varyColors val="0"/>
        <c:ser>
          <c:idx val="0"/>
          <c:order val="0"/>
          <c:tx>
            <c:strRef>
              <c:f>Sheet1!$B$1</c:f>
              <c:strCache>
                <c:ptCount val="1"/>
                <c:pt idx="0">
                  <c:v>TVOC (ppb)</c:v>
                </c:pt>
              </c:strCache>
            </c:strRef>
          </c:tx>
          <c:spPr>
            <a:ln w="25400" cap="flat">
              <a:solidFill>
                <a:srgbClr val="2F7D46"/>
              </a:solidFill>
              <a:prstDash val="solid"/>
              <a:round/>
            </a:ln>
            <a:effectLst/>
          </c:spPr>
          <c:marker>
            <c:symbol val="none"/>
          </c:marker>
          <c:cat>
            <c:strRef>
              <c:f>Sheet1!$A$2:$A$200</c:f>
              <c:strCache>
                <c:ptCount val="199"/>
                <c:pt idx="0">
                  <c:v>0.0</c:v>
                </c:pt>
                <c:pt idx="1">
                  <c:v>0.1</c:v>
                </c:pt>
                <c:pt idx="2">
                  <c:v>0.2</c:v>
                </c:pt>
                <c:pt idx="3">
                  <c:v>0.3</c:v>
                </c:pt>
                <c:pt idx="4">
                  <c:v>0.3</c:v>
                </c:pt>
                <c:pt idx="5">
                  <c:v>0.4</c:v>
                </c:pt>
                <c:pt idx="6">
                  <c:v>0.5</c:v>
                </c:pt>
                <c:pt idx="7">
                  <c:v>0.6</c:v>
                </c:pt>
                <c:pt idx="8">
                  <c:v>0.7</c:v>
                </c:pt>
                <c:pt idx="9">
                  <c:v>0.8</c:v>
                </c:pt>
                <c:pt idx="10">
                  <c:v>0.8</c:v>
                </c:pt>
                <c:pt idx="11">
                  <c:v>0.9</c:v>
                </c:pt>
                <c:pt idx="12">
                  <c:v>1.0</c:v>
                </c:pt>
                <c:pt idx="13">
                  <c:v>1.1</c:v>
                </c:pt>
                <c:pt idx="14">
                  <c:v>1.2</c:v>
                </c:pt>
                <c:pt idx="15">
                  <c:v>1.3</c:v>
                </c:pt>
                <c:pt idx="16">
                  <c:v>1.3</c:v>
                </c:pt>
                <c:pt idx="17">
                  <c:v>1.4</c:v>
                </c:pt>
                <c:pt idx="18">
                  <c:v>1.5</c:v>
                </c:pt>
                <c:pt idx="19">
                  <c:v>1.6</c:v>
                </c:pt>
                <c:pt idx="20">
                  <c:v>1.7</c:v>
                </c:pt>
                <c:pt idx="21">
                  <c:v>1.8</c:v>
                </c:pt>
                <c:pt idx="22">
                  <c:v>1.8</c:v>
                </c:pt>
                <c:pt idx="23">
                  <c:v>1.9</c:v>
                </c:pt>
                <c:pt idx="24">
                  <c:v>2.0</c:v>
                </c:pt>
                <c:pt idx="25">
                  <c:v>2.1</c:v>
                </c:pt>
                <c:pt idx="26">
                  <c:v>2.2</c:v>
                </c:pt>
                <c:pt idx="27">
                  <c:v>2.3</c:v>
                </c:pt>
                <c:pt idx="28">
                  <c:v>2.3</c:v>
                </c:pt>
                <c:pt idx="29">
                  <c:v>2.4</c:v>
                </c:pt>
                <c:pt idx="30">
                  <c:v>2.5</c:v>
                </c:pt>
                <c:pt idx="31">
                  <c:v>2.6</c:v>
                </c:pt>
                <c:pt idx="32">
                  <c:v>2.7</c:v>
                </c:pt>
                <c:pt idx="33">
                  <c:v>2.8</c:v>
                </c:pt>
                <c:pt idx="34">
                  <c:v>2.8</c:v>
                </c:pt>
                <c:pt idx="35">
                  <c:v>2.9</c:v>
                </c:pt>
                <c:pt idx="36">
                  <c:v>3.0</c:v>
                </c:pt>
                <c:pt idx="37">
                  <c:v>3.1</c:v>
                </c:pt>
                <c:pt idx="38">
                  <c:v>3.2</c:v>
                </c:pt>
                <c:pt idx="39">
                  <c:v>3.3</c:v>
                </c:pt>
                <c:pt idx="40">
                  <c:v>3.3</c:v>
                </c:pt>
                <c:pt idx="41">
                  <c:v>3.4</c:v>
                </c:pt>
                <c:pt idx="42">
                  <c:v>3.5</c:v>
                </c:pt>
                <c:pt idx="43">
                  <c:v>3.6</c:v>
                </c:pt>
                <c:pt idx="44">
                  <c:v>3.7</c:v>
                </c:pt>
                <c:pt idx="45">
                  <c:v>3.8</c:v>
                </c:pt>
                <c:pt idx="46">
                  <c:v>3.8</c:v>
                </c:pt>
                <c:pt idx="47">
                  <c:v>3.9</c:v>
                </c:pt>
                <c:pt idx="48">
                  <c:v>4.0</c:v>
                </c:pt>
                <c:pt idx="49">
                  <c:v>4.1</c:v>
                </c:pt>
                <c:pt idx="50">
                  <c:v>4.2</c:v>
                </c:pt>
                <c:pt idx="51">
                  <c:v>4.3</c:v>
                </c:pt>
                <c:pt idx="52">
                  <c:v>4.3</c:v>
                </c:pt>
                <c:pt idx="53">
                  <c:v>4.4</c:v>
                </c:pt>
                <c:pt idx="54">
                  <c:v>4.5</c:v>
                </c:pt>
                <c:pt idx="55">
                  <c:v>4.6</c:v>
                </c:pt>
                <c:pt idx="56">
                  <c:v>4.7</c:v>
                </c:pt>
                <c:pt idx="57">
                  <c:v>4.8</c:v>
                </c:pt>
                <c:pt idx="58">
                  <c:v>4.8</c:v>
                </c:pt>
                <c:pt idx="59">
                  <c:v>4.9</c:v>
                </c:pt>
                <c:pt idx="60">
                  <c:v>5.0</c:v>
                </c:pt>
                <c:pt idx="61">
                  <c:v>5.1</c:v>
                </c:pt>
                <c:pt idx="62">
                  <c:v>5.4</c:v>
                </c:pt>
                <c:pt idx="63">
                  <c:v>5.5</c:v>
                </c:pt>
                <c:pt idx="64">
                  <c:v>5.6</c:v>
                </c:pt>
                <c:pt idx="65">
                  <c:v>5.7</c:v>
                </c:pt>
                <c:pt idx="66">
                  <c:v>5.8</c:v>
                </c:pt>
                <c:pt idx="67">
                  <c:v>5.8</c:v>
                </c:pt>
                <c:pt idx="68">
                  <c:v>5.9</c:v>
                </c:pt>
                <c:pt idx="69">
                  <c:v>6.0</c:v>
                </c:pt>
                <c:pt idx="70">
                  <c:v>6.1</c:v>
                </c:pt>
                <c:pt idx="71">
                  <c:v>6.2</c:v>
                </c:pt>
                <c:pt idx="72">
                  <c:v>6.3</c:v>
                </c:pt>
                <c:pt idx="73">
                  <c:v>6.3</c:v>
                </c:pt>
                <c:pt idx="74">
                  <c:v>6.4</c:v>
                </c:pt>
                <c:pt idx="75">
                  <c:v>6.5</c:v>
                </c:pt>
                <c:pt idx="76">
                  <c:v>6.6</c:v>
                </c:pt>
                <c:pt idx="77">
                  <c:v>6.7</c:v>
                </c:pt>
                <c:pt idx="78">
                  <c:v>6.8</c:v>
                </c:pt>
                <c:pt idx="79">
                  <c:v>6.8</c:v>
                </c:pt>
                <c:pt idx="80">
                  <c:v>6.9</c:v>
                </c:pt>
                <c:pt idx="81">
                  <c:v>7.0</c:v>
                </c:pt>
                <c:pt idx="82">
                  <c:v>7.1</c:v>
                </c:pt>
                <c:pt idx="83">
                  <c:v>7.2</c:v>
                </c:pt>
                <c:pt idx="84">
                  <c:v>7.3</c:v>
                </c:pt>
                <c:pt idx="85">
                  <c:v>7.3</c:v>
                </c:pt>
                <c:pt idx="86">
                  <c:v>7.4</c:v>
                </c:pt>
                <c:pt idx="87">
                  <c:v>7.5</c:v>
                </c:pt>
                <c:pt idx="88">
                  <c:v>7.6</c:v>
                </c:pt>
                <c:pt idx="89">
                  <c:v>7.7</c:v>
                </c:pt>
                <c:pt idx="90">
                  <c:v>7.8</c:v>
                </c:pt>
                <c:pt idx="91">
                  <c:v>7.8</c:v>
                </c:pt>
                <c:pt idx="92">
                  <c:v>7.9</c:v>
                </c:pt>
                <c:pt idx="93">
                  <c:v>8.0</c:v>
                </c:pt>
                <c:pt idx="94">
                  <c:v>8.1</c:v>
                </c:pt>
                <c:pt idx="95">
                  <c:v>8.2</c:v>
                </c:pt>
                <c:pt idx="96">
                  <c:v>8.3</c:v>
                </c:pt>
                <c:pt idx="97">
                  <c:v>8.3</c:v>
                </c:pt>
                <c:pt idx="98">
                  <c:v>8.4</c:v>
                </c:pt>
                <c:pt idx="99">
                  <c:v>8.5</c:v>
                </c:pt>
                <c:pt idx="100">
                  <c:v>8.6</c:v>
                </c:pt>
                <c:pt idx="101">
                  <c:v>8.7</c:v>
                </c:pt>
                <c:pt idx="102">
                  <c:v>8.8</c:v>
                </c:pt>
                <c:pt idx="103">
                  <c:v>8.8</c:v>
                </c:pt>
                <c:pt idx="104">
                  <c:v>8.9</c:v>
                </c:pt>
                <c:pt idx="105">
                  <c:v>9.0</c:v>
                </c:pt>
                <c:pt idx="106">
                  <c:v>9.1</c:v>
                </c:pt>
                <c:pt idx="107">
                  <c:v>9.2</c:v>
                </c:pt>
                <c:pt idx="108">
                  <c:v>9.3</c:v>
                </c:pt>
                <c:pt idx="109">
                  <c:v>9.3</c:v>
                </c:pt>
                <c:pt idx="110">
                  <c:v>9.4</c:v>
                </c:pt>
                <c:pt idx="111">
                  <c:v>9.5</c:v>
                </c:pt>
                <c:pt idx="112">
                  <c:v>9.6</c:v>
                </c:pt>
                <c:pt idx="113">
                  <c:v>9.7</c:v>
                </c:pt>
                <c:pt idx="114">
                  <c:v>9.8</c:v>
                </c:pt>
                <c:pt idx="115">
                  <c:v>9.8</c:v>
                </c:pt>
                <c:pt idx="116">
                  <c:v>9.9</c:v>
                </c:pt>
                <c:pt idx="117">
                  <c:v>10.0</c:v>
                </c:pt>
                <c:pt idx="118">
                  <c:v>10.1</c:v>
                </c:pt>
                <c:pt idx="119">
                  <c:v>10.2</c:v>
                </c:pt>
                <c:pt idx="120">
                  <c:v>10.3</c:v>
                </c:pt>
                <c:pt idx="121">
                  <c:v>10.3</c:v>
                </c:pt>
                <c:pt idx="122">
                  <c:v>10.4</c:v>
                </c:pt>
                <c:pt idx="123">
                  <c:v>10.5</c:v>
                </c:pt>
                <c:pt idx="124">
                  <c:v>10.6</c:v>
                </c:pt>
                <c:pt idx="125">
                  <c:v>10.7</c:v>
                </c:pt>
                <c:pt idx="126">
                  <c:v>10.8</c:v>
                </c:pt>
                <c:pt idx="127">
                  <c:v>10.8</c:v>
                </c:pt>
                <c:pt idx="128">
                  <c:v>10.9</c:v>
                </c:pt>
                <c:pt idx="129">
                  <c:v>11.0</c:v>
                </c:pt>
                <c:pt idx="130">
                  <c:v>11.1</c:v>
                </c:pt>
                <c:pt idx="131">
                  <c:v>11.2</c:v>
                </c:pt>
                <c:pt idx="132">
                  <c:v>11.3</c:v>
                </c:pt>
                <c:pt idx="133">
                  <c:v>11.3</c:v>
                </c:pt>
                <c:pt idx="134">
                  <c:v>11.4</c:v>
                </c:pt>
                <c:pt idx="135">
                  <c:v>11.5</c:v>
                </c:pt>
                <c:pt idx="136">
                  <c:v>11.6</c:v>
                </c:pt>
                <c:pt idx="137">
                  <c:v>11.7</c:v>
                </c:pt>
                <c:pt idx="138">
                  <c:v>11.8</c:v>
                </c:pt>
                <c:pt idx="139">
                  <c:v>11.8</c:v>
                </c:pt>
                <c:pt idx="140">
                  <c:v>11.9</c:v>
                </c:pt>
                <c:pt idx="141">
                  <c:v>12.0</c:v>
                </c:pt>
                <c:pt idx="142">
                  <c:v>12.1</c:v>
                </c:pt>
                <c:pt idx="143">
                  <c:v>12.2</c:v>
                </c:pt>
                <c:pt idx="144">
                  <c:v>12.3</c:v>
                </c:pt>
                <c:pt idx="145">
                  <c:v>12.3</c:v>
                </c:pt>
                <c:pt idx="146">
                  <c:v>12.4</c:v>
                </c:pt>
                <c:pt idx="147">
                  <c:v>12.5</c:v>
                </c:pt>
                <c:pt idx="148">
                  <c:v>12.6</c:v>
                </c:pt>
                <c:pt idx="149">
                  <c:v>12.7</c:v>
                </c:pt>
                <c:pt idx="150">
                  <c:v>12.8</c:v>
                </c:pt>
                <c:pt idx="151">
                  <c:v>12.8</c:v>
                </c:pt>
                <c:pt idx="152">
                  <c:v>12.9</c:v>
                </c:pt>
                <c:pt idx="153">
                  <c:v>13.0</c:v>
                </c:pt>
                <c:pt idx="154">
                  <c:v>13.1</c:v>
                </c:pt>
                <c:pt idx="155">
                  <c:v>13.2</c:v>
                </c:pt>
                <c:pt idx="156">
                  <c:v>13.3</c:v>
                </c:pt>
                <c:pt idx="157">
                  <c:v>13.3</c:v>
                </c:pt>
                <c:pt idx="158">
                  <c:v>13.4</c:v>
                </c:pt>
                <c:pt idx="159">
                  <c:v>13.5</c:v>
                </c:pt>
                <c:pt idx="160">
                  <c:v>13.6</c:v>
                </c:pt>
                <c:pt idx="161">
                  <c:v>13.7</c:v>
                </c:pt>
                <c:pt idx="162">
                  <c:v>13.8</c:v>
                </c:pt>
                <c:pt idx="163">
                  <c:v>13.8</c:v>
                </c:pt>
                <c:pt idx="164">
                  <c:v>13.9</c:v>
                </c:pt>
                <c:pt idx="165">
                  <c:v>14.0</c:v>
                </c:pt>
                <c:pt idx="166">
                  <c:v>14.1</c:v>
                </c:pt>
                <c:pt idx="167">
                  <c:v>14.2</c:v>
                </c:pt>
                <c:pt idx="168">
                  <c:v>14.3</c:v>
                </c:pt>
                <c:pt idx="169">
                  <c:v>14.3</c:v>
                </c:pt>
                <c:pt idx="170">
                  <c:v>14.4</c:v>
                </c:pt>
                <c:pt idx="171">
                  <c:v>14.5</c:v>
                </c:pt>
                <c:pt idx="172">
                  <c:v>14.6</c:v>
                </c:pt>
                <c:pt idx="173">
                  <c:v>14.7</c:v>
                </c:pt>
                <c:pt idx="174">
                  <c:v>14.8</c:v>
                </c:pt>
                <c:pt idx="175">
                  <c:v>14.8</c:v>
                </c:pt>
                <c:pt idx="176">
                  <c:v>14.9</c:v>
                </c:pt>
                <c:pt idx="177">
                  <c:v>15.0</c:v>
                </c:pt>
                <c:pt idx="178">
                  <c:v>15.1</c:v>
                </c:pt>
                <c:pt idx="179">
                  <c:v>15.2</c:v>
                </c:pt>
                <c:pt idx="180">
                  <c:v>15.3</c:v>
                </c:pt>
                <c:pt idx="181">
                  <c:v>15.3</c:v>
                </c:pt>
                <c:pt idx="182">
                  <c:v>15.4</c:v>
                </c:pt>
                <c:pt idx="183">
                  <c:v>15.5</c:v>
                </c:pt>
                <c:pt idx="184">
                  <c:v>15.6</c:v>
                </c:pt>
                <c:pt idx="185">
                  <c:v>15.7</c:v>
                </c:pt>
                <c:pt idx="186">
                  <c:v>15.8</c:v>
                </c:pt>
                <c:pt idx="187">
                  <c:v>15.8</c:v>
                </c:pt>
                <c:pt idx="188">
                  <c:v>15.9</c:v>
                </c:pt>
                <c:pt idx="189">
                  <c:v>16.0</c:v>
                </c:pt>
                <c:pt idx="190">
                  <c:v>16.1</c:v>
                </c:pt>
                <c:pt idx="191">
                  <c:v>16.2</c:v>
                </c:pt>
                <c:pt idx="192">
                  <c:v>16.3</c:v>
                </c:pt>
                <c:pt idx="193">
                  <c:v>16.4</c:v>
                </c:pt>
                <c:pt idx="194">
                  <c:v>16.4</c:v>
                </c:pt>
                <c:pt idx="195">
                  <c:v>16.5</c:v>
                </c:pt>
                <c:pt idx="196">
                  <c:v>16.6</c:v>
                </c:pt>
                <c:pt idx="197">
                  <c:v>16.7</c:v>
                </c:pt>
                <c:pt idx="198">
                  <c:v>16.8</c:v>
                </c:pt>
              </c:strCache>
            </c:strRef>
          </c:cat>
          <c:val>
            <c:numRef>
              <c:f>Sheet1!$B$2:$B$200</c:f>
              <c:numCache>
                <c:formatCode>General</c:formatCode>
                <c:ptCount val="199"/>
                <c:pt idx="0">
                  <c:v>131</c:v>
                </c:pt>
                <c:pt idx="1">
                  <c:v>41</c:v>
                </c:pt>
                <c:pt idx="2">
                  <c:v>0</c:v>
                </c:pt>
                <c:pt idx="3">
                  <c:v>5</c:v>
                </c:pt>
                <c:pt idx="4">
                  <c:v>0</c:v>
                </c:pt>
                <c:pt idx="5">
                  <c:v>0</c:v>
                </c:pt>
                <c:pt idx="6">
                  <c:v>84</c:v>
                </c:pt>
                <c:pt idx="7">
                  <c:v>30</c:v>
                </c:pt>
                <c:pt idx="8">
                  <c:v>6</c:v>
                </c:pt>
                <c:pt idx="9">
                  <c:v>10</c:v>
                </c:pt>
                <c:pt idx="10">
                  <c:v>54</c:v>
                </c:pt>
                <c:pt idx="11">
                  <c:v>91</c:v>
                </c:pt>
                <c:pt idx="12">
                  <c:v>41</c:v>
                </c:pt>
                <c:pt idx="13">
                  <c:v>0</c:v>
                </c:pt>
                <c:pt idx="14">
                  <c:v>178</c:v>
                </c:pt>
                <c:pt idx="15">
                  <c:v>236</c:v>
                </c:pt>
                <c:pt idx="16">
                  <c:v>539</c:v>
                </c:pt>
                <c:pt idx="17">
                  <c:v>670</c:v>
                </c:pt>
                <c:pt idx="18">
                  <c:v>631</c:v>
                </c:pt>
                <c:pt idx="19">
                  <c:v>678</c:v>
                </c:pt>
                <c:pt idx="20">
                  <c:v>674</c:v>
                </c:pt>
                <c:pt idx="21">
                  <c:v>564</c:v>
                </c:pt>
                <c:pt idx="22">
                  <c:v>579</c:v>
                </c:pt>
                <c:pt idx="23">
                  <c:v>585</c:v>
                </c:pt>
                <c:pt idx="24">
                  <c:v>397</c:v>
                </c:pt>
                <c:pt idx="25">
                  <c:v>143</c:v>
                </c:pt>
                <c:pt idx="26">
                  <c:v>52</c:v>
                </c:pt>
                <c:pt idx="27">
                  <c:v>29</c:v>
                </c:pt>
                <c:pt idx="28">
                  <c:v>137</c:v>
                </c:pt>
                <c:pt idx="29">
                  <c:v>243</c:v>
                </c:pt>
                <c:pt idx="30">
                  <c:v>233</c:v>
                </c:pt>
                <c:pt idx="31">
                  <c:v>78</c:v>
                </c:pt>
                <c:pt idx="32">
                  <c:v>0</c:v>
                </c:pt>
                <c:pt idx="33">
                  <c:v>61</c:v>
                </c:pt>
                <c:pt idx="34">
                  <c:v>168</c:v>
                </c:pt>
                <c:pt idx="35">
                  <c:v>12</c:v>
                </c:pt>
                <c:pt idx="36">
                  <c:v>0</c:v>
                </c:pt>
                <c:pt idx="37">
                  <c:v>0</c:v>
                </c:pt>
                <c:pt idx="38">
                  <c:v>0</c:v>
                </c:pt>
                <c:pt idx="39">
                  <c:v>0</c:v>
                </c:pt>
                <c:pt idx="40">
                  <c:v>0</c:v>
                </c:pt>
                <c:pt idx="41">
                  <c:v>0</c:v>
                </c:pt>
                <c:pt idx="42">
                  <c:v>0</c:v>
                </c:pt>
                <c:pt idx="43">
                  <c:v>0</c:v>
                </c:pt>
                <c:pt idx="44">
                  <c:v>0</c:v>
                </c:pt>
                <c:pt idx="45">
                  <c:v>139</c:v>
                </c:pt>
                <c:pt idx="46">
                  <c:v>300</c:v>
                </c:pt>
                <c:pt idx="47">
                  <c:v>125</c:v>
                </c:pt>
                <c:pt idx="48">
                  <c:v>6</c:v>
                </c:pt>
                <c:pt idx="49">
                  <c:v>0</c:v>
                </c:pt>
                <c:pt idx="50">
                  <c:v>0</c:v>
                </c:pt>
                <c:pt idx="51">
                  <c:v>0</c:v>
                </c:pt>
                <c:pt idx="52">
                  <c:v>0</c:v>
                </c:pt>
                <c:pt idx="53">
                  <c:v>137</c:v>
                </c:pt>
                <c:pt idx="54">
                  <c:v>58</c:v>
                </c:pt>
                <c:pt idx="55">
                  <c:v>7</c:v>
                </c:pt>
                <c:pt idx="56">
                  <c:v>0</c:v>
                </c:pt>
                <c:pt idx="57">
                  <c:v>0</c:v>
                </c:pt>
                <c:pt idx="58">
                  <c:v>0</c:v>
                </c:pt>
                <c:pt idx="59">
                  <c:v>10</c:v>
                </c:pt>
                <c:pt idx="60">
                  <c:v>0</c:v>
                </c:pt>
                <c:pt idx="61">
                  <c:v>49</c:v>
                </c:pt>
                <c:pt idx="62">
                  <c:v>21</c:v>
                </c:pt>
                <c:pt idx="63">
                  <c:v>37</c:v>
                </c:pt>
                <c:pt idx="64">
                  <c:v>157</c:v>
                </c:pt>
                <c:pt idx="65">
                  <c:v>195</c:v>
                </c:pt>
                <c:pt idx="66">
                  <c:v>182</c:v>
                </c:pt>
                <c:pt idx="67">
                  <c:v>248</c:v>
                </c:pt>
                <c:pt idx="68">
                  <c:v>251</c:v>
                </c:pt>
                <c:pt idx="69">
                  <c:v>188</c:v>
                </c:pt>
                <c:pt idx="70">
                  <c:v>191</c:v>
                </c:pt>
                <c:pt idx="71">
                  <c:v>118</c:v>
                </c:pt>
                <c:pt idx="72">
                  <c:v>86</c:v>
                </c:pt>
                <c:pt idx="73">
                  <c:v>78</c:v>
                </c:pt>
                <c:pt idx="74">
                  <c:v>68</c:v>
                </c:pt>
                <c:pt idx="75">
                  <c:v>115</c:v>
                </c:pt>
                <c:pt idx="76">
                  <c:v>334</c:v>
                </c:pt>
                <c:pt idx="77">
                  <c:v>415</c:v>
                </c:pt>
                <c:pt idx="78">
                  <c:v>811</c:v>
                </c:pt>
                <c:pt idx="79">
                  <c:v>639</c:v>
                </c:pt>
                <c:pt idx="80">
                  <c:v>811</c:v>
                </c:pt>
                <c:pt idx="81">
                  <c:v>844</c:v>
                </c:pt>
                <c:pt idx="82">
                  <c:v>511</c:v>
                </c:pt>
                <c:pt idx="83">
                  <c:v>302</c:v>
                </c:pt>
                <c:pt idx="84">
                  <c:v>1386</c:v>
                </c:pt>
                <c:pt idx="85">
                  <c:v>1679</c:v>
                </c:pt>
                <c:pt idx="86">
                  <c:v>761</c:v>
                </c:pt>
                <c:pt idx="87">
                  <c:v>506</c:v>
                </c:pt>
                <c:pt idx="88">
                  <c:v>581</c:v>
                </c:pt>
                <c:pt idx="89">
                  <c:v>1213</c:v>
                </c:pt>
                <c:pt idx="90">
                  <c:v>516</c:v>
                </c:pt>
                <c:pt idx="91">
                  <c:v>492</c:v>
                </c:pt>
                <c:pt idx="92">
                  <c:v>322</c:v>
                </c:pt>
                <c:pt idx="93">
                  <c:v>312</c:v>
                </c:pt>
                <c:pt idx="94">
                  <c:v>386</c:v>
                </c:pt>
                <c:pt idx="95">
                  <c:v>518</c:v>
                </c:pt>
                <c:pt idx="96">
                  <c:v>539</c:v>
                </c:pt>
                <c:pt idx="97">
                  <c:v>234</c:v>
                </c:pt>
                <c:pt idx="98">
                  <c:v>238</c:v>
                </c:pt>
                <c:pt idx="99">
                  <c:v>263</c:v>
                </c:pt>
                <c:pt idx="100">
                  <c:v>190</c:v>
                </c:pt>
                <c:pt idx="101">
                  <c:v>72</c:v>
                </c:pt>
                <c:pt idx="102">
                  <c:v>250</c:v>
                </c:pt>
                <c:pt idx="103">
                  <c:v>230</c:v>
                </c:pt>
                <c:pt idx="104">
                  <c:v>397</c:v>
                </c:pt>
                <c:pt idx="105">
                  <c:v>409</c:v>
                </c:pt>
                <c:pt idx="106">
                  <c:v>1071</c:v>
                </c:pt>
                <c:pt idx="107">
                  <c:v>570</c:v>
                </c:pt>
                <c:pt idx="108">
                  <c:v>345</c:v>
                </c:pt>
                <c:pt idx="109">
                  <c:v>1331</c:v>
                </c:pt>
                <c:pt idx="110">
                  <c:v>1261</c:v>
                </c:pt>
                <c:pt idx="111">
                  <c:v>620</c:v>
                </c:pt>
                <c:pt idx="112">
                  <c:v>719</c:v>
                </c:pt>
                <c:pt idx="113">
                  <c:v>870</c:v>
                </c:pt>
                <c:pt idx="114">
                  <c:v>724</c:v>
                </c:pt>
                <c:pt idx="115">
                  <c:v>450</c:v>
                </c:pt>
                <c:pt idx="116">
                  <c:v>559</c:v>
                </c:pt>
                <c:pt idx="117">
                  <c:v>457</c:v>
                </c:pt>
                <c:pt idx="118">
                  <c:v>1764</c:v>
                </c:pt>
                <c:pt idx="119">
                  <c:v>762</c:v>
                </c:pt>
                <c:pt idx="120">
                  <c:v>401</c:v>
                </c:pt>
                <c:pt idx="121">
                  <c:v>1188</c:v>
                </c:pt>
                <c:pt idx="122">
                  <c:v>389</c:v>
                </c:pt>
                <c:pt idx="123">
                  <c:v>190</c:v>
                </c:pt>
                <c:pt idx="124">
                  <c:v>203</c:v>
                </c:pt>
                <c:pt idx="125">
                  <c:v>158</c:v>
                </c:pt>
                <c:pt idx="126">
                  <c:v>112</c:v>
                </c:pt>
                <c:pt idx="127">
                  <c:v>508</c:v>
                </c:pt>
                <c:pt idx="128">
                  <c:v>390</c:v>
                </c:pt>
                <c:pt idx="129">
                  <c:v>123</c:v>
                </c:pt>
                <c:pt idx="130">
                  <c:v>43</c:v>
                </c:pt>
                <c:pt idx="131">
                  <c:v>207</c:v>
                </c:pt>
                <c:pt idx="132">
                  <c:v>266</c:v>
                </c:pt>
                <c:pt idx="133">
                  <c:v>783</c:v>
                </c:pt>
                <c:pt idx="134">
                  <c:v>855</c:v>
                </c:pt>
                <c:pt idx="135">
                  <c:v>299</c:v>
                </c:pt>
                <c:pt idx="136">
                  <c:v>167</c:v>
                </c:pt>
                <c:pt idx="137">
                  <c:v>330</c:v>
                </c:pt>
                <c:pt idx="138">
                  <c:v>99</c:v>
                </c:pt>
                <c:pt idx="139">
                  <c:v>144</c:v>
                </c:pt>
                <c:pt idx="140">
                  <c:v>798</c:v>
                </c:pt>
                <c:pt idx="141">
                  <c:v>373</c:v>
                </c:pt>
                <c:pt idx="142">
                  <c:v>1024</c:v>
                </c:pt>
                <c:pt idx="143">
                  <c:v>359</c:v>
                </c:pt>
                <c:pt idx="144">
                  <c:v>132</c:v>
                </c:pt>
                <c:pt idx="145">
                  <c:v>214</c:v>
                </c:pt>
                <c:pt idx="146">
                  <c:v>81</c:v>
                </c:pt>
                <c:pt idx="147">
                  <c:v>539</c:v>
                </c:pt>
                <c:pt idx="148">
                  <c:v>1012</c:v>
                </c:pt>
                <c:pt idx="149">
                  <c:v>983</c:v>
                </c:pt>
                <c:pt idx="150">
                  <c:v>931</c:v>
                </c:pt>
                <c:pt idx="151">
                  <c:v>828</c:v>
                </c:pt>
                <c:pt idx="152">
                  <c:v>385</c:v>
                </c:pt>
                <c:pt idx="153">
                  <c:v>229</c:v>
                </c:pt>
                <c:pt idx="154">
                  <c:v>85</c:v>
                </c:pt>
                <c:pt idx="155">
                  <c:v>276</c:v>
                </c:pt>
                <c:pt idx="156">
                  <c:v>113</c:v>
                </c:pt>
                <c:pt idx="157">
                  <c:v>427</c:v>
                </c:pt>
                <c:pt idx="158">
                  <c:v>905</c:v>
                </c:pt>
                <c:pt idx="159">
                  <c:v>364</c:v>
                </c:pt>
                <c:pt idx="160">
                  <c:v>106</c:v>
                </c:pt>
                <c:pt idx="161">
                  <c:v>86</c:v>
                </c:pt>
                <c:pt idx="162">
                  <c:v>337</c:v>
                </c:pt>
                <c:pt idx="163">
                  <c:v>130</c:v>
                </c:pt>
                <c:pt idx="164">
                  <c:v>493</c:v>
                </c:pt>
                <c:pt idx="165">
                  <c:v>130</c:v>
                </c:pt>
                <c:pt idx="166">
                  <c:v>0</c:v>
                </c:pt>
                <c:pt idx="167">
                  <c:v>0</c:v>
                </c:pt>
                <c:pt idx="168">
                  <c:v>0</c:v>
                </c:pt>
                <c:pt idx="169">
                  <c:v>241</c:v>
                </c:pt>
                <c:pt idx="170">
                  <c:v>63</c:v>
                </c:pt>
                <c:pt idx="171">
                  <c:v>100</c:v>
                </c:pt>
                <c:pt idx="172">
                  <c:v>344</c:v>
                </c:pt>
                <c:pt idx="173">
                  <c:v>413</c:v>
                </c:pt>
                <c:pt idx="174">
                  <c:v>637</c:v>
                </c:pt>
                <c:pt idx="175">
                  <c:v>329</c:v>
                </c:pt>
                <c:pt idx="176">
                  <c:v>117</c:v>
                </c:pt>
                <c:pt idx="177">
                  <c:v>67</c:v>
                </c:pt>
                <c:pt idx="178">
                  <c:v>335</c:v>
                </c:pt>
                <c:pt idx="179">
                  <c:v>496</c:v>
                </c:pt>
                <c:pt idx="180">
                  <c:v>485</c:v>
                </c:pt>
                <c:pt idx="181">
                  <c:v>261</c:v>
                </c:pt>
                <c:pt idx="182">
                  <c:v>317</c:v>
                </c:pt>
                <c:pt idx="183">
                  <c:v>221</c:v>
                </c:pt>
                <c:pt idx="184">
                  <c:v>291</c:v>
                </c:pt>
                <c:pt idx="185">
                  <c:v>483</c:v>
                </c:pt>
                <c:pt idx="186">
                  <c:v>736</c:v>
                </c:pt>
                <c:pt idx="187">
                  <c:v>244</c:v>
                </c:pt>
                <c:pt idx="188">
                  <c:v>451</c:v>
                </c:pt>
                <c:pt idx="189">
                  <c:v>546</c:v>
                </c:pt>
                <c:pt idx="190">
                  <c:v>226</c:v>
                </c:pt>
                <c:pt idx="191">
                  <c:v>387</c:v>
                </c:pt>
                <c:pt idx="192">
                  <c:v>299</c:v>
                </c:pt>
                <c:pt idx="193">
                  <c:v>234</c:v>
                </c:pt>
                <c:pt idx="194">
                  <c:v>387</c:v>
                </c:pt>
                <c:pt idx="195">
                  <c:v>513</c:v>
                </c:pt>
                <c:pt idx="196">
                  <c:v>568</c:v>
                </c:pt>
                <c:pt idx="197">
                  <c:v>187</c:v>
                </c:pt>
                <c:pt idx="198">
                  <c:v>82</c:v>
                </c:pt>
              </c:numCache>
            </c:numRef>
          </c:val>
          <c:smooth val="0"/>
          <c:extLst>
            <c:ext xmlns:c16="http://schemas.microsoft.com/office/drawing/2014/chart" uri="{C3380CC4-5D6E-409C-BE32-E72D297353CC}">
              <c16:uniqueId val="{00000000-55FF-4424-AABF-46B4BB6D7E9B}"/>
            </c:ext>
          </c:extLst>
        </c:ser>
        <c:ser>
          <c:idx val="1"/>
          <c:order val="1"/>
          <c:tx>
            <c:strRef>
              <c:f>Sheet1!$C$1</c:f>
              <c:strCache>
                <c:ptCount val="1"/>
                <c:pt idx="0">
                  <c:v>High band (660 ppb)</c:v>
                </c:pt>
              </c:strCache>
            </c:strRef>
          </c:tx>
          <c:spPr>
            <a:ln w="25400" cap="flat">
              <a:solidFill>
                <a:srgbClr val="B3261E"/>
              </a:solidFill>
              <a:prstDash val="solid"/>
              <a:round/>
            </a:ln>
            <a:effectLst/>
          </c:spPr>
          <c:marker>
            <c:symbol val="none"/>
          </c:marker>
          <c:cat>
            <c:strRef>
              <c:f>Sheet1!$A$2:$A$200</c:f>
              <c:strCache>
                <c:ptCount val="199"/>
                <c:pt idx="0">
                  <c:v>0.0</c:v>
                </c:pt>
                <c:pt idx="1">
                  <c:v>0.1</c:v>
                </c:pt>
                <c:pt idx="2">
                  <c:v>0.2</c:v>
                </c:pt>
                <c:pt idx="3">
                  <c:v>0.3</c:v>
                </c:pt>
                <c:pt idx="4">
                  <c:v>0.3</c:v>
                </c:pt>
                <c:pt idx="5">
                  <c:v>0.4</c:v>
                </c:pt>
                <c:pt idx="6">
                  <c:v>0.5</c:v>
                </c:pt>
                <c:pt idx="7">
                  <c:v>0.6</c:v>
                </c:pt>
                <c:pt idx="8">
                  <c:v>0.7</c:v>
                </c:pt>
                <c:pt idx="9">
                  <c:v>0.8</c:v>
                </c:pt>
                <c:pt idx="10">
                  <c:v>0.8</c:v>
                </c:pt>
                <c:pt idx="11">
                  <c:v>0.9</c:v>
                </c:pt>
                <c:pt idx="12">
                  <c:v>1.0</c:v>
                </c:pt>
                <c:pt idx="13">
                  <c:v>1.1</c:v>
                </c:pt>
                <c:pt idx="14">
                  <c:v>1.2</c:v>
                </c:pt>
                <c:pt idx="15">
                  <c:v>1.3</c:v>
                </c:pt>
                <c:pt idx="16">
                  <c:v>1.3</c:v>
                </c:pt>
                <c:pt idx="17">
                  <c:v>1.4</c:v>
                </c:pt>
                <c:pt idx="18">
                  <c:v>1.5</c:v>
                </c:pt>
                <c:pt idx="19">
                  <c:v>1.6</c:v>
                </c:pt>
                <c:pt idx="20">
                  <c:v>1.7</c:v>
                </c:pt>
                <c:pt idx="21">
                  <c:v>1.8</c:v>
                </c:pt>
                <c:pt idx="22">
                  <c:v>1.8</c:v>
                </c:pt>
                <c:pt idx="23">
                  <c:v>1.9</c:v>
                </c:pt>
                <c:pt idx="24">
                  <c:v>2.0</c:v>
                </c:pt>
                <c:pt idx="25">
                  <c:v>2.1</c:v>
                </c:pt>
                <c:pt idx="26">
                  <c:v>2.2</c:v>
                </c:pt>
                <c:pt idx="27">
                  <c:v>2.3</c:v>
                </c:pt>
                <c:pt idx="28">
                  <c:v>2.3</c:v>
                </c:pt>
                <c:pt idx="29">
                  <c:v>2.4</c:v>
                </c:pt>
                <c:pt idx="30">
                  <c:v>2.5</c:v>
                </c:pt>
                <c:pt idx="31">
                  <c:v>2.6</c:v>
                </c:pt>
                <c:pt idx="32">
                  <c:v>2.7</c:v>
                </c:pt>
                <c:pt idx="33">
                  <c:v>2.8</c:v>
                </c:pt>
                <c:pt idx="34">
                  <c:v>2.8</c:v>
                </c:pt>
                <c:pt idx="35">
                  <c:v>2.9</c:v>
                </c:pt>
                <c:pt idx="36">
                  <c:v>3.0</c:v>
                </c:pt>
                <c:pt idx="37">
                  <c:v>3.1</c:v>
                </c:pt>
                <c:pt idx="38">
                  <c:v>3.2</c:v>
                </c:pt>
                <c:pt idx="39">
                  <c:v>3.3</c:v>
                </c:pt>
                <c:pt idx="40">
                  <c:v>3.3</c:v>
                </c:pt>
                <c:pt idx="41">
                  <c:v>3.4</c:v>
                </c:pt>
                <c:pt idx="42">
                  <c:v>3.5</c:v>
                </c:pt>
                <c:pt idx="43">
                  <c:v>3.6</c:v>
                </c:pt>
                <c:pt idx="44">
                  <c:v>3.7</c:v>
                </c:pt>
                <c:pt idx="45">
                  <c:v>3.8</c:v>
                </c:pt>
                <c:pt idx="46">
                  <c:v>3.8</c:v>
                </c:pt>
                <c:pt idx="47">
                  <c:v>3.9</c:v>
                </c:pt>
                <c:pt idx="48">
                  <c:v>4.0</c:v>
                </c:pt>
                <c:pt idx="49">
                  <c:v>4.1</c:v>
                </c:pt>
                <c:pt idx="50">
                  <c:v>4.2</c:v>
                </c:pt>
                <c:pt idx="51">
                  <c:v>4.3</c:v>
                </c:pt>
                <c:pt idx="52">
                  <c:v>4.3</c:v>
                </c:pt>
                <c:pt idx="53">
                  <c:v>4.4</c:v>
                </c:pt>
                <c:pt idx="54">
                  <c:v>4.5</c:v>
                </c:pt>
                <c:pt idx="55">
                  <c:v>4.6</c:v>
                </c:pt>
                <c:pt idx="56">
                  <c:v>4.7</c:v>
                </c:pt>
                <c:pt idx="57">
                  <c:v>4.8</c:v>
                </c:pt>
                <c:pt idx="58">
                  <c:v>4.8</c:v>
                </c:pt>
                <c:pt idx="59">
                  <c:v>4.9</c:v>
                </c:pt>
                <c:pt idx="60">
                  <c:v>5.0</c:v>
                </c:pt>
                <c:pt idx="61">
                  <c:v>5.1</c:v>
                </c:pt>
                <c:pt idx="62">
                  <c:v>5.4</c:v>
                </c:pt>
                <c:pt idx="63">
                  <c:v>5.5</c:v>
                </c:pt>
                <c:pt idx="64">
                  <c:v>5.6</c:v>
                </c:pt>
                <c:pt idx="65">
                  <c:v>5.7</c:v>
                </c:pt>
                <c:pt idx="66">
                  <c:v>5.8</c:v>
                </c:pt>
                <c:pt idx="67">
                  <c:v>5.8</c:v>
                </c:pt>
                <c:pt idx="68">
                  <c:v>5.9</c:v>
                </c:pt>
                <c:pt idx="69">
                  <c:v>6.0</c:v>
                </c:pt>
                <c:pt idx="70">
                  <c:v>6.1</c:v>
                </c:pt>
                <c:pt idx="71">
                  <c:v>6.2</c:v>
                </c:pt>
                <c:pt idx="72">
                  <c:v>6.3</c:v>
                </c:pt>
                <c:pt idx="73">
                  <c:v>6.3</c:v>
                </c:pt>
                <c:pt idx="74">
                  <c:v>6.4</c:v>
                </c:pt>
                <c:pt idx="75">
                  <c:v>6.5</c:v>
                </c:pt>
                <c:pt idx="76">
                  <c:v>6.6</c:v>
                </c:pt>
                <c:pt idx="77">
                  <c:v>6.7</c:v>
                </c:pt>
                <c:pt idx="78">
                  <c:v>6.8</c:v>
                </c:pt>
                <c:pt idx="79">
                  <c:v>6.8</c:v>
                </c:pt>
                <c:pt idx="80">
                  <c:v>6.9</c:v>
                </c:pt>
                <c:pt idx="81">
                  <c:v>7.0</c:v>
                </c:pt>
                <c:pt idx="82">
                  <c:v>7.1</c:v>
                </c:pt>
                <c:pt idx="83">
                  <c:v>7.2</c:v>
                </c:pt>
                <c:pt idx="84">
                  <c:v>7.3</c:v>
                </c:pt>
                <c:pt idx="85">
                  <c:v>7.3</c:v>
                </c:pt>
                <c:pt idx="86">
                  <c:v>7.4</c:v>
                </c:pt>
                <c:pt idx="87">
                  <c:v>7.5</c:v>
                </c:pt>
                <c:pt idx="88">
                  <c:v>7.6</c:v>
                </c:pt>
                <c:pt idx="89">
                  <c:v>7.7</c:v>
                </c:pt>
                <c:pt idx="90">
                  <c:v>7.8</c:v>
                </c:pt>
                <c:pt idx="91">
                  <c:v>7.8</c:v>
                </c:pt>
                <c:pt idx="92">
                  <c:v>7.9</c:v>
                </c:pt>
                <c:pt idx="93">
                  <c:v>8.0</c:v>
                </c:pt>
                <c:pt idx="94">
                  <c:v>8.1</c:v>
                </c:pt>
                <c:pt idx="95">
                  <c:v>8.2</c:v>
                </c:pt>
                <c:pt idx="96">
                  <c:v>8.3</c:v>
                </c:pt>
                <c:pt idx="97">
                  <c:v>8.3</c:v>
                </c:pt>
                <c:pt idx="98">
                  <c:v>8.4</c:v>
                </c:pt>
                <c:pt idx="99">
                  <c:v>8.5</c:v>
                </c:pt>
                <c:pt idx="100">
                  <c:v>8.6</c:v>
                </c:pt>
                <c:pt idx="101">
                  <c:v>8.7</c:v>
                </c:pt>
                <c:pt idx="102">
                  <c:v>8.8</c:v>
                </c:pt>
                <c:pt idx="103">
                  <c:v>8.8</c:v>
                </c:pt>
                <c:pt idx="104">
                  <c:v>8.9</c:v>
                </c:pt>
                <c:pt idx="105">
                  <c:v>9.0</c:v>
                </c:pt>
                <c:pt idx="106">
                  <c:v>9.1</c:v>
                </c:pt>
                <c:pt idx="107">
                  <c:v>9.2</c:v>
                </c:pt>
                <c:pt idx="108">
                  <c:v>9.3</c:v>
                </c:pt>
                <c:pt idx="109">
                  <c:v>9.3</c:v>
                </c:pt>
                <c:pt idx="110">
                  <c:v>9.4</c:v>
                </c:pt>
                <c:pt idx="111">
                  <c:v>9.5</c:v>
                </c:pt>
                <c:pt idx="112">
                  <c:v>9.6</c:v>
                </c:pt>
                <c:pt idx="113">
                  <c:v>9.7</c:v>
                </c:pt>
                <c:pt idx="114">
                  <c:v>9.8</c:v>
                </c:pt>
                <c:pt idx="115">
                  <c:v>9.8</c:v>
                </c:pt>
                <c:pt idx="116">
                  <c:v>9.9</c:v>
                </c:pt>
                <c:pt idx="117">
                  <c:v>10.0</c:v>
                </c:pt>
                <c:pt idx="118">
                  <c:v>10.1</c:v>
                </c:pt>
                <c:pt idx="119">
                  <c:v>10.2</c:v>
                </c:pt>
                <c:pt idx="120">
                  <c:v>10.3</c:v>
                </c:pt>
                <c:pt idx="121">
                  <c:v>10.3</c:v>
                </c:pt>
                <c:pt idx="122">
                  <c:v>10.4</c:v>
                </c:pt>
                <c:pt idx="123">
                  <c:v>10.5</c:v>
                </c:pt>
                <c:pt idx="124">
                  <c:v>10.6</c:v>
                </c:pt>
                <c:pt idx="125">
                  <c:v>10.7</c:v>
                </c:pt>
                <c:pt idx="126">
                  <c:v>10.8</c:v>
                </c:pt>
                <c:pt idx="127">
                  <c:v>10.8</c:v>
                </c:pt>
                <c:pt idx="128">
                  <c:v>10.9</c:v>
                </c:pt>
                <c:pt idx="129">
                  <c:v>11.0</c:v>
                </c:pt>
                <c:pt idx="130">
                  <c:v>11.1</c:v>
                </c:pt>
                <c:pt idx="131">
                  <c:v>11.2</c:v>
                </c:pt>
                <c:pt idx="132">
                  <c:v>11.3</c:v>
                </c:pt>
                <c:pt idx="133">
                  <c:v>11.3</c:v>
                </c:pt>
                <c:pt idx="134">
                  <c:v>11.4</c:v>
                </c:pt>
                <c:pt idx="135">
                  <c:v>11.5</c:v>
                </c:pt>
                <c:pt idx="136">
                  <c:v>11.6</c:v>
                </c:pt>
                <c:pt idx="137">
                  <c:v>11.7</c:v>
                </c:pt>
                <c:pt idx="138">
                  <c:v>11.8</c:v>
                </c:pt>
                <c:pt idx="139">
                  <c:v>11.8</c:v>
                </c:pt>
                <c:pt idx="140">
                  <c:v>11.9</c:v>
                </c:pt>
                <c:pt idx="141">
                  <c:v>12.0</c:v>
                </c:pt>
                <c:pt idx="142">
                  <c:v>12.1</c:v>
                </c:pt>
                <c:pt idx="143">
                  <c:v>12.2</c:v>
                </c:pt>
                <c:pt idx="144">
                  <c:v>12.3</c:v>
                </c:pt>
                <c:pt idx="145">
                  <c:v>12.3</c:v>
                </c:pt>
                <c:pt idx="146">
                  <c:v>12.4</c:v>
                </c:pt>
                <c:pt idx="147">
                  <c:v>12.5</c:v>
                </c:pt>
                <c:pt idx="148">
                  <c:v>12.6</c:v>
                </c:pt>
                <c:pt idx="149">
                  <c:v>12.7</c:v>
                </c:pt>
                <c:pt idx="150">
                  <c:v>12.8</c:v>
                </c:pt>
                <c:pt idx="151">
                  <c:v>12.8</c:v>
                </c:pt>
                <c:pt idx="152">
                  <c:v>12.9</c:v>
                </c:pt>
                <c:pt idx="153">
                  <c:v>13.0</c:v>
                </c:pt>
                <c:pt idx="154">
                  <c:v>13.1</c:v>
                </c:pt>
                <c:pt idx="155">
                  <c:v>13.2</c:v>
                </c:pt>
                <c:pt idx="156">
                  <c:v>13.3</c:v>
                </c:pt>
                <c:pt idx="157">
                  <c:v>13.3</c:v>
                </c:pt>
                <c:pt idx="158">
                  <c:v>13.4</c:v>
                </c:pt>
                <c:pt idx="159">
                  <c:v>13.5</c:v>
                </c:pt>
                <c:pt idx="160">
                  <c:v>13.6</c:v>
                </c:pt>
                <c:pt idx="161">
                  <c:v>13.7</c:v>
                </c:pt>
                <c:pt idx="162">
                  <c:v>13.8</c:v>
                </c:pt>
                <c:pt idx="163">
                  <c:v>13.8</c:v>
                </c:pt>
                <c:pt idx="164">
                  <c:v>13.9</c:v>
                </c:pt>
                <c:pt idx="165">
                  <c:v>14.0</c:v>
                </c:pt>
                <c:pt idx="166">
                  <c:v>14.1</c:v>
                </c:pt>
                <c:pt idx="167">
                  <c:v>14.2</c:v>
                </c:pt>
                <c:pt idx="168">
                  <c:v>14.3</c:v>
                </c:pt>
                <c:pt idx="169">
                  <c:v>14.3</c:v>
                </c:pt>
                <c:pt idx="170">
                  <c:v>14.4</c:v>
                </c:pt>
                <c:pt idx="171">
                  <c:v>14.5</c:v>
                </c:pt>
                <c:pt idx="172">
                  <c:v>14.6</c:v>
                </c:pt>
                <c:pt idx="173">
                  <c:v>14.7</c:v>
                </c:pt>
                <c:pt idx="174">
                  <c:v>14.8</c:v>
                </c:pt>
                <c:pt idx="175">
                  <c:v>14.8</c:v>
                </c:pt>
                <c:pt idx="176">
                  <c:v>14.9</c:v>
                </c:pt>
                <c:pt idx="177">
                  <c:v>15.0</c:v>
                </c:pt>
                <c:pt idx="178">
                  <c:v>15.1</c:v>
                </c:pt>
                <c:pt idx="179">
                  <c:v>15.2</c:v>
                </c:pt>
                <c:pt idx="180">
                  <c:v>15.3</c:v>
                </c:pt>
                <c:pt idx="181">
                  <c:v>15.3</c:v>
                </c:pt>
                <c:pt idx="182">
                  <c:v>15.4</c:v>
                </c:pt>
                <c:pt idx="183">
                  <c:v>15.5</c:v>
                </c:pt>
                <c:pt idx="184">
                  <c:v>15.6</c:v>
                </c:pt>
                <c:pt idx="185">
                  <c:v>15.7</c:v>
                </c:pt>
                <c:pt idx="186">
                  <c:v>15.8</c:v>
                </c:pt>
                <c:pt idx="187">
                  <c:v>15.8</c:v>
                </c:pt>
                <c:pt idx="188">
                  <c:v>15.9</c:v>
                </c:pt>
                <c:pt idx="189">
                  <c:v>16.0</c:v>
                </c:pt>
                <c:pt idx="190">
                  <c:v>16.1</c:v>
                </c:pt>
                <c:pt idx="191">
                  <c:v>16.2</c:v>
                </c:pt>
                <c:pt idx="192">
                  <c:v>16.3</c:v>
                </c:pt>
                <c:pt idx="193">
                  <c:v>16.4</c:v>
                </c:pt>
                <c:pt idx="194">
                  <c:v>16.4</c:v>
                </c:pt>
                <c:pt idx="195">
                  <c:v>16.5</c:v>
                </c:pt>
                <c:pt idx="196">
                  <c:v>16.6</c:v>
                </c:pt>
                <c:pt idx="197">
                  <c:v>16.7</c:v>
                </c:pt>
                <c:pt idx="198">
                  <c:v>16.8</c:v>
                </c:pt>
              </c:strCache>
            </c:strRef>
          </c:cat>
          <c:val>
            <c:numRef>
              <c:f>Sheet1!$C$2:$C$200</c:f>
              <c:numCache>
                <c:formatCode>General</c:formatCode>
                <c:ptCount val="199"/>
                <c:pt idx="0">
                  <c:v>660</c:v>
                </c:pt>
                <c:pt idx="1">
                  <c:v>660</c:v>
                </c:pt>
                <c:pt idx="2">
                  <c:v>660</c:v>
                </c:pt>
                <c:pt idx="3">
                  <c:v>660</c:v>
                </c:pt>
                <c:pt idx="4">
                  <c:v>660</c:v>
                </c:pt>
                <c:pt idx="5">
                  <c:v>660</c:v>
                </c:pt>
                <c:pt idx="6">
                  <c:v>660</c:v>
                </c:pt>
                <c:pt idx="7">
                  <c:v>660</c:v>
                </c:pt>
                <c:pt idx="8">
                  <c:v>660</c:v>
                </c:pt>
                <c:pt idx="9">
                  <c:v>660</c:v>
                </c:pt>
                <c:pt idx="10">
                  <c:v>660</c:v>
                </c:pt>
                <c:pt idx="11">
                  <c:v>660</c:v>
                </c:pt>
                <c:pt idx="12">
                  <c:v>660</c:v>
                </c:pt>
                <c:pt idx="13">
                  <c:v>660</c:v>
                </c:pt>
                <c:pt idx="14">
                  <c:v>660</c:v>
                </c:pt>
                <c:pt idx="15">
                  <c:v>660</c:v>
                </c:pt>
                <c:pt idx="16">
                  <c:v>660</c:v>
                </c:pt>
                <c:pt idx="17">
                  <c:v>660</c:v>
                </c:pt>
                <c:pt idx="18">
                  <c:v>660</c:v>
                </c:pt>
                <c:pt idx="19">
                  <c:v>660</c:v>
                </c:pt>
                <c:pt idx="20">
                  <c:v>660</c:v>
                </c:pt>
                <c:pt idx="21">
                  <c:v>660</c:v>
                </c:pt>
                <c:pt idx="22">
                  <c:v>660</c:v>
                </c:pt>
                <c:pt idx="23">
                  <c:v>660</c:v>
                </c:pt>
                <c:pt idx="24">
                  <c:v>660</c:v>
                </c:pt>
                <c:pt idx="25">
                  <c:v>660</c:v>
                </c:pt>
                <c:pt idx="26">
                  <c:v>660</c:v>
                </c:pt>
                <c:pt idx="27">
                  <c:v>660</c:v>
                </c:pt>
                <c:pt idx="28">
                  <c:v>660</c:v>
                </c:pt>
                <c:pt idx="29">
                  <c:v>660</c:v>
                </c:pt>
                <c:pt idx="30">
                  <c:v>660</c:v>
                </c:pt>
                <c:pt idx="31">
                  <c:v>660</c:v>
                </c:pt>
                <c:pt idx="32">
                  <c:v>660</c:v>
                </c:pt>
                <c:pt idx="33">
                  <c:v>660</c:v>
                </c:pt>
                <c:pt idx="34">
                  <c:v>660</c:v>
                </c:pt>
                <c:pt idx="35">
                  <c:v>660</c:v>
                </c:pt>
                <c:pt idx="36">
                  <c:v>660</c:v>
                </c:pt>
                <c:pt idx="37">
                  <c:v>660</c:v>
                </c:pt>
                <c:pt idx="38">
                  <c:v>660</c:v>
                </c:pt>
                <c:pt idx="39">
                  <c:v>660</c:v>
                </c:pt>
                <c:pt idx="40">
                  <c:v>660</c:v>
                </c:pt>
                <c:pt idx="41">
                  <c:v>660</c:v>
                </c:pt>
                <c:pt idx="42">
                  <c:v>660</c:v>
                </c:pt>
                <c:pt idx="43">
                  <c:v>660</c:v>
                </c:pt>
                <c:pt idx="44">
                  <c:v>660</c:v>
                </c:pt>
                <c:pt idx="45">
                  <c:v>660</c:v>
                </c:pt>
                <c:pt idx="46">
                  <c:v>660</c:v>
                </c:pt>
                <c:pt idx="47">
                  <c:v>660</c:v>
                </c:pt>
                <c:pt idx="48">
                  <c:v>660</c:v>
                </c:pt>
                <c:pt idx="49">
                  <c:v>660</c:v>
                </c:pt>
                <c:pt idx="50">
                  <c:v>660</c:v>
                </c:pt>
                <c:pt idx="51">
                  <c:v>660</c:v>
                </c:pt>
                <c:pt idx="52">
                  <c:v>660</c:v>
                </c:pt>
                <c:pt idx="53">
                  <c:v>660</c:v>
                </c:pt>
                <c:pt idx="54">
                  <c:v>660</c:v>
                </c:pt>
                <c:pt idx="55">
                  <c:v>660</c:v>
                </c:pt>
                <c:pt idx="56">
                  <c:v>660</c:v>
                </c:pt>
                <c:pt idx="57">
                  <c:v>660</c:v>
                </c:pt>
                <c:pt idx="58">
                  <c:v>660</c:v>
                </c:pt>
                <c:pt idx="59">
                  <c:v>660</c:v>
                </c:pt>
                <c:pt idx="60">
                  <c:v>660</c:v>
                </c:pt>
                <c:pt idx="61">
                  <c:v>660</c:v>
                </c:pt>
                <c:pt idx="62">
                  <c:v>660</c:v>
                </c:pt>
                <c:pt idx="63">
                  <c:v>660</c:v>
                </c:pt>
                <c:pt idx="64">
                  <c:v>660</c:v>
                </c:pt>
                <c:pt idx="65">
                  <c:v>660</c:v>
                </c:pt>
                <c:pt idx="66">
                  <c:v>660</c:v>
                </c:pt>
                <c:pt idx="67">
                  <c:v>660</c:v>
                </c:pt>
                <c:pt idx="68">
                  <c:v>660</c:v>
                </c:pt>
                <c:pt idx="69">
                  <c:v>660</c:v>
                </c:pt>
                <c:pt idx="70">
                  <c:v>660</c:v>
                </c:pt>
                <c:pt idx="71">
                  <c:v>660</c:v>
                </c:pt>
                <c:pt idx="72">
                  <c:v>660</c:v>
                </c:pt>
                <c:pt idx="73">
                  <c:v>660</c:v>
                </c:pt>
                <c:pt idx="74">
                  <c:v>660</c:v>
                </c:pt>
                <c:pt idx="75">
                  <c:v>660</c:v>
                </c:pt>
                <c:pt idx="76">
                  <c:v>660</c:v>
                </c:pt>
                <c:pt idx="77">
                  <c:v>660</c:v>
                </c:pt>
                <c:pt idx="78">
                  <c:v>660</c:v>
                </c:pt>
                <c:pt idx="79">
                  <c:v>660</c:v>
                </c:pt>
                <c:pt idx="80">
                  <c:v>660</c:v>
                </c:pt>
                <c:pt idx="81">
                  <c:v>660</c:v>
                </c:pt>
                <c:pt idx="82">
                  <c:v>660</c:v>
                </c:pt>
                <c:pt idx="83">
                  <c:v>660</c:v>
                </c:pt>
                <c:pt idx="84">
                  <c:v>660</c:v>
                </c:pt>
                <c:pt idx="85">
                  <c:v>660</c:v>
                </c:pt>
                <c:pt idx="86">
                  <c:v>660</c:v>
                </c:pt>
                <c:pt idx="87">
                  <c:v>660</c:v>
                </c:pt>
                <c:pt idx="88">
                  <c:v>660</c:v>
                </c:pt>
                <c:pt idx="89">
                  <c:v>660</c:v>
                </c:pt>
                <c:pt idx="90">
                  <c:v>660</c:v>
                </c:pt>
                <c:pt idx="91">
                  <c:v>660</c:v>
                </c:pt>
                <c:pt idx="92">
                  <c:v>660</c:v>
                </c:pt>
                <c:pt idx="93">
                  <c:v>660</c:v>
                </c:pt>
                <c:pt idx="94">
                  <c:v>660</c:v>
                </c:pt>
                <c:pt idx="95">
                  <c:v>660</c:v>
                </c:pt>
                <c:pt idx="96">
                  <c:v>660</c:v>
                </c:pt>
                <c:pt idx="97">
                  <c:v>660</c:v>
                </c:pt>
                <c:pt idx="98">
                  <c:v>660</c:v>
                </c:pt>
                <c:pt idx="99">
                  <c:v>660</c:v>
                </c:pt>
                <c:pt idx="100">
                  <c:v>660</c:v>
                </c:pt>
                <c:pt idx="101">
                  <c:v>660</c:v>
                </c:pt>
                <c:pt idx="102">
                  <c:v>660</c:v>
                </c:pt>
                <c:pt idx="103">
                  <c:v>660</c:v>
                </c:pt>
                <c:pt idx="104">
                  <c:v>660</c:v>
                </c:pt>
                <c:pt idx="105">
                  <c:v>660</c:v>
                </c:pt>
                <c:pt idx="106">
                  <c:v>660</c:v>
                </c:pt>
                <c:pt idx="107">
                  <c:v>660</c:v>
                </c:pt>
                <c:pt idx="108">
                  <c:v>660</c:v>
                </c:pt>
                <c:pt idx="109">
                  <c:v>660</c:v>
                </c:pt>
                <c:pt idx="110">
                  <c:v>660</c:v>
                </c:pt>
                <c:pt idx="111">
                  <c:v>660</c:v>
                </c:pt>
                <c:pt idx="112">
                  <c:v>660</c:v>
                </c:pt>
                <c:pt idx="113">
                  <c:v>660</c:v>
                </c:pt>
                <c:pt idx="114">
                  <c:v>660</c:v>
                </c:pt>
                <c:pt idx="115">
                  <c:v>660</c:v>
                </c:pt>
                <c:pt idx="116">
                  <c:v>660</c:v>
                </c:pt>
                <c:pt idx="117">
                  <c:v>660</c:v>
                </c:pt>
                <c:pt idx="118">
                  <c:v>660</c:v>
                </c:pt>
                <c:pt idx="119">
                  <c:v>660</c:v>
                </c:pt>
                <c:pt idx="120">
                  <c:v>660</c:v>
                </c:pt>
                <c:pt idx="121">
                  <c:v>660</c:v>
                </c:pt>
                <c:pt idx="122">
                  <c:v>660</c:v>
                </c:pt>
                <c:pt idx="123">
                  <c:v>660</c:v>
                </c:pt>
                <c:pt idx="124">
                  <c:v>660</c:v>
                </c:pt>
                <c:pt idx="125">
                  <c:v>660</c:v>
                </c:pt>
                <c:pt idx="126">
                  <c:v>660</c:v>
                </c:pt>
                <c:pt idx="127">
                  <c:v>660</c:v>
                </c:pt>
                <c:pt idx="128">
                  <c:v>660</c:v>
                </c:pt>
                <c:pt idx="129">
                  <c:v>660</c:v>
                </c:pt>
                <c:pt idx="130">
                  <c:v>660</c:v>
                </c:pt>
                <c:pt idx="131">
                  <c:v>660</c:v>
                </c:pt>
                <c:pt idx="132">
                  <c:v>660</c:v>
                </c:pt>
                <c:pt idx="133">
                  <c:v>660</c:v>
                </c:pt>
                <c:pt idx="134">
                  <c:v>660</c:v>
                </c:pt>
                <c:pt idx="135">
                  <c:v>660</c:v>
                </c:pt>
                <c:pt idx="136">
                  <c:v>660</c:v>
                </c:pt>
                <c:pt idx="137">
                  <c:v>660</c:v>
                </c:pt>
                <c:pt idx="138">
                  <c:v>660</c:v>
                </c:pt>
                <c:pt idx="139">
                  <c:v>660</c:v>
                </c:pt>
                <c:pt idx="140">
                  <c:v>660</c:v>
                </c:pt>
                <c:pt idx="141">
                  <c:v>660</c:v>
                </c:pt>
                <c:pt idx="142">
                  <c:v>660</c:v>
                </c:pt>
                <c:pt idx="143">
                  <c:v>660</c:v>
                </c:pt>
                <c:pt idx="144">
                  <c:v>660</c:v>
                </c:pt>
                <c:pt idx="145">
                  <c:v>660</c:v>
                </c:pt>
                <c:pt idx="146">
                  <c:v>660</c:v>
                </c:pt>
                <c:pt idx="147">
                  <c:v>660</c:v>
                </c:pt>
                <c:pt idx="148">
                  <c:v>660</c:v>
                </c:pt>
                <c:pt idx="149">
                  <c:v>660</c:v>
                </c:pt>
                <c:pt idx="150">
                  <c:v>660</c:v>
                </c:pt>
                <c:pt idx="151">
                  <c:v>660</c:v>
                </c:pt>
                <c:pt idx="152">
                  <c:v>660</c:v>
                </c:pt>
                <c:pt idx="153">
                  <c:v>660</c:v>
                </c:pt>
                <c:pt idx="154">
                  <c:v>660</c:v>
                </c:pt>
                <c:pt idx="155">
                  <c:v>660</c:v>
                </c:pt>
                <c:pt idx="156">
                  <c:v>660</c:v>
                </c:pt>
                <c:pt idx="157">
                  <c:v>660</c:v>
                </c:pt>
                <c:pt idx="158">
                  <c:v>660</c:v>
                </c:pt>
                <c:pt idx="159">
                  <c:v>660</c:v>
                </c:pt>
                <c:pt idx="160">
                  <c:v>660</c:v>
                </c:pt>
                <c:pt idx="161">
                  <c:v>660</c:v>
                </c:pt>
                <c:pt idx="162">
                  <c:v>660</c:v>
                </c:pt>
                <c:pt idx="163">
                  <c:v>660</c:v>
                </c:pt>
                <c:pt idx="164">
                  <c:v>660</c:v>
                </c:pt>
                <c:pt idx="165">
                  <c:v>660</c:v>
                </c:pt>
                <c:pt idx="166">
                  <c:v>660</c:v>
                </c:pt>
                <c:pt idx="167">
                  <c:v>660</c:v>
                </c:pt>
                <c:pt idx="168">
                  <c:v>660</c:v>
                </c:pt>
                <c:pt idx="169">
                  <c:v>660</c:v>
                </c:pt>
                <c:pt idx="170">
                  <c:v>660</c:v>
                </c:pt>
                <c:pt idx="171">
                  <c:v>660</c:v>
                </c:pt>
                <c:pt idx="172">
                  <c:v>660</c:v>
                </c:pt>
                <c:pt idx="173">
                  <c:v>660</c:v>
                </c:pt>
                <c:pt idx="174">
                  <c:v>660</c:v>
                </c:pt>
                <c:pt idx="175">
                  <c:v>660</c:v>
                </c:pt>
                <c:pt idx="176">
                  <c:v>660</c:v>
                </c:pt>
                <c:pt idx="177">
                  <c:v>660</c:v>
                </c:pt>
                <c:pt idx="178">
                  <c:v>660</c:v>
                </c:pt>
                <c:pt idx="179">
                  <c:v>660</c:v>
                </c:pt>
                <c:pt idx="180">
                  <c:v>660</c:v>
                </c:pt>
                <c:pt idx="181">
                  <c:v>660</c:v>
                </c:pt>
                <c:pt idx="182">
                  <c:v>660</c:v>
                </c:pt>
                <c:pt idx="183">
                  <c:v>660</c:v>
                </c:pt>
                <c:pt idx="184">
                  <c:v>660</c:v>
                </c:pt>
                <c:pt idx="185">
                  <c:v>660</c:v>
                </c:pt>
                <c:pt idx="186">
                  <c:v>660</c:v>
                </c:pt>
                <c:pt idx="187">
                  <c:v>660</c:v>
                </c:pt>
                <c:pt idx="188">
                  <c:v>660</c:v>
                </c:pt>
                <c:pt idx="189">
                  <c:v>660</c:v>
                </c:pt>
                <c:pt idx="190">
                  <c:v>660</c:v>
                </c:pt>
                <c:pt idx="191">
                  <c:v>660</c:v>
                </c:pt>
                <c:pt idx="192">
                  <c:v>660</c:v>
                </c:pt>
                <c:pt idx="193">
                  <c:v>660</c:v>
                </c:pt>
                <c:pt idx="194">
                  <c:v>660</c:v>
                </c:pt>
                <c:pt idx="195">
                  <c:v>660</c:v>
                </c:pt>
                <c:pt idx="196">
                  <c:v>660</c:v>
                </c:pt>
                <c:pt idx="197">
                  <c:v>660</c:v>
                </c:pt>
                <c:pt idx="198">
                  <c:v>660</c:v>
                </c:pt>
              </c:numCache>
            </c:numRef>
          </c:val>
          <c:smooth val="0"/>
          <c:extLst>
            <c:ext xmlns:c16="http://schemas.microsoft.com/office/drawing/2014/chart" uri="{C3380CC4-5D6E-409C-BE32-E72D297353CC}">
              <c16:uniqueId val="{00000001-55FF-4424-AABF-46B4BB6D7E9B}"/>
            </c:ext>
          </c:extLst>
        </c:ser>
        <c:ser>
          <c:idx val="2"/>
          <c:order val="2"/>
          <c:tx>
            <c:strRef>
              <c:f>Sheet1!$D$1</c:f>
              <c:strCache>
                <c:ptCount val="1"/>
                <c:pt idx="0">
                  <c:v>Moderate band (220 ppb)</c:v>
                </c:pt>
              </c:strCache>
            </c:strRef>
          </c:tx>
          <c:spPr>
            <a:ln w="25400" cap="flat">
              <a:solidFill>
                <a:srgbClr val="C98A0B"/>
              </a:solidFill>
              <a:prstDash val="solid"/>
              <a:round/>
            </a:ln>
            <a:effectLst/>
          </c:spPr>
          <c:marker>
            <c:symbol val="none"/>
          </c:marker>
          <c:cat>
            <c:strRef>
              <c:f>Sheet1!$A$2:$A$200</c:f>
              <c:strCache>
                <c:ptCount val="199"/>
                <c:pt idx="0">
                  <c:v>0.0</c:v>
                </c:pt>
                <c:pt idx="1">
                  <c:v>0.1</c:v>
                </c:pt>
                <c:pt idx="2">
                  <c:v>0.2</c:v>
                </c:pt>
                <c:pt idx="3">
                  <c:v>0.3</c:v>
                </c:pt>
                <c:pt idx="4">
                  <c:v>0.3</c:v>
                </c:pt>
                <c:pt idx="5">
                  <c:v>0.4</c:v>
                </c:pt>
                <c:pt idx="6">
                  <c:v>0.5</c:v>
                </c:pt>
                <c:pt idx="7">
                  <c:v>0.6</c:v>
                </c:pt>
                <c:pt idx="8">
                  <c:v>0.7</c:v>
                </c:pt>
                <c:pt idx="9">
                  <c:v>0.8</c:v>
                </c:pt>
                <c:pt idx="10">
                  <c:v>0.8</c:v>
                </c:pt>
                <c:pt idx="11">
                  <c:v>0.9</c:v>
                </c:pt>
                <c:pt idx="12">
                  <c:v>1.0</c:v>
                </c:pt>
                <c:pt idx="13">
                  <c:v>1.1</c:v>
                </c:pt>
                <c:pt idx="14">
                  <c:v>1.2</c:v>
                </c:pt>
                <c:pt idx="15">
                  <c:v>1.3</c:v>
                </c:pt>
                <c:pt idx="16">
                  <c:v>1.3</c:v>
                </c:pt>
                <c:pt idx="17">
                  <c:v>1.4</c:v>
                </c:pt>
                <c:pt idx="18">
                  <c:v>1.5</c:v>
                </c:pt>
                <c:pt idx="19">
                  <c:v>1.6</c:v>
                </c:pt>
                <c:pt idx="20">
                  <c:v>1.7</c:v>
                </c:pt>
                <c:pt idx="21">
                  <c:v>1.8</c:v>
                </c:pt>
                <c:pt idx="22">
                  <c:v>1.8</c:v>
                </c:pt>
                <c:pt idx="23">
                  <c:v>1.9</c:v>
                </c:pt>
                <c:pt idx="24">
                  <c:v>2.0</c:v>
                </c:pt>
                <c:pt idx="25">
                  <c:v>2.1</c:v>
                </c:pt>
                <c:pt idx="26">
                  <c:v>2.2</c:v>
                </c:pt>
                <c:pt idx="27">
                  <c:v>2.3</c:v>
                </c:pt>
                <c:pt idx="28">
                  <c:v>2.3</c:v>
                </c:pt>
                <c:pt idx="29">
                  <c:v>2.4</c:v>
                </c:pt>
                <c:pt idx="30">
                  <c:v>2.5</c:v>
                </c:pt>
                <c:pt idx="31">
                  <c:v>2.6</c:v>
                </c:pt>
                <c:pt idx="32">
                  <c:v>2.7</c:v>
                </c:pt>
                <c:pt idx="33">
                  <c:v>2.8</c:v>
                </c:pt>
                <c:pt idx="34">
                  <c:v>2.8</c:v>
                </c:pt>
                <c:pt idx="35">
                  <c:v>2.9</c:v>
                </c:pt>
                <c:pt idx="36">
                  <c:v>3.0</c:v>
                </c:pt>
                <c:pt idx="37">
                  <c:v>3.1</c:v>
                </c:pt>
                <c:pt idx="38">
                  <c:v>3.2</c:v>
                </c:pt>
                <c:pt idx="39">
                  <c:v>3.3</c:v>
                </c:pt>
                <c:pt idx="40">
                  <c:v>3.3</c:v>
                </c:pt>
                <c:pt idx="41">
                  <c:v>3.4</c:v>
                </c:pt>
                <c:pt idx="42">
                  <c:v>3.5</c:v>
                </c:pt>
                <c:pt idx="43">
                  <c:v>3.6</c:v>
                </c:pt>
                <c:pt idx="44">
                  <c:v>3.7</c:v>
                </c:pt>
                <c:pt idx="45">
                  <c:v>3.8</c:v>
                </c:pt>
                <c:pt idx="46">
                  <c:v>3.8</c:v>
                </c:pt>
                <c:pt idx="47">
                  <c:v>3.9</c:v>
                </c:pt>
                <c:pt idx="48">
                  <c:v>4.0</c:v>
                </c:pt>
                <c:pt idx="49">
                  <c:v>4.1</c:v>
                </c:pt>
                <c:pt idx="50">
                  <c:v>4.2</c:v>
                </c:pt>
                <c:pt idx="51">
                  <c:v>4.3</c:v>
                </c:pt>
                <c:pt idx="52">
                  <c:v>4.3</c:v>
                </c:pt>
                <c:pt idx="53">
                  <c:v>4.4</c:v>
                </c:pt>
                <c:pt idx="54">
                  <c:v>4.5</c:v>
                </c:pt>
                <c:pt idx="55">
                  <c:v>4.6</c:v>
                </c:pt>
                <c:pt idx="56">
                  <c:v>4.7</c:v>
                </c:pt>
                <c:pt idx="57">
                  <c:v>4.8</c:v>
                </c:pt>
                <c:pt idx="58">
                  <c:v>4.8</c:v>
                </c:pt>
                <c:pt idx="59">
                  <c:v>4.9</c:v>
                </c:pt>
                <c:pt idx="60">
                  <c:v>5.0</c:v>
                </c:pt>
                <c:pt idx="61">
                  <c:v>5.1</c:v>
                </c:pt>
                <c:pt idx="62">
                  <c:v>5.4</c:v>
                </c:pt>
                <c:pt idx="63">
                  <c:v>5.5</c:v>
                </c:pt>
                <c:pt idx="64">
                  <c:v>5.6</c:v>
                </c:pt>
                <c:pt idx="65">
                  <c:v>5.7</c:v>
                </c:pt>
                <c:pt idx="66">
                  <c:v>5.8</c:v>
                </c:pt>
                <c:pt idx="67">
                  <c:v>5.8</c:v>
                </c:pt>
                <c:pt idx="68">
                  <c:v>5.9</c:v>
                </c:pt>
                <c:pt idx="69">
                  <c:v>6.0</c:v>
                </c:pt>
                <c:pt idx="70">
                  <c:v>6.1</c:v>
                </c:pt>
                <c:pt idx="71">
                  <c:v>6.2</c:v>
                </c:pt>
                <c:pt idx="72">
                  <c:v>6.3</c:v>
                </c:pt>
                <c:pt idx="73">
                  <c:v>6.3</c:v>
                </c:pt>
                <c:pt idx="74">
                  <c:v>6.4</c:v>
                </c:pt>
                <c:pt idx="75">
                  <c:v>6.5</c:v>
                </c:pt>
                <c:pt idx="76">
                  <c:v>6.6</c:v>
                </c:pt>
                <c:pt idx="77">
                  <c:v>6.7</c:v>
                </c:pt>
                <c:pt idx="78">
                  <c:v>6.8</c:v>
                </c:pt>
                <c:pt idx="79">
                  <c:v>6.8</c:v>
                </c:pt>
                <c:pt idx="80">
                  <c:v>6.9</c:v>
                </c:pt>
                <c:pt idx="81">
                  <c:v>7.0</c:v>
                </c:pt>
                <c:pt idx="82">
                  <c:v>7.1</c:v>
                </c:pt>
                <c:pt idx="83">
                  <c:v>7.2</c:v>
                </c:pt>
                <c:pt idx="84">
                  <c:v>7.3</c:v>
                </c:pt>
                <c:pt idx="85">
                  <c:v>7.3</c:v>
                </c:pt>
                <c:pt idx="86">
                  <c:v>7.4</c:v>
                </c:pt>
                <c:pt idx="87">
                  <c:v>7.5</c:v>
                </c:pt>
                <c:pt idx="88">
                  <c:v>7.6</c:v>
                </c:pt>
                <c:pt idx="89">
                  <c:v>7.7</c:v>
                </c:pt>
                <c:pt idx="90">
                  <c:v>7.8</c:v>
                </c:pt>
                <c:pt idx="91">
                  <c:v>7.8</c:v>
                </c:pt>
                <c:pt idx="92">
                  <c:v>7.9</c:v>
                </c:pt>
                <c:pt idx="93">
                  <c:v>8.0</c:v>
                </c:pt>
                <c:pt idx="94">
                  <c:v>8.1</c:v>
                </c:pt>
                <c:pt idx="95">
                  <c:v>8.2</c:v>
                </c:pt>
                <c:pt idx="96">
                  <c:v>8.3</c:v>
                </c:pt>
                <c:pt idx="97">
                  <c:v>8.3</c:v>
                </c:pt>
                <c:pt idx="98">
                  <c:v>8.4</c:v>
                </c:pt>
                <c:pt idx="99">
                  <c:v>8.5</c:v>
                </c:pt>
                <c:pt idx="100">
                  <c:v>8.6</c:v>
                </c:pt>
                <c:pt idx="101">
                  <c:v>8.7</c:v>
                </c:pt>
                <c:pt idx="102">
                  <c:v>8.8</c:v>
                </c:pt>
                <c:pt idx="103">
                  <c:v>8.8</c:v>
                </c:pt>
                <c:pt idx="104">
                  <c:v>8.9</c:v>
                </c:pt>
                <c:pt idx="105">
                  <c:v>9.0</c:v>
                </c:pt>
                <c:pt idx="106">
                  <c:v>9.1</c:v>
                </c:pt>
                <c:pt idx="107">
                  <c:v>9.2</c:v>
                </c:pt>
                <c:pt idx="108">
                  <c:v>9.3</c:v>
                </c:pt>
                <c:pt idx="109">
                  <c:v>9.3</c:v>
                </c:pt>
                <c:pt idx="110">
                  <c:v>9.4</c:v>
                </c:pt>
                <c:pt idx="111">
                  <c:v>9.5</c:v>
                </c:pt>
                <c:pt idx="112">
                  <c:v>9.6</c:v>
                </c:pt>
                <c:pt idx="113">
                  <c:v>9.7</c:v>
                </c:pt>
                <c:pt idx="114">
                  <c:v>9.8</c:v>
                </c:pt>
                <c:pt idx="115">
                  <c:v>9.8</c:v>
                </c:pt>
                <c:pt idx="116">
                  <c:v>9.9</c:v>
                </c:pt>
                <c:pt idx="117">
                  <c:v>10.0</c:v>
                </c:pt>
                <c:pt idx="118">
                  <c:v>10.1</c:v>
                </c:pt>
                <c:pt idx="119">
                  <c:v>10.2</c:v>
                </c:pt>
                <c:pt idx="120">
                  <c:v>10.3</c:v>
                </c:pt>
                <c:pt idx="121">
                  <c:v>10.3</c:v>
                </c:pt>
                <c:pt idx="122">
                  <c:v>10.4</c:v>
                </c:pt>
                <c:pt idx="123">
                  <c:v>10.5</c:v>
                </c:pt>
                <c:pt idx="124">
                  <c:v>10.6</c:v>
                </c:pt>
                <c:pt idx="125">
                  <c:v>10.7</c:v>
                </c:pt>
                <c:pt idx="126">
                  <c:v>10.8</c:v>
                </c:pt>
                <c:pt idx="127">
                  <c:v>10.8</c:v>
                </c:pt>
                <c:pt idx="128">
                  <c:v>10.9</c:v>
                </c:pt>
                <c:pt idx="129">
                  <c:v>11.0</c:v>
                </c:pt>
                <c:pt idx="130">
                  <c:v>11.1</c:v>
                </c:pt>
                <c:pt idx="131">
                  <c:v>11.2</c:v>
                </c:pt>
                <c:pt idx="132">
                  <c:v>11.3</c:v>
                </c:pt>
                <c:pt idx="133">
                  <c:v>11.3</c:v>
                </c:pt>
                <c:pt idx="134">
                  <c:v>11.4</c:v>
                </c:pt>
                <c:pt idx="135">
                  <c:v>11.5</c:v>
                </c:pt>
                <c:pt idx="136">
                  <c:v>11.6</c:v>
                </c:pt>
                <c:pt idx="137">
                  <c:v>11.7</c:v>
                </c:pt>
                <c:pt idx="138">
                  <c:v>11.8</c:v>
                </c:pt>
                <c:pt idx="139">
                  <c:v>11.8</c:v>
                </c:pt>
                <c:pt idx="140">
                  <c:v>11.9</c:v>
                </c:pt>
                <c:pt idx="141">
                  <c:v>12.0</c:v>
                </c:pt>
                <c:pt idx="142">
                  <c:v>12.1</c:v>
                </c:pt>
                <c:pt idx="143">
                  <c:v>12.2</c:v>
                </c:pt>
                <c:pt idx="144">
                  <c:v>12.3</c:v>
                </c:pt>
                <c:pt idx="145">
                  <c:v>12.3</c:v>
                </c:pt>
                <c:pt idx="146">
                  <c:v>12.4</c:v>
                </c:pt>
                <c:pt idx="147">
                  <c:v>12.5</c:v>
                </c:pt>
                <c:pt idx="148">
                  <c:v>12.6</c:v>
                </c:pt>
                <c:pt idx="149">
                  <c:v>12.7</c:v>
                </c:pt>
                <c:pt idx="150">
                  <c:v>12.8</c:v>
                </c:pt>
                <c:pt idx="151">
                  <c:v>12.8</c:v>
                </c:pt>
                <c:pt idx="152">
                  <c:v>12.9</c:v>
                </c:pt>
                <c:pt idx="153">
                  <c:v>13.0</c:v>
                </c:pt>
                <c:pt idx="154">
                  <c:v>13.1</c:v>
                </c:pt>
                <c:pt idx="155">
                  <c:v>13.2</c:v>
                </c:pt>
                <c:pt idx="156">
                  <c:v>13.3</c:v>
                </c:pt>
                <c:pt idx="157">
                  <c:v>13.3</c:v>
                </c:pt>
                <c:pt idx="158">
                  <c:v>13.4</c:v>
                </c:pt>
                <c:pt idx="159">
                  <c:v>13.5</c:v>
                </c:pt>
                <c:pt idx="160">
                  <c:v>13.6</c:v>
                </c:pt>
                <c:pt idx="161">
                  <c:v>13.7</c:v>
                </c:pt>
                <c:pt idx="162">
                  <c:v>13.8</c:v>
                </c:pt>
                <c:pt idx="163">
                  <c:v>13.8</c:v>
                </c:pt>
                <c:pt idx="164">
                  <c:v>13.9</c:v>
                </c:pt>
                <c:pt idx="165">
                  <c:v>14.0</c:v>
                </c:pt>
                <c:pt idx="166">
                  <c:v>14.1</c:v>
                </c:pt>
                <c:pt idx="167">
                  <c:v>14.2</c:v>
                </c:pt>
                <c:pt idx="168">
                  <c:v>14.3</c:v>
                </c:pt>
                <c:pt idx="169">
                  <c:v>14.3</c:v>
                </c:pt>
                <c:pt idx="170">
                  <c:v>14.4</c:v>
                </c:pt>
                <c:pt idx="171">
                  <c:v>14.5</c:v>
                </c:pt>
                <c:pt idx="172">
                  <c:v>14.6</c:v>
                </c:pt>
                <c:pt idx="173">
                  <c:v>14.7</c:v>
                </c:pt>
                <c:pt idx="174">
                  <c:v>14.8</c:v>
                </c:pt>
                <c:pt idx="175">
                  <c:v>14.8</c:v>
                </c:pt>
                <c:pt idx="176">
                  <c:v>14.9</c:v>
                </c:pt>
                <c:pt idx="177">
                  <c:v>15.0</c:v>
                </c:pt>
                <c:pt idx="178">
                  <c:v>15.1</c:v>
                </c:pt>
                <c:pt idx="179">
                  <c:v>15.2</c:v>
                </c:pt>
                <c:pt idx="180">
                  <c:v>15.3</c:v>
                </c:pt>
                <c:pt idx="181">
                  <c:v>15.3</c:v>
                </c:pt>
                <c:pt idx="182">
                  <c:v>15.4</c:v>
                </c:pt>
                <c:pt idx="183">
                  <c:v>15.5</c:v>
                </c:pt>
                <c:pt idx="184">
                  <c:v>15.6</c:v>
                </c:pt>
                <c:pt idx="185">
                  <c:v>15.7</c:v>
                </c:pt>
                <c:pt idx="186">
                  <c:v>15.8</c:v>
                </c:pt>
                <c:pt idx="187">
                  <c:v>15.8</c:v>
                </c:pt>
                <c:pt idx="188">
                  <c:v>15.9</c:v>
                </c:pt>
                <c:pt idx="189">
                  <c:v>16.0</c:v>
                </c:pt>
                <c:pt idx="190">
                  <c:v>16.1</c:v>
                </c:pt>
                <c:pt idx="191">
                  <c:v>16.2</c:v>
                </c:pt>
                <c:pt idx="192">
                  <c:v>16.3</c:v>
                </c:pt>
                <c:pt idx="193">
                  <c:v>16.4</c:v>
                </c:pt>
                <c:pt idx="194">
                  <c:v>16.4</c:v>
                </c:pt>
                <c:pt idx="195">
                  <c:v>16.5</c:v>
                </c:pt>
                <c:pt idx="196">
                  <c:v>16.6</c:v>
                </c:pt>
                <c:pt idx="197">
                  <c:v>16.7</c:v>
                </c:pt>
                <c:pt idx="198">
                  <c:v>16.8</c:v>
                </c:pt>
              </c:strCache>
            </c:strRef>
          </c:cat>
          <c:val>
            <c:numRef>
              <c:f>Sheet1!$D$2:$D$200</c:f>
              <c:numCache>
                <c:formatCode>General</c:formatCode>
                <c:ptCount val="199"/>
                <c:pt idx="0">
                  <c:v>220</c:v>
                </c:pt>
                <c:pt idx="1">
                  <c:v>220</c:v>
                </c:pt>
                <c:pt idx="2">
                  <c:v>220</c:v>
                </c:pt>
                <c:pt idx="3">
                  <c:v>220</c:v>
                </c:pt>
                <c:pt idx="4">
                  <c:v>220</c:v>
                </c:pt>
                <c:pt idx="5">
                  <c:v>220</c:v>
                </c:pt>
                <c:pt idx="6">
                  <c:v>220</c:v>
                </c:pt>
                <c:pt idx="7">
                  <c:v>220</c:v>
                </c:pt>
                <c:pt idx="8">
                  <c:v>220</c:v>
                </c:pt>
                <c:pt idx="9">
                  <c:v>220</c:v>
                </c:pt>
                <c:pt idx="10">
                  <c:v>220</c:v>
                </c:pt>
                <c:pt idx="11">
                  <c:v>220</c:v>
                </c:pt>
                <c:pt idx="12">
                  <c:v>220</c:v>
                </c:pt>
                <c:pt idx="13">
                  <c:v>220</c:v>
                </c:pt>
                <c:pt idx="14">
                  <c:v>220</c:v>
                </c:pt>
                <c:pt idx="15">
                  <c:v>220</c:v>
                </c:pt>
                <c:pt idx="16">
                  <c:v>220</c:v>
                </c:pt>
                <c:pt idx="17">
                  <c:v>220</c:v>
                </c:pt>
                <c:pt idx="18">
                  <c:v>220</c:v>
                </c:pt>
                <c:pt idx="19">
                  <c:v>220</c:v>
                </c:pt>
                <c:pt idx="20">
                  <c:v>220</c:v>
                </c:pt>
                <c:pt idx="21">
                  <c:v>220</c:v>
                </c:pt>
                <c:pt idx="22">
                  <c:v>220</c:v>
                </c:pt>
                <c:pt idx="23">
                  <c:v>220</c:v>
                </c:pt>
                <c:pt idx="24">
                  <c:v>220</c:v>
                </c:pt>
                <c:pt idx="25">
                  <c:v>220</c:v>
                </c:pt>
                <c:pt idx="26">
                  <c:v>220</c:v>
                </c:pt>
                <c:pt idx="27">
                  <c:v>220</c:v>
                </c:pt>
                <c:pt idx="28">
                  <c:v>220</c:v>
                </c:pt>
                <c:pt idx="29">
                  <c:v>220</c:v>
                </c:pt>
                <c:pt idx="30">
                  <c:v>220</c:v>
                </c:pt>
                <c:pt idx="31">
                  <c:v>220</c:v>
                </c:pt>
                <c:pt idx="32">
                  <c:v>220</c:v>
                </c:pt>
                <c:pt idx="33">
                  <c:v>220</c:v>
                </c:pt>
                <c:pt idx="34">
                  <c:v>220</c:v>
                </c:pt>
                <c:pt idx="35">
                  <c:v>220</c:v>
                </c:pt>
                <c:pt idx="36">
                  <c:v>220</c:v>
                </c:pt>
                <c:pt idx="37">
                  <c:v>220</c:v>
                </c:pt>
                <c:pt idx="38">
                  <c:v>220</c:v>
                </c:pt>
                <c:pt idx="39">
                  <c:v>220</c:v>
                </c:pt>
                <c:pt idx="40">
                  <c:v>220</c:v>
                </c:pt>
                <c:pt idx="41">
                  <c:v>220</c:v>
                </c:pt>
                <c:pt idx="42">
                  <c:v>220</c:v>
                </c:pt>
                <c:pt idx="43">
                  <c:v>220</c:v>
                </c:pt>
                <c:pt idx="44">
                  <c:v>220</c:v>
                </c:pt>
                <c:pt idx="45">
                  <c:v>220</c:v>
                </c:pt>
                <c:pt idx="46">
                  <c:v>220</c:v>
                </c:pt>
                <c:pt idx="47">
                  <c:v>220</c:v>
                </c:pt>
                <c:pt idx="48">
                  <c:v>220</c:v>
                </c:pt>
                <c:pt idx="49">
                  <c:v>220</c:v>
                </c:pt>
                <c:pt idx="50">
                  <c:v>220</c:v>
                </c:pt>
                <c:pt idx="51">
                  <c:v>220</c:v>
                </c:pt>
                <c:pt idx="52">
                  <c:v>220</c:v>
                </c:pt>
                <c:pt idx="53">
                  <c:v>220</c:v>
                </c:pt>
                <c:pt idx="54">
                  <c:v>220</c:v>
                </c:pt>
                <c:pt idx="55">
                  <c:v>220</c:v>
                </c:pt>
                <c:pt idx="56">
                  <c:v>220</c:v>
                </c:pt>
                <c:pt idx="57">
                  <c:v>220</c:v>
                </c:pt>
                <c:pt idx="58">
                  <c:v>220</c:v>
                </c:pt>
                <c:pt idx="59">
                  <c:v>220</c:v>
                </c:pt>
                <c:pt idx="60">
                  <c:v>220</c:v>
                </c:pt>
                <c:pt idx="61">
                  <c:v>220</c:v>
                </c:pt>
                <c:pt idx="62">
                  <c:v>220</c:v>
                </c:pt>
                <c:pt idx="63">
                  <c:v>220</c:v>
                </c:pt>
                <c:pt idx="64">
                  <c:v>220</c:v>
                </c:pt>
                <c:pt idx="65">
                  <c:v>220</c:v>
                </c:pt>
                <c:pt idx="66">
                  <c:v>220</c:v>
                </c:pt>
                <c:pt idx="67">
                  <c:v>220</c:v>
                </c:pt>
                <c:pt idx="68">
                  <c:v>220</c:v>
                </c:pt>
                <c:pt idx="69">
                  <c:v>220</c:v>
                </c:pt>
                <c:pt idx="70">
                  <c:v>220</c:v>
                </c:pt>
                <c:pt idx="71">
                  <c:v>220</c:v>
                </c:pt>
                <c:pt idx="72">
                  <c:v>220</c:v>
                </c:pt>
                <c:pt idx="73">
                  <c:v>220</c:v>
                </c:pt>
                <c:pt idx="74">
                  <c:v>220</c:v>
                </c:pt>
                <c:pt idx="75">
                  <c:v>220</c:v>
                </c:pt>
                <c:pt idx="76">
                  <c:v>220</c:v>
                </c:pt>
                <c:pt idx="77">
                  <c:v>220</c:v>
                </c:pt>
                <c:pt idx="78">
                  <c:v>220</c:v>
                </c:pt>
                <c:pt idx="79">
                  <c:v>220</c:v>
                </c:pt>
                <c:pt idx="80">
                  <c:v>220</c:v>
                </c:pt>
                <c:pt idx="81">
                  <c:v>220</c:v>
                </c:pt>
                <c:pt idx="82">
                  <c:v>220</c:v>
                </c:pt>
                <c:pt idx="83">
                  <c:v>220</c:v>
                </c:pt>
                <c:pt idx="84">
                  <c:v>220</c:v>
                </c:pt>
                <c:pt idx="85">
                  <c:v>220</c:v>
                </c:pt>
                <c:pt idx="86">
                  <c:v>220</c:v>
                </c:pt>
                <c:pt idx="87">
                  <c:v>220</c:v>
                </c:pt>
                <c:pt idx="88">
                  <c:v>220</c:v>
                </c:pt>
                <c:pt idx="89">
                  <c:v>220</c:v>
                </c:pt>
                <c:pt idx="90">
                  <c:v>220</c:v>
                </c:pt>
                <c:pt idx="91">
                  <c:v>220</c:v>
                </c:pt>
                <c:pt idx="92">
                  <c:v>220</c:v>
                </c:pt>
                <c:pt idx="93">
                  <c:v>220</c:v>
                </c:pt>
                <c:pt idx="94">
                  <c:v>220</c:v>
                </c:pt>
                <c:pt idx="95">
                  <c:v>220</c:v>
                </c:pt>
                <c:pt idx="96">
                  <c:v>220</c:v>
                </c:pt>
                <c:pt idx="97">
                  <c:v>220</c:v>
                </c:pt>
                <c:pt idx="98">
                  <c:v>220</c:v>
                </c:pt>
                <c:pt idx="99">
                  <c:v>220</c:v>
                </c:pt>
                <c:pt idx="100">
                  <c:v>220</c:v>
                </c:pt>
                <c:pt idx="101">
                  <c:v>220</c:v>
                </c:pt>
                <c:pt idx="102">
                  <c:v>220</c:v>
                </c:pt>
                <c:pt idx="103">
                  <c:v>220</c:v>
                </c:pt>
                <c:pt idx="104">
                  <c:v>220</c:v>
                </c:pt>
                <c:pt idx="105">
                  <c:v>220</c:v>
                </c:pt>
                <c:pt idx="106">
                  <c:v>220</c:v>
                </c:pt>
                <c:pt idx="107">
                  <c:v>220</c:v>
                </c:pt>
                <c:pt idx="108">
                  <c:v>220</c:v>
                </c:pt>
                <c:pt idx="109">
                  <c:v>220</c:v>
                </c:pt>
                <c:pt idx="110">
                  <c:v>220</c:v>
                </c:pt>
                <c:pt idx="111">
                  <c:v>220</c:v>
                </c:pt>
                <c:pt idx="112">
                  <c:v>220</c:v>
                </c:pt>
                <c:pt idx="113">
                  <c:v>220</c:v>
                </c:pt>
                <c:pt idx="114">
                  <c:v>220</c:v>
                </c:pt>
                <c:pt idx="115">
                  <c:v>220</c:v>
                </c:pt>
                <c:pt idx="116">
                  <c:v>220</c:v>
                </c:pt>
                <c:pt idx="117">
                  <c:v>220</c:v>
                </c:pt>
                <c:pt idx="118">
                  <c:v>220</c:v>
                </c:pt>
                <c:pt idx="119">
                  <c:v>220</c:v>
                </c:pt>
                <c:pt idx="120">
                  <c:v>220</c:v>
                </c:pt>
                <c:pt idx="121">
                  <c:v>220</c:v>
                </c:pt>
                <c:pt idx="122">
                  <c:v>220</c:v>
                </c:pt>
                <c:pt idx="123">
                  <c:v>220</c:v>
                </c:pt>
                <c:pt idx="124">
                  <c:v>220</c:v>
                </c:pt>
                <c:pt idx="125">
                  <c:v>220</c:v>
                </c:pt>
                <c:pt idx="126">
                  <c:v>220</c:v>
                </c:pt>
                <c:pt idx="127">
                  <c:v>220</c:v>
                </c:pt>
                <c:pt idx="128">
                  <c:v>220</c:v>
                </c:pt>
                <c:pt idx="129">
                  <c:v>220</c:v>
                </c:pt>
                <c:pt idx="130">
                  <c:v>220</c:v>
                </c:pt>
                <c:pt idx="131">
                  <c:v>220</c:v>
                </c:pt>
                <c:pt idx="132">
                  <c:v>220</c:v>
                </c:pt>
                <c:pt idx="133">
                  <c:v>220</c:v>
                </c:pt>
                <c:pt idx="134">
                  <c:v>220</c:v>
                </c:pt>
                <c:pt idx="135">
                  <c:v>220</c:v>
                </c:pt>
                <c:pt idx="136">
                  <c:v>220</c:v>
                </c:pt>
                <c:pt idx="137">
                  <c:v>220</c:v>
                </c:pt>
                <c:pt idx="138">
                  <c:v>220</c:v>
                </c:pt>
                <c:pt idx="139">
                  <c:v>220</c:v>
                </c:pt>
                <c:pt idx="140">
                  <c:v>220</c:v>
                </c:pt>
                <c:pt idx="141">
                  <c:v>220</c:v>
                </c:pt>
                <c:pt idx="142">
                  <c:v>220</c:v>
                </c:pt>
                <c:pt idx="143">
                  <c:v>220</c:v>
                </c:pt>
                <c:pt idx="144">
                  <c:v>220</c:v>
                </c:pt>
                <c:pt idx="145">
                  <c:v>220</c:v>
                </c:pt>
                <c:pt idx="146">
                  <c:v>220</c:v>
                </c:pt>
                <c:pt idx="147">
                  <c:v>220</c:v>
                </c:pt>
                <c:pt idx="148">
                  <c:v>220</c:v>
                </c:pt>
                <c:pt idx="149">
                  <c:v>220</c:v>
                </c:pt>
                <c:pt idx="150">
                  <c:v>220</c:v>
                </c:pt>
                <c:pt idx="151">
                  <c:v>220</c:v>
                </c:pt>
                <c:pt idx="152">
                  <c:v>220</c:v>
                </c:pt>
                <c:pt idx="153">
                  <c:v>220</c:v>
                </c:pt>
                <c:pt idx="154">
                  <c:v>220</c:v>
                </c:pt>
                <c:pt idx="155">
                  <c:v>220</c:v>
                </c:pt>
                <c:pt idx="156">
                  <c:v>220</c:v>
                </c:pt>
                <c:pt idx="157">
                  <c:v>220</c:v>
                </c:pt>
                <c:pt idx="158">
                  <c:v>220</c:v>
                </c:pt>
                <c:pt idx="159">
                  <c:v>220</c:v>
                </c:pt>
                <c:pt idx="160">
                  <c:v>220</c:v>
                </c:pt>
                <c:pt idx="161">
                  <c:v>220</c:v>
                </c:pt>
                <c:pt idx="162">
                  <c:v>220</c:v>
                </c:pt>
                <c:pt idx="163">
                  <c:v>220</c:v>
                </c:pt>
                <c:pt idx="164">
                  <c:v>220</c:v>
                </c:pt>
                <c:pt idx="165">
                  <c:v>220</c:v>
                </c:pt>
                <c:pt idx="166">
                  <c:v>220</c:v>
                </c:pt>
                <c:pt idx="167">
                  <c:v>220</c:v>
                </c:pt>
                <c:pt idx="168">
                  <c:v>220</c:v>
                </c:pt>
                <c:pt idx="169">
                  <c:v>220</c:v>
                </c:pt>
                <c:pt idx="170">
                  <c:v>220</c:v>
                </c:pt>
                <c:pt idx="171">
                  <c:v>220</c:v>
                </c:pt>
                <c:pt idx="172">
                  <c:v>220</c:v>
                </c:pt>
                <c:pt idx="173">
                  <c:v>220</c:v>
                </c:pt>
                <c:pt idx="174">
                  <c:v>220</c:v>
                </c:pt>
                <c:pt idx="175">
                  <c:v>220</c:v>
                </c:pt>
                <c:pt idx="176">
                  <c:v>220</c:v>
                </c:pt>
                <c:pt idx="177">
                  <c:v>220</c:v>
                </c:pt>
                <c:pt idx="178">
                  <c:v>220</c:v>
                </c:pt>
                <c:pt idx="179">
                  <c:v>220</c:v>
                </c:pt>
                <c:pt idx="180">
                  <c:v>220</c:v>
                </c:pt>
                <c:pt idx="181">
                  <c:v>220</c:v>
                </c:pt>
                <c:pt idx="182">
                  <c:v>220</c:v>
                </c:pt>
                <c:pt idx="183">
                  <c:v>220</c:v>
                </c:pt>
                <c:pt idx="184">
                  <c:v>220</c:v>
                </c:pt>
                <c:pt idx="185">
                  <c:v>220</c:v>
                </c:pt>
                <c:pt idx="186">
                  <c:v>220</c:v>
                </c:pt>
                <c:pt idx="187">
                  <c:v>220</c:v>
                </c:pt>
                <c:pt idx="188">
                  <c:v>220</c:v>
                </c:pt>
                <c:pt idx="189">
                  <c:v>220</c:v>
                </c:pt>
                <c:pt idx="190">
                  <c:v>220</c:v>
                </c:pt>
                <c:pt idx="191">
                  <c:v>220</c:v>
                </c:pt>
                <c:pt idx="192">
                  <c:v>220</c:v>
                </c:pt>
                <c:pt idx="193">
                  <c:v>220</c:v>
                </c:pt>
                <c:pt idx="194">
                  <c:v>220</c:v>
                </c:pt>
                <c:pt idx="195">
                  <c:v>220</c:v>
                </c:pt>
                <c:pt idx="196">
                  <c:v>220</c:v>
                </c:pt>
                <c:pt idx="197">
                  <c:v>220</c:v>
                </c:pt>
                <c:pt idx="198">
                  <c:v>220</c:v>
                </c:pt>
              </c:numCache>
            </c:numRef>
          </c:val>
          <c:smooth val="0"/>
          <c:extLst>
            <c:ext xmlns:c16="http://schemas.microsoft.com/office/drawing/2014/chart" uri="{C3380CC4-5D6E-409C-BE32-E72D297353CC}">
              <c16:uniqueId val="{00000002-55FF-4424-AABF-46B4BB6D7E9B}"/>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200" b="0" i="0" u="none" strike="noStrike">
                    <a:solidFill>
                      <a:srgbClr val="6B7768"/>
                    </a:solidFill>
                    <a:latin typeface="+mn-lt"/>
                  </a:defRPr>
                </a:pPr>
                <a:r>
                  <a:rPr lang="en-US" sz="1200" b="0" i="0" u="none" strike="noStrike">
                    <a:solidFill>
                      <a:srgbClr val="6B7768"/>
                    </a:solidFill>
                    <a:latin typeface="+mn-lt"/>
                  </a:rPr>
                  <a:t>minutes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2"/>
        <c:crosses val="autoZero"/>
        <c:auto val="1"/>
        <c:lblAlgn val="ctr"/>
        <c:lblOffset val="100"/>
        <c:tickLblSkip val="24"/>
        <c:noMultiLvlLbl val="1"/>
      </c:catAx>
      <c:valAx>
        <c:axId val="2094734552"/>
        <c:scaling>
          <c:orientation val="minMax"/>
          <c:max val="2000"/>
        </c:scaling>
        <c:delete val="0"/>
        <c:axPos val="l"/>
        <c:majorGridlines>
          <c:spPr>
            <a:ln w="9525" cap="flat">
              <a:solidFill>
                <a:srgbClr val="D3DED0"/>
              </a:solidFill>
              <a:prstDash val="solid"/>
              <a:round/>
            </a:ln>
          </c:spPr>
        </c:majorGridlines>
        <c:title>
          <c:tx>
            <c:rich>
              <a:bodyPr/>
              <a:lstStyle/>
              <a:p>
                <a:pPr>
                  <a:defRPr sz="1200" b="0" i="0" u="none" strike="noStrike">
                    <a:solidFill>
                      <a:srgbClr val="6B7768"/>
                    </a:solidFill>
                    <a:latin typeface="+mn-lt"/>
                  </a:defRPr>
                </a:pPr>
                <a:r>
                  <a:rPr lang="en-US" sz="1200" b="0" i="0" u="none" strike="noStrike">
                    <a:solidFill>
                      <a:srgbClr val="6B7768"/>
                    </a:solidFill>
                    <a:latin typeface="+mn-lt"/>
                  </a:rPr>
                  <a:t>ppb</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62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500" b="0" i="0" u="none" strike="noStrike">
                <a:solidFill>
                  <a:srgbClr val="173F2A"/>
                </a:solidFill>
                <a:latin typeface="+mn-lt"/>
              </a:defRPr>
            </a:pPr>
            <a:r>
              <a:rPr lang="en-US" sz="1500" b="0" i="0" u="none" strike="noStrike">
                <a:solidFill>
                  <a:srgbClr val="173F2A"/>
                </a:solidFill>
                <a:latin typeface="+mn-lt"/>
              </a:rPr>
              <a:t>Trot speed (m/s)</a:t>
            </a:r>
          </a:p>
        </c:rich>
      </c:tx>
      <c:overlay val="0"/>
    </c:title>
    <c:autoTitleDeleted val="0"/>
    <c:plotArea>
      <c:layout/>
      <c:lineChart>
        <c:grouping val="standard"/>
        <c:varyColors val="0"/>
        <c:ser>
          <c:idx val="0"/>
          <c:order val="0"/>
          <c:tx>
            <c:strRef>
              <c:f>Sheet1!$B$1</c:f>
              <c:strCache>
                <c:ptCount val="1"/>
                <c:pt idx="0">
                  <c:v>Commanded</c:v>
                </c:pt>
              </c:strCache>
            </c:strRef>
          </c:tx>
          <c:spPr>
            <a:ln w="31750" cap="flat">
              <a:solidFill>
                <a:srgbClr val="6B7768"/>
              </a:solidFill>
              <a:prstDash val="solid"/>
              <a:round/>
            </a:ln>
            <a:effectLst/>
          </c:spPr>
          <c:marker>
            <c:symbol val="circle"/>
            <c:size val="6"/>
            <c:spPr>
              <a:solidFill>
                <a:srgbClr val="6B7768"/>
              </a:solidFill>
              <a:ln w="9525" cap="flat">
                <a:solidFill>
                  <a:srgbClr val="6B7768"/>
                </a:solidFill>
                <a:prstDash val="solid"/>
                <a:round/>
              </a:ln>
              <a:effectLst/>
            </c:spPr>
          </c:marker>
          <c:cat>
            <c:strRef>
              <c:f>Sheet1!$A$2:$A$11</c:f>
              <c:strCache>
                <c:ptCount val="10"/>
                <c:pt idx="0">
                  <c:v>0.06</c:v>
                </c:pt>
                <c:pt idx="1">
                  <c:v>0.08</c:v>
                </c:pt>
                <c:pt idx="2">
                  <c:v>0.10</c:v>
                </c:pt>
                <c:pt idx="3">
                  <c:v>0.12</c:v>
                </c:pt>
                <c:pt idx="4">
                  <c:v>0.14</c:v>
                </c:pt>
                <c:pt idx="5">
                  <c:v>0.16</c:v>
                </c:pt>
                <c:pt idx="6">
                  <c:v>0.18</c:v>
                </c:pt>
                <c:pt idx="7">
                  <c:v>0.20</c:v>
                </c:pt>
                <c:pt idx="8">
                  <c:v>0.22</c:v>
                </c:pt>
                <c:pt idx="9">
                  <c:v>0.24</c:v>
                </c:pt>
              </c:strCache>
            </c:strRef>
          </c:cat>
          <c:val>
            <c:numRef>
              <c:f>Sheet1!$B$2:$B$11</c:f>
              <c:numCache>
                <c:formatCode>General</c:formatCode>
                <c:ptCount val="10"/>
                <c:pt idx="0">
                  <c:v>0.06</c:v>
                </c:pt>
                <c:pt idx="1">
                  <c:v>0.08</c:v>
                </c:pt>
                <c:pt idx="2">
                  <c:v>0.1</c:v>
                </c:pt>
                <c:pt idx="3">
                  <c:v>0.12</c:v>
                </c:pt>
                <c:pt idx="4">
                  <c:v>0.14000000000000001</c:v>
                </c:pt>
                <c:pt idx="5">
                  <c:v>0.16</c:v>
                </c:pt>
                <c:pt idx="6">
                  <c:v>0.18</c:v>
                </c:pt>
                <c:pt idx="7">
                  <c:v>0.2</c:v>
                </c:pt>
                <c:pt idx="8">
                  <c:v>0.22</c:v>
                </c:pt>
                <c:pt idx="9">
                  <c:v>0.24</c:v>
                </c:pt>
              </c:numCache>
            </c:numRef>
          </c:val>
          <c:smooth val="0"/>
          <c:extLst>
            <c:ext xmlns:c16="http://schemas.microsoft.com/office/drawing/2014/chart" uri="{C3380CC4-5D6E-409C-BE32-E72D297353CC}">
              <c16:uniqueId val="{00000000-ED8B-4E7C-A48A-E0267789510E}"/>
            </c:ext>
          </c:extLst>
        </c:ser>
        <c:ser>
          <c:idx val="1"/>
          <c:order val="1"/>
          <c:tx>
            <c:strRef>
              <c:f>Sheet1!$C$1</c:f>
              <c:strCache>
                <c:ptCount val="1"/>
                <c:pt idx="0">
                  <c:v>Achieved</c:v>
                </c:pt>
              </c:strCache>
            </c:strRef>
          </c:tx>
          <c:spPr>
            <a:ln w="31750" cap="flat">
              <a:solidFill>
                <a:srgbClr val="2F7D46"/>
              </a:solidFill>
              <a:prstDash val="solid"/>
              <a:round/>
            </a:ln>
            <a:effectLst/>
          </c:spPr>
          <c:marker>
            <c:symbol val="circle"/>
            <c:size val="6"/>
            <c:spPr>
              <a:solidFill>
                <a:srgbClr val="2F7D46"/>
              </a:solidFill>
              <a:ln w="9525" cap="flat">
                <a:solidFill>
                  <a:srgbClr val="2F7D46"/>
                </a:solidFill>
                <a:prstDash val="solid"/>
                <a:round/>
              </a:ln>
              <a:effectLst/>
            </c:spPr>
          </c:marker>
          <c:cat>
            <c:strRef>
              <c:f>Sheet1!$A$2:$A$11</c:f>
              <c:strCache>
                <c:ptCount val="10"/>
                <c:pt idx="0">
                  <c:v>0.06</c:v>
                </c:pt>
                <c:pt idx="1">
                  <c:v>0.08</c:v>
                </c:pt>
                <c:pt idx="2">
                  <c:v>0.10</c:v>
                </c:pt>
                <c:pt idx="3">
                  <c:v>0.12</c:v>
                </c:pt>
                <c:pt idx="4">
                  <c:v>0.14</c:v>
                </c:pt>
                <c:pt idx="5">
                  <c:v>0.16</c:v>
                </c:pt>
                <c:pt idx="6">
                  <c:v>0.18</c:v>
                </c:pt>
                <c:pt idx="7">
                  <c:v>0.20</c:v>
                </c:pt>
                <c:pt idx="8">
                  <c:v>0.22</c:v>
                </c:pt>
                <c:pt idx="9">
                  <c:v>0.24</c:v>
                </c:pt>
              </c:strCache>
            </c:strRef>
          </c:cat>
          <c:val>
            <c:numRef>
              <c:f>Sheet1!$C$2:$C$11</c:f>
              <c:numCache>
                <c:formatCode>General</c:formatCode>
                <c:ptCount val="10"/>
                <c:pt idx="0">
                  <c:v>5.2999999999999999E-2</c:v>
                </c:pt>
                <c:pt idx="1">
                  <c:v>7.4999999999999997E-2</c:v>
                </c:pt>
                <c:pt idx="2">
                  <c:v>9.6000000000000002E-2</c:v>
                </c:pt>
                <c:pt idx="3">
                  <c:v>0.115</c:v>
                </c:pt>
                <c:pt idx="4">
                  <c:v>0.13400000000000001</c:v>
                </c:pt>
                <c:pt idx="5">
                  <c:v>0.151</c:v>
                </c:pt>
                <c:pt idx="6">
                  <c:v>0.16800000000000001</c:v>
                </c:pt>
                <c:pt idx="7">
                  <c:v>0.14699999999999999</c:v>
                </c:pt>
                <c:pt idx="8">
                  <c:v>0.10199999999999999</c:v>
                </c:pt>
                <c:pt idx="9">
                  <c:v>0.16600000000000001</c:v>
                </c:pt>
              </c:numCache>
            </c:numRef>
          </c:val>
          <c:smooth val="0"/>
          <c:extLst>
            <c:ext xmlns:c16="http://schemas.microsoft.com/office/drawing/2014/chart" uri="{C3380CC4-5D6E-409C-BE32-E72D297353CC}">
              <c16:uniqueId val="{00000001-ED8B-4E7C-A48A-E0267789510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6B7768"/>
                    </a:solidFill>
                    <a:latin typeface="+mn-lt"/>
                  </a:defRPr>
                </a:pPr>
                <a:r>
                  <a:rPr lang="en-US" sz="1200" b="0" i="0" u="none" strike="noStrike">
                    <a:solidFill>
                      <a:srgbClr val="6B7768"/>
                    </a:solidFill>
                    <a:latin typeface="+mn-lt"/>
                  </a:rPr>
                  <a:t>commanded speed (m/s)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2"/>
        <c:crosses val="autoZero"/>
        <c:auto val="1"/>
        <c:lblAlgn val="ctr"/>
        <c:lblOffset val="100"/>
        <c:noMultiLvlLbl val="1"/>
      </c:catAx>
      <c:valAx>
        <c:axId val="2094734552"/>
        <c:scaling>
          <c:orientation val="minMax"/>
          <c:max val="0.25"/>
          <c:min val="0"/>
        </c:scaling>
        <c:delete val="0"/>
        <c:axPos val="l"/>
        <c:majorGridlines>
          <c:spPr>
            <a:ln w="9525" cap="flat">
              <a:solidFill>
                <a:srgbClr val="D3DE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B262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500" b="0" i="0" u="none" strike="noStrike">
                <a:solidFill>
                  <a:srgbClr val="173F2A"/>
                </a:solidFill>
                <a:latin typeface="+mn-lt"/>
              </a:defRPr>
            </a:pPr>
            <a:r>
              <a:rPr lang="en-US" sz="1500" b="0" i="0" u="none" strike="noStrike">
                <a:solidFill>
                  <a:srgbClr val="173F2A"/>
                </a:solidFill>
                <a:latin typeface="+mn-lt"/>
              </a:rPr>
              <a:t>Time a servo is at its torque limit (%)</a:t>
            </a:r>
          </a:p>
        </c:rich>
      </c:tx>
      <c:overlay val="0"/>
    </c:title>
    <c:autoTitleDeleted val="0"/>
    <c:plotArea>
      <c:layout/>
      <c:barChart>
        <c:barDir val="col"/>
        <c:grouping val="clustered"/>
        <c:varyColors val="0"/>
        <c:ser>
          <c:idx val="0"/>
          <c:order val="0"/>
          <c:tx>
            <c:strRef>
              <c:f>Sheet1!$B$1</c:f>
              <c:strCache>
                <c:ptCount val="1"/>
                <c:pt idx="0">
                  <c:v>Time at torque limit</c:v>
                </c:pt>
              </c:strCache>
            </c:strRef>
          </c:tx>
          <c:spPr>
            <a:solidFill>
              <a:srgbClr val="2F7D46"/>
            </a:solidFill>
            <a:effectLst/>
          </c:spPr>
          <c:invertIfNegative val="0"/>
          <c:dPt>
            <c:idx val="0"/>
            <c:invertIfNegative val="0"/>
            <c:bubble3D val="0"/>
            <c:extLst>
              <c:ext xmlns:c16="http://schemas.microsoft.com/office/drawing/2014/chart" uri="{C3380CC4-5D6E-409C-BE32-E72D297353CC}">
                <c16:uniqueId val="{00000001-B314-40A6-971C-34D4496877F7}"/>
              </c:ext>
            </c:extLst>
          </c:dPt>
          <c:dPt>
            <c:idx val="1"/>
            <c:invertIfNegative val="0"/>
            <c:bubble3D val="0"/>
            <c:extLst>
              <c:ext xmlns:c16="http://schemas.microsoft.com/office/drawing/2014/chart" uri="{C3380CC4-5D6E-409C-BE32-E72D297353CC}">
                <c16:uniqueId val="{00000003-B314-40A6-971C-34D4496877F7}"/>
              </c:ext>
            </c:extLst>
          </c:dPt>
          <c:dPt>
            <c:idx val="2"/>
            <c:invertIfNegative val="0"/>
            <c:bubble3D val="0"/>
            <c:extLst>
              <c:ext xmlns:c16="http://schemas.microsoft.com/office/drawing/2014/chart" uri="{C3380CC4-5D6E-409C-BE32-E72D297353CC}">
                <c16:uniqueId val="{00000005-B314-40A6-971C-34D4496877F7}"/>
              </c:ext>
            </c:extLst>
          </c:dPt>
          <c:dPt>
            <c:idx val="3"/>
            <c:invertIfNegative val="0"/>
            <c:bubble3D val="0"/>
            <c:extLst>
              <c:ext xmlns:c16="http://schemas.microsoft.com/office/drawing/2014/chart" uri="{C3380CC4-5D6E-409C-BE32-E72D297353CC}">
                <c16:uniqueId val="{00000007-B314-40A6-971C-34D4496877F7}"/>
              </c:ext>
            </c:extLst>
          </c:dPt>
          <c:dPt>
            <c:idx val="4"/>
            <c:invertIfNegative val="0"/>
            <c:bubble3D val="0"/>
            <c:extLst>
              <c:ext xmlns:c16="http://schemas.microsoft.com/office/drawing/2014/chart" uri="{C3380CC4-5D6E-409C-BE32-E72D297353CC}">
                <c16:uniqueId val="{00000009-B314-40A6-971C-34D4496877F7}"/>
              </c:ext>
            </c:extLst>
          </c:dPt>
          <c:dPt>
            <c:idx val="5"/>
            <c:invertIfNegative val="0"/>
            <c:bubble3D val="0"/>
            <c:extLst>
              <c:ext xmlns:c16="http://schemas.microsoft.com/office/drawing/2014/chart" uri="{C3380CC4-5D6E-409C-BE32-E72D297353CC}">
                <c16:uniqueId val="{0000000B-B314-40A6-971C-34D4496877F7}"/>
              </c:ext>
            </c:extLst>
          </c:dPt>
          <c:dPt>
            <c:idx val="6"/>
            <c:invertIfNegative val="0"/>
            <c:bubble3D val="0"/>
            <c:extLst>
              <c:ext xmlns:c16="http://schemas.microsoft.com/office/drawing/2014/chart" uri="{C3380CC4-5D6E-409C-BE32-E72D297353CC}">
                <c16:uniqueId val="{0000000D-B314-40A6-971C-34D4496877F7}"/>
              </c:ext>
            </c:extLst>
          </c:dPt>
          <c:dPt>
            <c:idx val="7"/>
            <c:invertIfNegative val="0"/>
            <c:bubble3D val="0"/>
            <c:spPr>
              <a:solidFill>
                <a:srgbClr val="C98A0B"/>
              </a:solidFill>
              <a:effectLst/>
            </c:spPr>
            <c:extLst>
              <c:ext xmlns:c16="http://schemas.microsoft.com/office/drawing/2014/chart" uri="{C3380CC4-5D6E-409C-BE32-E72D297353CC}">
                <c16:uniqueId val="{0000000F-B314-40A6-971C-34D4496877F7}"/>
              </c:ext>
            </c:extLst>
          </c:dPt>
          <c:dPt>
            <c:idx val="8"/>
            <c:invertIfNegative val="0"/>
            <c:bubble3D val="0"/>
            <c:spPr>
              <a:solidFill>
                <a:srgbClr val="B3261E"/>
              </a:solidFill>
              <a:effectLst/>
            </c:spPr>
            <c:extLst>
              <c:ext xmlns:c16="http://schemas.microsoft.com/office/drawing/2014/chart" uri="{C3380CC4-5D6E-409C-BE32-E72D297353CC}">
                <c16:uniqueId val="{00000011-B314-40A6-971C-34D4496877F7}"/>
              </c:ext>
            </c:extLst>
          </c:dPt>
          <c:dPt>
            <c:idx val="9"/>
            <c:invertIfNegative val="0"/>
            <c:bubble3D val="0"/>
            <c:spPr>
              <a:solidFill>
                <a:srgbClr val="C98A0B"/>
              </a:solidFill>
              <a:effectLst/>
            </c:spPr>
            <c:extLst>
              <c:ext xmlns:c16="http://schemas.microsoft.com/office/drawing/2014/chart" uri="{C3380CC4-5D6E-409C-BE32-E72D297353CC}">
                <c16:uniqueId val="{00000013-B314-40A6-971C-34D4496877F7}"/>
              </c:ext>
            </c:extLst>
          </c:dPt>
          <c:dLbls>
            <c:numFmt formatCode="#,##0" sourceLinked="0"/>
            <c:spPr>
              <a:noFill/>
              <a:ln>
                <a:noFill/>
              </a:ln>
              <a:effectLst/>
            </c:spPr>
            <c:txPr>
              <a:bodyPr/>
              <a:lstStyle/>
              <a:p>
                <a:pPr>
                  <a:defRPr sz="1100" b="0" i="0" u="none" strike="noStrike">
                    <a:solidFill>
                      <a:srgbClr val="1B26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0.06</c:v>
                </c:pt>
                <c:pt idx="1">
                  <c:v>0.08</c:v>
                </c:pt>
                <c:pt idx="2">
                  <c:v>0.10</c:v>
                </c:pt>
                <c:pt idx="3">
                  <c:v>0.12</c:v>
                </c:pt>
                <c:pt idx="4">
                  <c:v>0.14</c:v>
                </c:pt>
                <c:pt idx="5">
                  <c:v>0.16</c:v>
                </c:pt>
                <c:pt idx="6">
                  <c:v>0.18</c:v>
                </c:pt>
                <c:pt idx="7">
                  <c:v>0.20</c:v>
                </c:pt>
                <c:pt idx="8">
                  <c:v>0.22</c:v>
                </c:pt>
                <c:pt idx="9">
                  <c:v>0.24</c:v>
                </c:pt>
              </c:strCache>
            </c:strRef>
          </c:cat>
          <c:val>
            <c:numRef>
              <c:f>Sheet1!$B$2:$B$11</c:f>
              <c:numCache>
                <c:formatCode>General</c:formatCode>
                <c:ptCount val="10"/>
                <c:pt idx="0">
                  <c:v>8</c:v>
                </c:pt>
                <c:pt idx="1">
                  <c:v>8</c:v>
                </c:pt>
                <c:pt idx="2">
                  <c:v>8</c:v>
                </c:pt>
                <c:pt idx="3">
                  <c:v>8</c:v>
                </c:pt>
                <c:pt idx="4">
                  <c:v>15</c:v>
                </c:pt>
                <c:pt idx="5">
                  <c:v>22</c:v>
                </c:pt>
                <c:pt idx="6">
                  <c:v>34</c:v>
                </c:pt>
                <c:pt idx="7">
                  <c:v>68</c:v>
                </c:pt>
                <c:pt idx="8">
                  <c:v>78</c:v>
                </c:pt>
                <c:pt idx="9">
                  <c:v>77</c:v>
                </c:pt>
              </c:numCache>
            </c:numRef>
          </c:val>
          <c:extLst>
            <c:ext xmlns:c16="http://schemas.microsoft.com/office/drawing/2014/chart" uri="{C3380CC4-5D6E-409C-BE32-E72D297353CC}">
              <c16:uniqueId val="{00000014-B314-40A6-971C-34D4496877F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sz="1200" b="0" i="0" u="none" strike="noStrike">
                    <a:solidFill>
                      <a:srgbClr val="6B7768"/>
                    </a:solidFill>
                    <a:latin typeface="+mn-lt"/>
                  </a:defRPr>
                </a:pPr>
                <a:r>
                  <a:rPr lang="en-US" sz="1200" b="0" i="0" u="none" strike="noStrike">
                    <a:solidFill>
                      <a:srgbClr val="6B7768"/>
                    </a:solidFill>
                    <a:latin typeface="+mn-lt"/>
                  </a:rPr>
                  <a:t>commanded speed (m/s)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3DE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768"/>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500" b="0" i="0" u="none" strike="noStrike">
                <a:solidFill>
                  <a:srgbClr val="173F2A"/>
                </a:solidFill>
                <a:latin typeface="+mn-lt"/>
              </a:defRPr>
            </a:pPr>
            <a:r>
              <a:rPr lang="en-US" sz="1500" b="0" i="0" u="none" strike="noStrike">
                <a:solidFill>
                  <a:srgbClr val="173F2A"/>
                </a:solidFill>
                <a:latin typeface="+mn-lt"/>
              </a:rPr>
              <a:t>Purchased and listed component costs (₹)</a:t>
            </a:r>
          </a:p>
        </c:rich>
      </c:tx>
      <c:overlay val="0"/>
    </c:title>
    <c:autoTitleDeleted val="0"/>
    <c:plotArea>
      <c:layout/>
      <c:barChart>
        <c:barDir val="bar"/>
        <c:grouping val="clustered"/>
        <c:varyColors val="0"/>
        <c:ser>
          <c:idx val="0"/>
          <c:order val="0"/>
          <c:tx>
            <c:strRef>
              <c:f>Sheet1!$B$1</c:f>
              <c:strCache>
                <c:ptCount val="1"/>
                <c:pt idx="0">
                  <c:v>Cost (₹)</c:v>
                </c:pt>
              </c:strCache>
            </c:strRef>
          </c:tx>
          <c:spPr>
            <a:solidFill>
              <a:srgbClr val="2F7D46"/>
            </a:solidFill>
            <a:effectLst/>
          </c:spPr>
          <c:invertIfNegative val="0"/>
          <c:dLbls>
            <c:numFmt formatCode="#,##0" sourceLinked="0"/>
            <c:spPr>
              <a:noFill/>
              <a:ln>
                <a:noFill/>
              </a:ln>
              <a:effectLst/>
            </c:spPr>
            <c:txPr>
              <a:bodyPr/>
              <a:lstStyle/>
              <a:p>
                <a:pPr>
                  <a:defRPr sz="1200" b="0" i="0" u="none" strike="noStrike">
                    <a:solidFill>
                      <a:srgbClr val="1B26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Printed chassis, 35 parts</c:v>
                </c:pt>
                <c:pt idx="1">
                  <c:v>12 × MG996R servos (listed)</c:v>
                </c:pt>
                <c:pt idx="2">
                  <c:v>ESP32-CAM (OV3660)</c:v>
                </c:pt>
                <c:pt idx="3">
                  <c:v>PCA9685 servo driver (listed)</c:v>
                </c:pt>
                <c:pt idx="4">
                  <c:v>ESP32-CAM-MB adapter</c:v>
                </c:pt>
              </c:strCache>
            </c:strRef>
          </c:cat>
          <c:val>
            <c:numRef>
              <c:f>Sheet1!$B$2:$B$6</c:f>
              <c:numCache>
                <c:formatCode>General</c:formatCode>
                <c:ptCount val="5"/>
                <c:pt idx="0">
                  <c:v>5200</c:v>
                </c:pt>
                <c:pt idx="1">
                  <c:v>3996</c:v>
                </c:pt>
                <c:pt idx="2">
                  <c:v>689</c:v>
                </c:pt>
                <c:pt idx="3">
                  <c:v>249</c:v>
                </c:pt>
                <c:pt idx="4">
                  <c:v>119</c:v>
                </c:pt>
              </c:numCache>
            </c:numRef>
          </c:val>
          <c:extLst>
            <c:ext xmlns:c16="http://schemas.microsoft.com/office/drawing/2014/chart" uri="{C3380CC4-5D6E-409C-BE32-E72D297353CC}">
              <c16:uniqueId val="{00000000-902B-42D7-9A11-D6B4DE0BB413}"/>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6B7768"/>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431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[30 s]
Good morning. We are Adithya, Siddhesh and Rachit, and our guide is Dr. Lakshmanan K.
Our project is a low-cost quadruped robot for precision agriculture. It is 3D-printed, it carries wireless sensors for crop-level air quality, a camera for leaf-disease detection, and its walking was designed and validated in a physics simulator before we powered the real servos.
In one line: the sensing payload works end to end, the gait works in simulation with real servo limits, and the real robot now stands and moves its legs.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[30 s]
We have organised the talk around the six criteria of the panel rubric, so you can find the evidence for each one.
Section 1 is the domain and the problem. Section 2 is our methodology and design: architecture, data flow and the algorithms. Section 3 shows what was completed and how it fits together, and ends with the live demo. Section 4 is testing and results, from the hardware and from the simulation. Section 5 covers what is new, cost, ethics and practical use, along with limitations and future work. Section 6 concludes.
The slide numbers on the right show where each section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 s]
Let us start with the problem and why it matters.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The FAO estimates that 20 to 40 percent of global crop production is lost to pests and diseases every year. A field study by Savary and colleagues, covering five staple crops in 67 countries, put the losses at 10 to 28 percent for wheat, 25 to 41 percent for rice and 20 to 41 percent for maize.
Much of this damage is preventable if disease is caught early, and early detection needs close, frequent observation at crop level. The platforms used today each fall short in a different way:
- Drones fly over the canopy. They have short flight times and cannot see leaf undersides or sample the air between rows.
- Wheeled rovers lose traction in mud, soft soil and narrow furrows.
- Fixed IoT sensor nodes measure only the spot where they stand.
- Legged research robots like ANYmal can handle the terrain, but they cost far more than a small farm can afford.
If asked:
- "Why does air quality matter for crops?" Stressed and diseased plants change the volatile organic compounds they emit, so a rise in VOCs near a plant can be an early warning sign before symptoms are visible.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This table compares the platforms on four needs: sensing close to the leaves, moving on soft soil and in furrows, covering the whole field, and being affordable for a small farm.
Each existing option fails at least one. Drones cannot sense at leaf level. Rovers cannot handle furrows. Fixed nodes cannot cover the field. Research quadrupeds tick every box except cost.
A legged robot walks where a farmer walks: it places each foot, so it can step between plants and over furrows. The question our project tackles is whether a legged monitoring robot can be built cheaply, with printed parts and hobby servos, and still work.
If asked:
- "Is this table measured?" No. It is a qualitative summary drawn from the literature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We surveyed 18 papers in four groups. The full table is in the backup slides at the end.
- Legged locomotion, papers 1 to 6: MIT Cheetah 3, Mini Cheetah, ANYmal and Stanford Doggo show what legged robots can do, using custom actuators and controllers such as model-predictive control and learned policies. None of them carries an agricultural payload, and most are very expensive.
- Field robots and drones, papers 7 to 10: wheeled rovers fail in mud and soft soil, and drones cannot see under the canopy.
- Leaf-disease deep learning, papers 11 to 15: CNNs reach 97 to 99 percent accuracy on the PlantVillage dataset, and MobileNetV2 is efficient enough for low-power devices. But the images are lab photos on plain backgrounds, and these models are closed-set: they will label anything they see as one of their diseases.
- IoT sensing, papers 16 to 18: these use stationary sensor nodes, which leave coverage gaps.
If asked:
- "Which paper is closest to your work?" Saleem et al. conclude that field-ready disease detection needs ground robots that bring the camera close to the leaves, which is what our robot does.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From the survey we identified four gaps. Each has a direct answer in our build.
1. Low-cost legged robots have not carried a crop-sensing payload, and nobody has quantified whether hobby servos are strong enough. We built a printed 12-servo quadruped with two sensing nodes, and a physics model that uses the real MG996R torque limit.
2. Crop sensing relies on fixed nodes. We put a wireless sensor node on the robot that reports every five seconds to a logging dashboard.
3. Disease classifiers are closed-set and will report a disease for a photo of a wall. We added a vegetation gate that checks there is a leaf before the classifier is allowed to answer.
4. Hobby quadruped designs give no guidance on centre of mass or the speed servos allow. We measured both: the centre of mass sits 12 millimetres behind the body centre, and the trot is limited to about 0.18 metres per second.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We had four objectives:
- Mobility: a low-cost printed quadruped whose gait is validated against real servo limits, then tested on the robot.
- Sensing: gas, dust, temperature and range on the chassis.
- Plant-health AI: leaf-disease classification that first checks a leaf is in view.
- A live dashboard: logging, live charts, and leaf images tagged with the air readings at the moment of capture.
In scope: the printed platform, both sensing nodes, the dashboard and classifier, the locomotion design and simulation, and the first actuation trials on the robot.
Out of scope: trials on a working farm, calibrating the sensors against reference instruments, training our own classifier, and GPS mapping.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 s]
Now the methodology and technical design.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We worked in six steps.
1. Analyse. We analysed the Review III plan for torque, power and heat, and found problems.
2. Revise. We moved inference off the robot to a laptop, and split sensing across two inexpensive ESP32 boards.
3. Build sensing. We wrote the sensor-node and camera firmware and wired the sensors through voltage dividers.
4. Build software. We built the Flask dashboard, the logging, and the gated classifier.
5. Simulate. We derived the leg kinematics and developed the gait in MuJoCo, with the servos limited to their real torque, before risking the hardware.
6. Validate. Bench tests, logged sessions, camera scans and leg actuation on the real robot.
The guiding principle was that every design change had to come from a measurement or an analysis, not a guess.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These are the main changes since Review III, with the reason for each.
- The Jetson Orin Nano is gone. It needs a 9 to 19 volt supply and dissipates 7 to 25 watts inside a PLA body, which softens near 60 °C. It also barely fitted the bay, and a fall would put an expensive board at risk. Inference now runs on a laptop, which needs no GPU for one image at a time.
- The IMX219 CSI camera was replaced, because the ESP32-S3 has no MIPI-CSI interface. We use an ESP32-CAM that streams over Wi-Fi.
- ROS 2 and MQTT were replaced with plain HTTP and JSON to a Flask server. That means fewer moving parts, with all devices on one local network.
- Gazebo was replaced with MuJoCo. In Gazebo the robot never held a stable stance, while MuJoCo models torque-limited servos directly.
- The LiPo battery came off the robot for safety during bench work.
If asked:
- "Isn't this a step back from onboard AI?" For monitoring, a few images a minute is enough, and the laptop does that in under 100 milliseconds with no risk to the hardware.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There are three parts, all on one Wi-Fi hotspot hosted by the laptop, which always takes the address 192.168.137.1.
- The sensor node is a Seeed XIAO ESP32-S3 on its expansion board. It reads the SGP30 gas sensor and the MCP9808 temperature sensor over I2C, the PPD42 dust sensor on a digital pin, and two ultrasonic sensors. It has its own OLED screen, buzzer and button, and posts a JSON record every five seconds.
- The camera node is an ESP32-CAM with an OV3660 sensor. It streams Motion-JPEG video on port 81, serves single photos on port 80, and registers itself with the dashboard at boot.
- The laptop runs the Flask dashboard: it logs every reading to CSV, runs the classifier, and relays the video to every viewer.
The robot carries only two cheap microcontrollers, and all the heavy computation is on the laptop. Any phone on the hotspot can open the dashboard.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There are two data streams.
Sensor stream:
1. The node samples gas every second, temperature every two seconds, and dust over 30-second windows.
2. Every five seconds it posts a JSON record to /api/sensors on the laptop.
3. The dashboard grades each reading good, moderate or high.
4. It appends the reading to a daily CSV file and updates the live cards.
Camera stream:
1. The ESP32-CAM streams Motion-JPEG.
2. The dashboard holds one connection to the camera and relays frames to every browser, so extra viewers add no load on the camera.
3. On a scan, the frame goes through the vegetation gate and then MobileNetV2.
4. The image is saved with a banner showing crop, condition and confidence, together with the sensor readings at that moment.
That last step is the link between plant health and the environment around the plant.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This is the sensor node, with live readings and its IP address on the OLED.
The table shows each sensor:
- The SGP30 for TVOC and eCO2, the MCP9808 for temperature, and the PPD42 dust sensor are all live.
- The ultrasonic sensors have complete firmware but are not wired on this build. In the simulation they are what detects the end of each row.
One electrical detail matters here. The XIAO's pins tolerate only 3.3 volts, but the PPD42 outputs about 4 volts and the ultrasonic echo is 5 volts. So each of those signals goes through a 1 kΩ / 2 kΩ divider, which brings 5 V down to 3.33 V and 4 V down to 2.67 V, still a clean logic high.
If asked:
- "Why is the SGP30 read every second?" Its on-chip baseline compensation expects a 1 Hz read rate, and its first 15 seconds are flagged as warm-up.
- "eCO2 versus real CO2?" eCO2 is estimated from VOCs; it is not a true CO2 measurement.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These are the firmware algorithms, several of which came from faults we found in testing.
- Dust. The PPD42 pulls its output low while particles pass its light beam. An interrupt on every edge measures the total low time over a 30-second window. The low percentage r goes into the manufacturer's curve, C = 1.1 r³ − 3.8 r² + 520 r + 0.62 particles per 0.01 cubic foot.
- Absent-sensor detection. With the PPD42 unplugged, the pin read low for the whole window, and the curve reported 1.1 million particles and sounded the alarm. Now a window with no edges and a low line is reported as "absent", and the pin has a pull-down.
- Range. Range uses the speed of sound corrected for temperature, c = 331.3 + 0.606 T. A fixed 343 m/s would be about 3 percent off at 35 °C.
- Ultrasonic crosstalk. The two ultrasonic sensors fire alternately so neither hears the other's ping, and each reading is a median of three.
- Wi-Fi diagnostics. These traced a weak −78 dBm link to a missing antenna; with the antenna fitted it reads −26 dBm.
- Camera self-registration. The camera announces its own address to the dashboard, so a new IP needs no setup.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This is the classification pipeline.
The classifier is MobileNetV2 fine-tuned on PlantVillage, with 38 classes across 14 crops. It is closed-set: it has no "not a leaf" answer. When we pointed the camera at an empty room, it said "orange, citrus greening" with 82 to 90 percent confidence.
So we added a vegetation gate before the classifier. The frame is shrunk to 160 by 120 pixels and converted to HSV. A pixel counts as leaf-coloured if its hue is between 38 and 165 degrees (green through the yellow of sick leaves), its saturation is at least 0.2, and its value is at least 0.12. If less than 12 percent of the frame is leaf-coloured, we report "no leaf in view" and hide the model's answer.
The four frames on the right:
- A fallen dry leaf is rejected at 0 percent.
- A hedge seen from a metre away is rejected at 10 percent.
- A close-up plant is accepted at 61 percent.
- Spotted leaves are accepted at 24 percent. The brown lesions don't count as leaf-coloured, but the green tissue around them keeps diseased leaves above the threshold.
After the gate, a top probability below 50 percent is reported as uncertain.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For locomotion, each leg has three joints (abduction, hip and knee), with measured femur and tibia lengths of 111 and 125 millimetres.
- Inverse kinematics. We derived the closed-form inverse kinematics: given a foot target, it returns the three joint angles directly. We checked it against MuJoCo's own forward kinematics at 1,280 targets, and the worst error was below 10⁻⁷ metres, which is effectively exact.
- Gait. The gait is a diagonal trot at 2 hertz with a duty factor of 0.6. Feet lift 30 millimetres in a raised-cosine swing, and the body height is 180 millimetres. A levelling term uses roll and pitch to adjust leg heights.
- Centre of mass. All four knees point backward, so the legs' mass hangs behind the body centre, and the centre of mass ends up 12 millimetres aft. In a trot the robot stands on two diagonal feet, and the line between them passes through the body centre, in front of the centre of mass, so the robot tips backward. With footholds centred on the body, the trot fell in all 24 gait settings we tried. With footholds centred on the measured centre of mass, tilt stayed below 0.7 degrees.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 play the clip]
This is our MuJoCo simulation.
- The robot is built from the measured geometry: 140 by 78 millimetre hip spacing, the measured leg lengths, 1.35 kilograms in total.
- Every joint is a position servo whose torque is capped at 1.0 newton-metre, between the MG996R stall values at 4.8 and 6 volts. So if the gait works here, it is not relying on unrealistic motors.
- The field has four rows of tomato plants, a patch of stressed plants that emits VOCs, and a dusty headland.
- The mission is autonomous. The robot stands up, trots down each row gap under heading control, and when the front ultrasonic reads under 55 centimetres it knows it has reached the hedge, turns, and starts the next row. Along the way it logs simulated gas, dust and temperature.
The gait parameters were chosen by sweeping 24 combinations of frequency, duty factor, servo stiffness and levelling gain.
If asked:
- "Why MuJoCo over Gazebo?" Its position actuators clamp torque the way a real servo does, and it ran stably and fast enough to sweep many settings.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[20 s]
Briefly, the stack:
- Firmware in C++ on the Arduino ESP32 core.
- The dashboard in Python with Flask, using PyTorch and Hugging Face Transformers for the model.
- MuJoCo, NumPy and Matplotlib for the simulation.
- The chassis is based on the SpotMicro design, credited under its Creative Commons licence, with Python scripts generating our custom mounts.
Everything is in one public GitHub repository with run instructions.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 s]
Next, what we completed and how it fits together.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Of six objectives, four are fully achieved and two partly.
Achieved:
- The chassis is printed and adapted, with its geometry measured.
- Camera streaming and gated classification work.
- The dashboard logs and tags.
- The kinematics are verified and the gait works in simulation.
Partly achieved:
- Sensing is complete for gas, dust and temperature. The ultrasonic sensors have firmware ready but are not wired.
- Walking on the physical robot: the legs move and it stands, but it cannot yet step.
We would rather show you these honestly than overstate them. Each has a clear next step, which we cover in future work.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[30 s]
This is the assembled robot.
- It has 35 printed parts, about 700 grams of PLA+ with TPU feet, at a printing cost of about ₹5,200.
- The sensor node and breadboard sit on the printed top cover, with the external Wi-Fi antenna raised on a standoff.
- The ESP32-CAM sits in the head and looks out through the printed nose.
- There is no battery on board: the payload runs from a USB power bank beside the robot, which is safer for bench work.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 then switch to the live dashboard]
This is the dashboard as it ran on 18 October, with live readings from the sensor node.
- Four cards show eCO2, TVOC, dust and temperature. Each has a status band and a short history chart. The TVOC bands of 220 and 660 ppb follow the German Federal Environment Agency guideline. If the node goes silent for 15 seconds it is marked offline.
- Every reading goes to a daily CSV file.
- The camera panel shows live video, a scan button and an image-upload fallback, and the diagnosis panel shows the top three classes.
I will show this live in the demo.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This chart shows stable operation.
It is a 17-minute session on 14 October, with TVOC logged every five seconds while we repeatedly exposed the gas sensor to VOC sources. The red and amber lines are the high and moderate bands. TVOC peaked at 1,764 ppb and fell back to baseline within tens of seconds after each exposure.
Across the two logged sessions, 28 and 17 minutes long, we recorded 321 and 199 readings with no records lost. The Wi-Fi signal stayed between −26 and −60 dBm, which is plenty for a reading every five seconds.
If asked:
- "What were the VOC sources?" Common household sources, such as breath and alcohol-based sanitiser, held near the sensor. The point is the response and recovery, not the absolute value.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[demo, 4–6 min]
Now the live demo. The order:
1. Dashboard. Open 192.168.137.1:5000 and show the three status pills: sensor node, camera and classifier.
2. Breath test. Breathe on the SGP30: eCO2 and TVOC rise within seconds, then recover.
3. Touch test. Hold the MCP9808: the temperature climbs by 3 to 4 degrees.
4. Leaf scan. Hold a leaf to the camera and press Scan to show a diagnosis. Then point the camera away and scan again to show "no leaf in view".
5. Simulation. Run run_sim.bat to show the autonomous survey.
6. Robot. Power the servos to show it standing and moving its legs.
Backup plans:
- If the camera Wi-Fi is unreliable, use "Upload image" with a saved leaf photo.
- If the sensor node is offline, run fake_sensors.py to drive the dashboard.
Before the review:
- Turn on the laptop's Mobile Hotspot first, then power both boards.
- Give the ESP32-CAM its own power supply; it browns out when it shares 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 s]
Now testing and results.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Every test applied a known change and checked the response. These numbers are measured on the real hardware.
- Breath on the SGP30: eCO2 went from 400 to 746 ppm and TVOC from 0 to 210 ppb within 5 seconds, then back to baseline.
- A finger on the MCP9808: 31.5 to 35.0 °C in about 10 seconds.
- The PPD42 in room air: 0 to 5,065 particles per 0.01 cubic foot, varying from one 30-second window to the next.
- With the PPD42 unplugged, it is now reported as absent instead of a false 1.1 million.
- Wi-Fi: −78 dBm with time-outs, and −26 dBm once the antenna was fitted.
- Camera video: from about 0.5 to 16–20 frames per second after we moved to MJPEG streaming.
- Servos: on its back, all four legs follow their commands. Standing, it holds a stance and shifts its legs, but slowly.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This is the key result for classification.
On the left, without the gate: a photo of an empty room was diagnosed as citrus greening at 82 to 90 percent confidence. That is the danger of a closed-set model.
On the right, with the gate: the same frames measured 0 to 0.1 percent leaf coverage and were rejected, with no diagnosis shown.
Below:
- The gate accepted all 12 PlantVillage leaf images we tested, at 27 to 76 percent coverage.
- In a spot check of 10 images of known class, 8 were correct with over 92 percent confidence, 1 was correct but below threshold so it was reported as uncertain, and 1 tomato leaf-mould image was wrongly labelled late blight.
- Inference takes 30 to 80 milliseconds on the laptop CPU.
To be clear: these are functional checks, not a field-accuracy figure. The images are few, and most come from the dataset the model was trained 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These are three outdoor scans with the robot's camera on 18 October.
- Left, a hedge from about a metre away. Only 11 percent of the frame was leaf-coloured, just under the threshold, so the model's 75.5 percent "black rot" was withheld and the user is asked to bring a leaf closer.
- Middle, a potted plant outside the training set. It passed with 60 percent coverage, but the label "healthy corn" came at only 53.4 percent, just above our 50 percent threshold. We did not identify the plant independently, so we do not count this as right or wrong. The low confidence is the warning sign.
- Right, a photograph of spotted leaves on a screen, flagged as black rot at 80.5 percent, with the sensor readings saved alongside the image.
The ESP32-CAM's washed-out colours put some real foliage close to the threshold. Holding the leaf close fixes that.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[60 s — play both clips]
These are our first actuation trials on the printed robot.
- Left, the robot on its back, so the servos carry only the legs. All four legs move through their commanded angles. That confirms the servo wiring, the joint directions and the control signals.
- Right, standing on its own feet. It holds its weight and shifts its legs and body, but the motion is slow, small and visibly strained, and it does not take a step.
This matches our analysis. In a four-foot stance, the knee needs 36 to 52 percent of a genuine MG996R's rated torque, and more when a leg lifts and the other legs take its share. Inexpensive copies of the MG996R often deliver less than rated, and twelve servos moving together draw several amps, so a sagging supply cuts the torque further.
Next steps, in order of cost:
1. A dedicated 6-volt servo supply.
2. Footholds centred on the centre of mass, from the simulation.
3. A taller stance with straighter legs, which shortens the knee's lever arm: about 76 mm at 180 mm height, 43 mm at 220 mm.
4. Stronger servos if the margin is still too thin.
If asked:
- "Which is it, the servos or the supply?" We have not yet separated the two by measurement. That is the first future-work item.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This is the result of the full simulated survey.
The robot walked 16.7 metres in 129 seconds and covered all three row gaps with no falls. The front ultrasonic detected all three row ends. Body tilt stayed under 2.7 degrees, and a servo was at its torque limit only 1.3 percent of the time.
The route is coloured by measured TVOC, and it turns red over the stressed patch. The peak was 535 ppb, but it sits 0.2 metres from the true source. The reason is that the gas sensor responds with about a 2.5-second lag while the robot keeps walking, so the peak is smeared along the path. This is a real effect worth planning for: pausing at waypoints or correcting for the sensor's known response would fix it.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These are two findings that matter for the real robot.
- Left chart, commanded against achieved speed. From 0.08 to 0.18 metres per second the robot tracks the command within 7 percent. Above that the achieved speed collapses.
- Middle chart, how often a servo is at its torque limit. It stays at 8 to 34 percent up to 0.18 metres per second, then jumps to 68 percent at 0.20, and the robot falls at 0.22. So the usable ceiling with MG996R servos is about 0.18 metres per second.
- Bottom, the centre-of-mass finding. With footholds centred on the body, every one of 24 gait settings fell within 0.8 to 3 seconds. Centred on the measured centre of mass, tilt stayed below 0.7 degrees.
If asked:
- "Why does 0.24 look better than 0.22?" It stayed upright but reached only 0.166 m/s with 77 percent saturation, so it is not usable either.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Comparing honestly with what we planned at Review III:
- Onboard inference on a Jetson became laptop inference over Wi-Fi. It is cheaper and safer, but depends on the network.
- We cited above 90 percent accuracy from the literature. We did not measure field accuracy; our classification is a functional demonstration.
- The Review III torque analysis said the margin was thin. The simulation confirmed it, with a 0.18 m/s ceiling, and so did the hardware.
- A walking robot: it stands and moves its legs, and walking is shown in simulation. Walking on hardware is the next phase.
- The sensing payload is essentially complete.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 s]
Now what is new, and why it matters in practice.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We see four contributions.
1. A legged platform with a crop-sensing payload: a printed quadruped carrying two Wi-Fi nodes for gas, dust, temperature, range and video.
2. A vegetation gate for a closed-set classifier: a simple, explainable leaf check that stops confident disease reports on frames with no plant.
3. Locomotion validated against real servo limits: a physics model built from measured geometry, with torque capped at MG996R stall, completing an autonomous row survey.
4. Design rules for printed quadrupeds: centre the footholds on the measured centre of mass, and expect about 0.18 metres per second from MG996R-class servos. These apply to anyone building a SpotMicro-type robot.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On cost: the purchased and listed parts come to about ₹10,250, made up of:
- ₹5,200 for printing.
- ₹3,996 for twelve servos.
- ₹689 for the ESP32-CAM.
- ₹249 for a servo driver.
- ₹119 for the camera programmer.
The XIAO, the sensors and the wiring were already available to the team, so they are not costed here.
For comparison, the surveyed papers report Stanford Doggo under 3,000 US dollars, MIT Cheetah 3 around 50,000, and ANYmal over 100,000.
So the approach is within reach of a student lab, and potentially a small farm. The trade-off is lower performance, which we have quantified.</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[50 s]
The rubric asks about ethics. These are design choices we made deliberately.
- Data stays local. Everything stays on the laptop's own hotspot: no cloud, no personal data, and the camera points at crops.
- No false certainty. The gate and the 50 percent threshold suppress unreliable labels, and the results are presented as indications for an agronomist, not a spray decision. Over-spraying because of a false diagnosis would harm crops and the environment.
- Safety. The payload runs on low-voltage USB, there is no LiPo on board, and the robot is slow.
- Honest sensor claims. eCO2 is estimated and the dust sensor is uncalibrated, so we use them for trends and alerts, not regulatory values.
- Open source with attribution. The SpotMicro design is credited under its CC-BY licence, and our code is public.
- Accessibility. Low-cost parts and no internet requirement put it within reach of smallholders.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[35 s]
In practice, it could be used for:
- Row-by-row scouting: walking the rows, logging air conditions, and scanning suspicious leaves on the way.
- Early-warning hotspots: rising VOC readings along a row point to stressed plants before symptoms spread.
- Nurseries and greenhouses: repeated inspection in narrow aisles where wheels struggle.
- Records for agronomists: each image is tagged with the conditions at capture, which gives an evidence trail.
To run it, a farm needs only a laptop with a hotspot, the robot, a USB power bank, and any phone to view the dashboard. No internet or cloud account is needed.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[45 s]
We want to state the limitations ourselves.
- The real servos lack torque reserve, so the robot stands but does not step. We have a clear fix path.
- The classifier was trained on lab photos of 14 crops, so accuracy on field images will be lower, and any plant passes the gate, even an untrained crop.
- The ESP32-CAM's washed-out colours put some real foliage near the 12 percent threshold. The threshold should be tuned to this camera.
- eCO2 is estimated and the PPD42 is uncalibrated, so the readings are relative.
- The gas and dust fields in the simulation are modelled, so the simulation demonstrates the method rather than field data.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Future work, in order of what it unlocks:
1. Walking on hardware. A dedicated 6-volt servo supply, measuring torque and voltage under load, then the centre-of-mass footholds and a taller stance. Then stepping in place, and walking below 0.18 metres per second.
2. Complete the sensor set. Wire the ultrasonic sensors, add a soil-moisture probe, and calibrate against reference instruments.
3. Act on measurements. Use the Grove relay we have to switch an irrigation pump or raise an alarm from the dashboard.
4. Field-ready classification. Fine-tune on images from the robot's own camera, and replace the colour gate with a learned open-set detector.
5. Mapping and autonomy. Correct for the gas sensor's lag, log positions to build field maps, and add a battery for untethered runs.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[40 s]
To conclude:
- The sensing works end to end: two wireless nodes, a live dashboard with logging, and leaf-disease classification that refuses to guess without a leaf.
- Locomotion is validated in physics: a full autonomous row survey without a fall, with servos capped at their real torque.
- The printed robot moves: all twelve servos drive the legs and it stands, though with too little torque reserve to step, exactly as our analysis predicted.
- We leave two design rules for the next build: centre the footholds on the centre of mass, and expect about 0.18 metres per second from MG996R servos.
All the code, print files and results are on GitHub.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Reference list: papers 1–18 are the surveyed literature; 19–24 are the sources for crop-loss figures, the dataset, MobileNetV2, MuJoCo, the colour-index idea behind the gate, and the SpotMicro design. Skip this slide in the talk unless asked.</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Questions.
Likely questions and short answers:
- "Why ESP32 and not a Raspberry Pi?" Lower cost and power, and nothing expensive at risk in a fall. The laptop does the heavy computation.
- "How accurate is the classifier?" On PlantVillage-style images it is high, as the literature reports. We did not measure field accuracy. Our contribution is guarding it with the gate and the confidence threshold.
- "Why HSV thresholds and not another network?" They are simple and explainable, need no training data, and fix the most visible failure. A learned open-set detector is future work.
- "Why does the real robot not walk?" Thin torque margin, predicted at Review III and confirmed in simulation. Next comes a dedicated supply, CoM footholds and a taller stance.
- "What is the novelty?" The integration of a printed legged platform with crop sensing, the gate, and quantified design rules for hobby quadrupeds.
- "What did you personally do?" Be ready to describe your own modules in one or two sentences each.</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Backup slides: the full 18-paper survey from Review III, for questions on prior work.</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3F2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3F2A"/>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rtlCol="0"/>
          <a:lstStyle>
            <a:lvl1pPr marL="0" indent="0" algn="l">
              <a:buNone/>
              <a:defRPr lang="en-US" sz="8800" b="1" dirty="0">
                <a:solidFill>
                  <a:schemeClr val="accent2"/>
                </a:solidFill>
                <a:latin typeface="Cambria" pitchFamily="34" charset="0"/>
                <a:ea typeface="Cambria" pitchFamily="34" charset="-122"/>
                <a:cs typeface="Cambria" pitchFamily="34" charset="-120"/>
              </a:defRPr>
            </a:lvl1pPr>
          </a:lstStyle>
          <a:p>
            <a:pPr marL="0" indent="0" algn="l">
              <a:buNone/>
            </a:pP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C:\Users\adith\Downloads\Final Year Proj New\presentation\img\vit_logo.jpg"/>
          <p:cNvPicPr>
            <a:picLocks noChangeAspect="1"/>
          </p:cNvPicPr>
          <p:nvPr/>
        </p:nvPicPr>
        <p:blipFill>
          <a:blip r:embed="rId2"/>
          <a:stretch>
            <a:fillRect/>
          </a:stretch>
        </p:blipFill>
        <p:spPr>
          <a:xfrm>
            <a:off x="10561320" y="329184"/>
            <a:ext cx="1234440" cy="408737"/>
          </a:xfrm>
          <a:prstGeom prst="rect">
            <a:avLst/>
          </a:prstGeom>
        </p:spPr>
      </p:pic>
      <p:sp>
        <p:nvSpPr>
          <p:cNvPr id="3" name="Text 0"/>
          <p:cNvSpPr>
            <a:spLocks noGrp="1"/>
          </p:cNvSpPr>
          <p:nvPr>
            <p:ph type="title" idx="101" hasCustomPrompt="1"/>
          </p:nvPr>
        </p:nvSpPr>
        <p:spPr>
          <a:xfrm>
            <a:off x="548640" y="292608"/>
            <a:ext cx="9784080" cy="73152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4" name="Text 0"/>
          <p:cNvSpPr/>
          <p:nvPr/>
        </p:nvSpPr>
        <p:spPr>
          <a:xfrm>
            <a:off x="548640" y="6419088"/>
            <a:ext cx="8229600" cy="256032"/>
          </a:xfrm>
          <a:prstGeom prst="rect">
            <a:avLst/>
          </a:prstGeom>
          <a:noFill/>
          <a:ln/>
        </p:spPr>
        <p:txBody>
          <a:bodyPr wrap="square" lIns="0" tIns="0" rIns="0" bIns="0" rtlCol="0" anchor="ctr"/>
          <a:lstStyle/>
          <a:p>
            <a:pPr marL="0" indent="0">
              <a:buNone/>
            </a:pPr>
            <a:r>
              <a:rPr lang="en-US" sz="1000" dirty="0">
                <a:solidFill>
                  <a:schemeClr val="accent6"/>
                </a:solidFill>
              </a:rPr>
              <a:t>Final Review  ·  Precision Agriculture Monitoring Quadruped Robot Dog</a:t>
            </a:r>
            <a:endParaRPr lang="en-US" sz="10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5.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3.png"/><Relationship Id="rId4" Type="http://schemas.openxmlformats.org/officeDocument/2006/relationships/image" Target="../media/image28.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5.png"/><Relationship Id="rId7"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2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6.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slideLayout" Target="../slideLayouts/slideLayout4.xml"/><Relationship Id="rId7" Type="http://schemas.openxmlformats.org/officeDocument/2006/relationships/image" Target="../media/image4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4.png"/><Relationship Id="rId5" Type="http://schemas.openxmlformats.org/officeDocument/2006/relationships/image" Target="../media/image46.png"/><Relationship Id="rId4" Type="http://schemas.openxmlformats.org/officeDocument/2006/relationships/notesSlide" Target="../notesSlides/notesSlide18.xml"/><Relationship Id="rId9" Type="http://schemas.openxmlformats.org/officeDocument/2006/relationships/image" Target="../media/image49.png"/></Relationships>
</file>

<file path=ppt/slides/_rels/slide1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21.png"/><Relationship Id="rId7"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38.png"/><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1.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4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27.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29.xml"/><Relationship Id="rId1" Type="http://schemas.openxmlformats.org/officeDocument/2006/relationships/slideLayout" Target="../slideLayouts/slideLayout4.xml"/><Relationship Id="rId5" Type="http://schemas.openxmlformats.org/officeDocument/2006/relationships/image" Target="../media/image59.jpg"/><Relationship Id="rId4" Type="http://schemas.openxmlformats.org/officeDocument/2006/relationships/image" Target="../media/image58.jpg"/></Relationships>
</file>

<file path=ppt/slides/_rels/slide30.xml.rels><?xml version="1.0" encoding="UTF-8" standalone="yes"?>
<Relationships xmlns="http://schemas.openxmlformats.org/package/2006/relationships"><Relationship Id="rId8" Type="http://schemas.openxmlformats.org/officeDocument/2006/relationships/image" Target="../media/image61.png"/><Relationship Id="rId3" Type="http://schemas.microsoft.com/office/2007/relationships/media" Target="../media/media3.mp4"/><Relationship Id="rId7" Type="http://schemas.openxmlformats.org/officeDocument/2006/relationships/image" Target="../media/image60.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notesSlide" Target="../notesSlides/notesSlide30.xml"/><Relationship Id="rId5" Type="http://schemas.openxmlformats.org/officeDocument/2006/relationships/slideLayout" Target="../slideLayouts/slideLayout4.xml"/><Relationship Id="rId4" Type="http://schemas.openxmlformats.org/officeDocument/2006/relationships/video" Target="../media/media3.mp4"/></Relationships>
</file>

<file path=ppt/slides/_rels/slide31.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4.png"/><Relationship Id="rId4" Type="http://schemas.openxmlformats.org/officeDocument/2006/relationships/image" Target="../media/image32.png"/></Relationships>
</file>

<file path=ppt/slides/_rels/slide3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71.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4.xml"/><Relationship Id="rId6" Type="http://schemas.openxmlformats.org/officeDocument/2006/relationships/image" Target="../media/image38.png"/><Relationship Id="rId5" Type="http://schemas.openxmlformats.org/officeDocument/2006/relationships/image" Target="../media/image54.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photo" descr="The assembled robot standing outdoors"/>
          <p:cNvPicPr>
            <a:picLocks noChangeAspect="1"/>
          </p:cNvPicPr>
          <p:nvPr/>
        </p:nvPicPr>
        <p:blipFill>
          <a:blip r:embed="rId3"/>
          <a:srcRect/>
          <a:stretch/>
        </p:blipFill>
        <p:spPr>
          <a:xfrm>
            <a:off x="6486685" y="1465545"/>
            <a:ext cx="5384970" cy="392691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logo-chip"/>
          <p:cNvSpPr/>
          <p:nvPr/>
        </p:nvSpPr>
        <p:spPr>
          <a:xfrm>
            <a:off x="640080" y="502920"/>
            <a:ext cx="1874520" cy="713232"/>
          </a:xfrm>
          <a:prstGeom prst="roundRect">
            <a:avLst>
              <a:gd name="adj" fmla="val 10256"/>
            </a:avLst>
          </a:prstGeom>
          <a:solidFill>
            <a:schemeClr val="bg1"/>
          </a:solidFill>
          <a:ln w="12700">
            <a:solidFill>
              <a:schemeClr val="bg1"/>
            </a:solidFill>
            <a:prstDash val="solid"/>
          </a:ln>
        </p:spPr>
      </p:sp>
      <p:pic>
        <p:nvPicPr>
          <p:cNvPr id="4" name="logo" descr="C:\Users\adith\Downloads\Final Year Proj New\presentation\img\vit_logo.jpg"/>
          <p:cNvPicPr>
            <a:picLocks noChangeAspect="1"/>
          </p:cNvPicPr>
          <p:nvPr/>
        </p:nvPicPr>
        <p:blipFill>
          <a:blip r:embed="rId4"/>
          <a:stretch>
            <a:fillRect/>
          </a:stretch>
        </p:blipFill>
        <p:spPr>
          <a:xfrm>
            <a:off x="777240" y="576072"/>
            <a:ext cx="1600200" cy="529844"/>
          </a:xfrm>
          <a:prstGeom prst="rect">
            <a:avLst/>
          </a:prstGeom>
        </p:spPr>
      </p:pic>
      <p:sp>
        <p:nvSpPr>
          <p:cNvPr id="5" name="Text 1"/>
          <p:cNvSpPr txBox="1"/>
          <p:nvPr/>
        </p:nvSpPr>
        <p:spPr>
          <a:xfrm>
            <a:off x="640080" y="1600200"/>
            <a:ext cx="5760720" cy="365760"/>
          </a:xfrm>
          <a:prstGeom prst="rect">
            <a:avLst/>
          </a:prstGeom>
          <a:noFill/>
          <a:ln/>
        </p:spPr>
        <p:txBody>
          <a:bodyPr wrap="square" lIns="0" tIns="0" rIns="0" bIns="0" rtlCol="0" anchor="t"/>
          <a:lstStyle/>
          <a:p>
            <a:pPr marL="0" indent="0">
              <a:buNone/>
            </a:pPr>
            <a:r>
              <a:rPr lang="en-US" sz="1500" b="1" kern="0" spc="200" dirty="0">
                <a:solidFill>
                  <a:schemeClr val="accent2"/>
                </a:solidFill>
              </a:rPr>
              <a:t>PROJECT I ·  FINAL REVIEW</a:t>
            </a:r>
            <a:endParaRPr lang="en-US" sz="1500" dirty="0"/>
          </a:p>
        </p:txBody>
      </p:sp>
      <p:sp>
        <p:nvSpPr>
          <p:cNvPr id="6" name="Text 2"/>
          <p:cNvSpPr txBox="1"/>
          <p:nvPr/>
        </p:nvSpPr>
        <p:spPr>
          <a:xfrm>
            <a:off x="640080" y="2011680"/>
            <a:ext cx="5852160" cy="1828800"/>
          </a:xfrm>
          <a:prstGeom prst="rect">
            <a:avLst/>
          </a:prstGeom>
          <a:noFill/>
          <a:ln/>
        </p:spPr>
        <p:txBody>
          <a:bodyPr wrap="square" lIns="0" tIns="0" rIns="0" bIns="0" rtlCol="0" anchor="t"/>
          <a:lstStyle/>
          <a:p>
            <a:pPr marL="0" indent="0">
              <a:buNone/>
            </a:pPr>
            <a:r>
              <a:rPr lang="en-US" sz="3800" b="1" dirty="0">
                <a:solidFill>
                  <a:schemeClr val="bg1"/>
                </a:solidFill>
                <a:latin typeface="Cambria" pitchFamily="34" charset="0"/>
                <a:ea typeface="Cambria" pitchFamily="34" charset="-122"/>
                <a:cs typeface="Cambria" pitchFamily="34" charset="-120"/>
              </a:rPr>
              <a:t>Precision Agriculture Monitoring Quadruped Robot Dog</a:t>
            </a:r>
            <a:endParaRPr lang="en-US" sz="3800" dirty="0"/>
          </a:p>
        </p:txBody>
      </p:sp>
      <p:sp>
        <p:nvSpPr>
          <p:cNvPr id="7" name="Text 3"/>
          <p:cNvSpPr txBox="1"/>
          <p:nvPr/>
        </p:nvSpPr>
        <p:spPr>
          <a:xfrm>
            <a:off x="640080" y="3840480"/>
            <a:ext cx="5760720" cy="868680"/>
          </a:xfrm>
          <a:prstGeom prst="rect">
            <a:avLst/>
          </a:prstGeom>
          <a:noFill/>
          <a:ln/>
        </p:spPr>
        <p:txBody>
          <a:bodyPr wrap="square" lIns="0" tIns="0" rIns="0" bIns="0" rtlCol="0" anchor="t"/>
          <a:lstStyle/>
          <a:p>
            <a:pPr marL="0" indent="0">
              <a:buNone/>
            </a:pPr>
            <a:r>
              <a:rPr lang="en-US" sz="1700" dirty="0">
                <a:solidFill>
                  <a:schemeClr val="bg2"/>
                </a:solidFill>
              </a:rPr>
              <a:t>A 3D-printed quadruped carrying wireless crop-health sensing, with leaf-disease classification and physics-validated locomotion</a:t>
            </a:r>
            <a:endParaRPr lang="en-US" sz="1700" dirty="0"/>
          </a:p>
        </p:txBody>
      </p:sp>
      <p:sp>
        <p:nvSpPr>
          <p:cNvPr id="8" name="Text 4"/>
          <p:cNvSpPr txBox="1"/>
          <p:nvPr/>
        </p:nvSpPr>
        <p:spPr>
          <a:xfrm>
            <a:off x="640080" y="4892040"/>
            <a:ext cx="5760720" cy="1463040"/>
          </a:xfrm>
          <a:prstGeom prst="rect">
            <a:avLst/>
          </a:prstGeom>
          <a:noFill/>
          <a:ln/>
        </p:spPr>
        <p:txBody>
          <a:bodyPr wrap="square" lIns="0" tIns="0" rIns="0" bIns="0" rtlCol="0" anchor="t"/>
          <a:lstStyle/>
          <a:p>
            <a:pPr marL="0" indent="0">
              <a:lnSpc>
                <a:spcPct val="115000"/>
              </a:lnSpc>
              <a:buNone/>
            </a:pPr>
            <a:r>
              <a:rPr lang="en-US" sz="1500" dirty="0">
                <a:solidFill>
                  <a:schemeClr val="bg1"/>
                </a:solidFill>
              </a:rPr>
              <a:t>Adithya Sankar Menon  ·  23BRS1079</a:t>
            </a:r>
            <a:endParaRPr lang="en-US" sz="1500" dirty="0"/>
          </a:p>
          <a:p>
            <a:pPr marL="0" indent="0">
              <a:lnSpc>
                <a:spcPct val="115000"/>
              </a:lnSpc>
              <a:buNone/>
            </a:pPr>
            <a:r>
              <a:rPr lang="en-US" sz="1500" dirty="0">
                <a:solidFill>
                  <a:schemeClr val="bg1"/>
                </a:solidFill>
              </a:rPr>
              <a:t>Siddhesh Pushkraj Shinde  ·  23BCE5048</a:t>
            </a:r>
            <a:endParaRPr lang="en-US" sz="1500" dirty="0"/>
          </a:p>
          <a:p>
            <a:pPr marL="0" indent="0">
              <a:lnSpc>
                <a:spcPct val="115000"/>
              </a:lnSpc>
              <a:buNone/>
            </a:pPr>
            <a:r>
              <a:rPr lang="en-US" sz="1500" dirty="0">
                <a:solidFill>
                  <a:schemeClr val="bg1"/>
                </a:solidFill>
              </a:rPr>
              <a:t>Rachit Gupta  ·  23BCE1658</a:t>
            </a:r>
            <a:endParaRPr lang="en-US" sz="1500" dirty="0"/>
          </a:p>
          <a:p>
            <a:pPr marL="0" indent="0">
              <a:lnSpc>
                <a:spcPct val="115000"/>
              </a:lnSpc>
              <a:buNone/>
            </a:pPr>
            <a:r>
              <a:rPr lang="en-US" sz="1500" b="1" dirty="0">
                <a:solidFill>
                  <a:schemeClr val="accent2"/>
                </a:solidFill>
              </a:rPr>
              <a:t>Guide: Dr. Lakshmanan K  ·  54758</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How This Review Is Organised</a:t>
            </a:r>
            <a:endParaRPr lang="en-US" sz="3000" dirty="0"/>
          </a:p>
        </p:txBody>
      </p:sp>
      <p:sp>
        <p:nvSpPr>
          <p:cNvPr id="4" name="panel-311"/>
          <p:cNvSpPr/>
          <p:nvPr/>
        </p:nvSpPr>
        <p:spPr>
          <a:xfrm>
            <a:off x="548640" y="1280160"/>
            <a:ext cx="11064240" cy="713232"/>
          </a:xfrm>
          <a:prstGeom prst="roundRect">
            <a:avLst>
              <a:gd name="adj" fmla="val 12821"/>
            </a:avLst>
          </a:prstGeom>
          <a:solidFill>
            <a:schemeClr val="bg2"/>
          </a:solidFill>
          <a:ln w="12700">
            <a:solidFill>
              <a:schemeClr val="bg2"/>
            </a:solidFill>
            <a:prstDash val="solid"/>
          </a:ln>
        </p:spPr>
      </p:sp>
      <p:sp>
        <p:nvSpPr>
          <p:cNvPr id="5" name="Text 2"/>
          <p:cNvSpPr txBox="1"/>
          <p:nvPr/>
        </p:nvSpPr>
        <p:spPr>
          <a:xfrm>
            <a:off x="731520" y="128016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01</a:t>
            </a:r>
            <a:endParaRPr lang="en-US" sz="2400" dirty="0"/>
          </a:p>
        </p:txBody>
      </p:sp>
      <p:sp>
        <p:nvSpPr>
          <p:cNvPr id="6" name="icon-bg-312"/>
          <p:cNvSpPr/>
          <p:nvPr/>
        </p:nvSpPr>
        <p:spPr>
          <a:xfrm>
            <a:off x="1417320" y="1389888"/>
            <a:ext cx="493776" cy="493776"/>
          </a:xfrm>
          <a:prstGeom prst="ellipse">
            <a:avLst/>
          </a:prstGeom>
          <a:solidFill>
            <a:schemeClr val="accent1"/>
          </a:solidFill>
          <a:ln w="12700">
            <a:solidFill>
              <a:schemeClr val="accent1"/>
            </a:solidFill>
            <a:prstDash val="solid"/>
          </a:ln>
        </p:spPr>
      </p:sp>
      <p:pic>
        <p:nvPicPr>
          <p:cNvPr id="7" name="icon-313" descr="preencoded.png"/>
          <p:cNvPicPr>
            <a:picLocks noChangeAspect="1"/>
          </p:cNvPicPr>
          <p:nvPr/>
        </p:nvPicPr>
        <p:blipFill>
          <a:blip r:embed="rId3"/>
          <a:stretch>
            <a:fillRect/>
          </a:stretch>
        </p:blipFill>
        <p:spPr>
          <a:xfrm>
            <a:off x="1535826" y="1508394"/>
            <a:ext cx="256764" cy="256764"/>
          </a:xfrm>
          <a:prstGeom prst="rect">
            <a:avLst/>
          </a:prstGeom>
        </p:spPr>
      </p:pic>
      <p:sp>
        <p:nvSpPr>
          <p:cNvPr id="8" name="Text 4"/>
          <p:cNvSpPr txBox="1"/>
          <p:nvPr/>
        </p:nvSpPr>
        <p:spPr>
          <a:xfrm>
            <a:off x="2103120" y="128016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Domain and Problem</a:t>
            </a:r>
            <a:endParaRPr lang="en-US" sz="1800" dirty="0"/>
          </a:p>
        </p:txBody>
      </p:sp>
      <p:sp>
        <p:nvSpPr>
          <p:cNvPr id="9" name="Text 5"/>
          <p:cNvSpPr txBox="1"/>
          <p:nvPr/>
        </p:nvSpPr>
        <p:spPr>
          <a:xfrm>
            <a:off x="5440680" y="1280160"/>
            <a:ext cx="4937760" cy="713232"/>
          </a:xfrm>
          <a:prstGeom prst="rect">
            <a:avLst/>
          </a:prstGeom>
          <a:noFill/>
          <a:ln/>
        </p:spPr>
        <p:txBody>
          <a:bodyPr wrap="square" lIns="0" tIns="0" rIns="0" bIns="0" rtlCol="0" anchor="ctr"/>
          <a:lstStyle/>
          <a:p>
            <a:pPr marL="0" indent="0">
              <a:buNone/>
            </a:pPr>
            <a:r>
              <a:rPr lang="en-US" sz="1450" dirty="0">
                <a:solidFill>
                  <a:schemeClr val="tx1"/>
                </a:solidFill>
              </a:rPr>
              <a:t>Crop-loss context, monitoring platforms, 18-paper survey, research gaps, objectives</a:t>
            </a:r>
            <a:endParaRPr lang="en-US" sz="1450" dirty="0"/>
          </a:p>
        </p:txBody>
      </p:sp>
      <p:sp>
        <p:nvSpPr>
          <p:cNvPr id="10" name="Text 6"/>
          <p:cNvSpPr txBox="1"/>
          <p:nvPr/>
        </p:nvSpPr>
        <p:spPr>
          <a:xfrm>
            <a:off x="10332720" y="128016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3–8</a:t>
            </a:r>
            <a:endParaRPr lang="en-US" sz="1300" dirty="0"/>
          </a:p>
        </p:txBody>
      </p:sp>
      <p:sp>
        <p:nvSpPr>
          <p:cNvPr id="11" name="panel-314"/>
          <p:cNvSpPr/>
          <p:nvPr/>
        </p:nvSpPr>
        <p:spPr>
          <a:xfrm>
            <a:off x="548640" y="2103120"/>
            <a:ext cx="11064240" cy="713232"/>
          </a:xfrm>
          <a:prstGeom prst="roundRect">
            <a:avLst>
              <a:gd name="adj" fmla="val 12821"/>
            </a:avLst>
          </a:prstGeom>
          <a:solidFill>
            <a:schemeClr val="bg1"/>
          </a:solidFill>
          <a:ln w="12700">
            <a:solidFill>
              <a:schemeClr val="bg1"/>
            </a:solidFill>
            <a:prstDash val="solid"/>
          </a:ln>
        </p:spPr>
      </p:sp>
      <p:sp>
        <p:nvSpPr>
          <p:cNvPr id="12" name="Text 8"/>
          <p:cNvSpPr txBox="1"/>
          <p:nvPr/>
        </p:nvSpPr>
        <p:spPr>
          <a:xfrm>
            <a:off x="731520" y="210312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02</a:t>
            </a:r>
            <a:endParaRPr lang="en-US" sz="2400" dirty="0"/>
          </a:p>
        </p:txBody>
      </p:sp>
      <p:sp>
        <p:nvSpPr>
          <p:cNvPr id="13" name="icon-bg-315"/>
          <p:cNvSpPr/>
          <p:nvPr/>
        </p:nvSpPr>
        <p:spPr>
          <a:xfrm>
            <a:off x="1417320" y="2212848"/>
            <a:ext cx="493776" cy="493776"/>
          </a:xfrm>
          <a:prstGeom prst="ellipse">
            <a:avLst/>
          </a:prstGeom>
          <a:solidFill>
            <a:schemeClr val="accent1"/>
          </a:solidFill>
          <a:ln w="12700">
            <a:solidFill>
              <a:schemeClr val="accent1"/>
            </a:solidFill>
            <a:prstDash val="solid"/>
          </a:ln>
        </p:spPr>
      </p:sp>
      <p:pic>
        <p:nvPicPr>
          <p:cNvPr id="14" name="icon-316" descr="preencoded.png"/>
          <p:cNvPicPr>
            <a:picLocks noChangeAspect="1"/>
          </p:cNvPicPr>
          <p:nvPr/>
        </p:nvPicPr>
        <p:blipFill>
          <a:blip r:embed="rId4"/>
          <a:stretch>
            <a:fillRect/>
          </a:stretch>
        </p:blipFill>
        <p:spPr>
          <a:xfrm>
            <a:off x="1535826" y="2331354"/>
            <a:ext cx="256764" cy="256764"/>
          </a:xfrm>
          <a:prstGeom prst="rect">
            <a:avLst/>
          </a:prstGeom>
        </p:spPr>
      </p:pic>
      <p:sp>
        <p:nvSpPr>
          <p:cNvPr id="15" name="Text 10"/>
          <p:cNvSpPr txBox="1"/>
          <p:nvPr/>
        </p:nvSpPr>
        <p:spPr>
          <a:xfrm>
            <a:off x="2103120" y="210312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Methodology and Design</a:t>
            </a:r>
            <a:endParaRPr lang="en-US" sz="1800" dirty="0"/>
          </a:p>
        </p:txBody>
      </p:sp>
      <p:sp>
        <p:nvSpPr>
          <p:cNvPr id="16" name="Text 11"/>
          <p:cNvSpPr txBox="1"/>
          <p:nvPr/>
        </p:nvSpPr>
        <p:spPr>
          <a:xfrm>
            <a:off x="5440680" y="2103120"/>
            <a:ext cx="4937760" cy="713232"/>
          </a:xfrm>
          <a:prstGeom prst="rect">
            <a:avLst/>
          </a:prstGeom>
          <a:noFill/>
          <a:ln/>
        </p:spPr>
        <p:txBody>
          <a:bodyPr wrap="square" lIns="0" tIns="0" rIns="0" bIns="0" rtlCol="0" anchor="ctr"/>
          <a:lstStyle/>
          <a:p>
            <a:pPr marL="0" indent="0">
              <a:buNone/>
            </a:pPr>
            <a:r>
              <a:rPr lang="en-US" sz="1450" dirty="0">
                <a:solidFill>
                  <a:schemeClr val="tx1"/>
                </a:solidFill>
              </a:rPr>
              <a:t>Workflow, design decisions, architecture, data flow, algorithms, locomotion model</a:t>
            </a:r>
            <a:endParaRPr lang="en-US" sz="1450" dirty="0"/>
          </a:p>
        </p:txBody>
      </p:sp>
      <p:sp>
        <p:nvSpPr>
          <p:cNvPr id="17" name="Text 12"/>
          <p:cNvSpPr txBox="1"/>
          <p:nvPr/>
        </p:nvSpPr>
        <p:spPr>
          <a:xfrm>
            <a:off x="10332720" y="210312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9–19</a:t>
            </a:r>
            <a:endParaRPr lang="en-US" sz="1300" dirty="0"/>
          </a:p>
        </p:txBody>
      </p:sp>
      <p:sp>
        <p:nvSpPr>
          <p:cNvPr id="18" name="panel-317"/>
          <p:cNvSpPr/>
          <p:nvPr/>
        </p:nvSpPr>
        <p:spPr>
          <a:xfrm>
            <a:off x="548640" y="2926080"/>
            <a:ext cx="11064240" cy="713232"/>
          </a:xfrm>
          <a:prstGeom prst="roundRect">
            <a:avLst>
              <a:gd name="adj" fmla="val 12821"/>
            </a:avLst>
          </a:prstGeom>
          <a:solidFill>
            <a:schemeClr val="bg2"/>
          </a:solidFill>
          <a:ln w="12700">
            <a:solidFill>
              <a:schemeClr val="bg2"/>
            </a:solidFill>
            <a:prstDash val="solid"/>
          </a:ln>
        </p:spPr>
      </p:sp>
      <p:sp>
        <p:nvSpPr>
          <p:cNvPr id="19" name="Text 14"/>
          <p:cNvSpPr txBox="1"/>
          <p:nvPr/>
        </p:nvSpPr>
        <p:spPr>
          <a:xfrm>
            <a:off x="731520" y="292608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03</a:t>
            </a:r>
            <a:endParaRPr lang="en-US" sz="2400" dirty="0"/>
          </a:p>
        </p:txBody>
      </p:sp>
      <p:sp>
        <p:nvSpPr>
          <p:cNvPr id="20" name="icon-bg-318"/>
          <p:cNvSpPr/>
          <p:nvPr/>
        </p:nvSpPr>
        <p:spPr>
          <a:xfrm>
            <a:off x="1417320" y="3035808"/>
            <a:ext cx="493776" cy="493776"/>
          </a:xfrm>
          <a:prstGeom prst="ellipse">
            <a:avLst/>
          </a:prstGeom>
          <a:solidFill>
            <a:schemeClr val="accent1"/>
          </a:solidFill>
          <a:ln w="12700">
            <a:solidFill>
              <a:schemeClr val="accent1"/>
            </a:solidFill>
            <a:prstDash val="solid"/>
          </a:ln>
        </p:spPr>
      </p:sp>
      <p:pic>
        <p:nvPicPr>
          <p:cNvPr id="21" name="icon-319" descr="preencoded.png"/>
          <p:cNvPicPr>
            <a:picLocks noChangeAspect="1"/>
          </p:cNvPicPr>
          <p:nvPr/>
        </p:nvPicPr>
        <p:blipFill>
          <a:blip r:embed="rId5"/>
          <a:stretch>
            <a:fillRect/>
          </a:stretch>
        </p:blipFill>
        <p:spPr>
          <a:xfrm>
            <a:off x="1535826" y="3154314"/>
            <a:ext cx="256764" cy="256764"/>
          </a:xfrm>
          <a:prstGeom prst="rect">
            <a:avLst/>
          </a:prstGeom>
        </p:spPr>
      </p:pic>
      <p:sp>
        <p:nvSpPr>
          <p:cNvPr id="22" name="Text 16"/>
          <p:cNvSpPr txBox="1"/>
          <p:nvPr/>
        </p:nvSpPr>
        <p:spPr>
          <a:xfrm>
            <a:off x="2103120" y="292608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Completion and Integration</a:t>
            </a:r>
            <a:endParaRPr lang="en-US" sz="1800" dirty="0"/>
          </a:p>
        </p:txBody>
      </p:sp>
      <p:sp>
        <p:nvSpPr>
          <p:cNvPr id="23" name="Text 17"/>
          <p:cNvSpPr txBox="1"/>
          <p:nvPr/>
        </p:nvSpPr>
        <p:spPr>
          <a:xfrm>
            <a:off x="5440680" y="2926080"/>
            <a:ext cx="4937760" cy="713232"/>
          </a:xfrm>
          <a:prstGeom prst="rect">
            <a:avLst/>
          </a:prstGeom>
          <a:noFill/>
          <a:ln/>
        </p:spPr>
        <p:txBody>
          <a:bodyPr wrap="square" lIns="0" tIns="0" rIns="0" bIns="0" rtlCol="0" anchor="ctr"/>
          <a:lstStyle/>
          <a:p>
            <a:pPr marL="0" indent="0">
              <a:buNone/>
            </a:pPr>
            <a:r>
              <a:rPr lang="en-US" sz="1450" dirty="0">
                <a:solidFill>
                  <a:schemeClr val="tx1"/>
                </a:solidFill>
              </a:rPr>
              <a:t>Scope delivered, assembled robot, integrated dashboard, stable logging, live demo</a:t>
            </a:r>
            <a:endParaRPr lang="en-US" sz="1450" dirty="0"/>
          </a:p>
        </p:txBody>
      </p:sp>
      <p:sp>
        <p:nvSpPr>
          <p:cNvPr id="24" name="Text 18"/>
          <p:cNvSpPr txBox="1"/>
          <p:nvPr/>
        </p:nvSpPr>
        <p:spPr>
          <a:xfrm>
            <a:off x="10332720" y="292608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20–25</a:t>
            </a:r>
            <a:endParaRPr lang="en-US" sz="1300" dirty="0"/>
          </a:p>
        </p:txBody>
      </p:sp>
      <p:sp>
        <p:nvSpPr>
          <p:cNvPr id="25" name="panel-320"/>
          <p:cNvSpPr/>
          <p:nvPr/>
        </p:nvSpPr>
        <p:spPr>
          <a:xfrm>
            <a:off x="548640" y="3749040"/>
            <a:ext cx="11064240" cy="713232"/>
          </a:xfrm>
          <a:prstGeom prst="roundRect">
            <a:avLst>
              <a:gd name="adj" fmla="val 12821"/>
            </a:avLst>
          </a:prstGeom>
          <a:solidFill>
            <a:schemeClr val="bg1"/>
          </a:solidFill>
          <a:ln w="12700">
            <a:solidFill>
              <a:schemeClr val="bg1"/>
            </a:solidFill>
            <a:prstDash val="solid"/>
          </a:ln>
        </p:spPr>
      </p:sp>
      <p:sp>
        <p:nvSpPr>
          <p:cNvPr id="26" name="Text 20"/>
          <p:cNvSpPr txBox="1"/>
          <p:nvPr/>
        </p:nvSpPr>
        <p:spPr>
          <a:xfrm>
            <a:off x="731520" y="374904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04</a:t>
            </a:r>
            <a:endParaRPr lang="en-US" sz="2400" dirty="0"/>
          </a:p>
        </p:txBody>
      </p:sp>
      <p:sp>
        <p:nvSpPr>
          <p:cNvPr id="27" name="icon-bg-321"/>
          <p:cNvSpPr/>
          <p:nvPr/>
        </p:nvSpPr>
        <p:spPr>
          <a:xfrm>
            <a:off x="1417320" y="3858768"/>
            <a:ext cx="493776" cy="493776"/>
          </a:xfrm>
          <a:prstGeom prst="ellipse">
            <a:avLst/>
          </a:prstGeom>
          <a:solidFill>
            <a:schemeClr val="accent1"/>
          </a:solidFill>
          <a:ln w="12700">
            <a:solidFill>
              <a:schemeClr val="accent1"/>
            </a:solidFill>
            <a:prstDash val="solid"/>
          </a:ln>
        </p:spPr>
      </p:sp>
      <p:pic>
        <p:nvPicPr>
          <p:cNvPr id="28" name="icon-322" descr="preencoded.png"/>
          <p:cNvPicPr>
            <a:picLocks noChangeAspect="1"/>
          </p:cNvPicPr>
          <p:nvPr/>
        </p:nvPicPr>
        <p:blipFill>
          <a:blip r:embed="rId6"/>
          <a:stretch>
            <a:fillRect/>
          </a:stretch>
        </p:blipFill>
        <p:spPr>
          <a:xfrm>
            <a:off x="1535826" y="3977274"/>
            <a:ext cx="256764" cy="256764"/>
          </a:xfrm>
          <a:prstGeom prst="rect">
            <a:avLst/>
          </a:prstGeom>
        </p:spPr>
      </p:pic>
      <p:sp>
        <p:nvSpPr>
          <p:cNvPr id="29" name="Text 22"/>
          <p:cNvSpPr txBox="1"/>
          <p:nvPr/>
        </p:nvSpPr>
        <p:spPr>
          <a:xfrm>
            <a:off x="2103120" y="374904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Testing and Results</a:t>
            </a:r>
            <a:endParaRPr lang="en-US" sz="1800" dirty="0"/>
          </a:p>
        </p:txBody>
      </p:sp>
      <p:sp>
        <p:nvSpPr>
          <p:cNvPr id="30" name="Text 23"/>
          <p:cNvSpPr txBox="1"/>
          <p:nvPr/>
        </p:nvSpPr>
        <p:spPr>
          <a:xfrm>
            <a:off x="5440680" y="3749040"/>
            <a:ext cx="4937760" cy="713232"/>
          </a:xfrm>
          <a:prstGeom prst="rect">
            <a:avLst/>
          </a:prstGeom>
          <a:noFill/>
          <a:ln/>
        </p:spPr>
        <p:txBody>
          <a:bodyPr wrap="square" lIns="0" tIns="0" rIns="0" bIns="0" rtlCol="0" anchor="ctr"/>
          <a:lstStyle/>
          <a:p>
            <a:pPr marL="0" indent="0">
              <a:buNone/>
            </a:pPr>
            <a:r>
              <a:rPr lang="en-US" sz="1450" dirty="0">
                <a:solidFill>
                  <a:schemeClr val="tx1"/>
                </a:solidFill>
              </a:rPr>
              <a:t>Bench tests, classifier validation, hardware actuation, simulated survey, speed limit</a:t>
            </a:r>
            <a:endParaRPr lang="en-US" sz="1450" dirty="0"/>
          </a:p>
        </p:txBody>
      </p:sp>
      <p:sp>
        <p:nvSpPr>
          <p:cNvPr id="31" name="Text 24"/>
          <p:cNvSpPr txBox="1"/>
          <p:nvPr/>
        </p:nvSpPr>
        <p:spPr>
          <a:xfrm>
            <a:off x="10332720" y="374904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26–33</a:t>
            </a:r>
            <a:endParaRPr lang="en-US" sz="1300" dirty="0"/>
          </a:p>
        </p:txBody>
      </p:sp>
      <p:sp>
        <p:nvSpPr>
          <p:cNvPr id="32" name="panel-323"/>
          <p:cNvSpPr/>
          <p:nvPr/>
        </p:nvSpPr>
        <p:spPr>
          <a:xfrm>
            <a:off x="548640" y="4572000"/>
            <a:ext cx="11064240" cy="713232"/>
          </a:xfrm>
          <a:prstGeom prst="roundRect">
            <a:avLst>
              <a:gd name="adj" fmla="val 12821"/>
            </a:avLst>
          </a:prstGeom>
          <a:solidFill>
            <a:schemeClr val="bg2"/>
          </a:solidFill>
          <a:ln w="12700">
            <a:solidFill>
              <a:schemeClr val="bg2"/>
            </a:solidFill>
            <a:prstDash val="solid"/>
          </a:ln>
        </p:spPr>
      </p:sp>
      <p:sp>
        <p:nvSpPr>
          <p:cNvPr id="33" name="Text 26"/>
          <p:cNvSpPr txBox="1"/>
          <p:nvPr/>
        </p:nvSpPr>
        <p:spPr>
          <a:xfrm>
            <a:off x="731520" y="457200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05</a:t>
            </a:r>
            <a:endParaRPr lang="en-US" sz="2400" dirty="0"/>
          </a:p>
        </p:txBody>
      </p:sp>
      <p:sp>
        <p:nvSpPr>
          <p:cNvPr id="34" name="icon-bg-324"/>
          <p:cNvSpPr/>
          <p:nvPr/>
        </p:nvSpPr>
        <p:spPr>
          <a:xfrm>
            <a:off x="1417320" y="4681728"/>
            <a:ext cx="493776" cy="493776"/>
          </a:xfrm>
          <a:prstGeom prst="ellipse">
            <a:avLst/>
          </a:prstGeom>
          <a:solidFill>
            <a:schemeClr val="accent1"/>
          </a:solidFill>
          <a:ln w="12700">
            <a:solidFill>
              <a:schemeClr val="accent1"/>
            </a:solidFill>
            <a:prstDash val="solid"/>
          </a:ln>
        </p:spPr>
      </p:sp>
      <p:pic>
        <p:nvPicPr>
          <p:cNvPr id="35" name="icon-325" descr="preencoded.png"/>
          <p:cNvPicPr>
            <a:picLocks noChangeAspect="1"/>
          </p:cNvPicPr>
          <p:nvPr/>
        </p:nvPicPr>
        <p:blipFill>
          <a:blip r:embed="rId7"/>
          <a:stretch>
            <a:fillRect/>
          </a:stretch>
        </p:blipFill>
        <p:spPr>
          <a:xfrm>
            <a:off x="1535826" y="4800234"/>
            <a:ext cx="256764" cy="256764"/>
          </a:xfrm>
          <a:prstGeom prst="rect">
            <a:avLst/>
          </a:prstGeom>
        </p:spPr>
      </p:pic>
      <p:sp>
        <p:nvSpPr>
          <p:cNvPr id="36" name="Text 28"/>
          <p:cNvSpPr txBox="1"/>
          <p:nvPr/>
        </p:nvSpPr>
        <p:spPr>
          <a:xfrm>
            <a:off x="2103120" y="457200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Innovation and Relevance</a:t>
            </a:r>
            <a:endParaRPr lang="en-US" sz="1800" dirty="0"/>
          </a:p>
        </p:txBody>
      </p:sp>
      <p:sp>
        <p:nvSpPr>
          <p:cNvPr id="37" name="Text 29"/>
          <p:cNvSpPr txBox="1"/>
          <p:nvPr/>
        </p:nvSpPr>
        <p:spPr>
          <a:xfrm>
            <a:off x="5440680" y="4572000"/>
            <a:ext cx="4937760" cy="713232"/>
          </a:xfrm>
          <a:prstGeom prst="rect">
            <a:avLst/>
          </a:prstGeom>
          <a:noFill/>
          <a:ln/>
        </p:spPr>
        <p:txBody>
          <a:bodyPr wrap="square" lIns="0" tIns="0" rIns="0" bIns="0" rtlCol="0" anchor="ctr"/>
          <a:lstStyle/>
          <a:p>
            <a:pPr marL="0" indent="0">
              <a:buNone/>
            </a:pPr>
            <a:r>
              <a:rPr lang="en-US" sz="1450" dirty="0">
                <a:solidFill>
                  <a:schemeClr val="tx1"/>
                </a:solidFill>
              </a:rPr>
              <a:t>Contributions, cost and feasibility, ethics, practical use, limitations, future work</a:t>
            </a:r>
            <a:endParaRPr lang="en-US" sz="1450" dirty="0"/>
          </a:p>
        </p:txBody>
      </p:sp>
      <p:sp>
        <p:nvSpPr>
          <p:cNvPr id="38" name="Text 30"/>
          <p:cNvSpPr txBox="1"/>
          <p:nvPr/>
        </p:nvSpPr>
        <p:spPr>
          <a:xfrm>
            <a:off x="10332720" y="457200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34–40</a:t>
            </a:r>
            <a:endParaRPr lang="en-US" sz="1300" dirty="0"/>
          </a:p>
        </p:txBody>
      </p:sp>
      <p:sp>
        <p:nvSpPr>
          <p:cNvPr id="39" name="panel-326"/>
          <p:cNvSpPr/>
          <p:nvPr/>
        </p:nvSpPr>
        <p:spPr>
          <a:xfrm>
            <a:off x="548640" y="5394960"/>
            <a:ext cx="11064240" cy="713232"/>
          </a:xfrm>
          <a:prstGeom prst="roundRect">
            <a:avLst>
              <a:gd name="adj" fmla="val 12821"/>
            </a:avLst>
          </a:prstGeom>
          <a:solidFill>
            <a:schemeClr val="bg1"/>
          </a:solidFill>
          <a:ln w="12700">
            <a:solidFill>
              <a:schemeClr val="bg1"/>
            </a:solidFill>
            <a:prstDash val="solid"/>
          </a:ln>
        </p:spPr>
      </p:sp>
      <p:sp>
        <p:nvSpPr>
          <p:cNvPr id="40" name="Text 32"/>
          <p:cNvSpPr txBox="1"/>
          <p:nvPr/>
        </p:nvSpPr>
        <p:spPr>
          <a:xfrm>
            <a:off x="731520" y="5394960"/>
            <a:ext cx="640080" cy="713232"/>
          </a:xfrm>
          <a:prstGeom prst="rect">
            <a:avLst/>
          </a:prstGeom>
          <a:noFill/>
          <a:ln/>
        </p:spPr>
        <p:txBody>
          <a:bodyPr wrap="square" lIns="0" tIns="0" rIns="0" bIns="0" rtlCol="0" anchor="ctr"/>
          <a:lstStyle/>
          <a:p>
            <a:pPr marL="0" indent="0">
              <a:buNone/>
            </a:pPr>
            <a:r>
              <a:rPr lang="en-US" sz="2400" b="1" dirty="0">
                <a:solidFill>
                  <a:schemeClr val="accent2"/>
                </a:solidFill>
                <a:latin typeface="Cambria" pitchFamily="34" charset="0"/>
                <a:ea typeface="Cambria" pitchFamily="34" charset="-122"/>
                <a:cs typeface="Cambria" pitchFamily="34" charset="-120"/>
              </a:rPr>
              <a:t>06</a:t>
            </a:r>
            <a:endParaRPr lang="en-US" sz="2400" dirty="0"/>
          </a:p>
        </p:txBody>
      </p:sp>
      <p:sp>
        <p:nvSpPr>
          <p:cNvPr id="41" name="icon-bg-327"/>
          <p:cNvSpPr/>
          <p:nvPr/>
        </p:nvSpPr>
        <p:spPr>
          <a:xfrm>
            <a:off x="1417320" y="5504688"/>
            <a:ext cx="493776" cy="493776"/>
          </a:xfrm>
          <a:prstGeom prst="ellipse">
            <a:avLst/>
          </a:prstGeom>
          <a:solidFill>
            <a:schemeClr val="accent1"/>
          </a:solidFill>
          <a:ln w="12700">
            <a:solidFill>
              <a:schemeClr val="accent1"/>
            </a:solidFill>
            <a:prstDash val="solid"/>
          </a:ln>
        </p:spPr>
      </p:sp>
      <p:pic>
        <p:nvPicPr>
          <p:cNvPr id="42" name="icon-328" descr="preencoded.png"/>
          <p:cNvPicPr>
            <a:picLocks noChangeAspect="1"/>
          </p:cNvPicPr>
          <p:nvPr/>
        </p:nvPicPr>
        <p:blipFill>
          <a:blip r:embed="rId8"/>
          <a:stretch>
            <a:fillRect/>
          </a:stretch>
        </p:blipFill>
        <p:spPr>
          <a:xfrm>
            <a:off x="1535826" y="5623194"/>
            <a:ext cx="256764" cy="256764"/>
          </a:xfrm>
          <a:prstGeom prst="rect">
            <a:avLst/>
          </a:prstGeom>
        </p:spPr>
      </p:pic>
      <p:sp>
        <p:nvSpPr>
          <p:cNvPr id="43" name="Text 34"/>
          <p:cNvSpPr txBox="1"/>
          <p:nvPr/>
        </p:nvSpPr>
        <p:spPr>
          <a:xfrm>
            <a:off x="2103120" y="5394960"/>
            <a:ext cx="3291840" cy="713232"/>
          </a:xfrm>
          <a:prstGeom prst="rect">
            <a:avLst/>
          </a:prstGeom>
          <a:noFill/>
          <a:ln/>
        </p:spPr>
        <p:txBody>
          <a:bodyPr wrap="square" lIns="0" tIns="0" rIns="0" bIns="0" rtlCol="0" anchor="ctr"/>
          <a:lstStyle/>
          <a:p>
            <a:pPr marL="0" indent="0">
              <a:buNone/>
            </a:pPr>
            <a:r>
              <a:rPr lang="en-US" sz="1800" b="1" dirty="0">
                <a:solidFill>
                  <a:schemeClr val="tx2"/>
                </a:solidFill>
              </a:rPr>
              <a:t>Conclusion and Q&amp;A</a:t>
            </a:r>
            <a:endParaRPr lang="en-US" sz="1800" dirty="0"/>
          </a:p>
        </p:txBody>
      </p:sp>
      <p:sp>
        <p:nvSpPr>
          <p:cNvPr id="44" name="Text 35"/>
          <p:cNvSpPr txBox="1"/>
          <p:nvPr/>
        </p:nvSpPr>
        <p:spPr>
          <a:xfrm>
            <a:off x="5440680" y="5394960"/>
            <a:ext cx="4937760" cy="713232"/>
          </a:xfrm>
          <a:prstGeom prst="rect">
            <a:avLst/>
          </a:prstGeom>
          <a:noFill/>
          <a:ln/>
        </p:spPr>
        <p:txBody>
          <a:bodyPr wrap="square" lIns="0" tIns="0" rIns="0" bIns="0" rtlCol="0" anchor="ctr"/>
          <a:lstStyle/>
          <a:p>
            <a:pPr marL="0" indent="0">
              <a:buNone/>
            </a:pPr>
            <a:r>
              <a:rPr lang="en-US" sz="1450" dirty="0">
                <a:solidFill>
                  <a:schemeClr val="tx1"/>
                </a:solidFill>
              </a:rPr>
              <a:t>Key takeaways, references, questions</a:t>
            </a:r>
            <a:endParaRPr lang="en-US" sz="1450" dirty="0"/>
          </a:p>
        </p:txBody>
      </p:sp>
      <p:sp>
        <p:nvSpPr>
          <p:cNvPr id="45" name="Text 36"/>
          <p:cNvSpPr txBox="1"/>
          <p:nvPr/>
        </p:nvSpPr>
        <p:spPr>
          <a:xfrm>
            <a:off x="10332720" y="5394960"/>
            <a:ext cx="1143000" cy="713232"/>
          </a:xfrm>
          <a:prstGeom prst="rect">
            <a:avLst/>
          </a:prstGeom>
          <a:noFill/>
          <a:ln/>
        </p:spPr>
        <p:txBody>
          <a:bodyPr wrap="square" lIns="0" tIns="0" rIns="0" bIns="0" rtlCol="0" anchor="ctr"/>
          <a:lstStyle/>
          <a:p>
            <a:pPr marL="0" indent="0" algn="r">
              <a:buNone/>
            </a:pPr>
            <a:r>
              <a:rPr lang="en-US" sz="1300" dirty="0">
                <a:solidFill>
                  <a:schemeClr val="accent6"/>
                </a:solidFill>
              </a:rPr>
              <a:t>Slides 41–43</a:t>
            </a:r>
            <a:endParaRPr lang="en-US" sz="13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lIns="0" tIns="0" rIns="0" bIns="0" rtlCol="0" anchor="b"/>
          <a:lstStyle/>
          <a:p>
            <a:pPr marL="0" indent="0" algn="l">
              <a:buNone/>
            </a:pPr>
            <a:r>
              <a:rPr lang="en-US" sz="8800" b="1" dirty="0">
                <a:solidFill>
                  <a:schemeClr val="accent2"/>
                </a:solidFill>
                <a:latin typeface="Cambria" pitchFamily="34" charset="0"/>
                <a:ea typeface="Cambria" pitchFamily="34" charset="-122"/>
                <a:cs typeface="Cambria" pitchFamily="34" charset="-120"/>
              </a:rPr>
              <a:t>01</a:t>
            </a: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lIns="0" tIns="0" rIns="0" bIns="0" rtlCol="0" anchor="t"/>
          <a:lstStyle/>
          <a:p>
            <a:pPr marL="0" indent="0" algn="l">
              <a:buNone/>
            </a:pPr>
            <a:r>
              <a:rPr lang="en-US" sz="4400" b="1" dirty="0">
                <a:solidFill>
                  <a:schemeClr val="bg1"/>
                </a:solidFill>
              </a:rPr>
              <a:t>Domain and Problem</a:t>
            </a: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lIns="0" tIns="0" rIns="0" bIns="0" rtlCol="0" anchor="t"/>
          <a:lstStyle/>
          <a:p>
            <a:pPr marL="0" indent="0" algn="l">
              <a:buNone/>
            </a:pPr>
            <a:r>
              <a:rPr lang="en-US" sz="1800" dirty="0">
                <a:solidFill>
                  <a:schemeClr val="bg2"/>
                </a:solidFill>
              </a:rPr>
              <a:t>Why crop-level monitoring matters, what existing platforms miss, and what this project set out to do</a:t>
            </a:r>
            <a:endParaRPr lang="en-US" sz="1800" dirty="0"/>
          </a:p>
        </p:txBody>
      </p:sp>
      <p:pic>
        <p:nvPicPr>
          <p:cNvPr id="5" name="divider-icon-1" descr="preencoded.png"/>
          <p:cNvPicPr>
            <a:picLocks noChangeAspect="1"/>
          </p:cNvPicPr>
          <p:nvPr/>
        </p:nvPicPr>
        <p:blipFill>
          <a:blip r:embed="rId3">
            <a:alphaModFix amt="30000"/>
          </a:blip>
          <a:stretch>
            <a:fillRect/>
          </a:stretch>
        </p:blipFill>
        <p:spPr>
          <a:xfrm>
            <a:off x="8549640" y="1554480"/>
            <a:ext cx="3017520" cy="3017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Crop Disease Is Costly, and Often Seen Too Late</a:t>
            </a:r>
            <a:endParaRPr lang="en-US" sz="3000" dirty="0"/>
          </a:p>
        </p:txBody>
      </p:sp>
      <p:sp>
        <p:nvSpPr>
          <p:cNvPr id="4" name="panel-2"/>
          <p:cNvSpPr/>
          <p:nvPr/>
        </p:nvSpPr>
        <p:spPr>
          <a:xfrm>
            <a:off x="548640" y="1325880"/>
            <a:ext cx="4754880" cy="4846320"/>
          </a:xfrm>
          <a:prstGeom prst="roundRect">
            <a:avLst>
              <a:gd name="adj" fmla="val 1923"/>
            </a:avLst>
          </a:prstGeom>
          <a:solidFill>
            <a:schemeClr val="tx2"/>
          </a:solidFill>
          <a:ln w="12700">
            <a:solidFill>
              <a:schemeClr val="tx2"/>
            </a:solidFill>
            <a:prstDash val="solid"/>
          </a:ln>
        </p:spPr>
      </p:sp>
      <p:sp>
        <p:nvSpPr>
          <p:cNvPr id="5" name="Text 2"/>
          <p:cNvSpPr txBox="1"/>
          <p:nvPr/>
        </p:nvSpPr>
        <p:spPr>
          <a:xfrm>
            <a:off x="868680" y="1600200"/>
            <a:ext cx="4206240" cy="1097280"/>
          </a:xfrm>
          <a:prstGeom prst="rect">
            <a:avLst/>
          </a:prstGeom>
          <a:noFill/>
          <a:ln/>
        </p:spPr>
        <p:txBody>
          <a:bodyPr wrap="square" lIns="0" tIns="0" rIns="0" bIns="0" rtlCol="0" anchor="ctr"/>
          <a:lstStyle/>
          <a:p>
            <a:pPr marL="0" indent="0">
              <a:buNone/>
            </a:pPr>
            <a:r>
              <a:rPr lang="en-US" sz="6600" b="1" dirty="0">
                <a:solidFill>
                  <a:schemeClr val="accent2"/>
                </a:solidFill>
                <a:latin typeface="Cambria" pitchFamily="34" charset="0"/>
                <a:ea typeface="Cambria" pitchFamily="34" charset="-122"/>
                <a:cs typeface="Cambria" pitchFamily="34" charset="-120"/>
              </a:rPr>
              <a:t>20–40 %</a:t>
            </a:r>
            <a:endParaRPr lang="en-US" sz="6600" dirty="0"/>
          </a:p>
        </p:txBody>
      </p:sp>
      <p:sp>
        <p:nvSpPr>
          <p:cNvPr id="6" name="Text 3"/>
          <p:cNvSpPr txBox="1"/>
          <p:nvPr/>
        </p:nvSpPr>
        <p:spPr>
          <a:xfrm>
            <a:off x="868680" y="2697480"/>
            <a:ext cx="4114800" cy="822960"/>
          </a:xfrm>
          <a:prstGeom prst="rect">
            <a:avLst/>
          </a:prstGeom>
          <a:noFill/>
          <a:ln/>
        </p:spPr>
        <p:txBody>
          <a:bodyPr wrap="square" lIns="0" tIns="0" rIns="0" bIns="0" rtlCol="0" anchor="t"/>
          <a:lstStyle/>
          <a:p>
            <a:pPr marL="0" indent="0">
              <a:buNone/>
            </a:pPr>
            <a:r>
              <a:rPr lang="en-US" sz="1700" dirty="0">
                <a:solidFill>
                  <a:schemeClr val="bg1"/>
                </a:solidFill>
              </a:rPr>
              <a:t>of global crop production is lost to plant pests and diseases every year (FAO)</a:t>
            </a:r>
            <a:endParaRPr lang="en-US" sz="1700" dirty="0"/>
          </a:p>
        </p:txBody>
      </p:sp>
      <p:sp>
        <p:nvSpPr>
          <p:cNvPr id="7" name="Text 4"/>
          <p:cNvSpPr txBox="1"/>
          <p:nvPr/>
        </p:nvSpPr>
        <p:spPr>
          <a:xfrm>
            <a:off x="868680" y="3931920"/>
            <a:ext cx="137160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10–28 %</a:t>
            </a:r>
            <a:endParaRPr lang="en-US" sz="2400" dirty="0"/>
          </a:p>
        </p:txBody>
      </p:sp>
      <p:sp>
        <p:nvSpPr>
          <p:cNvPr id="8" name="Text 5"/>
          <p:cNvSpPr txBox="1"/>
          <p:nvPr/>
        </p:nvSpPr>
        <p:spPr>
          <a:xfrm>
            <a:off x="868680" y="4480560"/>
            <a:ext cx="1371600" cy="320040"/>
          </a:xfrm>
          <a:prstGeom prst="rect">
            <a:avLst/>
          </a:prstGeom>
          <a:noFill/>
          <a:ln/>
        </p:spPr>
        <p:txBody>
          <a:bodyPr wrap="square" lIns="0" tIns="0" rIns="0" bIns="0" rtlCol="0" anchor="t"/>
          <a:lstStyle/>
          <a:p>
            <a:pPr marL="0" indent="0">
              <a:buNone/>
            </a:pPr>
            <a:r>
              <a:rPr lang="en-US" sz="1400" dirty="0">
                <a:solidFill>
                  <a:schemeClr val="bg2"/>
                </a:solidFill>
              </a:rPr>
              <a:t>Wheat</a:t>
            </a:r>
            <a:endParaRPr lang="en-US" sz="1400" dirty="0"/>
          </a:p>
        </p:txBody>
      </p:sp>
      <p:sp>
        <p:nvSpPr>
          <p:cNvPr id="9" name="Text 6"/>
          <p:cNvSpPr txBox="1"/>
          <p:nvPr/>
        </p:nvSpPr>
        <p:spPr>
          <a:xfrm>
            <a:off x="2286000" y="3931920"/>
            <a:ext cx="137160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25–41 %</a:t>
            </a:r>
            <a:endParaRPr lang="en-US" sz="2400" dirty="0"/>
          </a:p>
        </p:txBody>
      </p:sp>
      <p:sp>
        <p:nvSpPr>
          <p:cNvPr id="10" name="Text 7"/>
          <p:cNvSpPr txBox="1"/>
          <p:nvPr/>
        </p:nvSpPr>
        <p:spPr>
          <a:xfrm>
            <a:off x="2286000" y="4480560"/>
            <a:ext cx="1371600" cy="320040"/>
          </a:xfrm>
          <a:prstGeom prst="rect">
            <a:avLst/>
          </a:prstGeom>
          <a:noFill/>
          <a:ln/>
        </p:spPr>
        <p:txBody>
          <a:bodyPr wrap="square" lIns="0" tIns="0" rIns="0" bIns="0" rtlCol="0" anchor="t"/>
          <a:lstStyle/>
          <a:p>
            <a:pPr marL="0" indent="0">
              <a:buNone/>
            </a:pPr>
            <a:r>
              <a:rPr lang="en-US" sz="1400" dirty="0">
                <a:solidFill>
                  <a:schemeClr val="bg2"/>
                </a:solidFill>
              </a:rPr>
              <a:t>Rice</a:t>
            </a:r>
            <a:endParaRPr lang="en-US" sz="1400" dirty="0"/>
          </a:p>
        </p:txBody>
      </p:sp>
      <p:sp>
        <p:nvSpPr>
          <p:cNvPr id="11" name="Text 8"/>
          <p:cNvSpPr txBox="1"/>
          <p:nvPr/>
        </p:nvSpPr>
        <p:spPr>
          <a:xfrm>
            <a:off x="3703320" y="3931920"/>
            <a:ext cx="1371600" cy="54864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20–41 %</a:t>
            </a:r>
            <a:endParaRPr lang="en-US" sz="2400" dirty="0"/>
          </a:p>
        </p:txBody>
      </p:sp>
      <p:sp>
        <p:nvSpPr>
          <p:cNvPr id="12" name="Text 9"/>
          <p:cNvSpPr txBox="1"/>
          <p:nvPr/>
        </p:nvSpPr>
        <p:spPr>
          <a:xfrm>
            <a:off x="3703320" y="4480560"/>
            <a:ext cx="1371600" cy="320040"/>
          </a:xfrm>
          <a:prstGeom prst="rect">
            <a:avLst/>
          </a:prstGeom>
          <a:noFill/>
          <a:ln/>
        </p:spPr>
        <p:txBody>
          <a:bodyPr wrap="square" lIns="0" tIns="0" rIns="0" bIns="0" rtlCol="0" anchor="t"/>
          <a:lstStyle/>
          <a:p>
            <a:pPr marL="0" indent="0">
              <a:buNone/>
            </a:pPr>
            <a:r>
              <a:rPr lang="en-US" sz="1400" dirty="0">
                <a:solidFill>
                  <a:schemeClr val="bg2"/>
                </a:solidFill>
              </a:rPr>
              <a:t>Maize</a:t>
            </a:r>
            <a:endParaRPr lang="en-US" sz="1400" dirty="0"/>
          </a:p>
        </p:txBody>
      </p:sp>
      <p:sp>
        <p:nvSpPr>
          <p:cNvPr id="13" name="Text 10"/>
          <p:cNvSpPr txBox="1"/>
          <p:nvPr/>
        </p:nvSpPr>
        <p:spPr>
          <a:xfrm>
            <a:off x="868680" y="4983480"/>
            <a:ext cx="4206240" cy="822960"/>
          </a:xfrm>
          <a:prstGeom prst="rect">
            <a:avLst/>
          </a:prstGeom>
          <a:noFill/>
          <a:ln/>
        </p:spPr>
        <p:txBody>
          <a:bodyPr wrap="square" lIns="0" tIns="0" rIns="0" bIns="0" rtlCol="0" anchor="t"/>
          <a:lstStyle/>
          <a:p>
            <a:pPr marL="0" indent="0">
              <a:buNone/>
            </a:pPr>
            <a:r>
              <a:rPr lang="en-US" sz="1300" i="1" dirty="0">
                <a:solidFill>
                  <a:schemeClr val="bg2"/>
                </a:solidFill>
              </a:rPr>
              <a:t>Yield losses to pathogens and pests, global estimate (Savary et al., 2019)</a:t>
            </a:r>
            <a:endParaRPr lang="en-US" sz="1300" dirty="0"/>
          </a:p>
        </p:txBody>
      </p:sp>
      <p:sp>
        <p:nvSpPr>
          <p:cNvPr id="14" name="icon-bg-3"/>
          <p:cNvSpPr/>
          <p:nvPr/>
        </p:nvSpPr>
        <p:spPr>
          <a:xfrm>
            <a:off x="5715000" y="1417320"/>
            <a:ext cx="640080" cy="640080"/>
          </a:xfrm>
          <a:prstGeom prst="ellipse">
            <a:avLst/>
          </a:prstGeom>
          <a:solidFill>
            <a:schemeClr val="accent1"/>
          </a:solidFill>
          <a:ln w="12700">
            <a:solidFill>
              <a:schemeClr val="accent1"/>
            </a:solidFill>
            <a:prstDash val="solid"/>
          </a:ln>
        </p:spPr>
      </p:sp>
      <p:pic>
        <p:nvPicPr>
          <p:cNvPr id="15" name="icon-4" descr="preencoded.png"/>
          <p:cNvPicPr>
            <a:picLocks noChangeAspect="1"/>
          </p:cNvPicPr>
          <p:nvPr/>
        </p:nvPicPr>
        <p:blipFill>
          <a:blip r:embed="rId3"/>
          <a:stretch>
            <a:fillRect/>
          </a:stretch>
        </p:blipFill>
        <p:spPr>
          <a:xfrm>
            <a:off x="5868619" y="1570939"/>
            <a:ext cx="332842" cy="332842"/>
          </a:xfrm>
          <a:prstGeom prst="rect">
            <a:avLst/>
          </a:prstGeom>
        </p:spPr>
      </p:pic>
      <p:sp>
        <p:nvSpPr>
          <p:cNvPr id="16" name="Text 12"/>
          <p:cNvSpPr txBox="1"/>
          <p:nvPr/>
        </p:nvSpPr>
        <p:spPr>
          <a:xfrm>
            <a:off x="6583680" y="1371600"/>
            <a:ext cx="5029200" cy="411480"/>
          </a:xfrm>
          <a:prstGeom prst="rect">
            <a:avLst/>
          </a:prstGeom>
          <a:noFill/>
          <a:ln/>
        </p:spPr>
        <p:txBody>
          <a:bodyPr wrap="square" lIns="0" tIns="0" rIns="0" bIns="0" rtlCol="0" anchor="t"/>
          <a:lstStyle/>
          <a:p>
            <a:pPr marL="0" indent="0">
              <a:buNone/>
            </a:pPr>
            <a:r>
              <a:rPr lang="en-US" sz="1900" b="1" dirty="0">
                <a:solidFill>
                  <a:schemeClr val="tx2"/>
                </a:solidFill>
              </a:rPr>
              <a:t>Drones see only the canopy top</a:t>
            </a:r>
            <a:endParaRPr lang="en-US" sz="1900" dirty="0"/>
          </a:p>
        </p:txBody>
      </p:sp>
      <p:sp>
        <p:nvSpPr>
          <p:cNvPr id="17" name="Text 13"/>
          <p:cNvSpPr txBox="1"/>
          <p:nvPr/>
        </p:nvSpPr>
        <p:spPr>
          <a:xfrm>
            <a:off x="6583680" y="1801368"/>
            <a:ext cx="5029200" cy="640080"/>
          </a:xfrm>
          <a:prstGeom prst="rect">
            <a:avLst/>
          </a:prstGeom>
          <a:noFill/>
          <a:ln/>
        </p:spPr>
        <p:txBody>
          <a:bodyPr wrap="square" lIns="0" tIns="0" rIns="0" bIns="0" rtlCol="0" anchor="t"/>
          <a:lstStyle/>
          <a:p>
            <a:pPr marL="0" indent="0">
              <a:buNone/>
            </a:pPr>
            <a:r>
              <a:rPr lang="en-US" sz="1600" dirty="0">
                <a:solidFill>
                  <a:schemeClr val="tx1"/>
                </a:solidFill>
              </a:rPr>
              <a:t>Short flights; no view of leaf undersides or the air between rows</a:t>
            </a:r>
            <a:endParaRPr lang="en-US" sz="1600" dirty="0"/>
          </a:p>
        </p:txBody>
      </p:sp>
      <p:sp>
        <p:nvSpPr>
          <p:cNvPr id="18" name="icon-bg-5"/>
          <p:cNvSpPr/>
          <p:nvPr/>
        </p:nvSpPr>
        <p:spPr>
          <a:xfrm>
            <a:off x="5715000" y="2624328"/>
            <a:ext cx="640080" cy="640080"/>
          </a:xfrm>
          <a:prstGeom prst="ellipse">
            <a:avLst/>
          </a:prstGeom>
          <a:solidFill>
            <a:schemeClr val="accent1"/>
          </a:solidFill>
          <a:ln w="12700">
            <a:solidFill>
              <a:schemeClr val="accent1"/>
            </a:solidFill>
            <a:prstDash val="solid"/>
          </a:ln>
        </p:spPr>
      </p:sp>
      <p:pic>
        <p:nvPicPr>
          <p:cNvPr id="19" name="icon-6" descr="preencoded.png"/>
          <p:cNvPicPr>
            <a:picLocks noChangeAspect="1"/>
          </p:cNvPicPr>
          <p:nvPr/>
        </p:nvPicPr>
        <p:blipFill>
          <a:blip r:embed="rId4"/>
          <a:stretch>
            <a:fillRect/>
          </a:stretch>
        </p:blipFill>
        <p:spPr>
          <a:xfrm>
            <a:off x="5868619" y="2777947"/>
            <a:ext cx="332842" cy="332842"/>
          </a:xfrm>
          <a:prstGeom prst="rect">
            <a:avLst/>
          </a:prstGeom>
        </p:spPr>
      </p:pic>
      <p:sp>
        <p:nvSpPr>
          <p:cNvPr id="20" name="Text 15"/>
          <p:cNvSpPr txBox="1"/>
          <p:nvPr/>
        </p:nvSpPr>
        <p:spPr>
          <a:xfrm>
            <a:off x="6583680" y="2578608"/>
            <a:ext cx="5029200" cy="411480"/>
          </a:xfrm>
          <a:prstGeom prst="rect">
            <a:avLst/>
          </a:prstGeom>
          <a:noFill/>
          <a:ln/>
        </p:spPr>
        <p:txBody>
          <a:bodyPr wrap="square" lIns="0" tIns="0" rIns="0" bIns="0" rtlCol="0" anchor="t"/>
          <a:lstStyle/>
          <a:p>
            <a:pPr marL="0" indent="0">
              <a:buNone/>
            </a:pPr>
            <a:r>
              <a:rPr lang="en-US" sz="1900" b="1" dirty="0">
                <a:solidFill>
                  <a:schemeClr val="tx2"/>
                </a:solidFill>
              </a:rPr>
              <a:t>Wheeled rovers get stuck</a:t>
            </a:r>
            <a:endParaRPr lang="en-US" sz="1900" dirty="0"/>
          </a:p>
        </p:txBody>
      </p:sp>
      <p:sp>
        <p:nvSpPr>
          <p:cNvPr id="21" name="Text 16"/>
          <p:cNvSpPr txBox="1"/>
          <p:nvPr/>
        </p:nvSpPr>
        <p:spPr>
          <a:xfrm>
            <a:off x="6583680" y="3008376"/>
            <a:ext cx="5029200" cy="640080"/>
          </a:xfrm>
          <a:prstGeom prst="rect">
            <a:avLst/>
          </a:prstGeom>
          <a:noFill/>
          <a:ln/>
        </p:spPr>
        <p:txBody>
          <a:bodyPr wrap="square" lIns="0" tIns="0" rIns="0" bIns="0" rtlCol="0" anchor="t"/>
          <a:lstStyle/>
          <a:p>
            <a:pPr marL="0" indent="0">
              <a:buNone/>
            </a:pPr>
            <a:r>
              <a:rPr lang="en-US" sz="1600" dirty="0">
                <a:solidFill>
                  <a:schemeClr val="tx1"/>
                </a:solidFill>
              </a:rPr>
              <a:t>Lose traction in mud, soft soil and narrow furrows</a:t>
            </a:r>
            <a:endParaRPr lang="en-US" sz="1600" dirty="0"/>
          </a:p>
        </p:txBody>
      </p:sp>
      <p:sp>
        <p:nvSpPr>
          <p:cNvPr id="22" name="icon-bg-7"/>
          <p:cNvSpPr/>
          <p:nvPr/>
        </p:nvSpPr>
        <p:spPr>
          <a:xfrm>
            <a:off x="5715000" y="3831336"/>
            <a:ext cx="640080" cy="640080"/>
          </a:xfrm>
          <a:prstGeom prst="ellipse">
            <a:avLst/>
          </a:prstGeom>
          <a:solidFill>
            <a:schemeClr val="accent1"/>
          </a:solidFill>
          <a:ln w="12700">
            <a:solidFill>
              <a:schemeClr val="accent1"/>
            </a:solidFill>
            <a:prstDash val="solid"/>
          </a:ln>
        </p:spPr>
      </p:sp>
      <p:pic>
        <p:nvPicPr>
          <p:cNvPr id="23" name="icon-8" descr="preencoded.png"/>
          <p:cNvPicPr>
            <a:picLocks noChangeAspect="1"/>
          </p:cNvPicPr>
          <p:nvPr/>
        </p:nvPicPr>
        <p:blipFill>
          <a:blip r:embed="rId5"/>
          <a:stretch>
            <a:fillRect/>
          </a:stretch>
        </p:blipFill>
        <p:spPr>
          <a:xfrm>
            <a:off x="5868619" y="3984955"/>
            <a:ext cx="332842" cy="332842"/>
          </a:xfrm>
          <a:prstGeom prst="rect">
            <a:avLst/>
          </a:prstGeom>
        </p:spPr>
      </p:pic>
      <p:sp>
        <p:nvSpPr>
          <p:cNvPr id="24" name="Text 18"/>
          <p:cNvSpPr txBox="1"/>
          <p:nvPr/>
        </p:nvSpPr>
        <p:spPr>
          <a:xfrm>
            <a:off x="6583680" y="3785616"/>
            <a:ext cx="5029200" cy="411480"/>
          </a:xfrm>
          <a:prstGeom prst="rect">
            <a:avLst/>
          </a:prstGeom>
          <a:noFill/>
          <a:ln/>
        </p:spPr>
        <p:txBody>
          <a:bodyPr wrap="square" lIns="0" tIns="0" rIns="0" bIns="0" rtlCol="0" anchor="t"/>
          <a:lstStyle/>
          <a:p>
            <a:pPr marL="0" indent="0">
              <a:buNone/>
            </a:pPr>
            <a:r>
              <a:rPr lang="en-US" sz="1900" b="1" dirty="0">
                <a:solidFill>
                  <a:schemeClr val="tx2"/>
                </a:solidFill>
              </a:rPr>
              <a:t>Fixed IoT nodes leave gaps</a:t>
            </a:r>
            <a:endParaRPr lang="en-US" sz="1900" dirty="0"/>
          </a:p>
        </p:txBody>
      </p:sp>
      <p:sp>
        <p:nvSpPr>
          <p:cNvPr id="25" name="Text 19"/>
          <p:cNvSpPr txBox="1"/>
          <p:nvPr/>
        </p:nvSpPr>
        <p:spPr>
          <a:xfrm>
            <a:off x="6583680" y="4215384"/>
            <a:ext cx="5029200" cy="640080"/>
          </a:xfrm>
          <a:prstGeom prst="rect">
            <a:avLst/>
          </a:prstGeom>
          <a:noFill/>
          <a:ln/>
        </p:spPr>
        <p:txBody>
          <a:bodyPr wrap="square" lIns="0" tIns="0" rIns="0" bIns="0" rtlCol="0" anchor="t"/>
          <a:lstStyle/>
          <a:p>
            <a:pPr marL="0" indent="0">
              <a:buNone/>
            </a:pPr>
            <a:r>
              <a:rPr lang="en-US" sz="1600" dirty="0">
                <a:solidFill>
                  <a:schemeClr val="tx1"/>
                </a:solidFill>
              </a:rPr>
              <a:t>Stationary sensors cover only the spot where they stand</a:t>
            </a:r>
            <a:endParaRPr lang="en-US" sz="1600" dirty="0"/>
          </a:p>
        </p:txBody>
      </p:sp>
      <p:sp>
        <p:nvSpPr>
          <p:cNvPr id="26" name="icon-bg-9"/>
          <p:cNvSpPr/>
          <p:nvPr/>
        </p:nvSpPr>
        <p:spPr>
          <a:xfrm>
            <a:off x="5715000" y="5038344"/>
            <a:ext cx="640080" cy="640080"/>
          </a:xfrm>
          <a:prstGeom prst="ellipse">
            <a:avLst/>
          </a:prstGeom>
          <a:solidFill>
            <a:schemeClr val="accent1"/>
          </a:solidFill>
          <a:ln w="12700">
            <a:solidFill>
              <a:schemeClr val="accent1"/>
            </a:solidFill>
            <a:prstDash val="solid"/>
          </a:ln>
        </p:spPr>
      </p:sp>
      <p:pic>
        <p:nvPicPr>
          <p:cNvPr id="27" name="icon-10" descr="preencoded.png"/>
          <p:cNvPicPr>
            <a:picLocks noChangeAspect="1"/>
          </p:cNvPicPr>
          <p:nvPr/>
        </p:nvPicPr>
        <p:blipFill>
          <a:blip r:embed="rId6"/>
          <a:stretch>
            <a:fillRect/>
          </a:stretch>
        </p:blipFill>
        <p:spPr>
          <a:xfrm>
            <a:off x="5868619" y="5191963"/>
            <a:ext cx="332842" cy="332842"/>
          </a:xfrm>
          <a:prstGeom prst="rect">
            <a:avLst/>
          </a:prstGeom>
        </p:spPr>
      </p:pic>
      <p:sp>
        <p:nvSpPr>
          <p:cNvPr id="28" name="Text 21"/>
          <p:cNvSpPr txBox="1"/>
          <p:nvPr/>
        </p:nvSpPr>
        <p:spPr>
          <a:xfrm>
            <a:off x="6583680" y="4992624"/>
            <a:ext cx="5029200" cy="411480"/>
          </a:xfrm>
          <a:prstGeom prst="rect">
            <a:avLst/>
          </a:prstGeom>
          <a:noFill/>
          <a:ln/>
        </p:spPr>
        <p:txBody>
          <a:bodyPr wrap="square" lIns="0" tIns="0" rIns="0" bIns="0" rtlCol="0" anchor="t"/>
          <a:lstStyle/>
          <a:p>
            <a:pPr marL="0" indent="0">
              <a:buNone/>
            </a:pPr>
            <a:r>
              <a:rPr lang="en-US" sz="1900" b="1" dirty="0">
                <a:solidFill>
                  <a:schemeClr val="tx2"/>
                </a:solidFill>
              </a:rPr>
              <a:t>Research robots cost too much</a:t>
            </a:r>
            <a:endParaRPr lang="en-US" sz="1900" dirty="0"/>
          </a:p>
        </p:txBody>
      </p:sp>
      <p:sp>
        <p:nvSpPr>
          <p:cNvPr id="29" name="Text 22"/>
          <p:cNvSpPr txBox="1"/>
          <p:nvPr/>
        </p:nvSpPr>
        <p:spPr>
          <a:xfrm>
            <a:off x="6583680" y="5422392"/>
            <a:ext cx="5029200" cy="640080"/>
          </a:xfrm>
          <a:prstGeom prst="rect">
            <a:avLst/>
          </a:prstGeom>
          <a:noFill/>
          <a:ln/>
        </p:spPr>
        <p:txBody>
          <a:bodyPr wrap="square" lIns="0" tIns="0" rIns="0" bIns="0" rtlCol="0" anchor="t"/>
          <a:lstStyle/>
          <a:p>
            <a:pPr marL="0" indent="0">
              <a:buNone/>
            </a:pPr>
            <a:r>
              <a:rPr lang="en-US" sz="1600" dirty="0">
                <a:solidFill>
                  <a:schemeClr val="tx1"/>
                </a:solidFill>
              </a:rPr>
              <a:t>Legged platforms such as ANYmal cost far beyond a small farm's budget</a:t>
            </a:r>
            <a:endParaRPr lang="en-US" sz="16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Which Platform Can Monitor Between Crop Rows?</a:t>
            </a:r>
            <a:endParaRPr lang="en-US" sz="3000" dirty="0"/>
          </a:p>
        </p:txBody>
      </p:sp>
      <p:sp>
        <p:nvSpPr>
          <p:cNvPr id="4" name="Text 1"/>
          <p:cNvSpPr txBox="1"/>
          <p:nvPr/>
        </p:nvSpPr>
        <p:spPr>
          <a:xfrm>
            <a:off x="548640" y="1188720"/>
            <a:ext cx="11064240" cy="457200"/>
          </a:xfrm>
          <a:prstGeom prst="rect">
            <a:avLst/>
          </a:prstGeom>
          <a:noFill/>
          <a:ln/>
        </p:spPr>
        <p:txBody>
          <a:bodyPr wrap="square" lIns="0" tIns="0" rIns="0" bIns="0" rtlCol="0" anchor="ctr"/>
          <a:lstStyle/>
          <a:p>
            <a:pPr marL="0" indent="0">
              <a:buNone/>
            </a:pPr>
            <a:r>
              <a:rPr lang="en-US" sz="1800" dirty="0">
                <a:solidFill>
                  <a:schemeClr val="tx1"/>
                </a:solidFill>
              </a:rPr>
              <a:t>A legged robot can walk between rows and carry sensors to the leaves; the question is whether it can be built cheaply.</a:t>
            </a:r>
            <a:endParaRPr lang="en-US" sz="1800" dirty="0"/>
          </a:p>
        </p:txBody>
      </p:sp>
      <p:graphicFrame>
        <p:nvGraphicFramePr>
          <p:cNvPr id="6" name="table-11"/>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3401568"/>
        </p:xfrm>
        <a:graphic>
          <a:graphicData uri="http://schemas.openxmlformats.org/drawingml/2006/table">
            <a:tbl>
              <a:tblPr/>
              <a:tblGrid>
                <a:gridCol w="3200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gridCol w="1874520">
                  <a:extLst>
                    <a:ext uri="{9D8B030D-6E8A-4147-A177-3AD203B41FA5}">
                      <a16:colId xmlns:a16="http://schemas.microsoft.com/office/drawing/2014/main" val="20004"/>
                    </a:ext>
                  </a:extLst>
                </a:gridCol>
              </a:tblGrid>
              <a:tr h="566928">
                <a:tc>
                  <a:txBody>
                    <a:bodyPr/>
                    <a:lstStyle/>
                    <a:p>
                      <a:pPr marL="0" indent="0">
                        <a:buNone/>
                      </a:pPr>
                      <a:r>
                        <a:rPr lang="en-US" sz="1500" b="1" dirty="0">
                          <a:solidFill>
                            <a:schemeClr val="bg1"/>
                          </a:solidFill>
                        </a:rPr>
                        <a:t>Platform</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Close-range, leaf-level sensing</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Moves on soft soil and in furrows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Covers the whole field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Affordable for small farms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66928">
                <a:tc>
                  <a:txBody>
                    <a:bodyPr/>
                    <a:lstStyle/>
                    <a:p>
                      <a:pPr marL="0" indent="0">
                        <a:buNone/>
                      </a:pPr>
                      <a:r>
                        <a:rPr lang="en-US" sz="1500" dirty="0">
                          <a:solidFill>
                            <a:schemeClr val="tx1"/>
                          </a:solidFill>
                        </a:rPr>
                        <a:t>Drone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4"/>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3"/>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66928">
                <a:tc>
                  <a:txBody>
                    <a:bodyPr/>
                    <a:lstStyle/>
                    <a:p>
                      <a:pPr marL="0" indent="0">
                        <a:buNone/>
                      </a:pPr>
                      <a:r>
                        <a:rPr lang="en-US" sz="1500" dirty="0">
                          <a:solidFill>
                            <a:schemeClr val="tx1"/>
                          </a:solidFill>
                        </a:rPr>
                        <a:t>Wheeled or tracked rover</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4"/>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3"/>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3"/>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66928">
                <a:tc>
                  <a:txBody>
                    <a:bodyPr/>
                    <a:lstStyle/>
                    <a:p>
                      <a:pPr marL="0" indent="0">
                        <a:buNone/>
                      </a:pPr>
                      <a:r>
                        <a:rPr lang="en-US" sz="1500" dirty="0">
                          <a:solidFill>
                            <a:schemeClr val="tx1"/>
                          </a:solidFill>
                        </a:rPr>
                        <a:t>Fixed IoT sensor nodes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3"/>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1500" dirty="0">
                          <a:solidFill>
                            <a:schemeClr val="accent6"/>
                          </a:solidFill>
                        </a:rPr>
                        <a:t>—</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4"/>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3"/>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66928">
                <a:tc>
                  <a:txBody>
                    <a:bodyPr/>
                    <a:lstStyle/>
                    <a:p>
                      <a:pPr marL="0" indent="0">
                        <a:buNone/>
                      </a:pPr>
                      <a:r>
                        <a:rPr lang="en-US" sz="1500" dirty="0">
                          <a:solidFill>
                            <a:schemeClr val="tx1"/>
                          </a:solidFill>
                        </a:rPr>
                        <a:t>Research quadruped (ANYmal, Cheetah 3)</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lgn="ctr">
                        <a:buNone/>
                      </a:pPr>
                      <a:r>
                        <a:rPr lang="en-US" sz="2000" b="1" dirty="0">
                          <a:solidFill>
                            <a:schemeClr val="accent4"/>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chemeClr val="tx2"/>
                          </a:solidFill>
                        </a:rPr>
                        <a:t>This project: printed quadruped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lgn="ctr">
                        <a:buNone/>
                      </a:pPr>
                      <a:r>
                        <a:rPr lang="en-US" sz="2000" b="1" dirty="0">
                          <a:solidFill>
                            <a:schemeClr val="accent1"/>
                          </a:solidFill>
                        </a:rPr>
                        <a:t>✓</a:t>
                      </a:r>
                      <a:endParaRPr lang="en-US" sz="20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3" name="Text 2"/>
          <p:cNvSpPr txBox="1"/>
          <p:nvPr/>
        </p:nvSpPr>
        <p:spPr>
          <a:xfrm>
            <a:off x="548640" y="5623560"/>
            <a:ext cx="7315200" cy="320040"/>
          </a:xfrm>
          <a:prstGeom prst="rect">
            <a:avLst/>
          </a:prstGeom>
          <a:noFill/>
          <a:ln/>
        </p:spPr>
        <p:txBody>
          <a:bodyPr wrap="square" lIns="0" tIns="0" rIns="0" bIns="0" rtlCol="0" anchor="t"/>
          <a:lstStyle/>
          <a:p>
            <a:pPr marL="0" indent="0">
              <a:buNone/>
            </a:pPr>
            <a:r>
              <a:rPr lang="en-US" sz="1300" dirty="0">
                <a:solidFill>
                  <a:schemeClr val="accent6"/>
                </a:solidFill>
              </a:rPr>
              <a:t>✓ suited     ~ partly     ✗ not suited</a:t>
            </a:r>
            <a:endParaRPr lang="en-US" sz="13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What 18 Papers Tell Us</a:t>
            </a:r>
            <a:endParaRPr lang="en-US" sz="3000" dirty="0"/>
          </a:p>
        </p:txBody>
      </p:sp>
      <p:sp>
        <p:nvSpPr>
          <p:cNvPr id="4" name="panel-12"/>
          <p:cNvSpPr/>
          <p:nvPr/>
        </p:nvSpPr>
        <p:spPr>
          <a:xfrm>
            <a:off x="548640" y="1280160"/>
            <a:ext cx="5440680" cy="2331720"/>
          </a:xfrm>
          <a:prstGeom prst="roundRect">
            <a:avLst>
              <a:gd name="adj" fmla="val 3922"/>
            </a:avLst>
          </a:prstGeom>
          <a:solidFill>
            <a:schemeClr val="bg2"/>
          </a:solidFill>
          <a:ln w="12700">
            <a:solidFill>
              <a:schemeClr val="bg2"/>
            </a:solidFill>
            <a:prstDash val="solid"/>
          </a:ln>
        </p:spPr>
      </p:sp>
      <p:sp>
        <p:nvSpPr>
          <p:cNvPr id="5" name="icon-bg-13"/>
          <p:cNvSpPr/>
          <p:nvPr/>
        </p:nvSpPr>
        <p:spPr>
          <a:xfrm>
            <a:off x="777240" y="1508760"/>
            <a:ext cx="548640" cy="548640"/>
          </a:xfrm>
          <a:prstGeom prst="ellipse">
            <a:avLst/>
          </a:prstGeom>
          <a:solidFill>
            <a:schemeClr val="accent1"/>
          </a:solidFill>
          <a:ln w="12700">
            <a:solidFill>
              <a:schemeClr val="accent1"/>
            </a:solidFill>
            <a:prstDash val="solid"/>
          </a:ln>
        </p:spPr>
      </p:sp>
      <p:pic>
        <p:nvPicPr>
          <p:cNvPr id="6" name="icon-14" descr="preencoded.png"/>
          <p:cNvPicPr>
            <a:picLocks noChangeAspect="1"/>
          </p:cNvPicPr>
          <p:nvPr/>
        </p:nvPicPr>
        <p:blipFill>
          <a:blip r:embed="rId3"/>
          <a:stretch>
            <a:fillRect/>
          </a:stretch>
        </p:blipFill>
        <p:spPr>
          <a:xfrm>
            <a:off x="908914" y="1640434"/>
            <a:ext cx="285293" cy="285293"/>
          </a:xfrm>
          <a:prstGeom prst="rect">
            <a:avLst/>
          </a:prstGeom>
        </p:spPr>
      </p:pic>
      <p:sp>
        <p:nvSpPr>
          <p:cNvPr id="7" name="Text 3"/>
          <p:cNvSpPr txBox="1"/>
          <p:nvPr/>
        </p:nvSpPr>
        <p:spPr>
          <a:xfrm>
            <a:off x="1463040" y="1508760"/>
            <a:ext cx="4389120" cy="548640"/>
          </a:xfrm>
          <a:prstGeom prst="rect">
            <a:avLst/>
          </a:prstGeom>
          <a:noFill/>
          <a:ln/>
        </p:spPr>
        <p:txBody>
          <a:bodyPr wrap="square" lIns="0" tIns="0" rIns="0" bIns="0" rtlCol="0" anchor="ctr"/>
          <a:lstStyle/>
          <a:p>
            <a:pPr marL="0" indent="0">
              <a:buNone/>
            </a:pPr>
            <a:r>
              <a:rPr lang="en-US" sz="1900" b="1" dirty="0">
                <a:solidFill>
                  <a:schemeClr val="tx2"/>
                </a:solidFill>
              </a:rPr>
              <a:t>Legged locomotion  [1–6]</a:t>
            </a:r>
            <a:endParaRPr lang="en-US" sz="1900" dirty="0"/>
          </a:p>
        </p:txBody>
      </p:sp>
      <p:sp>
        <p:nvSpPr>
          <p:cNvPr id="8" name="Text 4"/>
          <p:cNvSpPr txBox="1"/>
          <p:nvPr/>
        </p:nvSpPr>
        <p:spPr>
          <a:xfrm>
            <a:off x="777240" y="2194560"/>
            <a:ext cx="4983480" cy="685800"/>
          </a:xfrm>
          <a:prstGeom prst="rect">
            <a:avLst/>
          </a:prstGeom>
          <a:noFill/>
          <a:ln/>
        </p:spPr>
        <p:txBody>
          <a:bodyPr wrap="square" lIns="0" tIns="0" rIns="0" bIns="0" rtlCol="0" anchor="t"/>
          <a:lstStyle/>
          <a:p>
            <a:pPr marL="0" indent="0">
              <a:buNone/>
            </a:pPr>
            <a:r>
              <a:rPr lang="en-US" sz="1500" dirty="0">
                <a:solidFill>
                  <a:schemeClr val="tx1"/>
                </a:solidFill>
              </a:rPr>
              <a:t>MIT Cheetah 3, Mini Cheetah, ANYmal, Stanford Doggo; MPC and learned gaits</a:t>
            </a:r>
            <a:endParaRPr lang="en-US" sz="1500" dirty="0"/>
          </a:p>
        </p:txBody>
      </p:sp>
      <p:sp>
        <p:nvSpPr>
          <p:cNvPr id="9" name="Text 5"/>
          <p:cNvSpPr txBox="1"/>
          <p:nvPr/>
        </p:nvSpPr>
        <p:spPr>
          <a:xfrm>
            <a:off x="777240" y="2880360"/>
            <a:ext cx="4983480" cy="640080"/>
          </a:xfrm>
          <a:prstGeom prst="rect">
            <a:avLst/>
          </a:prstGeom>
          <a:noFill/>
          <a:ln/>
        </p:spPr>
        <p:txBody>
          <a:bodyPr wrap="square" lIns="0" tIns="0" rIns="0" bIns="0" rtlCol="0" anchor="t"/>
          <a:lstStyle/>
          <a:p>
            <a:pPr marL="0" indent="0">
              <a:buNone/>
            </a:pPr>
            <a:r>
              <a:rPr lang="en-US" sz="1500" b="1" dirty="0">
                <a:solidFill>
                  <a:schemeClr val="accent4"/>
                </a:solidFill>
              </a:rPr>
              <a:t>Gap  </a:t>
            </a:r>
            <a:r>
              <a:rPr lang="en-US" sz="1500" dirty="0">
                <a:solidFill>
                  <a:schemeClr val="tx1"/>
                </a:solidFill>
              </a:rPr>
              <a:t>Custom actuators, costly; none carries a crop-sensing payload</a:t>
            </a:r>
            <a:endParaRPr lang="en-US" sz="1500" dirty="0"/>
          </a:p>
        </p:txBody>
      </p:sp>
      <p:sp>
        <p:nvSpPr>
          <p:cNvPr id="10" name="panel-15"/>
          <p:cNvSpPr/>
          <p:nvPr/>
        </p:nvSpPr>
        <p:spPr>
          <a:xfrm>
            <a:off x="6172200" y="1280160"/>
            <a:ext cx="5440680" cy="2331720"/>
          </a:xfrm>
          <a:prstGeom prst="roundRect">
            <a:avLst>
              <a:gd name="adj" fmla="val 3922"/>
            </a:avLst>
          </a:prstGeom>
          <a:solidFill>
            <a:schemeClr val="bg2"/>
          </a:solidFill>
          <a:ln w="12700">
            <a:solidFill>
              <a:schemeClr val="bg2"/>
            </a:solidFill>
            <a:prstDash val="solid"/>
          </a:ln>
        </p:spPr>
      </p:sp>
      <p:sp>
        <p:nvSpPr>
          <p:cNvPr id="11" name="icon-bg-16"/>
          <p:cNvSpPr/>
          <p:nvPr/>
        </p:nvSpPr>
        <p:spPr>
          <a:xfrm>
            <a:off x="6400800" y="1508760"/>
            <a:ext cx="548640" cy="548640"/>
          </a:xfrm>
          <a:prstGeom prst="ellipse">
            <a:avLst/>
          </a:prstGeom>
          <a:solidFill>
            <a:schemeClr val="accent1"/>
          </a:solidFill>
          <a:ln w="12700">
            <a:solidFill>
              <a:schemeClr val="accent1"/>
            </a:solidFill>
            <a:prstDash val="solid"/>
          </a:ln>
        </p:spPr>
      </p:sp>
      <p:pic>
        <p:nvPicPr>
          <p:cNvPr id="12" name="icon-17" descr="preencoded.png"/>
          <p:cNvPicPr>
            <a:picLocks noChangeAspect="1"/>
          </p:cNvPicPr>
          <p:nvPr/>
        </p:nvPicPr>
        <p:blipFill>
          <a:blip r:embed="rId4"/>
          <a:stretch>
            <a:fillRect/>
          </a:stretch>
        </p:blipFill>
        <p:spPr>
          <a:xfrm>
            <a:off x="6532474" y="1640434"/>
            <a:ext cx="285293" cy="285293"/>
          </a:xfrm>
          <a:prstGeom prst="rect">
            <a:avLst/>
          </a:prstGeom>
        </p:spPr>
      </p:pic>
      <p:sp>
        <p:nvSpPr>
          <p:cNvPr id="13" name="Text 8"/>
          <p:cNvSpPr txBox="1"/>
          <p:nvPr/>
        </p:nvSpPr>
        <p:spPr>
          <a:xfrm>
            <a:off x="7086600" y="1508760"/>
            <a:ext cx="4389120" cy="548640"/>
          </a:xfrm>
          <a:prstGeom prst="rect">
            <a:avLst/>
          </a:prstGeom>
          <a:noFill/>
          <a:ln/>
        </p:spPr>
        <p:txBody>
          <a:bodyPr wrap="square" lIns="0" tIns="0" rIns="0" bIns="0" rtlCol="0" anchor="ctr"/>
          <a:lstStyle/>
          <a:p>
            <a:pPr marL="0" indent="0">
              <a:buNone/>
            </a:pPr>
            <a:r>
              <a:rPr lang="en-US" sz="1900" b="1" dirty="0">
                <a:solidFill>
                  <a:schemeClr val="tx2"/>
                </a:solidFill>
              </a:rPr>
              <a:t>Field robots and drones  [7–10]</a:t>
            </a:r>
            <a:endParaRPr lang="en-US" sz="1900" dirty="0"/>
          </a:p>
        </p:txBody>
      </p:sp>
      <p:sp>
        <p:nvSpPr>
          <p:cNvPr id="14" name="Text 9"/>
          <p:cNvSpPr txBox="1"/>
          <p:nvPr/>
        </p:nvSpPr>
        <p:spPr>
          <a:xfrm>
            <a:off x="6400800" y="2194560"/>
            <a:ext cx="4983480" cy="685800"/>
          </a:xfrm>
          <a:prstGeom prst="rect">
            <a:avLst/>
          </a:prstGeom>
          <a:noFill/>
          <a:ln/>
        </p:spPr>
        <p:txBody>
          <a:bodyPr wrap="square" lIns="0" tIns="0" rIns="0" bIns="0" rtlCol="0" anchor="t"/>
          <a:lstStyle/>
          <a:p>
            <a:pPr marL="0" indent="0">
              <a:buNone/>
            </a:pPr>
            <a:r>
              <a:rPr lang="en-US" sz="1500" dirty="0">
                <a:solidFill>
                  <a:schemeClr val="tx1"/>
                </a:solidFill>
              </a:rPr>
              <a:t>Reviews of agricultural rovers, drone–ground teaming, farmer interfaces</a:t>
            </a:r>
            <a:endParaRPr lang="en-US" sz="1500" dirty="0"/>
          </a:p>
        </p:txBody>
      </p:sp>
      <p:sp>
        <p:nvSpPr>
          <p:cNvPr id="15" name="Text 10"/>
          <p:cNvSpPr txBox="1"/>
          <p:nvPr/>
        </p:nvSpPr>
        <p:spPr>
          <a:xfrm>
            <a:off x="6400800" y="2880360"/>
            <a:ext cx="4983480" cy="640080"/>
          </a:xfrm>
          <a:prstGeom prst="rect">
            <a:avLst/>
          </a:prstGeom>
          <a:noFill/>
          <a:ln/>
        </p:spPr>
        <p:txBody>
          <a:bodyPr wrap="square" lIns="0" tIns="0" rIns="0" bIns="0" rtlCol="0" anchor="t"/>
          <a:lstStyle/>
          <a:p>
            <a:pPr marL="0" indent="0">
              <a:buNone/>
            </a:pPr>
            <a:r>
              <a:rPr lang="en-US" sz="1500" b="1" dirty="0">
                <a:solidFill>
                  <a:schemeClr val="accent4"/>
                </a:solidFill>
              </a:rPr>
              <a:t>Gap  </a:t>
            </a:r>
            <a:r>
              <a:rPr lang="en-US" sz="1500" dirty="0">
                <a:solidFill>
                  <a:schemeClr val="tx1"/>
                </a:solidFill>
              </a:rPr>
              <a:t>Wheels fail in mud and furrows; drones cannot see under the canopy</a:t>
            </a:r>
            <a:endParaRPr lang="en-US" sz="1500" dirty="0"/>
          </a:p>
        </p:txBody>
      </p:sp>
      <p:sp>
        <p:nvSpPr>
          <p:cNvPr id="16" name="panel-18"/>
          <p:cNvSpPr/>
          <p:nvPr/>
        </p:nvSpPr>
        <p:spPr>
          <a:xfrm>
            <a:off x="548640" y="3794760"/>
            <a:ext cx="5440680" cy="2331720"/>
          </a:xfrm>
          <a:prstGeom prst="roundRect">
            <a:avLst>
              <a:gd name="adj" fmla="val 3922"/>
            </a:avLst>
          </a:prstGeom>
          <a:solidFill>
            <a:schemeClr val="bg2"/>
          </a:solidFill>
          <a:ln w="12700">
            <a:solidFill>
              <a:schemeClr val="bg2"/>
            </a:solidFill>
            <a:prstDash val="solid"/>
          </a:ln>
        </p:spPr>
      </p:sp>
      <p:sp>
        <p:nvSpPr>
          <p:cNvPr id="17" name="icon-bg-19"/>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18" name="icon-20" descr="preencoded.png"/>
          <p:cNvPicPr>
            <a:picLocks noChangeAspect="1"/>
          </p:cNvPicPr>
          <p:nvPr/>
        </p:nvPicPr>
        <p:blipFill>
          <a:blip r:embed="rId5"/>
          <a:stretch>
            <a:fillRect/>
          </a:stretch>
        </p:blipFill>
        <p:spPr>
          <a:xfrm>
            <a:off x="908914" y="4155034"/>
            <a:ext cx="285293" cy="285293"/>
          </a:xfrm>
          <a:prstGeom prst="rect">
            <a:avLst/>
          </a:prstGeom>
        </p:spPr>
      </p:pic>
      <p:sp>
        <p:nvSpPr>
          <p:cNvPr id="19" name="Text 13"/>
          <p:cNvSpPr txBox="1"/>
          <p:nvPr/>
        </p:nvSpPr>
        <p:spPr>
          <a:xfrm>
            <a:off x="1463040" y="4023360"/>
            <a:ext cx="4389120" cy="548640"/>
          </a:xfrm>
          <a:prstGeom prst="rect">
            <a:avLst/>
          </a:prstGeom>
          <a:noFill/>
          <a:ln/>
        </p:spPr>
        <p:txBody>
          <a:bodyPr wrap="square" lIns="0" tIns="0" rIns="0" bIns="0" rtlCol="0" anchor="ctr"/>
          <a:lstStyle/>
          <a:p>
            <a:pPr marL="0" indent="0">
              <a:buNone/>
            </a:pPr>
            <a:r>
              <a:rPr lang="en-US" sz="1900" b="1" dirty="0">
                <a:solidFill>
                  <a:schemeClr val="tx2"/>
                </a:solidFill>
              </a:rPr>
              <a:t>Leaf-disease deep learning  [11–15]</a:t>
            </a:r>
            <a:endParaRPr lang="en-US" sz="1900" dirty="0"/>
          </a:p>
        </p:txBody>
      </p:sp>
      <p:sp>
        <p:nvSpPr>
          <p:cNvPr id="20" name="Text 14"/>
          <p:cNvSpPr txBox="1"/>
          <p:nvPr/>
        </p:nvSpPr>
        <p:spPr>
          <a:xfrm>
            <a:off x="777240" y="4709160"/>
            <a:ext cx="4983480" cy="685800"/>
          </a:xfrm>
          <a:prstGeom prst="rect">
            <a:avLst/>
          </a:prstGeom>
          <a:noFill/>
          <a:ln/>
        </p:spPr>
        <p:txBody>
          <a:bodyPr wrap="square" lIns="0" tIns="0" rIns="0" bIns="0" rtlCol="0" anchor="t"/>
          <a:lstStyle/>
          <a:p>
            <a:pPr marL="0" indent="0">
              <a:buNone/>
            </a:pPr>
            <a:r>
              <a:rPr lang="en-US" sz="1500" dirty="0">
                <a:solidFill>
                  <a:schemeClr val="tx1"/>
                </a:solidFill>
              </a:rPr>
              <a:t>CNNs reach 97–99 % on PlantVillage; MobileNetV2 is efficient enough for edge use</a:t>
            </a:r>
            <a:endParaRPr lang="en-US" sz="1500" dirty="0"/>
          </a:p>
        </p:txBody>
      </p:sp>
      <p:sp>
        <p:nvSpPr>
          <p:cNvPr id="21" name="Text 15"/>
          <p:cNvSpPr txBox="1"/>
          <p:nvPr/>
        </p:nvSpPr>
        <p:spPr>
          <a:xfrm>
            <a:off x="777240" y="5394960"/>
            <a:ext cx="4983480" cy="640080"/>
          </a:xfrm>
          <a:prstGeom prst="rect">
            <a:avLst/>
          </a:prstGeom>
          <a:noFill/>
          <a:ln/>
        </p:spPr>
        <p:txBody>
          <a:bodyPr wrap="square" lIns="0" tIns="0" rIns="0" bIns="0" rtlCol="0" anchor="t"/>
          <a:lstStyle/>
          <a:p>
            <a:pPr marL="0" indent="0">
              <a:buNone/>
            </a:pPr>
            <a:r>
              <a:rPr lang="en-US" sz="1500" b="1" dirty="0">
                <a:solidFill>
                  <a:schemeClr val="accent4"/>
                </a:solidFill>
              </a:rPr>
              <a:t>Gap  </a:t>
            </a:r>
            <a:r>
              <a:rPr lang="en-US" sz="1500" dirty="0">
                <a:solidFill>
                  <a:schemeClr val="tx1"/>
                </a:solidFill>
              </a:rPr>
              <a:t>Lab images only; closed-set models label anything they see</a:t>
            </a:r>
            <a:endParaRPr lang="en-US" sz="1500" dirty="0"/>
          </a:p>
        </p:txBody>
      </p:sp>
      <p:sp>
        <p:nvSpPr>
          <p:cNvPr id="22" name="panel-21"/>
          <p:cNvSpPr/>
          <p:nvPr/>
        </p:nvSpPr>
        <p:spPr>
          <a:xfrm>
            <a:off x="6172200" y="3794760"/>
            <a:ext cx="5440680" cy="2331720"/>
          </a:xfrm>
          <a:prstGeom prst="roundRect">
            <a:avLst>
              <a:gd name="adj" fmla="val 3922"/>
            </a:avLst>
          </a:prstGeom>
          <a:solidFill>
            <a:schemeClr val="bg2"/>
          </a:solidFill>
          <a:ln w="12700">
            <a:solidFill>
              <a:schemeClr val="bg2"/>
            </a:solidFill>
            <a:prstDash val="solid"/>
          </a:ln>
        </p:spPr>
      </p:sp>
      <p:sp>
        <p:nvSpPr>
          <p:cNvPr id="23" name="icon-bg-22"/>
          <p:cNvSpPr/>
          <p:nvPr/>
        </p:nvSpPr>
        <p:spPr>
          <a:xfrm>
            <a:off x="6400800" y="4023360"/>
            <a:ext cx="548640" cy="548640"/>
          </a:xfrm>
          <a:prstGeom prst="ellipse">
            <a:avLst/>
          </a:prstGeom>
          <a:solidFill>
            <a:schemeClr val="accent1"/>
          </a:solidFill>
          <a:ln w="12700">
            <a:solidFill>
              <a:schemeClr val="accent1"/>
            </a:solidFill>
            <a:prstDash val="solid"/>
          </a:ln>
        </p:spPr>
      </p:sp>
      <p:pic>
        <p:nvPicPr>
          <p:cNvPr id="24" name="icon-23" descr="preencoded.png"/>
          <p:cNvPicPr>
            <a:picLocks noChangeAspect="1"/>
          </p:cNvPicPr>
          <p:nvPr/>
        </p:nvPicPr>
        <p:blipFill>
          <a:blip r:embed="rId6"/>
          <a:stretch>
            <a:fillRect/>
          </a:stretch>
        </p:blipFill>
        <p:spPr>
          <a:xfrm>
            <a:off x="6532474" y="4155034"/>
            <a:ext cx="285293" cy="285293"/>
          </a:xfrm>
          <a:prstGeom prst="rect">
            <a:avLst/>
          </a:prstGeom>
        </p:spPr>
      </p:pic>
      <p:sp>
        <p:nvSpPr>
          <p:cNvPr id="25" name="Text 18"/>
          <p:cNvSpPr txBox="1"/>
          <p:nvPr/>
        </p:nvSpPr>
        <p:spPr>
          <a:xfrm>
            <a:off x="7086600" y="4023360"/>
            <a:ext cx="4389120" cy="548640"/>
          </a:xfrm>
          <a:prstGeom prst="rect">
            <a:avLst/>
          </a:prstGeom>
          <a:noFill/>
          <a:ln/>
        </p:spPr>
        <p:txBody>
          <a:bodyPr wrap="square" lIns="0" tIns="0" rIns="0" bIns="0" rtlCol="0" anchor="ctr"/>
          <a:lstStyle/>
          <a:p>
            <a:pPr marL="0" indent="0">
              <a:buNone/>
            </a:pPr>
            <a:r>
              <a:rPr lang="en-US" sz="1900" b="1" dirty="0">
                <a:solidFill>
                  <a:schemeClr val="tx2"/>
                </a:solidFill>
              </a:rPr>
              <a:t>IoT environmental sensing  [16–18]</a:t>
            </a:r>
            <a:endParaRPr lang="en-US" sz="1900" dirty="0"/>
          </a:p>
        </p:txBody>
      </p:sp>
      <p:sp>
        <p:nvSpPr>
          <p:cNvPr id="26" name="Text 19"/>
          <p:cNvSpPr txBox="1"/>
          <p:nvPr/>
        </p:nvSpPr>
        <p:spPr>
          <a:xfrm>
            <a:off x="6400800" y="4709160"/>
            <a:ext cx="4983480" cy="685800"/>
          </a:xfrm>
          <a:prstGeom prst="rect">
            <a:avLst/>
          </a:prstGeom>
          <a:noFill/>
          <a:ln/>
        </p:spPr>
        <p:txBody>
          <a:bodyPr wrap="square" lIns="0" tIns="0" rIns="0" bIns="0" rtlCol="0" anchor="t"/>
          <a:lstStyle/>
          <a:p>
            <a:pPr marL="0" indent="0">
              <a:buNone/>
            </a:pPr>
            <a:r>
              <a:rPr lang="en-US" sz="1500" dirty="0">
                <a:solidFill>
                  <a:schemeClr val="tx1"/>
                </a:solidFill>
              </a:rPr>
              <a:t>Layered IoT and sensor networks for microclimate, gases and soil</a:t>
            </a:r>
            <a:endParaRPr lang="en-US" sz="1500" dirty="0"/>
          </a:p>
        </p:txBody>
      </p:sp>
      <p:sp>
        <p:nvSpPr>
          <p:cNvPr id="27" name="Text 20"/>
          <p:cNvSpPr txBox="1"/>
          <p:nvPr/>
        </p:nvSpPr>
        <p:spPr>
          <a:xfrm>
            <a:off x="6400800" y="5394960"/>
            <a:ext cx="4983480" cy="640080"/>
          </a:xfrm>
          <a:prstGeom prst="rect">
            <a:avLst/>
          </a:prstGeom>
          <a:noFill/>
          <a:ln/>
        </p:spPr>
        <p:txBody>
          <a:bodyPr wrap="square" lIns="0" tIns="0" rIns="0" bIns="0" rtlCol="0" anchor="t"/>
          <a:lstStyle/>
          <a:p>
            <a:pPr marL="0" indent="0">
              <a:buNone/>
            </a:pPr>
            <a:r>
              <a:rPr lang="en-US" sz="1500" b="1" dirty="0">
                <a:solidFill>
                  <a:schemeClr val="accent4"/>
                </a:solidFill>
              </a:rPr>
              <a:t>Gap  </a:t>
            </a:r>
            <a:r>
              <a:rPr lang="en-US" sz="1500" dirty="0">
                <a:solidFill>
                  <a:schemeClr val="tx1"/>
                </a:solidFill>
              </a:rPr>
              <a:t>Stationary nodes leave gaps; nothing carries sensors along rows</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Research Gaps and How This Project Answers Them</a:t>
            </a:r>
            <a:endParaRPr lang="en-US" sz="3000" dirty="0"/>
          </a:p>
        </p:txBody>
      </p:sp>
      <p:sp>
        <p:nvSpPr>
          <p:cNvPr id="4" name="Text 1"/>
          <p:cNvSpPr txBox="1"/>
          <p:nvPr/>
        </p:nvSpPr>
        <p:spPr>
          <a:xfrm>
            <a:off x="548640" y="1234440"/>
            <a:ext cx="5120640" cy="365760"/>
          </a:xfrm>
          <a:prstGeom prst="rect">
            <a:avLst/>
          </a:prstGeom>
          <a:noFill/>
          <a:ln/>
        </p:spPr>
        <p:txBody>
          <a:bodyPr wrap="square" lIns="0" tIns="0" rIns="0" bIns="0" rtlCol="0" anchor="t"/>
          <a:lstStyle/>
          <a:p>
            <a:pPr marL="0" indent="0">
              <a:buNone/>
            </a:pPr>
            <a:r>
              <a:rPr lang="en-US" sz="1600" b="1" dirty="0">
                <a:solidFill>
                  <a:schemeClr val="accent4"/>
                </a:solidFill>
              </a:rPr>
              <a:t>Gap in the literature</a:t>
            </a:r>
            <a:endParaRPr lang="en-US" sz="1600" dirty="0"/>
          </a:p>
        </p:txBody>
      </p:sp>
      <p:sp>
        <p:nvSpPr>
          <p:cNvPr id="5" name="Text 2"/>
          <p:cNvSpPr txBox="1"/>
          <p:nvPr/>
        </p:nvSpPr>
        <p:spPr>
          <a:xfrm>
            <a:off x="6400800" y="1234440"/>
            <a:ext cx="5212080" cy="365760"/>
          </a:xfrm>
          <a:prstGeom prst="rect">
            <a:avLst/>
          </a:prstGeom>
          <a:noFill/>
          <a:ln/>
        </p:spPr>
        <p:txBody>
          <a:bodyPr wrap="square" lIns="0" tIns="0" rIns="0" bIns="0" rtlCol="0" anchor="t"/>
          <a:lstStyle/>
          <a:p>
            <a:pPr marL="0" indent="0">
              <a:buNone/>
            </a:pPr>
            <a:r>
              <a:rPr lang="en-US" sz="1600" b="1" dirty="0">
                <a:solidFill>
                  <a:schemeClr val="accent1"/>
                </a:solidFill>
              </a:rPr>
              <a:t>Our response</a:t>
            </a:r>
            <a:endParaRPr lang="en-US" sz="1600" dirty="0"/>
          </a:p>
        </p:txBody>
      </p:sp>
      <p:sp>
        <p:nvSpPr>
          <p:cNvPr id="6" name="panel-24"/>
          <p:cNvSpPr/>
          <p:nvPr/>
        </p:nvSpPr>
        <p:spPr>
          <a:xfrm>
            <a:off x="548640" y="1691640"/>
            <a:ext cx="5303520" cy="1005840"/>
          </a:xfrm>
          <a:prstGeom prst="roundRect">
            <a:avLst>
              <a:gd name="adj" fmla="val 9091"/>
            </a:avLst>
          </a:prstGeom>
          <a:solidFill>
            <a:schemeClr val="bg2"/>
          </a:solidFill>
          <a:ln w="12700">
            <a:solidFill>
              <a:schemeClr val="bg2"/>
            </a:solidFill>
            <a:prstDash val="solid"/>
          </a:ln>
        </p:spPr>
      </p:sp>
      <p:sp>
        <p:nvSpPr>
          <p:cNvPr id="7" name="Text 4"/>
          <p:cNvSpPr txBox="1"/>
          <p:nvPr/>
        </p:nvSpPr>
        <p:spPr>
          <a:xfrm>
            <a:off x="731520" y="1783080"/>
            <a:ext cx="4937760" cy="822960"/>
          </a:xfrm>
          <a:prstGeom prst="rect">
            <a:avLst/>
          </a:prstGeom>
          <a:noFill/>
          <a:ln/>
        </p:spPr>
        <p:txBody>
          <a:bodyPr wrap="square" lIns="0" tIns="0" rIns="0" bIns="0" rtlCol="0" anchor="ctr"/>
          <a:lstStyle/>
          <a:p>
            <a:pPr marL="0" indent="0">
              <a:buNone/>
            </a:pPr>
            <a:r>
              <a:rPr lang="en-US" sz="1450" dirty="0">
                <a:solidFill>
                  <a:schemeClr val="tx1"/>
                </a:solidFill>
              </a:rPr>
              <a:t>Low-cost legged robots have not carried an environmental and imaging payload, and their feasibility with hobby servos is rarely quantified</a:t>
            </a:r>
            <a:endParaRPr lang="en-US" sz="1450" dirty="0"/>
          </a:p>
        </p:txBody>
      </p:sp>
      <p:sp>
        <p:nvSpPr>
          <p:cNvPr id="8" name="arrow-25"/>
          <p:cNvSpPr/>
          <p:nvPr/>
        </p:nvSpPr>
        <p:spPr>
          <a:xfrm>
            <a:off x="5943600" y="2039112"/>
            <a:ext cx="365760" cy="310896"/>
          </a:xfrm>
          <a:prstGeom prst="rightArrow">
            <a:avLst/>
          </a:prstGeom>
          <a:solidFill>
            <a:schemeClr val="accent1"/>
          </a:solidFill>
          <a:ln w="12700">
            <a:solidFill>
              <a:schemeClr val="accent1"/>
            </a:solidFill>
            <a:prstDash val="solid"/>
          </a:ln>
        </p:spPr>
      </p:sp>
      <p:sp>
        <p:nvSpPr>
          <p:cNvPr id="9" name="panel-26"/>
          <p:cNvSpPr/>
          <p:nvPr/>
        </p:nvSpPr>
        <p:spPr>
          <a:xfrm>
            <a:off x="6400800" y="1691640"/>
            <a:ext cx="5212080" cy="1005840"/>
          </a:xfrm>
          <a:prstGeom prst="roundRect">
            <a:avLst>
              <a:gd name="adj" fmla="val 9091"/>
            </a:avLst>
          </a:prstGeom>
          <a:solidFill>
            <a:schemeClr val="tx2"/>
          </a:solidFill>
          <a:ln w="12700">
            <a:solidFill>
              <a:schemeClr val="tx2"/>
            </a:solidFill>
            <a:prstDash val="solid"/>
          </a:ln>
        </p:spPr>
      </p:sp>
      <p:sp>
        <p:nvSpPr>
          <p:cNvPr id="10" name="Text 7"/>
          <p:cNvSpPr txBox="1"/>
          <p:nvPr/>
        </p:nvSpPr>
        <p:spPr>
          <a:xfrm>
            <a:off x="6583680" y="1783080"/>
            <a:ext cx="4846320" cy="822960"/>
          </a:xfrm>
          <a:prstGeom prst="rect">
            <a:avLst/>
          </a:prstGeom>
          <a:noFill/>
          <a:ln/>
        </p:spPr>
        <p:txBody>
          <a:bodyPr wrap="square" lIns="0" tIns="0" rIns="0" bIns="0" rtlCol="0" anchor="ctr"/>
          <a:lstStyle/>
          <a:p>
            <a:pPr marL="0" indent="0">
              <a:buNone/>
            </a:pPr>
            <a:r>
              <a:rPr lang="en-US" sz="1450" dirty="0">
                <a:solidFill>
                  <a:schemeClr val="bg1"/>
                </a:solidFill>
              </a:rPr>
              <a:t>A printed 12-DOF quadruped with two sensing nodes, and a physics model with the real MG996R torque limit</a:t>
            </a:r>
            <a:endParaRPr lang="en-US" sz="1450" dirty="0"/>
          </a:p>
        </p:txBody>
      </p:sp>
      <p:sp>
        <p:nvSpPr>
          <p:cNvPr id="11" name="panel-27"/>
          <p:cNvSpPr/>
          <p:nvPr/>
        </p:nvSpPr>
        <p:spPr>
          <a:xfrm>
            <a:off x="548640" y="2834640"/>
            <a:ext cx="5303520" cy="1005840"/>
          </a:xfrm>
          <a:prstGeom prst="roundRect">
            <a:avLst>
              <a:gd name="adj" fmla="val 9091"/>
            </a:avLst>
          </a:prstGeom>
          <a:solidFill>
            <a:schemeClr val="bg2"/>
          </a:solidFill>
          <a:ln w="12700">
            <a:solidFill>
              <a:schemeClr val="bg2"/>
            </a:solidFill>
            <a:prstDash val="solid"/>
          </a:ln>
        </p:spPr>
      </p:sp>
      <p:sp>
        <p:nvSpPr>
          <p:cNvPr id="12" name="Text 9"/>
          <p:cNvSpPr txBox="1"/>
          <p:nvPr/>
        </p:nvSpPr>
        <p:spPr>
          <a:xfrm>
            <a:off x="731520" y="2926080"/>
            <a:ext cx="4937760" cy="822960"/>
          </a:xfrm>
          <a:prstGeom prst="rect">
            <a:avLst/>
          </a:prstGeom>
          <a:noFill/>
          <a:ln/>
        </p:spPr>
        <p:txBody>
          <a:bodyPr wrap="square" lIns="0" tIns="0" rIns="0" bIns="0" rtlCol="0" anchor="ctr"/>
          <a:lstStyle/>
          <a:p>
            <a:pPr marL="0" indent="0">
              <a:buNone/>
            </a:pPr>
            <a:r>
              <a:rPr lang="en-US" sz="1450" dirty="0">
                <a:solidFill>
                  <a:schemeClr val="tx1"/>
                </a:solidFill>
              </a:rPr>
              <a:t>Crop sensing relies on fixed nodes; a mobile, low-cost platform logging gas, dust and temperature along the rows is missing</a:t>
            </a:r>
            <a:endParaRPr lang="en-US" sz="1450" dirty="0"/>
          </a:p>
        </p:txBody>
      </p:sp>
      <p:sp>
        <p:nvSpPr>
          <p:cNvPr id="13" name="arrow-28"/>
          <p:cNvSpPr/>
          <p:nvPr/>
        </p:nvSpPr>
        <p:spPr>
          <a:xfrm>
            <a:off x="5943600" y="3182112"/>
            <a:ext cx="365760" cy="310896"/>
          </a:xfrm>
          <a:prstGeom prst="rightArrow">
            <a:avLst/>
          </a:prstGeom>
          <a:solidFill>
            <a:schemeClr val="accent1"/>
          </a:solidFill>
          <a:ln w="12700">
            <a:solidFill>
              <a:schemeClr val="accent1"/>
            </a:solidFill>
            <a:prstDash val="solid"/>
          </a:ln>
        </p:spPr>
      </p:sp>
      <p:sp>
        <p:nvSpPr>
          <p:cNvPr id="14" name="panel-29"/>
          <p:cNvSpPr/>
          <p:nvPr/>
        </p:nvSpPr>
        <p:spPr>
          <a:xfrm>
            <a:off x="6400800" y="2834640"/>
            <a:ext cx="5212080" cy="1005840"/>
          </a:xfrm>
          <a:prstGeom prst="roundRect">
            <a:avLst>
              <a:gd name="adj" fmla="val 9091"/>
            </a:avLst>
          </a:prstGeom>
          <a:solidFill>
            <a:schemeClr val="tx2"/>
          </a:solidFill>
          <a:ln w="12700">
            <a:solidFill>
              <a:schemeClr val="tx2"/>
            </a:solidFill>
            <a:prstDash val="solid"/>
          </a:ln>
        </p:spPr>
      </p:sp>
      <p:sp>
        <p:nvSpPr>
          <p:cNvPr id="15" name="Text 12"/>
          <p:cNvSpPr txBox="1"/>
          <p:nvPr/>
        </p:nvSpPr>
        <p:spPr>
          <a:xfrm>
            <a:off x="6583680" y="2926080"/>
            <a:ext cx="4846320" cy="822960"/>
          </a:xfrm>
          <a:prstGeom prst="rect">
            <a:avLst/>
          </a:prstGeom>
          <a:noFill/>
          <a:ln/>
        </p:spPr>
        <p:txBody>
          <a:bodyPr wrap="square" lIns="0" tIns="0" rIns="0" bIns="0" rtlCol="0" anchor="ctr"/>
          <a:lstStyle/>
          <a:p>
            <a:pPr marL="0" indent="0">
              <a:buNone/>
            </a:pPr>
            <a:r>
              <a:rPr lang="en-US" sz="1450" dirty="0">
                <a:solidFill>
                  <a:schemeClr val="bg1"/>
                </a:solidFill>
              </a:rPr>
              <a:t>A wireless sensor node on the robot reporting every 5 s to a logging dashboard</a:t>
            </a:r>
            <a:endParaRPr lang="en-US" sz="1450" dirty="0"/>
          </a:p>
        </p:txBody>
      </p:sp>
      <p:sp>
        <p:nvSpPr>
          <p:cNvPr id="16" name="panel-30"/>
          <p:cNvSpPr/>
          <p:nvPr/>
        </p:nvSpPr>
        <p:spPr>
          <a:xfrm>
            <a:off x="548640" y="3977640"/>
            <a:ext cx="5303520" cy="1005840"/>
          </a:xfrm>
          <a:prstGeom prst="roundRect">
            <a:avLst>
              <a:gd name="adj" fmla="val 9091"/>
            </a:avLst>
          </a:prstGeom>
          <a:solidFill>
            <a:schemeClr val="bg2"/>
          </a:solidFill>
          <a:ln w="12700">
            <a:solidFill>
              <a:schemeClr val="bg2"/>
            </a:solidFill>
            <a:prstDash val="solid"/>
          </a:ln>
        </p:spPr>
      </p:sp>
      <p:sp>
        <p:nvSpPr>
          <p:cNvPr id="17" name="Text 14"/>
          <p:cNvSpPr txBox="1"/>
          <p:nvPr/>
        </p:nvSpPr>
        <p:spPr>
          <a:xfrm>
            <a:off x="731520" y="4069080"/>
            <a:ext cx="4937760" cy="822960"/>
          </a:xfrm>
          <a:prstGeom prst="rect">
            <a:avLst/>
          </a:prstGeom>
          <a:noFill/>
          <a:ln/>
        </p:spPr>
        <p:txBody>
          <a:bodyPr wrap="square" lIns="0" tIns="0" rIns="0" bIns="0" rtlCol="0" anchor="ctr"/>
          <a:lstStyle/>
          <a:p>
            <a:pPr marL="0" indent="0">
              <a:buNone/>
            </a:pPr>
            <a:r>
              <a:rPr lang="en-US" sz="1450" dirty="0">
                <a:solidFill>
                  <a:schemeClr val="tx1"/>
                </a:solidFill>
              </a:rPr>
              <a:t>Disease classifiers are closed-set and report a disease for any input, even a wall</a:t>
            </a:r>
            <a:endParaRPr lang="en-US" sz="1450" dirty="0"/>
          </a:p>
        </p:txBody>
      </p:sp>
      <p:sp>
        <p:nvSpPr>
          <p:cNvPr id="18" name="arrow-31"/>
          <p:cNvSpPr/>
          <p:nvPr/>
        </p:nvSpPr>
        <p:spPr>
          <a:xfrm>
            <a:off x="5943600" y="4325112"/>
            <a:ext cx="365760" cy="310896"/>
          </a:xfrm>
          <a:prstGeom prst="rightArrow">
            <a:avLst/>
          </a:prstGeom>
          <a:solidFill>
            <a:schemeClr val="accent1"/>
          </a:solidFill>
          <a:ln w="12700">
            <a:solidFill>
              <a:schemeClr val="accent1"/>
            </a:solidFill>
            <a:prstDash val="solid"/>
          </a:ln>
        </p:spPr>
      </p:sp>
      <p:sp>
        <p:nvSpPr>
          <p:cNvPr id="19" name="panel-32"/>
          <p:cNvSpPr/>
          <p:nvPr/>
        </p:nvSpPr>
        <p:spPr>
          <a:xfrm>
            <a:off x="6400800" y="3977640"/>
            <a:ext cx="5212080" cy="1005840"/>
          </a:xfrm>
          <a:prstGeom prst="roundRect">
            <a:avLst>
              <a:gd name="adj" fmla="val 9091"/>
            </a:avLst>
          </a:prstGeom>
          <a:solidFill>
            <a:schemeClr val="tx2"/>
          </a:solidFill>
          <a:ln w="12700">
            <a:solidFill>
              <a:schemeClr val="tx2"/>
            </a:solidFill>
            <a:prstDash val="solid"/>
          </a:ln>
        </p:spPr>
      </p:sp>
      <p:sp>
        <p:nvSpPr>
          <p:cNvPr id="20" name="Text 17"/>
          <p:cNvSpPr txBox="1"/>
          <p:nvPr/>
        </p:nvSpPr>
        <p:spPr>
          <a:xfrm>
            <a:off x="6583680" y="4069080"/>
            <a:ext cx="4846320" cy="822960"/>
          </a:xfrm>
          <a:prstGeom prst="rect">
            <a:avLst/>
          </a:prstGeom>
          <a:noFill/>
          <a:ln/>
        </p:spPr>
        <p:txBody>
          <a:bodyPr wrap="square" lIns="0" tIns="0" rIns="0" bIns="0" rtlCol="0" anchor="ctr"/>
          <a:lstStyle/>
          <a:p>
            <a:pPr marL="0" indent="0">
              <a:buNone/>
            </a:pPr>
            <a:r>
              <a:rPr lang="en-US" sz="1450" dirty="0">
                <a:solidFill>
                  <a:schemeClr val="bg1"/>
                </a:solidFill>
              </a:rPr>
              <a:t>A vegetation gate that checks for leaf before the classifier is allowed to answer</a:t>
            </a:r>
            <a:endParaRPr lang="en-US" sz="1450" dirty="0"/>
          </a:p>
        </p:txBody>
      </p:sp>
      <p:sp>
        <p:nvSpPr>
          <p:cNvPr id="21" name="panel-33"/>
          <p:cNvSpPr/>
          <p:nvPr/>
        </p:nvSpPr>
        <p:spPr>
          <a:xfrm>
            <a:off x="548640" y="5120640"/>
            <a:ext cx="5303520" cy="1005840"/>
          </a:xfrm>
          <a:prstGeom prst="roundRect">
            <a:avLst>
              <a:gd name="adj" fmla="val 9091"/>
            </a:avLst>
          </a:prstGeom>
          <a:solidFill>
            <a:schemeClr val="bg2"/>
          </a:solidFill>
          <a:ln w="12700">
            <a:solidFill>
              <a:schemeClr val="bg2"/>
            </a:solidFill>
            <a:prstDash val="solid"/>
          </a:ln>
        </p:spPr>
      </p:sp>
      <p:sp>
        <p:nvSpPr>
          <p:cNvPr id="22" name="Text 19"/>
          <p:cNvSpPr txBox="1"/>
          <p:nvPr/>
        </p:nvSpPr>
        <p:spPr>
          <a:xfrm>
            <a:off x="731520" y="5212080"/>
            <a:ext cx="4937760" cy="822960"/>
          </a:xfrm>
          <a:prstGeom prst="rect">
            <a:avLst/>
          </a:prstGeom>
          <a:noFill/>
          <a:ln/>
        </p:spPr>
        <p:txBody>
          <a:bodyPr wrap="square" lIns="0" tIns="0" rIns="0" bIns="0" rtlCol="0" anchor="ctr"/>
          <a:lstStyle/>
          <a:p>
            <a:pPr marL="0" indent="0">
              <a:buNone/>
            </a:pPr>
            <a:r>
              <a:rPr lang="en-US" sz="1450" dirty="0">
                <a:solidFill>
                  <a:schemeClr val="tx1"/>
                </a:solidFill>
              </a:rPr>
              <a:t>Hobby quadruped designs give no guidance on centre of mass or the speed servos allow</a:t>
            </a:r>
            <a:endParaRPr lang="en-US" sz="1450" dirty="0"/>
          </a:p>
        </p:txBody>
      </p:sp>
      <p:sp>
        <p:nvSpPr>
          <p:cNvPr id="23" name="arrow-34"/>
          <p:cNvSpPr/>
          <p:nvPr/>
        </p:nvSpPr>
        <p:spPr>
          <a:xfrm>
            <a:off x="5943600" y="5468112"/>
            <a:ext cx="365760" cy="310896"/>
          </a:xfrm>
          <a:prstGeom prst="rightArrow">
            <a:avLst/>
          </a:prstGeom>
          <a:solidFill>
            <a:schemeClr val="accent1"/>
          </a:solidFill>
          <a:ln w="12700">
            <a:solidFill>
              <a:schemeClr val="accent1"/>
            </a:solidFill>
            <a:prstDash val="solid"/>
          </a:ln>
        </p:spPr>
      </p:sp>
      <p:sp>
        <p:nvSpPr>
          <p:cNvPr id="24" name="panel-35"/>
          <p:cNvSpPr/>
          <p:nvPr/>
        </p:nvSpPr>
        <p:spPr>
          <a:xfrm>
            <a:off x="6400800" y="5120640"/>
            <a:ext cx="5212080" cy="1005840"/>
          </a:xfrm>
          <a:prstGeom prst="roundRect">
            <a:avLst>
              <a:gd name="adj" fmla="val 9091"/>
            </a:avLst>
          </a:prstGeom>
          <a:solidFill>
            <a:schemeClr val="tx2"/>
          </a:solidFill>
          <a:ln w="12700">
            <a:solidFill>
              <a:schemeClr val="tx2"/>
            </a:solidFill>
            <a:prstDash val="solid"/>
          </a:ln>
        </p:spPr>
      </p:sp>
      <p:sp>
        <p:nvSpPr>
          <p:cNvPr id="25" name="Text 22"/>
          <p:cNvSpPr txBox="1"/>
          <p:nvPr/>
        </p:nvSpPr>
        <p:spPr>
          <a:xfrm>
            <a:off x="6583680" y="5212080"/>
            <a:ext cx="4846320" cy="822960"/>
          </a:xfrm>
          <a:prstGeom prst="rect">
            <a:avLst/>
          </a:prstGeom>
          <a:noFill/>
          <a:ln/>
        </p:spPr>
        <p:txBody>
          <a:bodyPr wrap="square" lIns="0" tIns="0" rIns="0" bIns="0" rtlCol="0" anchor="ctr"/>
          <a:lstStyle/>
          <a:p>
            <a:pPr marL="0" indent="0">
              <a:buNone/>
            </a:pPr>
            <a:r>
              <a:rPr lang="en-US" sz="1450" dirty="0">
                <a:solidFill>
                  <a:schemeClr val="bg1"/>
                </a:solidFill>
              </a:rPr>
              <a:t>Measured: centre of mass 12 mm aft, trot limited to about 0.18 m/s</a:t>
            </a:r>
            <a:endParaRPr lang="en-US" sz="145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Objectives and Scope</a:t>
            </a:r>
            <a:endParaRPr lang="en-US" sz="3000" dirty="0"/>
          </a:p>
        </p:txBody>
      </p:sp>
      <p:sp>
        <p:nvSpPr>
          <p:cNvPr id="4" name="panel-36"/>
          <p:cNvSpPr/>
          <p:nvPr/>
        </p:nvSpPr>
        <p:spPr>
          <a:xfrm>
            <a:off x="548640" y="1280160"/>
            <a:ext cx="2606040" cy="2971800"/>
          </a:xfrm>
          <a:prstGeom prst="roundRect">
            <a:avLst>
              <a:gd name="adj" fmla="val 3509"/>
            </a:avLst>
          </a:prstGeom>
          <a:solidFill>
            <a:schemeClr val="bg2"/>
          </a:solidFill>
          <a:ln w="12700">
            <a:solidFill>
              <a:schemeClr val="bg2"/>
            </a:solidFill>
            <a:prstDash val="solid"/>
          </a:ln>
        </p:spPr>
      </p:sp>
      <p:sp>
        <p:nvSpPr>
          <p:cNvPr id="5" name="icon-bg-37"/>
          <p:cNvSpPr/>
          <p:nvPr/>
        </p:nvSpPr>
        <p:spPr>
          <a:xfrm>
            <a:off x="777240" y="1508760"/>
            <a:ext cx="548640" cy="548640"/>
          </a:xfrm>
          <a:prstGeom prst="ellipse">
            <a:avLst/>
          </a:prstGeom>
          <a:solidFill>
            <a:schemeClr val="accent1"/>
          </a:solidFill>
          <a:ln w="12700">
            <a:solidFill>
              <a:schemeClr val="accent1"/>
            </a:solidFill>
            <a:prstDash val="solid"/>
          </a:ln>
        </p:spPr>
      </p:sp>
      <p:pic>
        <p:nvPicPr>
          <p:cNvPr id="6" name="icon-38" descr="preencoded.png"/>
          <p:cNvPicPr>
            <a:picLocks noChangeAspect="1"/>
          </p:cNvPicPr>
          <p:nvPr/>
        </p:nvPicPr>
        <p:blipFill>
          <a:blip r:embed="rId3"/>
          <a:stretch>
            <a:fillRect/>
          </a:stretch>
        </p:blipFill>
        <p:spPr>
          <a:xfrm>
            <a:off x="908914" y="1640434"/>
            <a:ext cx="285293" cy="285293"/>
          </a:xfrm>
          <a:prstGeom prst="rect">
            <a:avLst/>
          </a:prstGeom>
        </p:spPr>
      </p:pic>
      <p:sp>
        <p:nvSpPr>
          <p:cNvPr id="7" name="Text 3"/>
          <p:cNvSpPr txBox="1"/>
          <p:nvPr/>
        </p:nvSpPr>
        <p:spPr>
          <a:xfrm>
            <a:off x="1463040" y="1508760"/>
            <a:ext cx="1508760" cy="548640"/>
          </a:xfrm>
          <a:prstGeom prst="rect">
            <a:avLst/>
          </a:prstGeom>
          <a:noFill/>
          <a:ln/>
        </p:spPr>
        <p:txBody>
          <a:bodyPr wrap="square" lIns="0" tIns="0" rIns="0" bIns="0" rtlCol="0" anchor="ctr"/>
          <a:lstStyle/>
          <a:p>
            <a:pPr marL="0" indent="0">
              <a:buNone/>
            </a:pPr>
            <a:r>
              <a:rPr lang="en-US" sz="1800" b="1" dirty="0">
                <a:solidFill>
                  <a:schemeClr val="tx2"/>
                </a:solidFill>
              </a:rPr>
              <a:t>Mobility</a:t>
            </a:r>
            <a:endParaRPr lang="en-US" sz="1800" dirty="0"/>
          </a:p>
        </p:txBody>
      </p:sp>
      <p:sp>
        <p:nvSpPr>
          <p:cNvPr id="8" name="Text 4"/>
          <p:cNvSpPr txBox="1"/>
          <p:nvPr/>
        </p:nvSpPr>
        <p:spPr>
          <a:xfrm>
            <a:off x="777240" y="2194560"/>
            <a:ext cx="2148840" cy="19202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A low-cost printed 12-DOF quadruped whose gait is validated against real servo torque limits, then tested on the robot</a:t>
            </a:r>
            <a:endParaRPr lang="en-US" sz="1500" dirty="0"/>
          </a:p>
        </p:txBody>
      </p:sp>
      <p:sp>
        <p:nvSpPr>
          <p:cNvPr id="9" name="panel-39"/>
          <p:cNvSpPr/>
          <p:nvPr/>
        </p:nvSpPr>
        <p:spPr>
          <a:xfrm>
            <a:off x="3337560" y="1280160"/>
            <a:ext cx="2606040" cy="2971800"/>
          </a:xfrm>
          <a:prstGeom prst="roundRect">
            <a:avLst>
              <a:gd name="adj" fmla="val 3509"/>
            </a:avLst>
          </a:prstGeom>
          <a:solidFill>
            <a:schemeClr val="bg2"/>
          </a:solidFill>
          <a:ln w="12700">
            <a:solidFill>
              <a:schemeClr val="bg2"/>
            </a:solidFill>
            <a:prstDash val="solid"/>
          </a:ln>
        </p:spPr>
      </p:sp>
      <p:sp>
        <p:nvSpPr>
          <p:cNvPr id="10" name="icon-bg-40"/>
          <p:cNvSpPr/>
          <p:nvPr/>
        </p:nvSpPr>
        <p:spPr>
          <a:xfrm>
            <a:off x="3566160" y="1508760"/>
            <a:ext cx="548640" cy="548640"/>
          </a:xfrm>
          <a:prstGeom prst="ellipse">
            <a:avLst/>
          </a:prstGeom>
          <a:solidFill>
            <a:schemeClr val="accent1"/>
          </a:solidFill>
          <a:ln w="12700">
            <a:solidFill>
              <a:schemeClr val="accent1"/>
            </a:solidFill>
            <a:prstDash val="solid"/>
          </a:ln>
        </p:spPr>
      </p:sp>
      <p:pic>
        <p:nvPicPr>
          <p:cNvPr id="11" name="icon-41" descr="preencoded.png"/>
          <p:cNvPicPr>
            <a:picLocks noChangeAspect="1"/>
          </p:cNvPicPr>
          <p:nvPr/>
        </p:nvPicPr>
        <p:blipFill>
          <a:blip r:embed="rId4"/>
          <a:stretch>
            <a:fillRect/>
          </a:stretch>
        </p:blipFill>
        <p:spPr>
          <a:xfrm>
            <a:off x="3697834" y="1640434"/>
            <a:ext cx="285293" cy="285293"/>
          </a:xfrm>
          <a:prstGeom prst="rect">
            <a:avLst/>
          </a:prstGeom>
        </p:spPr>
      </p:pic>
      <p:sp>
        <p:nvSpPr>
          <p:cNvPr id="12" name="Text 7"/>
          <p:cNvSpPr txBox="1"/>
          <p:nvPr/>
        </p:nvSpPr>
        <p:spPr>
          <a:xfrm>
            <a:off x="4251960" y="1508760"/>
            <a:ext cx="1508760" cy="548640"/>
          </a:xfrm>
          <a:prstGeom prst="rect">
            <a:avLst/>
          </a:prstGeom>
          <a:noFill/>
          <a:ln/>
        </p:spPr>
        <p:txBody>
          <a:bodyPr wrap="square" lIns="0" tIns="0" rIns="0" bIns="0" rtlCol="0" anchor="ctr"/>
          <a:lstStyle/>
          <a:p>
            <a:pPr marL="0" indent="0">
              <a:buNone/>
            </a:pPr>
            <a:r>
              <a:rPr lang="en-US" sz="1800" b="1" dirty="0">
                <a:solidFill>
                  <a:schemeClr val="tx2"/>
                </a:solidFill>
              </a:rPr>
              <a:t>Sensing</a:t>
            </a:r>
            <a:endParaRPr lang="en-US" sz="1800" dirty="0"/>
          </a:p>
        </p:txBody>
      </p:sp>
      <p:sp>
        <p:nvSpPr>
          <p:cNvPr id="13" name="Text 8"/>
          <p:cNvSpPr txBox="1"/>
          <p:nvPr/>
        </p:nvSpPr>
        <p:spPr>
          <a:xfrm>
            <a:off x="3566160" y="2194560"/>
            <a:ext cx="2148840" cy="19202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Gas (TVOC, eCO₂), dust, temperature and range sensing carried on the chassis</a:t>
            </a:r>
            <a:endParaRPr lang="en-US" sz="1500" dirty="0"/>
          </a:p>
        </p:txBody>
      </p:sp>
      <p:sp>
        <p:nvSpPr>
          <p:cNvPr id="14" name="panel-42"/>
          <p:cNvSpPr/>
          <p:nvPr/>
        </p:nvSpPr>
        <p:spPr>
          <a:xfrm>
            <a:off x="6126480" y="1280160"/>
            <a:ext cx="2606040" cy="2971800"/>
          </a:xfrm>
          <a:prstGeom prst="roundRect">
            <a:avLst>
              <a:gd name="adj" fmla="val 3509"/>
            </a:avLst>
          </a:prstGeom>
          <a:solidFill>
            <a:schemeClr val="bg2"/>
          </a:solidFill>
          <a:ln w="12700">
            <a:solidFill>
              <a:schemeClr val="bg2"/>
            </a:solidFill>
            <a:prstDash val="solid"/>
          </a:ln>
        </p:spPr>
      </p:sp>
      <p:sp>
        <p:nvSpPr>
          <p:cNvPr id="15" name="icon-bg-43"/>
          <p:cNvSpPr/>
          <p:nvPr/>
        </p:nvSpPr>
        <p:spPr>
          <a:xfrm>
            <a:off x="6355080" y="1508760"/>
            <a:ext cx="548640" cy="548640"/>
          </a:xfrm>
          <a:prstGeom prst="ellipse">
            <a:avLst/>
          </a:prstGeom>
          <a:solidFill>
            <a:schemeClr val="accent1"/>
          </a:solidFill>
          <a:ln w="12700">
            <a:solidFill>
              <a:schemeClr val="accent1"/>
            </a:solidFill>
            <a:prstDash val="solid"/>
          </a:ln>
        </p:spPr>
      </p:sp>
      <p:pic>
        <p:nvPicPr>
          <p:cNvPr id="16" name="icon-44" descr="preencoded.png"/>
          <p:cNvPicPr>
            <a:picLocks noChangeAspect="1"/>
          </p:cNvPicPr>
          <p:nvPr/>
        </p:nvPicPr>
        <p:blipFill>
          <a:blip r:embed="rId5"/>
          <a:stretch>
            <a:fillRect/>
          </a:stretch>
        </p:blipFill>
        <p:spPr>
          <a:xfrm>
            <a:off x="6486754" y="1640434"/>
            <a:ext cx="285293" cy="285293"/>
          </a:xfrm>
          <a:prstGeom prst="rect">
            <a:avLst/>
          </a:prstGeom>
        </p:spPr>
      </p:pic>
      <p:sp>
        <p:nvSpPr>
          <p:cNvPr id="17" name="Text 11"/>
          <p:cNvSpPr txBox="1"/>
          <p:nvPr/>
        </p:nvSpPr>
        <p:spPr>
          <a:xfrm>
            <a:off x="7040880" y="1508760"/>
            <a:ext cx="1508760" cy="548640"/>
          </a:xfrm>
          <a:prstGeom prst="rect">
            <a:avLst/>
          </a:prstGeom>
          <a:noFill/>
          <a:ln/>
        </p:spPr>
        <p:txBody>
          <a:bodyPr wrap="square" lIns="0" tIns="0" rIns="0" bIns="0" rtlCol="0" anchor="ctr"/>
          <a:lstStyle/>
          <a:p>
            <a:pPr marL="0" indent="0">
              <a:buNone/>
            </a:pPr>
            <a:r>
              <a:rPr lang="en-US" sz="1800" b="1" dirty="0">
                <a:solidFill>
                  <a:schemeClr val="tx2"/>
                </a:solidFill>
              </a:rPr>
              <a:t>Plant-health AI</a:t>
            </a:r>
            <a:endParaRPr lang="en-US" sz="1800" dirty="0"/>
          </a:p>
        </p:txBody>
      </p:sp>
      <p:sp>
        <p:nvSpPr>
          <p:cNvPr id="18" name="Text 12"/>
          <p:cNvSpPr txBox="1"/>
          <p:nvPr/>
        </p:nvSpPr>
        <p:spPr>
          <a:xfrm>
            <a:off x="6355080" y="2194560"/>
            <a:ext cx="2148840" cy="19202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Leaf-disease classification that first checks a leaf is in view</a:t>
            </a:r>
            <a:endParaRPr lang="en-US" sz="1500" dirty="0"/>
          </a:p>
        </p:txBody>
      </p:sp>
      <p:sp>
        <p:nvSpPr>
          <p:cNvPr id="19" name="panel-45"/>
          <p:cNvSpPr/>
          <p:nvPr/>
        </p:nvSpPr>
        <p:spPr>
          <a:xfrm>
            <a:off x="8915400" y="1280160"/>
            <a:ext cx="2606040" cy="2971800"/>
          </a:xfrm>
          <a:prstGeom prst="roundRect">
            <a:avLst>
              <a:gd name="adj" fmla="val 3509"/>
            </a:avLst>
          </a:prstGeom>
          <a:solidFill>
            <a:schemeClr val="bg2"/>
          </a:solidFill>
          <a:ln w="12700">
            <a:solidFill>
              <a:schemeClr val="bg2"/>
            </a:solidFill>
            <a:prstDash val="solid"/>
          </a:ln>
        </p:spPr>
      </p:sp>
      <p:sp>
        <p:nvSpPr>
          <p:cNvPr id="20" name="icon-bg-46"/>
          <p:cNvSpPr/>
          <p:nvPr/>
        </p:nvSpPr>
        <p:spPr>
          <a:xfrm>
            <a:off x="9144000" y="1508760"/>
            <a:ext cx="548640" cy="548640"/>
          </a:xfrm>
          <a:prstGeom prst="ellipse">
            <a:avLst/>
          </a:prstGeom>
          <a:solidFill>
            <a:schemeClr val="accent1"/>
          </a:solidFill>
          <a:ln w="12700">
            <a:solidFill>
              <a:schemeClr val="accent1"/>
            </a:solidFill>
            <a:prstDash val="solid"/>
          </a:ln>
        </p:spPr>
      </p:sp>
      <p:pic>
        <p:nvPicPr>
          <p:cNvPr id="21" name="icon-47" descr="preencoded.png"/>
          <p:cNvPicPr>
            <a:picLocks noChangeAspect="1"/>
          </p:cNvPicPr>
          <p:nvPr/>
        </p:nvPicPr>
        <p:blipFill>
          <a:blip r:embed="rId6"/>
          <a:stretch>
            <a:fillRect/>
          </a:stretch>
        </p:blipFill>
        <p:spPr>
          <a:xfrm>
            <a:off x="9275674" y="1640434"/>
            <a:ext cx="285293" cy="285293"/>
          </a:xfrm>
          <a:prstGeom prst="rect">
            <a:avLst/>
          </a:prstGeom>
        </p:spPr>
      </p:pic>
      <p:sp>
        <p:nvSpPr>
          <p:cNvPr id="22" name="Text 15"/>
          <p:cNvSpPr txBox="1"/>
          <p:nvPr/>
        </p:nvSpPr>
        <p:spPr>
          <a:xfrm>
            <a:off x="9829800" y="1508760"/>
            <a:ext cx="1508760" cy="548640"/>
          </a:xfrm>
          <a:prstGeom prst="rect">
            <a:avLst/>
          </a:prstGeom>
          <a:noFill/>
          <a:ln/>
        </p:spPr>
        <p:txBody>
          <a:bodyPr wrap="square" lIns="0" tIns="0" rIns="0" bIns="0" rtlCol="0" anchor="ctr"/>
          <a:lstStyle/>
          <a:p>
            <a:pPr marL="0" indent="0">
              <a:buNone/>
            </a:pPr>
            <a:r>
              <a:rPr lang="en-US" sz="1800" b="1" dirty="0">
                <a:solidFill>
                  <a:schemeClr val="tx2"/>
                </a:solidFill>
              </a:rPr>
              <a:t>Live dashboard</a:t>
            </a:r>
            <a:endParaRPr lang="en-US" sz="1800" dirty="0"/>
          </a:p>
        </p:txBody>
      </p:sp>
      <p:sp>
        <p:nvSpPr>
          <p:cNvPr id="23" name="Text 16"/>
          <p:cNvSpPr txBox="1"/>
          <p:nvPr/>
        </p:nvSpPr>
        <p:spPr>
          <a:xfrm>
            <a:off x="9144000" y="2194560"/>
            <a:ext cx="2148840" cy="19202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Wireless logging, live charts, and leaf images tagged with the readings at capture</a:t>
            </a:r>
            <a:endParaRPr lang="en-US" sz="1500" dirty="0"/>
          </a:p>
        </p:txBody>
      </p:sp>
      <p:sp>
        <p:nvSpPr>
          <p:cNvPr id="24" name="panel-48"/>
          <p:cNvSpPr/>
          <p:nvPr/>
        </p:nvSpPr>
        <p:spPr>
          <a:xfrm>
            <a:off x="548640" y="4480560"/>
            <a:ext cx="5486400" cy="1691640"/>
          </a:xfrm>
          <a:prstGeom prst="roundRect">
            <a:avLst>
              <a:gd name="adj" fmla="val 5405"/>
            </a:avLst>
          </a:prstGeom>
          <a:solidFill>
            <a:schemeClr val="bg2"/>
          </a:solidFill>
          <a:ln w="12700">
            <a:solidFill>
              <a:schemeClr val="bg2"/>
            </a:solidFill>
            <a:prstDash val="solid"/>
          </a:ln>
        </p:spPr>
      </p:sp>
      <p:sp>
        <p:nvSpPr>
          <p:cNvPr id="25" name="Text 18"/>
          <p:cNvSpPr txBox="1"/>
          <p:nvPr/>
        </p:nvSpPr>
        <p:spPr>
          <a:xfrm>
            <a:off x="777240" y="4617720"/>
            <a:ext cx="5029200" cy="1463040"/>
          </a:xfrm>
          <a:prstGeom prst="rect">
            <a:avLst/>
          </a:prstGeom>
          <a:noFill/>
          <a:ln/>
        </p:spPr>
        <p:txBody>
          <a:bodyPr wrap="square" lIns="0" tIns="0" rIns="0" bIns="0" rtlCol="0" anchor="t"/>
          <a:lstStyle/>
          <a:p>
            <a:pPr marL="0" indent="0">
              <a:buNone/>
            </a:pPr>
            <a:r>
              <a:rPr lang="en-US" sz="1500" b="1" dirty="0">
                <a:solidFill>
                  <a:schemeClr val="accent1"/>
                </a:solidFill>
              </a:rPr>
              <a:t>In scope</a:t>
            </a:r>
            <a:endParaRPr lang="en-US" sz="1500" dirty="0"/>
          </a:p>
          <a:p>
            <a:pPr marL="0" indent="0">
              <a:buNone/>
            </a:pPr>
            <a:r>
              <a:rPr lang="en-US" sz="1500" dirty="0">
                <a:solidFill>
                  <a:schemeClr val="tx1"/>
                </a:solidFill>
              </a:rPr>
              <a:t>Printed platform, sensing and camera nodes, dashboard and classifier, locomotion design, simulation, first actuation trials</a:t>
            </a:r>
            <a:endParaRPr lang="en-US" sz="1500" dirty="0"/>
          </a:p>
        </p:txBody>
      </p:sp>
      <p:sp>
        <p:nvSpPr>
          <p:cNvPr id="26" name="panel-49"/>
          <p:cNvSpPr/>
          <p:nvPr/>
        </p:nvSpPr>
        <p:spPr>
          <a:xfrm>
            <a:off x="6172200" y="4480560"/>
            <a:ext cx="5440680" cy="1691640"/>
          </a:xfrm>
          <a:prstGeom prst="roundRect">
            <a:avLst>
              <a:gd name="adj" fmla="val 5405"/>
            </a:avLst>
          </a:prstGeom>
          <a:solidFill>
            <a:schemeClr val="bg2"/>
          </a:solidFill>
          <a:ln w="12700">
            <a:solidFill>
              <a:schemeClr val="bg2"/>
            </a:solidFill>
            <a:prstDash val="solid"/>
          </a:ln>
        </p:spPr>
      </p:sp>
      <p:sp>
        <p:nvSpPr>
          <p:cNvPr id="27" name="Text 20"/>
          <p:cNvSpPr txBox="1"/>
          <p:nvPr/>
        </p:nvSpPr>
        <p:spPr>
          <a:xfrm>
            <a:off x="6400800" y="4617720"/>
            <a:ext cx="5029200" cy="1463040"/>
          </a:xfrm>
          <a:prstGeom prst="rect">
            <a:avLst/>
          </a:prstGeom>
          <a:noFill/>
          <a:ln/>
        </p:spPr>
        <p:txBody>
          <a:bodyPr wrap="square" lIns="0" tIns="0" rIns="0" bIns="0" rtlCol="0" anchor="t"/>
          <a:lstStyle/>
          <a:p>
            <a:pPr marL="0" indent="0">
              <a:buNone/>
            </a:pPr>
            <a:r>
              <a:rPr lang="en-US" sz="1500" b="1" dirty="0">
                <a:solidFill>
                  <a:schemeClr val="accent4"/>
                </a:solidFill>
              </a:rPr>
              <a:t>Out of scope</a:t>
            </a:r>
            <a:endParaRPr lang="en-US" sz="1500" dirty="0"/>
          </a:p>
          <a:p>
            <a:pPr marL="0" indent="0">
              <a:buNone/>
            </a:pPr>
            <a:r>
              <a:rPr lang="en-US" sz="1500" dirty="0">
                <a:solidFill>
                  <a:schemeClr val="tx1"/>
                </a:solidFill>
              </a:rPr>
              <a:t>Trials on a working farm, sensor calibration against reference instruments, training a new classifier, GPS mapping</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lIns="0" tIns="0" rIns="0" bIns="0" rtlCol="0" anchor="b"/>
          <a:lstStyle/>
          <a:p>
            <a:pPr marL="0" indent="0" algn="l">
              <a:buNone/>
            </a:pPr>
            <a:r>
              <a:rPr lang="en-US" sz="8800" b="1" dirty="0">
                <a:solidFill>
                  <a:schemeClr val="accent2"/>
                </a:solidFill>
                <a:latin typeface="Cambria" pitchFamily="34" charset="0"/>
                <a:ea typeface="Cambria" pitchFamily="34" charset="-122"/>
                <a:cs typeface="Cambria" pitchFamily="34" charset="-120"/>
              </a:rPr>
              <a:t>02</a:t>
            </a: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lIns="0" tIns="0" rIns="0" bIns="0" rtlCol="0" anchor="t"/>
          <a:lstStyle/>
          <a:p>
            <a:pPr marL="0" indent="0" algn="l">
              <a:buNone/>
            </a:pPr>
            <a:r>
              <a:rPr lang="en-US" sz="4400" b="1" dirty="0">
                <a:solidFill>
                  <a:schemeClr val="bg1"/>
                </a:solidFill>
              </a:rPr>
              <a:t>Methodology and Design</a:t>
            </a: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lIns="0" tIns="0" rIns="0" bIns="0" rtlCol="0" anchor="t"/>
          <a:lstStyle/>
          <a:p>
            <a:pPr marL="0" indent="0" algn="l">
              <a:buNone/>
            </a:pPr>
            <a:r>
              <a:rPr lang="en-US" sz="1800" dirty="0">
                <a:solidFill>
                  <a:schemeClr val="bg2"/>
                </a:solidFill>
              </a:rPr>
              <a:t>How the system was designed: the workflow, key technical decisions, architecture, data flow and algorithms</a:t>
            </a:r>
            <a:endParaRPr lang="en-US" sz="1800" dirty="0"/>
          </a:p>
        </p:txBody>
      </p:sp>
      <p:pic>
        <p:nvPicPr>
          <p:cNvPr id="5" name="divider-icon-50" descr="preencoded.png"/>
          <p:cNvPicPr>
            <a:picLocks noChangeAspect="1"/>
          </p:cNvPicPr>
          <p:nvPr/>
        </p:nvPicPr>
        <p:blipFill>
          <a:blip r:embed="rId3">
            <a:alphaModFix amt="30000"/>
          </a:blip>
          <a:stretch>
            <a:fillRect/>
          </a:stretch>
        </p:blipFill>
        <p:spPr>
          <a:xfrm>
            <a:off x="8549640" y="1554480"/>
            <a:ext cx="3017520" cy="30175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Methodology: Analyse, Revise, Build, Validate</a:t>
            </a:r>
            <a:endParaRPr lang="en-US" sz="3000" dirty="0"/>
          </a:p>
        </p:txBody>
      </p:sp>
      <p:sp>
        <p:nvSpPr>
          <p:cNvPr id="4" name="panel-51"/>
          <p:cNvSpPr/>
          <p:nvPr/>
        </p:nvSpPr>
        <p:spPr>
          <a:xfrm>
            <a:off x="548640" y="1417320"/>
            <a:ext cx="1719072" cy="3291840"/>
          </a:xfrm>
          <a:prstGeom prst="roundRect">
            <a:avLst>
              <a:gd name="adj" fmla="val 5319"/>
            </a:avLst>
          </a:prstGeom>
          <a:solidFill>
            <a:schemeClr val="bg2"/>
          </a:solidFill>
          <a:ln w="12700">
            <a:solidFill>
              <a:schemeClr val="bg2"/>
            </a:solidFill>
            <a:prstDash val="solid"/>
          </a:ln>
        </p:spPr>
      </p:sp>
      <p:sp>
        <p:nvSpPr>
          <p:cNvPr id="5" name="Text 2"/>
          <p:cNvSpPr txBox="1"/>
          <p:nvPr/>
        </p:nvSpPr>
        <p:spPr>
          <a:xfrm>
            <a:off x="73152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01</a:t>
            </a:r>
            <a:endParaRPr lang="en-US" sz="2200" dirty="0"/>
          </a:p>
        </p:txBody>
      </p:sp>
      <p:sp>
        <p:nvSpPr>
          <p:cNvPr id="6" name="icon-bg-52"/>
          <p:cNvSpPr/>
          <p:nvPr/>
        </p:nvSpPr>
        <p:spPr>
          <a:xfrm>
            <a:off x="1490472" y="1554480"/>
            <a:ext cx="566928" cy="566928"/>
          </a:xfrm>
          <a:prstGeom prst="ellipse">
            <a:avLst/>
          </a:prstGeom>
          <a:solidFill>
            <a:schemeClr val="accent1"/>
          </a:solidFill>
          <a:ln w="12700">
            <a:solidFill>
              <a:schemeClr val="accent1"/>
            </a:solidFill>
            <a:prstDash val="solid"/>
          </a:ln>
        </p:spPr>
      </p:sp>
      <p:pic>
        <p:nvPicPr>
          <p:cNvPr id="7" name="icon-53" descr="preencoded.png"/>
          <p:cNvPicPr>
            <a:picLocks noChangeAspect="1"/>
          </p:cNvPicPr>
          <p:nvPr/>
        </p:nvPicPr>
        <p:blipFill>
          <a:blip r:embed="rId3"/>
          <a:stretch>
            <a:fillRect/>
          </a:stretch>
        </p:blipFill>
        <p:spPr>
          <a:xfrm>
            <a:off x="1626535" y="1690543"/>
            <a:ext cx="294803" cy="294803"/>
          </a:xfrm>
          <a:prstGeom prst="rect">
            <a:avLst/>
          </a:prstGeom>
        </p:spPr>
      </p:pic>
      <p:sp>
        <p:nvSpPr>
          <p:cNvPr id="8" name="Text 4"/>
          <p:cNvSpPr txBox="1"/>
          <p:nvPr/>
        </p:nvSpPr>
        <p:spPr>
          <a:xfrm>
            <a:off x="73152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Analyse</a:t>
            </a:r>
            <a:endParaRPr lang="en-US" sz="1800" dirty="0"/>
          </a:p>
        </p:txBody>
      </p:sp>
      <p:sp>
        <p:nvSpPr>
          <p:cNvPr id="9" name="Text 5"/>
          <p:cNvSpPr txBox="1"/>
          <p:nvPr/>
        </p:nvSpPr>
        <p:spPr>
          <a:xfrm>
            <a:off x="73152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Torque, power and heat analysis of the Review III plan</a:t>
            </a:r>
            <a:endParaRPr lang="en-US" sz="1500" dirty="0"/>
          </a:p>
        </p:txBody>
      </p:sp>
      <p:sp>
        <p:nvSpPr>
          <p:cNvPr id="10" name="arrow-54"/>
          <p:cNvSpPr/>
          <p:nvPr/>
        </p:nvSpPr>
        <p:spPr>
          <a:xfrm>
            <a:off x="2249424" y="2926080"/>
            <a:ext cx="192024" cy="274320"/>
          </a:xfrm>
          <a:prstGeom prst="rightArrow">
            <a:avLst/>
          </a:prstGeom>
          <a:solidFill>
            <a:schemeClr val="accent1"/>
          </a:solidFill>
          <a:ln w="12700">
            <a:solidFill>
              <a:schemeClr val="accent1"/>
            </a:solidFill>
            <a:prstDash val="solid"/>
          </a:ln>
        </p:spPr>
      </p:sp>
      <p:sp>
        <p:nvSpPr>
          <p:cNvPr id="11" name="panel-55"/>
          <p:cNvSpPr/>
          <p:nvPr/>
        </p:nvSpPr>
        <p:spPr>
          <a:xfrm>
            <a:off x="2423160" y="1417320"/>
            <a:ext cx="1719072" cy="3291840"/>
          </a:xfrm>
          <a:prstGeom prst="roundRect">
            <a:avLst>
              <a:gd name="adj" fmla="val 5319"/>
            </a:avLst>
          </a:prstGeom>
          <a:solidFill>
            <a:schemeClr val="bg2"/>
          </a:solidFill>
          <a:ln w="12700">
            <a:solidFill>
              <a:schemeClr val="bg2"/>
            </a:solidFill>
            <a:prstDash val="solid"/>
          </a:ln>
        </p:spPr>
      </p:sp>
      <p:sp>
        <p:nvSpPr>
          <p:cNvPr id="12" name="Text 8"/>
          <p:cNvSpPr txBox="1"/>
          <p:nvPr/>
        </p:nvSpPr>
        <p:spPr>
          <a:xfrm>
            <a:off x="260604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02</a:t>
            </a:r>
            <a:endParaRPr lang="en-US" sz="2200" dirty="0"/>
          </a:p>
        </p:txBody>
      </p:sp>
      <p:sp>
        <p:nvSpPr>
          <p:cNvPr id="13" name="icon-bg-56"/>
          <p:cNvSpPr/>
          <p:nvPr/>
        </p:nvSpPr>
        <p:spPr>
          <a:xfrm>
            <a:off x="3364992" y="1554480"/>
            <a:ext cx="566928" cy="566928"/>
          </a:xfrm>
          <a:prstGeom prst="ellipse">
            <a:avLst/>
          </a:prstGeom>
          <a:solidFill>
            <a:schemeClr val="accent1"/>
          </a:solidFill>
          <a:ln w="12700">
            <a:solidFill>
              <a:schemeClr val="accent1"/>
            </a:solidFill>
            <a:prstDash val="solid"/>
          </a:ln>
        </p:spPr>
      </p:sp>
      <p:pic>
        <p:nvPicPr>
          <p:cNvPr id="14" name="icon-57" descr="preencoded.png"/>
          <p:cNvPicPr>
            <a:picLocks noChangeAspect="1"/>
          </p:cNvPicPr>
          <p:nvPr/>
        </p:nvPicPr>
        <p:blipFill>
          <a:blip r:embed="rId4"/>
          <a:stretch>
            <a:fillRect/>
          </a:stretch>
        </p:blipFill>
        <p:spPr>
          <a:xfrm>
            <a:off x="3501055" y="1690543"/>
            <a:ext cx="294803" cy="294803"/>
          </a:xfrm>
          <a:prstGeom prst="rect">
            <a:avLst/>
          </a:prstGeom>
        </p:spPr>
      </p:pic>
      <p:sp>
        <p:nvSpPr>
          <p:cNvPr id="15" name="Text 10"/>
          <p:cNvSpPr txBox="1"/>
          <p:nvPr/>
        </p:nvSpPr>
        <p:spPr>
          <a:xfrm>
            <a:off x="260604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Revise</a:t>
            </a:r>
            <a:endParaRPr lang="en-US" sz="1800" dirty="0"/>
          </a:p>
        </p:txBody>
      </p:sp>
      <p:sp>
        <p:nvSpPr>
          <p:cNvPr id="16" name="Text 11"/>
          <p:cNvSpPr txBox="1"/>
          <p:nvPr/>
        </p:nvSpPr>
        <p:spPr>
          <a:xfrm>
            <a:off x="260604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Move inference to a laptop; split sensing over two ESP32 nodes</a:t>
            </a:r>
            <a:endParaRPr lang="en-US" sz="1500" dirty="0"/>
          </a:p>
        </p:txBody>
      </p:sp>
      <p:sp>
        <p:nvSpPr>
          <p:cNvPr id="17" name="arrow-58"/>
          <p:cNvSpPr/>
          <p:nvPr/>
        </p:nvSpPr>
        <p:spPr>
          <a:xfrm>
            <a:off x="4123944" y="2926080"/>
            <a:ext cx="192024" cy="274320"/>
          </a:xfrm>
          <a:prstGeom prst="rightArrow">
            <a:avLst/>
          </a:prstGeom>
          <a:solidFill>
            <a:schemeClr val="accent1"/>
          </a:solidFill>
          <a:ln w="12700">
            <a:solidFill>
              <a:schemeClr val="accent1"/>
            </a:solidFill>
            <a:prstDash val="solid"/>
          </a:ln>
        </p:spPr>
      </p:sp>
      <p:sp>
        <p:nvSpPr>
          <p:cNvPr id="18" name="panel-59"/>
          <p:cNvSpPr/>
          <p:nvPr/>
        </p:nvSpPr>
        <p:spPr>
          <a:xfrm>
            <a:off x="4297680" y="1417320"/>
            <a:ext cx="1719072" cy="3291840"/>
          </a:xfrm>
          <a:prstGeom prst="roundRect">
            <a:avLst>
              <a:gd name="adj" fmla="val 5319"/>
            </a:avLst>
          </a:prstGeom>
          <a:solidFill>
            <a:schemeClr val="bg2"/>
          </a:solidFill>
          <a:ln w="12700">
            <a:solidFill>
              <a:schemeClr val="bg2"/>
            </a:solidFill>
            <a:prstDash val="solid"/>
          </a:ln>
        </p:spPr>
      </p:sp>
      <p:sp>
        <p:nvSpPr>
          <p:cNvPr id="19" name="Text 14"/>
          <p:cNvSpPr txBox="1"/>
          <p:nvPr/>
        </p:nvSpPr>
        <p:spPr>
          <a:xfrm>
            <a:off x="448056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03</a:t>
            </a:r>
            <a:endParaRPr lang="en-US" sz="2200" dirty="0"/>
          </a:p>
        </p:txBody>
      </p:sp>
      <p:sp>
        <p:nvSpPr>
          <p:cNvPr id="20" name="icon-bg-60"/>
          <p:cNvSpPr/>
          <p:nvPr/>
        </p:nvSpPr>
        <p:spPr>
          <a:xfrm>
            <a:off x="5239512" y="1554480"/>
            <a:ext cx="566928" cy="566928"/>
          </a:xfrm>
          <a:prstGeom prst="ellipse">
            <a:avLst/>
          </a:prstGeom>
          <a:solidFill>
            <a:schemeClr val="accent1"/>
          </a:solidFill>
          <a:ln w="12700">
            <a:solidFill>
              <a:schemeClr val="accent1"/>
            </a:solidFill>
            <a:prstDash val="solid"/>
          </a:ln>
        </p:spPr>
      </p:sp>
      <p:pic>
        <p:nvPicPr>
          <p:cNvPr id="21" name="icon-61" descr="preencoded.png"/>
          <p:cNvPicPr>
            <a:picLocks noChangeAspect="1"/>
          </p:cNvPicPr>
          <p:nvPr/>
        </p:nvPicPr>
        <p:blipFill>
          <a:blip r:embed="rId5"/>
          <a:stretch>
            <a:fillRect/>
          </a:stretch>
        </p:blipFill>
        <p:spPr>
          <a:xfrm>
            <a:off x="5375575" y="1690543"/>
            <a:ext cx="294803" cy="294803"/>
          </a:xfrm>
          <a:prstGeom prst="rect">
            <a:avLst/>
          </a:prstGeom>
        </p:spPr>
      </p:pic>
      <p:sp>
        <p:nvSpPr>
          <p:cNvPr id="22" name="Text 16"/>
          <p:cNvSpPr txBox="1"/>
          <p:nvPr/>
        </p:nvSpPr>
        <p:spPr>
          <a:xfrm>
            <a:off x="448056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Build sensing</a:t>
            </a:r>
            <a:endParaRPr lang="en-US" sz="1800" dirty="0"/>
          </a:p>
        </p:txBody>
      </p:sp>
      <p:sp>
        <p:nvSpPr>
          <p:cNvPr id="23" name="Text 17"/>
          <p:cNvSpPr txBox="1"/>
          <p:nvPr/>
        </p:nvSpPr>
        <p:spPr>
          <a:xfrm>
            <a:off x="448056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Sensor node and camera firmware, wiring with dividers</a:t>
            </a:r>
            <a:endParaRPr lang="en-US" sz="1500" dirty="0"/>
          </a:p>
        </p:txBody>
      </p:sp>
      <p:sp>
        <p:nvSpPr>
          <p:cNvPr id="24" name="arrow-62"/>
          <p:cNvSpPr/>
          <p:nvPr/>
        </p:nvSpPr>
        <p:spPr>
          <a:xfrm>
            <a:off x="5998464" y="2926080"/>
            <a:ext cx="192024" cy="274320"/>
          </a:xfrm>
          <a:prstGeom prst="rightArrow">
            <a:avLst/>
          </a:prstGeom>
          <a:solidFill>
            <a:schemeClr val="accent1"/>
          </a:solidFill>
          <a:ln w="12700">
            <a:solidFill>
              <a:schemeClr val="accent1"/>
            </a:solidFill>
            <a:prstDash val="solid"/>
          </a:ln>
        </p:spPr>
      </p:sp>
      <p:sp>
        <p:nvSpPr>
          <p:cNvPr id="25" name="panel-63"/>
          <p:cNvSpPr/>
          <p:nvPr/>
        </p:nvSpPr>
        <p:spPr>
          <a:xfrm>
            <a:off x="6172200" y="1417320"/>
            <a:ext cx="1719072" cy="3291840"/>
          </a:xfrm>
          <a:prstGeom prst="roundRect">
            <a:avLst>
              <a:gd name="adj" fmla="val 5319"/>
            </a:avLst>
          </a:prstGeom>
          <a:solidFill>
            <a:schemeClr val="bg2"/>
          </a:solidFill>
          <a:ln w="12700">
            <a:solidFill>
              <a:schemeClr val="bg2"/>
            </a:solidFill>
            <a:prstDash val="solid"/>
          </a:ln>
        </p:spPr>
      </p:sp>
      <p:sp>
        <p:nvSpPr>
          <p:cNvPr id="26" name="Text 20"/>
          <p:cNvSpPr txBox="1"/>
          <p:nvPr/>
        </p:nvSpPr>
        <p:spPr>
          <a:xfrm>
            <a:off x="635508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04</a:t>
            </a:r>
            <a:endParaRPr lang="en-US" sz="2200" dirty="0"/>
          </a:p>
        </p:txBody>
      </p:sp>
      <p:sp>
        <p:nvSpPr>
          <p:cNvPr id="27" name="icon-bg-64"/>
          <p:cNvSpPr/>
          <p:nvPr/>
        </p:nvSpPr>
        <p:spPr>
          <a:xfrm>
            <a:off x="7114032" y="1554480"/>
            <a:ext cx="566928" cy="566928"/>
          </a:xfrm>
          <a:prstGeom prst="ellipse">
            <a:avLst/>
          </a:prstGeom>
          <a:solidFill>
            <a:schemeClr val="accent1"/>
          </a:solidFill>
          <a:ln w="12700">
            <a:solidFill>
              <a:schemeClr val="accent1"/>
            </a:solidFill>
            <a:prstDash val="solid"/>
          </a:ln>
        </p:spPr>
      </p:sp>
      <p:pic>
        <p:nvPicPr>
          <p:cNvPr id="28" name="icon-65" descr="preencoded.png"/>
          <p:cNvPicPr>
            <a:picLocks noChangeAspect="1"/>
          </p:cNvPicPr>
          <p:nvPr/>
        </p:nvPicPr>
        <p:blipFill>
          <a:blip r:embed="rId6"/>
          <a:stretch>
            <a:fillRect/>
          </a:stretch>
        </p:blipFill>
        <p:spPr>
          <a:xfrm>
            <a:off x="7250095" y="1690543"/>
            <a:ext cx="294803" cy="294803"/>
          </a:xfrm>
          <a:prstGeom prst="rect">
            <a:avLst/>
          </a:prstGeom>
        </p:spPr>
      </p:pic>
      <p:sp>
        <p:nvSpPr>
          <p:cNvPr id="29" name="Text 22"/>
          <p:cNvSpPr txBox="1"/>
          <p:nvPr/>
        </p:nvSpPr>
        <p:spPr>
          <a:xfrm>
            <a:off x="635508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Build software</a:t>
            </a:r>
            <a:endParaRPr lang="en-US" sz="1800" dirty="0"/>
          </a:p>
        </p:txBody>
      </p:sp>
      <p:sp>
        <p:nvSpPr>
          <p:cNvPr id="30" name="Text 23"/>
          <p:cNvSpPr txBox="1"/>
          <p:nvPr/>
        </p:nvSpPr>
        <p:spPr>
          <a:xfrm>
            <a:off x="635508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Flask dashboard, logging, gated classifier</a:t>
            </a:r>
            <a:endParaRPr lang="en-US" sz="1500" dirty="0"/>
          </a:p>
        </p:txBody>
      </p:sp>
      <p:sp>
        <p:nvSpPr>
          <p:cNvPr id="31" name="arrow-66"/>
          <p:cNvSpPr/>
          <p:nvPr/>
        </p:nvSpPr>
        <p:spPr>
          <a:xfrm>
            <a:off x="7872984" y="2926080"/>
            <a:ext cx="192024" cy="274320"/>
          </a:xfrm>
          <a:prstGeom prst="rightArrow">
            <a:avLst/>
          </a:prstGeom>
          <a:solidFill>
            <a:schemeClr val="accent1"/>
          </a:solidFill>
          <a:ln w="12700">
            <a:solidFill>
              <a:schemeClr val="accent1"/>
            </a:solidFill>
            <a:prstDash val="solid"/>
          </a:ln>
        </p:spPr>
      </p:sp>
      <p:sp>
        <p:nvSpPr>
          <p:cNvPr id="32" name="panel-67"/>
          <p:cNvSpPr/>
          <p:nvPr/>
        </p:nvSpPr>
        <p:spPr>
          <a:xfrm>
            <a:off x="8046720" y="1417320"/>
            <a:ext cx="1719072" cy="3291840"/>
          </a:xfrm>
          <a:prstGeom prst="roundRect">
            <a:avLst>
              <a:gd name="adj" fmla="val 5319"/>
            </a:avLst>
          </a:prstGeom>
          <a:solidFill>
            <a:schemeClr val="bg2"/>
          </a:solidFill>
          <a:ln w="12700">
            <a:solidFill>
              <a:schemeClr val="bg2"/>
            </a:solidFill>
            <a:prstDash val="solid"/>
          </a:ln>
        </p:spPr>
      </p:sp>
      <p:sp>
        <p:nvSpPr>
          <p:cNvPr id="33" name="Text 26"/>
          <p:cNvSpPr txBox="1"/>
          <p:nvPr/>
        </p:nvSpPr>
        <p:spPr>
          <a:xfrm>
            <a:off x="822960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05</a:t>
            </a:r>
            <a:endParaRPr lang="en-US" sz="2200" dirty="0"/>
          </a:p>
        </p:txBody>
      </p:sp>
      <p:sp>
        <p:nvSpPr>
          <p:cNvPr id="34" name="icon-bg-68"/>
          <p:cNvSpPr/>
          <p:nvPr/>
        </p:nvSpPr>
        <p:spPr>
          <a:xfrm>
            <a:off x="8988552" y="1554480"/>
            <a:ext cx="566928" cy="566928"/>
          </a:xfrm>
          <a:prstGeom prst="ellipse">
            <a:avLst/>
          </a:prstGeom>
          <a:solidFill>
            <a:schemeClr val="accent1"/>
          </a:solidFill>
          <a:ln w="12700">
            <a:solidFill>
              <a:schemeClr val="accent1"/>
            </a:solidFill>
            <a:prstDash val="solid"/>
          </a:ln>
        </p:spPr>
      </p:sp>
      <p:pic>
        <p:nvPicPr>
          <p:cNvPr id="35" name="icon-69" descr="preencoded.png"/>
          <p:cNvPicPr>
            <a:picLocks noChangeAspect="1"/>
          </p:cNvPicPr>
          <p:nvPr/>
        </p:nvPicPr>
        <p:blipFill>
          <a:blip r:embed="rId7"/>
          <a:stretch>
            <a:fillRect/>
          </a:stretch>
        </p:blipFill>
        <p:spPr>
          <a:xfrm>
            <a:off x="9124615" y="1690543"/>
            <a:ext cx="294803" cy="294803"/>
          </a:xfrm>
          <a:prstGeom prst="rect">
            <a:avLst/>
          </a:prstGeom>
        </p:spPr>
      </p:pic>
      <p:sp>
        <p:nvSpPr>
          <p:cNvPr id="36" name="Text 28"/>
          <p:cNvSpPr txBox="1"/>
          <p:nvPr/>
        </p:nvSpPr>
        <p:spPr>
          <a:xfrm>
            <a:off x="822960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Simulate</a:t>
            </a:r>
            <a:endParaRPr lang="en-US" sz="1800" dirty="0"/>
          </a:p>
        </p:txBody>
      </p:sp>
      <p:sp>
        <p:nvSpPr>
          <p:cNvPr id="37" name="Text 29"/>
          <p:cNvSpPr txBox="1"/>
          <p:nvPr/>
        </p:nvSpPr>
        <p:spPr>
          <a:xfrm>
            <a:off x="822960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Kinematics and gait in MuJoCo with real servo limits</a:t>
            </a:r>
            <a:endParaRPr lang="en-US" sz="1500" dirty="0"/>
          </a:p>
        </p:txBody>
      </p:sp>
      <p:sp>
        <p:nvSpPr>
          <p:cNvPr id="38" name="arrow-70"/>
          <p:cNvSpPr/>
          <p:nvPr/>
        </p:nvSpPr>
        <p:spPr>
          <a:xfrm>
            <a:off x="9747504" y="2926080"/>
            <a:ext cx="192024" cy="274320"/>
          </a:xfrm>
          <a:prstGeom prst="rightArrow">
            <a:avLst/>
          </a:prstGeom>
          <a:solidFill>
            <a:schemeClr val="accent1"/>
          </a:solidFill>
          <a:ln w="12700">
            <a:solidFill>
              <a:schemeClr val="accent1"/>
            </a:solidFill>
            <a:prstDash val="solid"/>
          </a:ln>
        </p:spPr>
      </p:sp>
      <p:sp>
        <p:nvSpPr>
          <p:cNvPr id="39" name="panel-71"/>
          <p:cNvSpPr/>
          <p:nvPr/>
        </p:nvSpPr>
        <p:spPr>
          <a:xfrm>
            <a:off x="9921240" y="1417320"/>
            <a:ext cx="1719072" cy="3291840"/>
          </a:xfrm>
          <a:prstGeom prst="roundRect">
            <a:avLst>
              <a:gd name="adj" fmla="val 5319"/>
            </a:avLst>
          </a:prstGeom>
          <a:solidFill>
            <a:schemeClr val="bg2"/>
          </a:solidFill>
          <a:ln w="12700">
            <a:solidFill>
              <a:schemeClr val="bg2"/>
            </a:solidFill>
            <a:prstDash val="solid"/>
          </a:ln>
        </p:spPr>
      </p:sp>
      <p:sp>
        <p:nvSpPr>
          <p:cNvPr id="40" name="Text 32"/>
          <p:cNvSpPr txBox="1"/>
          <p:nvPr/>
        </p:nvSpPr>
        <p:spPr>
          <a:xfrm>
            <a:off x="10104120" y="1554480"/>
            <a:ext cx="914400" cy="457200"/>
          </a:xfrm>
          <a:prstGeom prst="rect">
            <a:avLst/>
          </a:prstGeom>
          <a:noFill/>
          <a:ln/>
        </p:spPr>
        <p:txBody>
          <a:bodyPr wrap="square" lIns="0" tIns="0" rIns="0" bIns="0" rtlCol="0" anchor="t"/>
          <a:lstStyle/>
          <a:p>
            <a:pPr marL="0" indent="0">
              <a:buNone/>
            </a:pPr>
            <a:r>
              <a:rPr lang="en-US" sz="2200" b="1" dirty="0">
                <a:solidFill>
                  <a:schemeClr val="accent2"/>
                </a:solidFill>
                <a:latin typeface="Cambria" pitchFamily="34" charset="0"/>
                <a:ea typeface="Cambria" pitchFamily="34" charset="-122"/>
                <a:cs typeface="Cambria" pitchFamily="34" charset="-120"/>
              </a:rPr>
              <a:t>06</a:t>
            </a:r>
            <a:endParaRPr lang="en-US" sz="2200" dirty="0"/>
          </a:p>
        </p:txBody>
      </p:sp>
      <p:sp>
        <p:nvSpPr>
          <p:cNvPr id="41" name="icon-bg-72"/>
          <p:cNvSpPr/>
          <p:nvPr/>
        </p:nvSpPr>
        <p:spPr>
          <a:xfrm>
            <a:off x="10863072" y="1554480"/>
            <a:ext cx="566928" cy="566928"/>
          </a:xfrm>
          <a:prstGeom prst="ellipse">
            <a:avLst/>
          </a:prstGeom>
          <a:solidFill>
            <a:schemeClr val="accent1"/>
          </a:solidFill>
          <a:ln w="12700">
            <a:solidFill>
              <a:schemeClr val="accent1"/>
            </a:solidFill>
            <a:prstDash val="solid"/>
          </a:ln>
        </p:spPr>
      </p:sp>
      <p:pic>
        <p:nvPicPr>
          <p:cNvPr id="42" name="icon-73" descr="preencoded.png"/>
          <p:cNvPicPr>
            <a:picLocks noChangeAspect="1"/>
          </p:cNvPicPr>
          <p:nvPr/>
        </p:nvPicPr>
        <p:blipFill>
          <a:blip r:embed="rId8"/>
          <a:stretch>
            <a:fillRect/>
          </a:stretch>
        </p:blipFill>
        <p:spPr>
          <a:xfrm>
            <a:off x="10999135" y="1690543"/>
            <a:ext cx="294803" cy="294803"/>
          </a:xfrm>
          <a:prstGeom prst="rect">
            <a:avLst/>
          </a:prstGeom>
        </p:spPr>
      </p:pic>
      <p:sp>
        <p:nvSpPr>
          <p:cNvPr id="43" name="Text 34"/>
          <p:cNvSpPr txBox="1"/>
          <p:nvPr/>
        </p:nvSpPr>
        <p:spPr>
          <a:xfrm>
            <a:off x="10104120" y="2286000"/>
            <a:ext cx="1399032" cy="457200"/>
          </a:xfrm>
          <a:prstGeom prst="rect">
            <a:avLst/>
          </a:prstGeom>
          <a:noFill/>
          <a:ln/>
        </p:spPr>
        <p:txBody>
          <a:bodyPr wrap="square" lIns="0" tIns="0" rIns="0" bIns="0" rtlCol="0" anchor="t"/>
          <a:lstStyle/>
          <a:p>
            <a:pPr marL="0" indent="0">
              <a:buNone/>
            </a:pPr>
            <a:r>
              <a:rPr lang="en-US" sz="1800" b="1" dirty="0">
                <a:solidFill>
                  <a:schemeClr val="tx2"/>
                </a:solidFill>
              </a:rPr>
              <a:t>Validate</a:t>
            </a:r>
            <a:endParaRPr lang="en-US" sz="1800" dirty="0"/>
          </a:p>
        </p:txBody>
      </p:sp>
      <p:sp>
        <p:nvSpPr>
          <p:cNvPr id="44" name="Text 35"/>
          <p:cNvSpPr txBox="1"/>
          <p:nvPr/>
        </p:nvSpPr>
        <p:spPr>
          <a:xfrm>
            <a:off x="10104120" y="2788920"/>
            <a:ext cx="1399032" cy="1828800"/>
          </a:xfrm>
          <a:prstGeom prst="rect">
            <a:avLst/>
          </a:prstGeom>
          <a:noFill/>
          <a:ln/>
        </p:spPr>
        <p:txBody>
          <a:bodyPr wrap="square" lIns="0" tIns="0" rIns="0" bIns="0" rtlCol="0" anchor="t"/>
          <a:lstStyle/>
          <a:p>
            <a:pPr marL="0" indent="0">
              <a:buNone/>
            </a:pPr>
            <a:r>
              <a:rPr lang="en-US" sz="1500" dirty="0">
                <a:solidFill>
                  <a:schemeClr val="tx1"/>
                </a:solidFill>
              </a:rPr>
              <a:t>Bench tests, logged sessions, scans, leg actuation</a:t>
            </a:r>
            <a:endParaRPr lang="en-US" sz="1500" dirty="0"/>
          </a:p>
        </p:txBody>
      </p:sp>
      <p:sp>
        <p:nvSpPr>
          <p:cNvPr id="45" name="panel-74"/>
          <p:cNvSpPr/>
          <p:nvPr/>
        </p:nvSpPr>
        <p:spPr>
          <a:xfrm>
            <a:off x="548640" y="4937760"/>
            <a:ext cx="11064240" cy="1188720"/>
          </a:xfrm>
          <a:prstGeom prst="roundRect">
            <a:avLst>
              <a:gd name="adj" fmla="val 7692"/>
            </a:avLst>
          </a:prstGeom>
          <a:solidFill>
            <a:schemeClr val="tx2"/>
          </a:solidFill>
          <a:ln w="12700">
            <a:solidFill>
              <a:schemeClr val="tx2"/>
            </a:solidFill>
            <a:prstDash val="solid"/>
          </a:ln>
        </p:spPr>
      </p:sp>
      <p:sp>
        <p:nvSpPr>
          <p:cNvPr id="46" name="Text 37"/>
          <p:cNvSpPr txBox="1"/>
          <p:nvPr/>
        </p:nvSpPr>
        <p:spPr>
          <a:xfrm>
            <a:off x="822960" y="4937760"/>
            <a:ext cx="10515600" cy="1188720"/>
          </a:xfrm>
          <a:prstGeom prst="rect">
            <a:avLst/>
          </a:prstGeom>
          <a:noFill/>
          <a:ln/>
        </p:spPr>
        <p:txBody>
          <a:bodyPr wrap="square" lIns="0" tIns="0" rIns="0" bIns="0" rtlCol="0" anchor="ctr"/>
          <a:lstStyle/>
          <a:p>
            <a:pPr marL="0" indent="0">
              <a:buNone/>
            </a:pPr>
            <a:r>
              <a:rPr lang="en-US" sz="1700" b="1" dirty="0">
                <a:solidFill>
                  <a:schemeClr val="accent2"/>
                </a:solidFill>
              </a:rPr>
              <a:t>Guiding principle  </a:t>
            </a:r>
            <a:r>
              <a:rPr lang="en-US" sz="1700" dirty="0">
                <a:solidFill>
                  <a:schemeClr val="bg1"/>
                </a:solidFill>
              </a:rPr>
              <a:t>Every design change came from a measurement or analysis: supply and heat limits, servo torque margin, camera interface, and faults found on the bench.</a:t>
            </a:r>
            <a:endParaRPr lang="en-US" sz="17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Key Technical Decisions Since Review III</a:t>
            </a:r>
            <a:endParaRPr lang="en-US" sz="3000" dirty="0"/>
          </a:p>
        </p:txBody>
      </p:sp>
      <p:graphicFrame>
        <p:nvGraphicFramePr>
          <p:cNvPr id="12" name="table-75"/>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187952"/>
        </p:xfrm>
        <a:graphic>
          <a:graphicData uri="http://schemas.openxmlformats.org/drawingml/2006/table">
            <a:tbl>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Review III plan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Final system</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Reason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13232">
                <a:tc>
                  <a:txBody>
                    <a:bodyPr/>
                    <a:lstStyle/>
                    <a:p>
                      <a:pPr marL="0" indent="0">
                        <a:buNone/>
                      </a:pPr>
                      <a:r>
                        <a:rPr lang="en-US" sz="1400" dirty="0">
                          <a:solidFill>
                            <a:schemeClr val="tx1"/>
                          </a:solidFill>
                        </a:rPr>
                        <a:t>Jetson Orin Nano on the robot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XIAO ESP32-S3 and ESP32-CAM nodes; inference on a laptop</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Needs 9–19 V and dissipates 7–25 W inside a PLA body; a fall risks an expensive board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chemeClr val="tx1"/>
                          </a:solidFill>
                        </a:rPr>
                        <a:t>IMX219 CSI camera</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ESP32-CAM (OV3660), MJPEG over Wi-Fi</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ESP32-S3 has no MIPI-CSI camera interface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chemeClr val="tx1"/>
                          </a:solidFill>
                        </a:rPr>
                        <a:t>ROS 2 and MQTT on the robot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HTTP and JSON to a Flask dashboard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Fewer parts; every device on one local network</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chemeClr val="tx1"/>
                          </a:solidFill>
                        </a:rPr>
                        <a:t>Gazebo dynamics model</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MuJoCo physics model</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Gazebo stance never stabilised; MuJoCo walks and reports metrics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chemeClr val="tx1"/>
                          </a:solidFill>
                        </a:rPr>
                        <a:t>3S LiPo and onboard regulators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USB power bank for the nodes; separate supply for servos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Safer and simpler for bench work</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03504">
                <a:tc>
                  <a:txBody>
                    <a:bodyPr/>
                    <a:lstStyle/>
                    <a:p>
                      <a:pPr marL="0" indent="0">
                        <a:buNone/>
                      </a:pPr>
                      <a:r>
                        <a:rPr lang="en-US" sz="1400" dirty="0">
                          <a:solidFill>
                            <a:schemeClr val="tx1"/>
                          </a:solidFill>
                        </a:rPr>
                        <a:t>Walking trials on hardware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Gait in simulation first, then leg actuation on the robot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Simulation showed a centre-of-mass correction is needed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System Architecture</a:t>
            </a:r>
            <a:endParaRPr lang="en-US" sz="3000" dirty="0"/>
          </a:p>
        </p:txBody>
      </p:sp>
      <p:sp>
        <p:nvSpPr>
          <p:cNvPr id="4" name="panel-76"/>
          <p:cNvSpPr/>
          <p:nvPr/>
        </p:nvSpPr>
        <p:spPr>
          <a:xfrm>
            <a:off x="548640" y="1325880"/>
            <a:ext cx="3474720" cy="3429000"/>
          </a:xfrm>
          <a:prstGeom prst="roundRect">
            <a:avLst>
              <a:gd name="adj" fmla="val 2667"/>
            </a:avLst>
          </a:prstGeom>
          <a:solidFill>
            <a:schemeClr val="bg2"/>
          </a:solidFill>
          <a:ln w="12700">
            <a:solidFill>
              <a:schemeClr val="bg2"/>
            </a:solidFill>
            <a:prstDash val="solid"/>
          </a:ln>
        </p:spPr>
      </p:sp>
      <p:sp>
        <p:nvSpPr>
          <p:cNvPr id="5" name="icon-bg-77"/>
          <p:cNvSpPr/>
          <p:nvPr/>
        </p:nvSpPr>
        <p:spPr>
          <a:xfrm>
            <a:off x="777240" y="1508760"/>
            <a:ext cx="566928" cy="566928"/>
          </a:xfrm>
          <a:prstGeom prst="ellipse">
            <a:avLst/>
          </a:prstGeom>
          <a:solidFill>
            <a:schemeClr val="accent1"/>
          </a:solidFill>
          <a:ln w="12700">
            <a:solidFill>
              <a:schemeClr val="accent1"/>
            </a:solidFill>
            <a:prstDash val="solid"/>
          </a:ln>
        </p:spPr>
      </p:sp>
      <p:pic>
        <p:nvPicPr>
          <p:cNvPr id="6" name="icon-78" descr="preencoded.png"/>
          <p:cNvPicPr>
            <a:picLocks noChangeAspect="1"/>
          </p:cNvPicPr>
          <p:nvPr/>
        </p:nvPicPr>
        <p:blipFill>
          <a:blip r:embed="rId3"/>
          <a:stretch>
            <a:fillRect/>
          </a:stretch>
        </p:blipFill>
        <p:spPr>
          <a:xfrm>
            <a:off x="913303" y="1644823"/>
            <a:ext cx="294803" cy="294803"/>
          </a:xfrm>
          <a:prstGeom prst="rect">
            <a:avLst/>
          </a:prstGeom>
        </p:spPr>
      </p:pic>
      <p:sp>
        <p:nvSpPr>
          <p:cNvPr id="7" name="Text 3"/>
          <p:cNvSpPr txBox="1"/>
          <p:nvPr/>
        </p:nvSpPr>
        <p:spPr>
          <a:xfrm>
            <a:off x="1463040" y="1481328"/>
            <a:ext cx="2468880" cy="365760"/>
          </a:xfrm>
          <a:prstGeom prst="rect">
            <a:avLst/>
          </a:prstGeom>
          <a:noFill/>
          <a:ln/>
        </p:spPr>
        <p:txBody>
          <a:bodyPr wrap="square" lIns="0" tIns="0" rIns="0" bIns="0" rtlCol="0" anchor="t"/>
          <a:lstStyle/>
          <a:p>
            <a:pPr marL="0" indent="0">
              <a:buNone/>
            </a:pPr>
            <a:r>
              <a:rPr lang="en-US" sz="1800" b="1" dirty="0">
                <a:solidFill>
                  <a:schemeClr val="tx2"/>
                </a:solidFill>
              </a:rPr>
              <a:t>Sensor node</a:t>
            </a:r>
            <a:endParaRPr lang="en-US" sz="1800" dirty="0"/>
          </a:p>
        </p:txBody>
      </p:sp>
      <p:sp>
        <p:nvSpPr>
          <p:cNvPr id="8" name="Text 4"/>
          <p:cNvSpPr txBox="1"/>
          <p:nvPr/>
        </p:nvSpPr>
        <p:spPr>
          <a:xfrm>
            <a:off x="1463040" y="1828800"/>
            <a:ext cx="2468880" cy="320040"/>
          </a:xfrm>
          <a:prstGeom prst="rect">
            <a:avLst/>
          </a:prstGeom>
          <a:noFill/>
          <a:ln/>
        </p:spPr>
        <p:txBody>
          <a:bodyPr wrap="square" lIns="0" tIns="0" rIns="0" bIns="0" rtlCol="0" anchor="t"/>
          <a:lstStyle/>
          <a:p>
            <a:pPr marL="0" indent="0">
              <a:buNone/>
            </a:pPr>
            <a:r>
              <a:rPr lang="en-US" sz="1300" dirty="0">
                <a:solidFill>
                  <a:schemeClr val="accent6"/>
                </a:solidFill>
              </a:rPr>
              <a:t>XIAO ESP32-S3 + expansion board</a:t>
            </a:r>
            <a:endParaRPr lang="en-US" sz="1300" dirty="0"/>
          </a:p>
        </p:txBody>
      </p:sp>
      <p:sp>
        <p:nvSpPr>
          <p:cNvPr id="9" name="Text 5"/>
          <p:cNvSpPr txBox="1"/>
          <p:nvPr/>
        </p:nvSpPr>
        <p:spPr>
          <a:xfrm>
            <a:off x="777240" y="2331720"/>
            <a:ext cx="3063240" cy="2286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SGP30 gas · I²C 0x58</a:t>
            </a:r>
            <a:endParaRPr lang="en-US" sz="1500" dirty="0"/>
          </a:p>
          <a:p>
            <a:pPr marL="177800" indent="-177800">
              <a:spcAft>
                <a:spcPts val="500"/>
              </a:spcAft>
              <a:buSzPct val="100000"/>
              <a:buChar char="•"/>
            </a:pPr>
            <a:r>
              <a:rPr lang="en-US" sz="1500" dirty="0">
                <a:solidFill>
                  <a:schemeClr val="tx1"/>
                </a:solidFill>
              </a:rPr>
              <a:t>MCP9808 temperature · I²C 0x18</a:t>
            </a:r>
            <a:endParaRPr lang="en-US" sz="1500" dirty="0"/>
          </a:p>
          <a:p>
            <a:pPr marL="177800" indent="-177800">
              <a:spcAft>
                <a:spcPts val="500"/>
              </a:spcAft>
              <a:buSzPct val="100000"/>
              <a:buChar char="•"/>
            </a:pPr>
            <a:r>
              <a:rPr lang="en-US" sz="1500" dirty="0">
                <a:solidFill>
                  <a:schemeClr val="tx1"/>
                </a:solidFill>
              </a:rPr>
              <a:t>PPD42 dust · D0</a:t>
            </a:r>
            <a:endParaRPr lang="en-US" sz="1500" dirty="0"/>
          </a:p>
          <a:p>
            <a:pPr marL="177800" indent="-177800">
              <a:spcAft>
                <a:spcPts val="500"/>
              </a:spcAft>
              <a:buSzPct val="100000"/>
              <a:buChar char="•"/>
            </a:pPr>
            <a:r>
              <a:rPr lang="en-US" sz="1500" dirty="0">
                <a:solidFill>
                  <a:schemeClr val="tx1"/>
                </a:solidFill>
              </a:rPr>
              <a:t>HC-SR04 × 2 · D6–D9</a:t>
            </a:r>
            <a:endParaRPr lang="en-US" sz="1500" dirty="0"/>
          </a:p>
          <a:p>
            <a:pPr marL="177800" indent="-177800">
              <a:spcAft>
                <a:spcPts val="500"/>
              </a:spcAft>
              <a:buSzPct val="100000"/>
              <a:buChar char="•"/>
            </a:pPr>
            <a:r>
              <a:rPr lang="en-US" sz="1500" dirty="0">
                <a:solidFill>
                  <a:schemeClr val="tx1"/>
                </a:solidFill>
              </a:rPr>
              <a:t>OLED, buzzer, button</a:t>
            </a:r>
            <a:endParaRPr lang="en-US" sz="1500" dirty="0"/>
          </a:p>
        </p:txBody>
      </p:sp>
      <p:sp>
        <p:nvSpPr>
          <p:cNvPr id="10" name="panel-79"/>
          <p:cNvSpPr/>
          <p:nvPr/>
        </p:nvSpPr>
        <p:spPr>
          <a:xfrm>
            <a:off x="4343400" y="1325880"/>
            <a:ext cx="3474720" cy="3429000"/>
          </a:xfrm>
          <a:prstGeom prst="roundRect">
            <a:avLst>
              <a:gd name="adj" fmla="val 2667"/>
            </a:avLst>
          </a:prstGeom>
          <a:solidFill>
            <a:schemeClr val="tx2"/>
          </a:solidFill>
          <a:ln w="12700">
            <a:solidFill>
              <a:schemeClr val="tx2"/>
            </a:solidFill>
            <a:prstDash val="solid"/>
          </a:ln>
        </p:spPr>
      </p:sp>
      <p:sp>
        <p:nvSpPr>
          <p:cNvPr id="11" name="icon-bg-80"/>
          <p:cNvSpPr/>
          <p:nvPr/>
        </p:nvSpPr>
        <p:spPr>
          <a:xfrm>
            <a:off x="4572000" y="1508760"/>
            <a:ext cx="566928" cy="566928"/>
          </a:xfrm>
          <a:prstGeom prst="ellipse">
            <a:avLst/>
          </a:prstGeom>
          <a:solidFill>
            <a:schemeClr val="accent2"/>
          </a:solidFill>
          <a:ln w="12700">
            <a:solidFill>
              <a:schemeClr val="accent2"/>
            </a:solidFill>
            <a:prstDash val="solid"/>
          </a:ln>
        </p:spPr>
      </p:sp>
      <p:pic>
        <p:nvPicPr>
          <p:cNvPr id="12" name="icon-81" descr="preencoded.png"/>
          <p:cNvPicPr>
            <a:picLocks noChangeAspect="1"/>
          </p:cNvPicPr>
          <p:nvPr/>
        </p:nvPicPr>
        <p:blipFill>
          <a:blip r:embed="rId4"/>
          <a:stretch>
            <a:fillRect/>
          </a:stretch>
        </p:blipFill>
        <p:spPr>
          <a:xfrm>
            <a:off x="4708063" y="1644823"/>
            <a:ext cx="294803" cy="294803"/>
          </a:xfrm>
          <a:prstGeom prst="rect">
            <a:avLst/>
          </a:prstGeom>
        </p:spPr>
      </p:pic>
      <p:sp>
        <p:nvSpPr>
          <p:cNvPr id="13" name="Text 8"/>
          <p:cNvSpPr txBox="1"/>
          <p:nvPr/>
        </p:nvSpPr>
        <p:spPr>
          <a:xfrm>
            <a:off x="5257800" y="1481328"/>
            <a:ext cx="2468880" cy="365760"/>
          </a:xfrm>
          <a:prstGeom prst="rect">
            <a:avLst/>
          </a:prstGeom>
          <a:noFill/>
          <a:ln/>
        </p:spPr>
        <p:txBody>
          <a:bodyPr wrap="square" lIns="0" tIns="0" rIns="0" bIns="0" rtlCol="0" anchor="t"/>
          <a:lstStyle/>
          <a:p>
            <a:pPr marL="0" indent="0">
              <a:buNone/>
            </a:pPr>
            <a:r>
              <a:rPr lang="en-US" sz="1800" b="1" dirty="0">
                <a:solidFill>
                  <a:schemeClr val="bg1"/>
                </a:solidFill>
              </a:rPr>
              <a:t>Laptop base station</a:t>
            </a:r>
            <a:endParaRPr lang="en-US" sz="1800" dirty="0"/>
          </a:p>
        </p:txBody>
      </p:sp>
      <p:sp>
        <p:nvSpPr>
          <p:cNvPr id="14" name="Text 9"/>
          <p:cNvSpPr txBox="1"/>
          <p:nvPr/>
        </p:nvSpPr>
        <p:spPr>
          <a:xfrm>
            <a:off x="5257800" y="1828800"/>
            <a:ext cx="2468880" cy="320040"/>
          </a:xfrm>
          <a:prstGeom prst="rect">
            <a:avLst/>
          </a:prstGeom>
          <a:noFill/>
          <a:ln/>
        </p:spPr>
        <p:txBody>
          <a:bodyPr wrap="square" lIns="0" tIns="0" rIns="0" bIns="0" rtlCol="0" anchor="t"/>
          <a:lstStyle/>
          <a:p>
            <a:pPr marL="0" indent="0">
              <a:buNone/>
            </a:pPr>
            <a:r>
              <a:rPr lang="en-US" sz="1300" dirty="0">
                <a:solidFill>
                  <a:schemeClr val="bg2"/>
                </a:solidFill>
              </a:rPr>
              <a:t>Hotspot 192.168.137.1</a:t>
            </a:r>
            <a:endParaRPr lang="en-US" sz="1300" dirty="0"/>
          </a:p>
        </p:txBody>
      </p:sp>
      <p:sp>
        <p:nvSpPr>
          <p:cNvPr id="15" name="Text 10"/>
          <p:cNvSpPr txBox="1"/>
          <p:nvPr/>
        </p:nvSpPr>
        <p:spPr>
          <a:xfrm>
            <a:off x="4572000" y="2331720"/>
            <a:ext cx="3063240" cy="2286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bg1"/>
                </a:solidFill>
              </a:rPr>
              <a:t>Flask dashboard on port 5000</a:t>
            </a:r>
            <a:endParaRPr lang="en-US" sz="1500" dirty="0"/>
          </a:p>
          <a:p>
            <a:pPr marL="177800" indent="-177800">
              <a:spcAft>
                <a:spcPts val="500"/>
              </a:spcAft>
              <a:buSzPct val="100000"/>
              <a:buChar char="•"/>
            </a:pPr>
            <a:r>
              <a:rPr lang="en-US" sz="1500" dirty="0">
                <a:solidFill>
                  <a:schemeClr val="bg1"/>
                </a:solidFill>
              </a:rPr>
              <a:t>CSV log of every reading</a:t>
            </a:r>
            <a:endParaRPr lang="en-US" sz="1500" dirty="0"/>
          </a:p>
          <a:p>
            <a:pPr marL="177800" indent="-177800">
              <a:spcAft>
                <a:spcPts val="500"/>
              </a:spcAft>
              <a:buSzPct val="100000"/>
              <a:buChar char="•"/>
            </a:pPr>
            <a:r>
              <a:rPr lang="en-US" sz="1500" dirty="0">
                <a:solidFill>
                  <a:schemeClr val="bg1"/>
                </a:solidFill>
              </a:rPr>
              <a:t>Vegetation gate + MobileNetV2</a:t>
            </a:r>
            <a:endParaRPr lang="en-US" sz="1500" dirty="0"/>
          </a:p>
          <a:p>
            <a:pPr marL="177800" indent="-177800">
              <a:spcAft>
                <a:spcPts val="500"/>
              </a:spcAft>
              <a:buSzPct val="100000"/>
              <a:buChar char="•"/>
            </a:pPr>
            <a:r>
              <a:rPr lang="en-US" sz="1500" dirty="0">
                <a:solidFill>
                  <a:schemeClr val="bg1"/>
                </a:solidFill>
              </a:rPr>
              <a:t>Relays video to all viewers</a:t>
            </a:r>
            <a:endParaRPr lang="en-US" sz="1500" dirty="0"/>
          </a:p>
        </p:txBody>
      </p:sp>
      <p:sp>
        <p:nvSpPr>
          <p:cNvPr id="16" name="panel-82"/>
          <p:cNvSpPr/>
          <p:nvPr/>
        </p:nvSpPr>
        <p:spPr>
          <a:xfrm>
            <a:off x="8138160" y="1325880"/>
            <a:ext cx="3474720" cy="3429000"/>
          </a:xfrm>
          <a:prstGeom prst="roundRect">
            <a:avLst>
              <a:gd name="adj" fmla="val 2667"/>
            </a:avLst>
          </a:prstGeom>
          <a:solidFill>
            <a:schemeClr val="bg2"/>
          </a:solidFill>
          <a:ln w="12700">
            <a:solidFill>
              <a:schemeClr val="bg2"/>
            </a:solidFill>
            <a:prstDash val="solid"/>
          </a:ln>
        </p:spPr>
      </p:sp>
      <p:sp>
        <p:nvSpPr>
          <p:cNvPr id="17" name="icon-bg-83"/>
          <p:cNvSpPr/>
          <p:nvPr/>
        </p:nvSpPr>
        <p:spPr>
          <a:xfrm>
            <a:off x="8366760" y="1508760"/>
            <a:ext cx="566928" cy="566928"/>
          </a:xfrm>
          <a:prstGeom prst="ellipse">
            <a:avLst/>
          </a:prstGeom>
          <a:solidFill>
            <a:schemeClr val="accent1"/>
          </a:solidFill>
          <a:ln w="12700">
            <a:solidFill>
              <a:schemeClr val="accent1"/>
            </a:solidFill>
            <a:prstDash val="solid"/>
          </a:ln>
        </p:spPr>
      </p:sp>
      <p:pic>
        <p:nvPicPr>
          <p:cNvPr id="18" name="icon-84" descr="preencoded.png"/>
          <p:cNvPicPr>
            <a:picLocks noChangeAspect="1"/>
          </p:cNvPicPr>
          <p:nvPr/>
        </p:nvPicPr>
        <p:blipFill>
          <a:blip r:embed="rId5"/>
          <a:stretch>
            <a:fillRect/>
          </a:stretch>
        </p:blipFill>
        <p:spPr>
          <a:xfrm>
            <a:off x="8502823" y="1644823"/>
            <a:ext cx="294803" cy="294803"/>
          </a:xfrm>
          <a:prstGeom prst="rect">
            <a:avLst/>
          </a:prstGeom>
        </p:spPr>
      </p:pic>
      <p:sp>
        <p:nvSpPr>
          <p:cNvPr id="19" name="Text 13"/>
          <p:cNvSpPr txBox="1"/>
          <p:nvPr/>
        </p:nvSpPr>
        <p:spPr>
          <a:xfrm>
            <a:off x="9052560" y="1481328"/>
            <a:ext cx="2468880" cy="365760"/>
          </a:xfrm>
          <a:prstGeom prst="rect">
            <a:avLst/>
          </a:prstGeom>
          <a:noFill/>
          <a:ln/>
        </p:spPr>
        <p:txBody>
          <a:bodyPr wrap="square" lIns="0" tIns="0" rIns="0" bIns="0" rtlCol="0" anchor="t"/>
          <a:lstStyle/>
          <a:p>
            <a:pPr marL="0" indent="0">
              <a:buNone/>
            </a:pPr>
            <a:r>
              <a:rPr lang="en-US" sz="1800" b="1" dirty="0">
                <a:solidFill>
                  <a:schemeClr val="tx2"/>
                </a:solidFill>
              </a:rPr>
              <a:t>Camera node</a:t>
            </a:r>
            <a:endParaRPr lang="en-US" sz="1800" dirty="0"/>
          </a:p>
        </p:txBody>
      </p:sp>
      <p:sp>
        <p:nvSpPr>
          <p:cNvPr id="20" name="Text 14"/>
          <p:cNvSpPr txBox="1"/>
          <p:nvPr/>
        </p:nvSpPr>
        <p:spPr>
          <a:xfrm>
            <a:off x="9052560" y="1828800"/>
            <a:ext cx="2468880" cy="320040"/>
          </a:xfrm>
          <a:prstGeom prst="rect">
            <a:avLst/>
          </a:prstGeom>
          <a:noFill/>
          <a:ln/>
        </p:spPr>
        <p:txBody>
          <a:bodyPr wrap="square" lIns="0" tIns="0" rIns="0" bIns="0" rtlCol="0" anchor="t"/>
          <a:lstStyle/>
          <a:p>
            <a:pPr marL="0" indent="0">
              <a:buNone/>
            </a:pPr>
            <a:r>
              <a:rPr lang="en-US" sz="1300" dirty="0">
                <a:solidFill>
                  <a:schemeClr val="accent6"/>
                </a:solidFill>
              </a:rPr>
              <a:t>ESP32-CAM, OV3660 sensor</a:t>
            </a:r>
            <a:endParaRPr lang="en-US" sz="1300" dirty="0"/>
          </a:p>
        </p:txBody>
      </p:sp>
      <p:sp>
        <p:nvSpPr>
          <p:cNvPr id="21" name="Text 15"/>
          <p:cNvSpPr txBox="1"/>
          <p:nvPr/>
        </p:nvSpPr>
        <p:spPr>
          <a:xfrm>
            <a:off x="8366760" y="2331720"/>
            <a:ext cx="3063240" cy="2286000"/>
          </a:xfrm>
          <a:prstGeom prst="rect">
            <a:avLst/>
          </a:prstGeom>
          <a:noFill/>
          <a:ln/>
        </p:spPr>
        <p:txBody>
          <a:bodyPr wrap="square" lIns="0" tIns="0" rIns="0" bIns="0" rtlCol="0" anchor="t"/>
          <a:lstStyle/>
          <a:p>
            <a:pPr marL="177800" indent="-177800">
              <a:spcAft>
                <a:spcPts val="500"/>
              </a:spcAft>
              <a:buSzPct val="100000"/>
              <a:buChar char="•"/>
            </a:pPr>
            <a:r>
              <a:rPr lang="en-US" sz="1500" dirty="0">
                <a:solidFill>
                  <a:schemeClr val="tx1"/>
                </a:solidFill>
              </a:rPr>
              <a:t>MJPEG video on port 81</a:t>
            </a:r>
            <a:endParaRPr lang="en-US" sz="1500" dirty="0"/>
          </a:p>
          <a:p>
            <a:pPr marL="177800" indent="-177800">
              <a:spcAft>
                <a:spcPts val="500"/>
              </a:spcAft>
              <a:buSzPct val="100000"/>
              <a:buChar char="•"/>
            </a:pPr>
            <a:r>
              <a:rPr lang="en-US" sz="1500" dirty="0">
                <a:solidFill>
                  <a:schemeClr val="tx1"/>
                </a:solidFill>
              </a:rPr>
              <a:t>Single photo on port 80</a:t>
            </a:r>
            <a:endParaRPr lang="en-US" sz="1500" dirty="0"/>
          </a:p>
          <a:p>
            <a:pPr marL="177800" indent="-177800">
              <a:spcAft>
                <a:spcPts val="500"/>
              </a:spcAft>
              <a:buSzPct val="100000"/>
              <a:buChar char="•"/>
            </a:pPr>
            <a:r>
              <a:rPr lang="en-US" sz="1500" dirty="0">
                <a:solidFill>
                  <a:schemeClr val="tx1"/>
                </a:solidFill>
              </a:rPr>
              <a:t>Registers itself at boot</a:t>
            </a:r>
            <a:endParaRPr lang="en-US" sz="1500" dirty="0"/>
          </a:p>
        </p:txBody>
      </p:sp>
      <p:sp>
        <p:nvSpPr>
          <p:cNvPr id="22" name="arrow-85"/>
          <p:cNvSpPr/>
          <p:nvPr/>
        </p:nvSpPr>
        <p:spPr>
          <a:xfrm>
            <a:off x="4041648" y="2788920"/>
            <a:ext cx="292608" cy="365760"/>
          </a:xfrm>
          <a:prstGeom prst="rightArrow">
            <a:avLst/>
          </a:prstGeom>
          <a:solidFill>
            <a:schemeClr val="accent1"/>
          </a:solidFill>
          <a:ln w="12700">
            <a:solidFill>
              <a:schemeClr val="accent1"/>
            </a:solidFill>
            <a:prstDash val="solid"/>
          </a:ln>
        </p:spPr>
      </p:sp>
      <p:sp>
        <p:nvSpPr>
          <p:cNvPr id="23" name="arrow-86"/>
          <p:cNvSpPr/>
          <p:nvPr/>
        </p:nvSpPr>
        <p:spPr>
          <a:xfrm>
            <a:off x="7836408" y="2788920"/>
            <a:ext cx="292608" cy="365760"/>
          </a:xfrm>
          <a:prstGeom prst="leftArrow">
            <a:avLst/>
          </a:prstGeom>
          <a:solidFill>
            <a:schemeClr val="accent1"/>
          </a:solidFill>
          <a:ln w="12700">
            <a:solidFill>
              <a:schemeClr val="accent1"/>
            </a:solidFill>
            <a:prstDash val="solid"/>
          </a:ln>
        </p:spPr>
      </p:sp>
      <p:sp>
        <p:nvSpPr>
          <p:cNvPr id="24" name="Text 18"/>
          <p:cNvSpPr txBox="1"/>
          <p:nvPr/>
        </p:nvSpPr>
        <p:spPr>
          <a:xfrm>
            <a:off x="548640" y="4846320"/>
            <a:ext cx="3474720" cy="320040"/>
          </a:xfrm>
          <a:prstGeom prst="rect">
            <a:avLst/>
          </a:prstGeom>
          <a:noFill/>
          <a:ln/>
        </p:spPr>
        <p:txBody>
          <a:bodyPr wrap="square" lIns="0" tIns="0" rIns="0" bIns="0" rtlCol="0" anchor="t"/>
          <a:lstStyle/>
          <a:p>
            <a:pPr marL="0" indent="0" algn="r">
              <a:buNone/>
            </a:pPr>
            <a:r>
              <a:rPr lang="en-US" sz="1400" b="1" dirty="0">
                <a:solidFill>
                  <a:schemeClr val="accent1"/>
                </a:solidFill>
              </a:rPr>
              <a:t>JSON every 5 s</a:t>
            </a:r>
            <a:endParaRPr lang="en-US" sz="1400" dirty="0"/>
          </a:p>
        </p:txBody>
      </p:sp>
      <p:sp>
        <p:nvSpPr>
          <p:cNvPr id="25" name="Text 19"/>
          <p:cNvSpPr txBox="1"/>
          <p:nvPr/>
        </p:nvSpPr>
        <p:spPr>
          <a:xfrm>
            <a:off x="8138160" y="4846320"/>
            <a:ext cx="3474720" cy="320040"/>
          </a:xfrm>
          <a:prstGeom prst="rect">
            <a:avLst/>
          </a:prstGeom>
          <a:noFill/>
          <a:ln/>
        </p:spPr>
        <p:txBody>
          <a:bodyPr wrap="square" lIns="0" tIns="0" rIns="0" bIns="0" rtlCol="0" anchor="t"/>
          <a:lstStyle/>
          <a:p>
            <a:pPr marL="0" indent="0">
              <a:buNone/>
            </a:pPr>
            <a:r>
              <a:rPr lang="en-US" sz="1400" b="1" dirty="0">
                <a:solidFill>
                  <a:schemeClr val="accent1"/>
                </a:solidFill>
              </a:rPr>
              <a:t>MJPEG video, 16–20 fps</a:t>
            </a:r>
            <a:endParaRPr lang="en-US" sz="1400" dirty="0"/>
          </a:p>
        </p:txBody>
      </p:sp>
      <p:sp>
        <p:nvSpPr>
          <p:cNvPr id="26" name="panel-87"/>
          <p:cNvSpPr/>
          <p:nvPr/>
        </p:nvSpPr>
        <p:spPr>
          <a:xfrm>
            <a:off x="548640" y="5349240"/>
            <a:ext cx="11064240" cy="868680"/>
          </a:xfrm>
          <a:prstGeom prst="roundRect">
            <a:avLst>
              <a:gd name="adj" fmla="val 10526"/>
            </a:avLst>
          </a:prstGeom>
          <a:solidFill>
            <a:schemeClr val="bg2"/>
          </a:solidFill>
          <a:ln w="12700">
            <a:solidFill>
              <a:schemeClr val="bg2"/>
            </a:solidFill>
            <a:prstDash val="solid"/>
          </a:ln>
        </p:spPr>
      </p:sp>
      <p:sp>
        <p:nvSpPr>
          <p:cNvPr id="27" name="Text 21"/>
          <p:cNvSpPr txBox="1"/>
          <p:nvPr/>
        </p:nvSpPr>
        <p:spPr>
          <a:xfrm>
            <a:off x="777240" y="5349240"/>
            <a:ext cx="10698480" cy="868680"/>
          </a:xfrm>
          <a:prstGeom prst="rect">
            <a:avLst/>
          </a:prstGeom>
          <a:noFill/>
          <a:ln/>
        </p:spPr>
        <p:txBody>
          <a:bodyPr wrap="square" lIns="0" tIns="0" rIns="0" bIns="0" rtlCol="0" anchor="ctr"/>
          <a:lstStyle/>
          <a:p>
            <a:pPr marL="0" indent="0">
              <a:buNone/>
            </a:pPr>
            <a:r>
              <a:rPr lang="en-US" sz="1500" b="1" dirty="0">
                <a:solidFill>
                  <a:schemeClr val="tx2"/>
                </a:solidFill>
              </a:rPr>
              <a:t>Platform  </a:t>
            </a:r>
            <a:r>
              <a:rPr lang="en-US" sz="1500" dirty="0">
                <a:solidFill>
                  <a:schemeClr val="tx1"/>
                </a:solidFill>
              </a:rPr>
              <a:t>SpotMicro-based printed chassis carrying both nodes  ·  12 × MG996R servos  ·  gait validated in MuJoCo  ·  any phone on the hotspot can open the dashboard</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Data Flow: From Sensor to Tagged Diagnosis</a:t>
            </a:r>
            <a:endParaRPr lang="en-US" sz="3000" dirty="0"/>
          </a:p>
        </p:txBody>
      </p:sp>
      <p:sp>
        <p:nvSpPr>
          <p:cNvPr id="4" name="Text 1"/>
          <p:cNvSpPr txBox="1"/>
          <p:nvPr/>
        </p:nvSpPr>
        <p:spPr>
          <a:xfrm>
            <a:off x="548640" y="1280160"/>
            <a:ext cx="3657600" cy="365760"/>
          </a:xfrm>
          <a:prstGeom prst="rect">
            <a:avLst/>
          </a:prstGeom>
          <a:noFill/>
          <a:ln/>
        </p:spPr>
        <p:txBody>
          <a:bodyPr wrap="square" lIns="0" tIns="0" rIns="0" bIns="0" rtlCol="0" anchor="t"/>
          <a:lstStyle/>
          <a:p>
            <a:pPr marL="0" indent="0">
              <a:buNone/>
            </a:pPr>
            <a:r>
              <a:rPr lang="en-US" sz="1800" b="1" dirty="0">
                <a:solidFill>
                  <a:schemeClr val="tx2"/>
                </a:solidFill>
              </a:rPr>
              <a:t>Sensor stream</a:t>
            </a:r>
            <a:endParaRPr lang="en-US" sz="1800" dirty="0"/>
          </a:p>
        </p:txBody>
      </p:sp>
      <p:sp>
        <p:nvSpPr>
          <p:cNvPr id="5" name="panel-88"/>
          <p:cNvSpPr/>
          <p:nvPr/>
        </p:nvSpPr>
        <p:spPr>
          <a:xfrm>
            <a:off x="548640" y="1737360"/>
            <a:ext cx="2560320" cy="1920240"/>
          </a:xfrm>
          <a:prstGeom prst="roundRect">
            <a:avLst>
              <a:gd name="adj" fmla="val 4762"/>
            </a:avLst>
          </a:prstGeom>
          <a:solidFill>
            <a:schemeClr val="bg2"/>
          </a:solidFill>
          <a:ln w="12700">
            <a:solidFill>
              <a:schemeClr val="bg2"/>
            </a:solidFill>
            <a:prstDash val="solid"/>
          </a:ln>
        </p:spPr>
      </p:sp>
      <p:sp>
        <p:nvSpPr>
          <p:cNvPr id="6" name="icon-bg-89"/>
          <p:cNvSpPr/>
          <p:nvPr/>
        </p:nvSpPr>
        <p:spPr>
          <a:xfrm>
            <a:off x="731520" y="1874520"/>
            <a:ext cx="502920" cy="502920"/>
          </a:xfrm>
          <a:prstGeom prst="ellipse">
            <a:avLst/>
          </a:prstGeom>
          <a:solidFill>
            <a:schemeClr val="accent1"/>
          </a:solidFill>
          <a:ln w="12700">
            <a:solidFill>
              <a:schemeClr val="accent1"/>
            </a:solidFill>
            <a:prstDash val="solid"/>
          </a:ln>
        </p:spPr>
      </p:sp>
      <p:pic>
        <p:nvPicPr>
          <p:cNvPr id="7" name="icon-90" descr="preencoded.png"/>
          <p:cNvPicPr>
            <a:picLocks noChangeAspect="1"/>
          </p:cNvPicPr>
          <p:nvPr/>
        </p:nvPicPr>
        <p:blipFill>
          <a:blip r:embed="rId3"/>
          <a:stretch>
            <a:fillRect/>
          </a:stretch>
        </p:blipFill>
        <p:spPr>
          <a:xfrm>
            <a:off x="852221" y="1995221"/>
            <a:ext cx="261518" cy="261518"/>
          </a:xfrm>
          <a:prstGeom prst="rect">
            <a:avLst/>
          </a:prstGeom>
        </p:spPr>
      </p:pic>
      <p:sp>
        <p:nvSpPr>
          <p:cNvPr id="8" name="Text 4"/>
          <p:cNvSpPr txBox="1"/>
          <p:nvPr/>
        </p:nvSpPr>
        <p:spPr>
          <a:xfrm>
            <a:off x="731520" y="2468880"/>
            <a:ext cx="2240280" cy="1097280"/>
          </a:xfrm>
          <a:prstGeom prst="rect">
            <a:avLst/>
          </a:prstGeom>
          <a:noFill/>
          <a:ln/>
        </p:spPr>
        <p:txBody>
          <a:bodyPr wrap="square" lIns="0" tIns="0" rIns="0" bIns="0" rtlCol="0" anchor="t"/>
          <a:lstStyle/>
          <a:p>
            <a:pPr marL="0" indent="0">
              <a:buNone/>
            </a:pPr>
            <a:r>
              <a:rPr lang="en-US" sz="1600" dirty="0">
                <a:solidFill>
                  <a:schemeClr val="tx1"/>
                </a:solidFill>
              </a:rPr>
              <a:t>Sample: gas 1 s, temperature 2 s, dust 30 s</a:t>
            </a:r>
            <a:endParaRPr lang="en-US" sz="1600" dirty="0"/>
          </a:p>
        </p:txBody>
      </p:sp>
      <p:sp>
        <p:nvSpPr>
          <p:cNvPr id="9" name="arrow-91"/>
          <p:cNvSpPr/>
          <p:nvPr/>
        </p:nvSpPr>
        <p:spPr>
          <a:xfrm>
            <a:off x="3136392" y="2560320"/>
            <a:ext cx="219456" cy="274320"/>
          </a:xfrm>
          <a:prstGeom prst="rightArrow">
            <a:avLst/>
          </a:prstGeom>
          <a:solidFill>
            <a:schemeClr val="accent1"/>
          </a:solidFill>
          <a:ln w="12700">
            <a:solidFill>
              <a:schemeClr val="accent1"/>
            </a:solidFill>
            <a:prstDash val="solid"/>
          </a:ln>
        </p:spPr>
      </p:sp>
      <p:sp>
        <p:nvSpPr>
          <p:cNvPr id="10" name="panel-92"/>
          <p:cNvSpPr/>
          <p:nvPr/>
        </p:nvSpPr>
        <p:spPr>
          <a:xfrm>
            <a:off x="3383280" y="1737360"/>
            <a:ext cx="2560320" cy="1920240"/>
          </a:xfrm>
          <a:prstGeom prst="roundRect">
            <a:avLst>
              <a:gd name="adj" fmla="val 4762"/>
            </a:avLst>
          </a:prstGeom>
          <a:solidFill>
            <a:schemeClr val="bg2"/>
          </a:solidFill>
          <a:ln w="12700">
            <a:solidFill>
              <a:schemeClr val="bg2"/>
            </a:solidFill>
            <a:prstDash val="solid"/>
          </a:ln>
        </p:spPr>
      </p:sp>
      <p:sp>
        <p:nvSpPr>
          <p:cNvPr id="11" name="icon-bg-93"/>
          <p:cNvSpPr/>
          <p:nvPr/>
        </p:nvSpPr>
        <p:spPr>
          <a:xfrm>
            <a:off x="3566160" y="1874520"/>
            <a:ext cx="502920" cy="502920"/>
          </a:xfrm>
          <a:prstGeom prst="ellipse">
            <a:avLst/>
          </a:prstGeom>
          <a:solidFill>
            <a:schemeClr val="accent1"/>
          </a:solidFill>
          <a:ln w="12700">
            <a:solidFill>
              <a:schemeClr val="accent1"/>
            </a:solidFill>
            <a:prstDash val="solid"/>
          </a:ln>
        </p:spPr>
      </p:sp>
      <p:pic>
        <p:nvPicPr>
          <p:cNvPr id="12" name="icon-94" descr="preencoded.png"/>
          <p:cNvPicPr>
            <a:picLocks noChangeAspect="1"/>
          </p:cNvPicPr>
          <p:nvPr/>
        </p:nvPicPr>
        <p:blipFill>
          <a:blip r:embed="rId4"/>
          <a:stretch>
            <a:fillRect/>
          </a:stretch>
        </p:blipFill>
        <p:spPr>
          <a:xfrm>
            <a:off x="3686861" y="1995221"/>
            <a:ext cx="261518" cy="261518"/>
          </a:xfrm>
          <a:prstGeom prst="rect">
            <a:avLst/>
          </a:prstGeom>
        </p:spPr>
      </p:pic>
      <p:sp>
        <p:nvSpPr>
          <p:cNvPr id="13" name="Text 8"/>
          <p:cNvSpPr txBox="1"/>
          <p:nvPr/>
        </p:nvSpPr>
        <p:spPr>
          <a:xfrm>
            <a:off x="3566160" y="2468880"/>
            <a:ext cx="2240280" cy="1097280"/>
          </a:xfrm>
          <a:prstGeom prst="rect">
            <a:avLst/>
          </a:prstGeom>
          <a:noFill/>
          <a:ln/>
        </p:spPr>
        <p:txBody>
          <a:bodyPr wrap="square" lIns="0" tIns="0" rIns="0" bIns="0" rtlCol="0" anchor="t"/>
          <a:lstStyle/>
          <a:p>
            <a:pPr marL="0" indent="0">
              <a:buNone/>
            </a:pPr>
            <a:r>
              <a:rPr lang="en-US" sz="1600" dirty="0">
                <a:solidFill>
                  <a:schemeClr val="tx1"/>
                </a:solidFill>
              </a:rPr>
              <a:t>Post JSON to /api/sensors every 5 s</a:t>
            </a:r>
            <a:endParaRPr lang="en-US" sz="1600" dirty="0"/>
          </a:p>
        </p:txBody>
      </p:sp>
      <p:sp>
        <p:nvSpPr>
          <p:cNvPr id="14" name="arrow-95"/>
          <p:cNvSpPr/>
          <p:nvPr/>
        </p:nvSpPr>
        <p:spPr>
          <a:xfrm>
            <a:off x="5971032" y="2560320"/>
            <a:ext cx="219456" cy="274320"/>
          </a:xfrm>
          <a:prstGeom prst="rightArrow">
            <a:avLst/>
          </a:prstGeom>
          <a:solidFill>
            <a:schemeClr val="accent1"/>
          </a:solidFill>
          <a:ln w="12700">
            <a:solidFill>
              <a:schemeClr val="accent1"/>
            </a:solidFill>
            <a:prstDash val="solid"/>
          </a:ln>
        </p:spPr>
      </p:sp>
      <p:sp>
        <p:nvSpPr>
          <p:cNvPr id="15" name="panel-96"/>
          <p:cNvSpPr/>
          <p:nvPr/>
        </p:nvSpPr>
        <p:spPr>
          <a:xfrm>
            <a:off x="6217920" y="1737360"/>
            <a:ext cx="2560320" cy="1920240"/>
          </a:xfrm>
          <a:prstGeom prst="roundRect">
            <a:avLst>
              <a:gd name="adj" fmla="val 4762"/>
            </a:avLst>
          </a:prstGeom>
          <a:solidFill>
            <a:schemeClr val="bg2"/>
          </a:solidFill>
          <a:ln w="12700">
            <a:solidFill>
              <a:schemeClr val="bg2"/>
            </a:solidFill>
            <a:prstDash val="solid"/>
          </a:ln>
        </p:spPr>
      </p:sp>
      <p:sp>
        <p:nvSpPr>
          <p:cNvPr id="16" name="icon-bg-97"/>
          <p:cNvSpPr/>
          <p:nvPr/>
        </p:nvSpPr>
        <p:spPr>
          <a:xfrm>
            <a:off x="6400800" y="1874520"/>
            <a:ext cx="502920" cy="502920"/>
          </a:xfrm>
          <a:prstGeom prst="ellipse">
            <a:avLst/>
          </a:prstGeom>
          <a:solidFill>
            <a:schemeClr val="accent1"/>
          </a:solidFill>
          <a:ln w="12700">
            <a:solidFill>
              <a:schemeClr val="accent1"/>
            </a:solidFill>
            <a:prstDash val="solid"/>
          </a:ln>
        </p:spPr>
      </p:sp>
      <p:pic>
        <p:nvPicPr>
          <p:cNvPr id="17" name="icon-98" descr="preencoded.png"/>
          <p:cNvPicPr>
            <a:picLocks noChangeAspect="1"/>
          </p:cNvPicPr>
          <p:nvPr/>
        </p:nvPicPr>
        <p:blipFill>
          <a:blip r:embed="rId5"/>
          <a:stretch>
            <a:fillRect/>
          </a:stretch>
        </p:blipFill>
        <p:spPr>
          <a:xfrm>
            <a:off x="6521501" y="1995221"/>
            <a:ext cx="261518" cy="261518"/>
          </a:xfrm>
          <a:prstGeom prst="rect">
            <a:avLst/>
          </a:prstGeom>
        </p:spPr>
      </p:pic>
      <p:sp>
        <p:nvSpPr>
          <p:cNvPr id="18" name="Text 12"/>
          <p:cNvSpPr txBox="1"/>
          <p:nvPr/>
        </p:nvSpPr>
        <p:spPr>
          <a:xfrm>
            <a:off x="6400800" y="2468880"/>
            <a:ext cx="2240280" cy="1097280"/>
          </a:xfrm>
          <a:prstGeom prst="rect">
            <a:avLst/>
          </a:prstGeom>
          <a:noFill/>
          <a:ln/>
        </p:spPr>
        <p:txBody>
          <a:bodyPr wrap="square" lIns="0" tIns="0" rIns="0" bIns="0" rtlCol="0" anchor="t"/>
          <a:lstStyle/>
          <a:p>
            <a:pPr marL="0" indent="0">
              <a:buNone/>
            </a:pPr>
            <a:r>
              <a:rPr lang="en-US" sz="1600" dirty="0">
                <a:solidFill>
                  <a:schemeClr val="tx1"/>
                </a:solidFill>
              </a:rPr>
              <a:t>Grade good / moderate / high</a:t>
            </a:r>
            <a:endParaRPr lang="en-US" sz="1600" dirty="0"/>
          </a:p>
        </p:txBody>
      </p:sp>
      <p:sp>
        <p:nvSpPr>
          <p:cNvPr id="19" name="arrow-99"/>
          <p:cNvSpPr/>
          <p:nvPr/>
        </p:nvSpPr>
        <p:spPr>
          <a:xfrm>
            <a:off x="8805672" y="2560320"/>
            <a:ext cx="219456" cy="274320"/>
          </a:xfrm>
          <a:prstGeom prst="rightArrow">
            <a:avLst/>
          </a:prstGeom>
          <a:solidFill>
            <a:schemeClr val="accent1"/>
          </a:solidFill>
          <a:ln w="12700">
            <a:solidFill>
              <a:schemeClr val="accent1"/>
            </a:solidFill>
            <a:prstDash val="solid"/>
          </a:ln>
        </p:spPr>
      </p:sp>
      <p:sp>
        <p:nvSpPr>
          <p:cNvPr id="20" name="panel-100"/>
          <p:cNvSpPr/>
          <p:nvPr/>
        </p:nvSpPr>
        <p:spPr>
          <a:xfrm>
            <a:off x="9052560" y="1737360"/>
            <a:ext cx="2560320" cy="1920240"/>
          </a:xfrm>
          <a:prstGeom prst="roundRect">
            <a:avLst>
              <a:gd name="adj" fmla="val 4762"/>
            </a:avLst>
          </a:prstGeom>
          <a:solidFill>
            <a:schemeClr val="tx2"/>
          </a:solidFill>
          <a:ln w="12700">
            <a:solidFill>
              <a:schemeClr val="tx2"/>
            </a:solidFill>
            <a:prstDash val="solid"/>
          </a:ln>
        </p:spPr>
      </p:sp>
      <p:sp>
        <p:nvSpPr>
          <p:cNvPr id="21" name="icon-bg-101"/>
          <p:cNvSpPr/>
          <p:nvPr/>
        </p:nvSpPr>
        <p:spPr>
          <a:xfrm>
            <a:off x="9235440" y="1874520"/>
            <a:ext cx="502920" cy="502920"/>
          </a:xfrm>
          <a:prstGeom prst="ellipse">
            <a:avLst/>
          </a:prstGeom>
          <a:solidFill>
            <a:schemeClr val="accent2"/>
          </a:solidFill>
          <a:ln w="12700">
            <a:solidFill>
              <a:schemeClr val="accent2"/>
            </a:solidFill>
            <a:prstDash val="solid"/>
          </a:ln>
        </p:spPr>
      </p:sp>
      <p:pic>
        <p:nvPicPr>
          <p:cNvPr id="22" name="icon-102" descr="preencoded.png"/>
          <p:cNvPicPr>
            <a:picLocks noChangeAspect="1"/>
          </p:cNvPicPr>
          <p:nvPr/>
        </p:nvPicPr>
        <p:blipFill>
          <a:blip r:embed="rId6"/>
          <a:stretch>
            <a:fillRect/>
          </a:stretch>
        </p:blipFill>
        <p:spPr>
          <a:xfrm>
            <a:off x="9356141" y="1995221"/>
            <a:ext cx="261518" cy="261518"/>
          </a:xfrm>
          <a:prstGeom prst="rect">
            <a:avLst/>
          </a:prstGeom>
        </p:spPr>
      </p:pic>
      <p:sp>
        <p:nvSpPr>
          <p:cNvPr id="23" name="Text 16"/>
          <p:cNvSpPr txBox="1"/>
          <p:nvPr/>
        </p:nvSpPr>
        <p:spPr>
          <a:xfrm>
            <a:off x="9235440" y="2468880"/>
            <a:ext cx="2240280" cy="1097280"/>
          </a:xfrm>
          <a:prstGeom prst="rect">
            <a:avLst/>
          </a:prstGeom>
          <a:noFill/>
          <a:ln/>
        </p:spPr>
        <p:txBody>
          <a:bodyPr wrap="square" lIns="0" tIns="0" rIns="0" bIns="0" rtlCol="0" anchor="t"/>
          <a:lstStyle/>
          <a:p>
            <a:pPr marL="0" indent="0">
              <a:buNone/>
            </a:pPr>
            <a:r>
              <a:rPr lang="en-US" sz="1600" dirty="0">
                <a:solidFill>
                  <a:schemeClr val="bg1"/>
                </a:solidFill>
              </a:rPr>
              <a:t>Log to daily CSV, update live cards</a:t>
            </a:r>
            <a:endParaRPr lang="en-US" sz="1600" dirty="0"/>
          </a:p>
        </p:txBody>
      </p:sp>
      <p:sp>
        <p:nvSpPr>
          <p:cNvPr id="24" name="Text 17"/>
          <p:cNvSpPr txBox="1"/>
          <p:nvPr/>
        </p:nvSpPr>
        <p:spPr>
          <a:xfrm>
            <a:off x="548640" y="3794760"/>
            <a:ext cx="3657600" cy="365760"/>
          </a:xfrm>
          <a:prstGeom prst="rect">
            <a:avLst/>
          </a:prstGeom>
          <a:noFill/>
          <a:ln/>
        </p:spPr>
        <p:txBody>
          <a:bodyPr wrap="square" lIns="0" tIns="0" rIns="0" bIns="0" rtlCol="0" anchor="t"/>
          <a:lstStyle/>
          <a:p>
            <a:pPr marL="0" indent="0">
              <a:buNone/>
            </a:pPr>
            <a:r>
              <a:rPr lang="en-US" sz="1800" b="1" dirty="0">
                <a:solidFill>
                  <a:schemeClr val="tx2"/>
                </a:solidFill>
              </a:rPr>
              <a:t>Camera stream</a:t>
            </a:r>
            <a:endParaRPr lang="en-US" sz="1800" dirty="0"/>
          </a:p>
        </p:txBody>
      </p:sp>
      <p:sp>
        <p:nvSpPr>
          <p:cNvPr id="25" name="panel-103"/>
          <p:cNvSpPr/>
          <p:nvPr/>
        </p:nvSpPr>
        <p:spPr>
          <a:xfrm>
            <a:off x="548640" y="4251960"/>
            <a:ext cx="2560320" cy="1920240"/>
          </a:xfrm>
          <a:prstGeom prst="roundRect">
            <a:avLst>
              <a:gd name="adj" fmla="val 4762"/>
            </a:avLst>
          </a:prstGeom>
          <a:solidFill>
            <a:schemeClr val="bg2"/>
          </a:solidFill>
          <a:ln w="12700">
            <a:solidFill>
              <a:schemeClr val="bg2"/>
            </a:solidFill>
            <a:prstDash val="solid"/>
          </a:ln>
        </p:spPr>
      </p:sp>
      <p:sp>
        <p:nvSpPr>
          <p:cNvPr id="26" name="icon-bg-104"/>
          <p:cNvSpPr/>
          <p:nvPr/>
        </p:nvSpPr>
        <p:spPr>
          <a:xfrm>
            <a:off x="731520" y="4389120"/>
            <a:ext cx="502920" cy="502920"/>
          </a:xfrm>
          <a:prstGeom prst="ellipse">
            <a:avLst/>
          </a:prstGeom>
          <a:solidFill>
            <a:schemeClr val="accent1"/>
          </a:solidFill>
          <a:ln w="12700">
            <a:solidFill>
              <a:schemeClr val="accent1"/>
            </a:solidFill>
            <a:prstDash val="solid"/>
          </a:ln>
        </p:spPr>
      </p:sp>
      <p:pic>
        <p:nvPicPr>
          <p:cNvPr id="27" name="icon-105" descr="preencoded.png"/>
          <p:cNvPicPr>
            <a:picLocks noChangeAspect="1"/>
          </p:cNvPicPr>
          <p:nvPr/>
        </p:nvPicPr>
        <p:blipFill>
          <a:blip r:embed="rId7"/>
          <a:stretch>
            <a:fillRect/>
          </a:stretch>
        </p:blipFill>
        <p:spPr>
          <a:xfrm>
            <a:off x="852221" y="4509821"/>
            <a:ext cx="261518" cy="261518"/>
          </a:xfrm>
          <a:prstGeom prst="rect">
            <a:avLst/>
          </a:prstGeom>
        </p:spPr>
      </p:pic>
      <p:sp>
        <p:nvSpPr>
          <p:cNvPr id="28" name="Text 20"/>
          <p:cNvSpPr txBox="1"/>
          <p:nvPr/>
        </p:nvSpPr>
        <p:spPr>
          <a:xfrm>
            <a:off x="731520" y="4983480"/>
            <a:ext cx="2240280" cy="1097280"/>
          </a:xfrm>
          <a:prstGeom prst="rect">
            <a:avLst/>
          </a:prstGeom>
          <a:noFill/>
          <a:ln/>
        </p:spPr>
        <p:txBody>
          <a:bodyPr wrap="square" lIns="0" tIns="0" rIns="0" bIns="0" rtlCol="0" anchor="t"/>
          <a:lstStyle/>
          <a:p>
            <a:pPr marL="0" indent="0">
              <a:buNone/>
            </a:pPr>
            <a:r>
              <a:rPr lang="en-US" sz="1600" dirty="0">
                <a:solidFill>
                  <a:schemeClr val="tx1"/>
                </a:solidFill>
              </a:rPr>
              <a:t>ESP32-CAM streams MJPEG</a:t>
            </a:r>
            <a:endParaRPr lang="en-US" sz="1600" dirty="0"/>
          </a:p>
        </p:txBody>
      </p:sp>
      <p:sp>
        <p:nvSpPr>
          <p:cNvPr id="29" name="arrow-106"/>
          <p:cNvSpPr/>
          <p:nvPr/>
        </p:nvSpPr>
        <p:spPr>
          <a:xfrm>
            <a:off x="3136392" y="5074920"/>
            <a:ext cx="219456" cy="274320"/>
          </a:xfrm>
          <a:prstGeom prst="rightArrow">
            <a:avLst/>
          </a:prstGeom>
          <a:solidFill>
            <a:schemeClr val="accent1"/>
          </a:solidFill>
          <a:ln w="12700">
            <a:solidFill>
              <a:schemeClr val="accent1"/>
            </a:solidFill>
            <a:prstDash val="solid"/>
          </a:ln>
        </p:spPr>
      </p:sp>
      <p:sp>
        <p:nvSpPr>
          <p:cNvPr id="30" name="panel-107"/>
          <p:cNvSpPr/>
          <p:nvPr/>
        </p:nvSpPr>
        <p:spPr>
          <a:xfrm>
            <a:off x="3383280" y="4251960"/>
            <a:ext cx="2560320" cy="1920240"/>
          </a:xfrm>
          <a:prstGeom prst="roundRect">
            <a:avLst>
              <a:gd name="adj" fmla="val 4762"/>
            </a:avLst>
          </a:prstGeom>
          <a:solidFill>
            <a:schemeClr val="bg2"/>
          </a:solidFill>
          <a:ln w="12700">
            <a:solidFill>
              <a:schemeClr val="bg2"/>
            </a:solidFill>
            <a:prstDash val="solid"/>
          </a:ln>
        </p:spPr>
      </p:sp>
      <p:sp>
        <p:nvSpPr>
          <p:cNvPr id="31" name="icon-bg-108"/>
          <p:cNvSpPr/>
          <p:nvPr/>
        </p:nvSpPr>
        <p:spPr>
          <a:xfrm>
            <a:off x="3566160" y="4389120"/>
            <a:ext cx="502920" cy="502920"/>
          </a:xfrm>
          <a:prstGeom prst="ellipse">
            <a:avLst/>
          </a:prstGeom>
          <a:solidFill>
            <a:schemeClr val="accent1"/>
          </a:solidFill>
          <a:ln w="12700">
            <a:solidFill>
              <a:schemeClr val="accent1"/>
            </a:solidFill>
            <a:prstDash val="solid"/>
          </a:ln>
        </p:spPr>
      </p:sp>
      <p:pic>
        <p:nvPicPr>
          <p:cNvPr id="32" name="icon-109" descr="preencoded.png"/>
          <p:cNvPicPr>
            <a:picLocks noChangeAspect="1"/>
          </p:cNvPicPr>
          <p:nvPr/>
        </p:nvPicPr>
        <p:blipFill>
          <a:blip r:embed="rId8"/>
          <a:stretch>
            <a:fillRect/>
          </a:stretch>
        </p:blipFill>
        <p:spPr>
          <a:xfrm>
            <a:off x="3686861" y="4509821"/>
            <a:ext cx="261518" cy="261518"/>
          </a:xfrm>
          <a:prstGeom prst="rect">
            <a:avLst/>
          </a:prstGeom>
        </p:spPr>
      </p:pic>
      <p:sp>
        <p:nvSpPr>
          <p:cNvPr id="33" name="Text 24"/>
          <p:cNvSpPr txBox="1"/>
          <p:nvPr/>
        </p:nvSpPr>
        <p:spPr>
          <a:xfrm>
            <a:off x="3566160" y="4983480"/>
            <a:ext cx="2240280" cy="1097280"/>
          </a:xfrm>
          <a:prstGeom prst="rect">
            <a:avLst/>
          </a:prstGeom>
          <a:noFill/>
          <a:ln/>
        </p:spPr>
        <p:txBody>
          <a:bodyPr wrap="square" lIns="0" tIns="0" rIns="0" bIns="0" rtlCol="0" anchor="t"/>
          <a:lstStyle/>
          <a:p>
            <a:pPr marL="0" indent="0">
              <a:buNone/>
            </a:pPr>
            <a:r>
              <a:rPr lang="en-US" sz="1600" dirty="0">
                <a:solidFill>
                  <a:schemeClr val="tx1"/>
                </a:solidFill>
              </a:rPr>
              <a:t>Dashboard relays frames to every viewer</a:t>
            </a:r>
            <a:endParaRPr lang="en-US" sz="1600" dirty="0"/>
          </a:p>
        </p:txBody>
      </p:sp>
      <p:sp>
        <p:nvSpPr>
          <p:cNvPr id="34" name="arrow-110"/>
          <p:cNvSpPr/>
          <p:nvPr/>
        </p:nvSpPr>
        <p:spPr>
          <a:xfrm>
            <a:off x="5971032" y="5074920"/>
            <a:ext cx="219456" cy="274320"/>
          </a:xfrm>
          <a:prstGeom prst="rightArrow">
            <a:avLst/>
          </a:prstGeom>
          <a:solidFill>
            <a:schemeClr val="accent1"/>
          </a:solidFill>
          <a:ln w="12700">
            <a:solidFill>
              <a:schemeClr val="accent1"/>
            </a:solidFill>
            <a:prstDash val="solid"/>
          </a:ln>
        </p:spPr>
      </p:sp>
      <p:sp>
        <p:nvSpPr>
          <p:cNvPr id="35" name="panel-111"/>
          <p:cNvSpPr/>
          <p:nvPr/>
        </p:nvSpPr>
        <p:spPr>
          <a:xfrm>
            <a:off x="6217920" y="4251960"/>
            <a:ext cx="2560320" cy="1920240"/>
          </a:xfrm>
          <a:prstGeom prst="roundRect">
            <a:avLst>
              <a:gd name="adj" fmla="val 4762"/>
            </a:avLst>
          </a:prstGeom>
          <a:solidFill>
            <a:schemeClr val="bg2"/>
          </a:solidFill>
          <a:ln w="12700">
            <a:solidFill>
              <a:schemeClr val="bg2"/>
            </a:solidFill>
            <a:prstDash val="solid"/>
          </a:ln>
        </p:spPr>
      </p:sp>
      <p:sp>
        <p:nvSpPr>
          <p:cNvPr id="36" name="icon-bg-112"/>
          <p:cNvSpPr/>
          <p:nvPr/>
        </p:nvSpPr>
        <p:spPr>
          <a:xfrm>
            <a:off x="6400800" y="4389120"/>
            <a:ext cx="502920" cy="502920"/>
          </a:xfrm>
          <a:prstGeom prst="ellipse">
            <a:avLst/>
          </a:prstGeom>
          <a:solidFill>
            <a:schemeClr val="accent1"/>
          </a:solidFill>
          <a:ln w="12700">
            <a:solidFill>
              <a:schemeClr val="accent1"/>
            </a:solidFill>
            <a:prstDash val="solid"/>
          </a:ln>
        </p:spPr>
      </p:sp>
      <p:pic>
        <p:nvPicPr>
          <p:cNvPr id="37" name="icon-113" descr="preencoded.png"/>
          <p:cNvPicPr>
            <a:picLocks noChangeAspect="1"/>
          </p:cNvPicPr>
          <p:nvPr/>
        </p:nvPicPr>
        <p:blipFill>
          <a:blip r:embed="rId9"/>
          <a:stretch>
            <a:fillRect/>
          </a:stretch>
        </p:blipFill>
        <p:spPr>
          <a:xfrm>
            <a:off x="6521501" y="4509821"/>
            <a:ext cx="261518" cy="261518"/>
          </a:xfrm>
          <a:prstGeom prst="rect">
            <a:avLst/>
          </a:prstGeom>
        </p:spPr>
      </p:pic>
      <p:sp>
        <p:nvSpPr>
          <p:cNvPr id="38" name="Text 28"/>
          <p:cNvSpPr txBox="1"/>
          <p:nvPr/>
        </p:nvSpPr>
        <p:spPr>
          <a:xfrm>
            <a:off x="6400800" y="4983480"/>
            <a:ext cx="2240280" cy="1097280"/>
          </a:xfrm>
          <a:prstGeom prst="rect">
            <a:avLst/>
          </a:prstGeom>
          <a:noFill/>
          <a:ln/>
        </p:spPr>
        <p:txBody>
          <a:bodyPr wrap="square" lIns="0" tIns="0" rIns="0" bIns="0" rtlCol="0" anchor="t"/>
          <a:lstStyle/>
          <a:p>
            <a:pPr marL="0" indent="0">
              <a:buNone/>
            </a:pPr>
            <a:r>
              <a:rPr lang="en-US" sz="1600" dirty="0">
                <a:solidFill>
                  <a:schemeClr val="tx1"/>
                </a:solidFill>
              </a:rPr>
              <a:t>Scan: vegetation gate, then MobileNetV2</a:t>
            </a:r>
            <a:endParaRPr lang="en-US" sz="1600" dirty="0"/>
          </a:p>
        </p:txBody>
      </p:sp>
      <p:sp>
        <p:nvSpPr>
          <p:cNvPr id="39" name="arrow-114"/>
          <p:cNvSpPr/>
          <p:nvPr/>
        </p:nvSpPr>
        <p:spPr>
          <a:xfrm>
            <a:off x="8805672" y="5074920"/>
            <a:ext cx="219456" cy="274320"/>
          </a:xfrm>
          <a:prstGeom prst="rightArrow">
            <a:avLst/>
          </a:prstGeom>
          <a:solidFill>
            <a:schemeClr val="accent1"/>
          </a:solidFill>
          <a:ln w="12700">
            <a:solidFill>
              <a:schemeClr val="accent1"/>
            </a:solidFill>
            <a:prstDash val="solid"/>
          </a:ln>
        </p:spPr>
      </p:sp>
      <p:sp>
        <p:nvSpPr>
          <p:cNvPr id="40" name="panel-115"/>
          <p:cNvSpPr/>
          <p:nvPr/>
        </p:nvSpPr>
        <p:spPr>
          <a:xfrm>
            <a:off x="9052560" y="4251960"/>
            <a:ext cx="2560320" cy="1920240"/>
          </a:xfrm>
          <a:prstGeom prst="roundRect">
            <a:avLst>
              <a:gd name="adj" fmla="val 4762"/>
            </a:avLst>
          </a:prstGeom>
          <a:solidFill>
            <a:schemeClr val="tx2"/>
          </a:solidFill>
          <a:ln w="12700">
            <a:solidFill>
              <a:schemeClr val="tx2"/>
            </a:solidFill>
            <a:prstDash val="solid"/>
          </a:ln>
        </p:spPr>
      </p:sp>
      <p:sp>
        <p:nvSpPr>
          <p:cNvPr id="41" name="icon-bg-116"/>
          <p:cNvSpPr/>
          <p:nvPr/>
        </p:nvSpPr>
        <p:spPr>
          <a:xfrm>
            <a:off x="9235440" y="4389120"/>
            <a:ext cx="502920" cy="502920"/>
          </a:xfrm>
          <a:prstGeom prst="ellipse">
            <a:avLst/>
          </a:prstGeom>
          <a:solidFill>
            <a:schemeClr val="accent2"/>
          </a:solidFill>
          <a:ln w="12700">
            <a:solidFill>
              <a:schemeClr val="accent2"/>
            </a:solidFill>
            <a:prstDash val="solid"/>
          </a:ln>
        </p:spPr>
      </p:sp>
      <p:pic>
        <p:nvPicPr>
          <p:cNvPr id="42" name="icon-117" descr="preencoded.png"/>
          <p:cNvPicPr>
            <a:picLocks noChangeAspect="1"/>
          </p:cNvPicPr>
          <p:nvPr/>
        </p:nvPicPr>
        <p:blipFill>
          <a:blip r:embed="rId10"/>
          <a:stretch>
            <a:fillRect/>
          </a:stretch>
        </p:blipFill>
        <p:spPr>
          <a:xfrm>
            <a:off x="9356141" y="4509821"/>
            <a:ext cx="261518" cy="261518"/>
          </a:xfrm>
          <a:prstGeom prst="rect">
            <a:avLst/>
          </a:prstGeom>
        </p:spPr>
      </p:pic>
      <p:sp>
        <p:nvSpPr>
          <p:cNvPr id="43" name="Text 32"/>
          <p:cNvSpPr txBox="1"/>
          <p:nvPr/>
        </p:nvSpPr>
        <p:spPr>
          <a:xfrm>
            <a:off x="9235440" y="4983480"/>
            <a:ext cx="2240280" cy="1097280"/>
          </a:xfrm>
          <a:prstGeom prst="rect">
            <a:avLst/>
          </a:prstGeom>
          <a:noFill/>
          <a:ln/>
        </p:spPr>
        <p:txBody>
          <a:bodyPr wrap="square" lIns="0" tIns="0" rIns="0" bIns="0" rtlCol="0" anchor="t"/>
          <a:lstStyle/>
          <a:p>
            <a:pPr marL="0" indent="0">
              <a:buNone/>
            </a:pPr>
            <a:r>
              <a:rPr lang="en-US" sz="1600" dirty="0">
                <a:solidFill>
                  <a:schemeClr val="bg1"/>
                </a:solidFill>
              </a:rPr>
              <a:t>Save image tagged with crop, condition and readings</a:t>
            </a:r>
            <a:endParaRPr lang="en-US" sz="16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Sensor Node Hardware</a:t>
            </a:r>
            <a:endParaRPr lang="en-US" sz="3000" dirty="0"/>
          </a:p>
        </p:txBody>
      </p:sp>
      <p:pic>
        <p:nvPicPr>
          <p:cNvPr id="4" name="image-118" descr="photo_oled.jpg"/>
          <p:cNvPicPr>
            <a:picLocks noChangeAspect="1"/>
          </p:cNvPicPr>
          <p:nvPr/>
        </p:nvPicPr>
        <p:blipFill>
          <a:blip r:embed="rId3"/>
          <a:stretch>
            <a:fillRect/>
          </a:stretch>
        </p:blipFill>
        <p:spPr>
          <a:xfrm>
            <a:off x="548640" y="1325880"/>
            <a:ext cx="4480560" cy="2520315"/>
          </a:xfrm>
          <a:prstGeom prst="rect">
            <a:avLst/>
          </a:prstGeom>
        </p:spPr>
      </p:pic>
      <p:sp>
        <p:nvSpPr>
          <p:cNvPr id="5" name="Text 1"/>
          <p:cNvSpPr txBox="1"/>
          <p:nvPr/>
        </p:nvSpPr>
        <p:spPr>
          <a:xfrm>
            <a:off x="548640" y="3919347"/>
            <a:ext cx="4480560" cy="274320"/>
          </a:xfrm>
          <a:prstGeom prst="rect">
            <a:avLst/>
          </a:prstGeom>
          <a:noFill/>
          <a:ln/>
        </p:spPr>
        <p:txBody>
          <a:bodyPr wrap="square" lIns="0" tIns="0" rIns="0" bIns="0" rtlCol="0" anchor="t"/>
          <a:lstStyle/>
          <a:p>
            <a:pPr marL="0" indent="0">
              <a:buNone/>
            </a:pPr>
            <a:r>
              <a:rPr lang="en-US" sz="1200" i="1" dirty="0">
                <a:solidFill>
                  <a:schemeClr val="accent6"/>
                </a:solidFill>
              </a:rPr>
              <a:t>Live readings and IP address on the node's OLED</a:t>
            </a:r>
            <a:endParaRPr lang="en-US" sz="1200" dirty="0"/>
          </a:p>
        </p:txBody>
      </p:sp>
      <p:sp>
        <p:nvSpPr>
          <p:cNvPr id="6" name="panel-119"/>
          <p:cNvSpPr/>
          <p:nvPr/>
        </p:nvSpPr>
        <p:spPr>
          <a:xfrm>
            <a:off x="548640" y="4343400"/>
            <a:ext cx="4480560" cy="1828800"/>
          </a:xfrm>
          <a:prstGeom prst="roundRect">
            <a:avLst>
              <a:gd name="adj" fmla="val 5000"/>
            </a:avLst>
          </a:prstGeom>
          <a:solidFill>
            <a:schemeClr val="bg2"/>
          </a:solidFill>
          <a:ln w="12700">
            <a:solidFill>
              <a:schemeClr val="bg2"/>
            </a:solidFill>
            <a:prstDash val="solid"/>
          </a:ln>
        </p:spPr>
      </p:sp>
      <p:sp>
        <p:nvSpPr>
          <p:cNvPr id="7" name="Text 3"/>
          <p:cNvSpPr txBox="1"/>
          <p:nvPr/>
        </p:nvSpPr>
        <p:spPr>
          <a:xfrm>
            <a:off x="777240" y="4480560"/>
            <a:ext cx="4069080" cy="1600200"/>
          </a:xfrm>
          <a:prstGeom prst="rect">
            <a:avLst/>
          </a:prstGeom>
          <a:noFill/>
          <a:ln/>
        </p:spPr>
        <p:txBody>
          <a:bodyPr wrap="square" lIns="0" tIns="0" rIns="0" bIns="0" rtlCol="0" anchor="t"/>
          <a:lstStyle/>
          <a:p>
            <a:pPr marL="0" indent="0">
              <a:buNone/>
            </a:pPr>
            <a:r>
              <a:rPr lang="en-US" sz="1500" b="1" dirty="0">
                <a:solidFill>
                  <a:schemeClr val="tx2"/>
                </a:solidFill>
              </a:rPr>
              <a:t>5 V → 3.3 V safely  </a:t>
            </a:r>
            <a:endParaRPr lang="en-US" sz="1500" dirty="0"/>
          </a:p>
          <a:p>
            <a:pPr marL="0" indent="0">
              <a:buNone/>
            </a:pPr>
            <a:r>
              <a:rPr lang="en-US" sz="1500" dirty="0">
                <a:solidFill>
                  <a:schemeClr val="tx1"/>
                </a:solidFill>
              </a:rPr>
              <a:t>Every 5 V sensor output reaches the XIAO through a 1 kΩ / 2 kΩ divider: 5 V becomes 3.33 V, and the PPD42's 4 V becomes 2.67 V.</a:t>
            </a:r>
            <a:endParaRPr lang="en-US" sz="1500" dirty="0"/>
          </a:p>
        </p:txBody>
      </p:sp>
      <p:graphicFrame>
        <p:nvGraphicFramePr>
          <p:cNvPr id="15" name="table-120"/>
          <p:cNvGraphicFramePr>
            <a:graphicFrameLocks noGrp="1"/>
          </p:cNvGraphicFramePr>
          <p:nvPr>
            <p:extLst>
              <p:ext uri="{D42A27DB-BD31-4B8C-83A1-F6EECF244321}">
                <p14:modId xmlns:p14="http://schemas.microsoft.com/office/powerpoint/2010/main" val="1913941314"/>
              </p:ext>
            </p:extLst>
          </p:nvPr>
        </p:nvGraphicFramePr>
        <p:xfrm>
          <a:off x="5349240" y="1936250"/>
          <a:ext cx="6263640" cy="2651760"/>
        </p:xfrm>
        <a:graphic>
          <a:graphicData uri="http://schemas.openxmlformats.org/drawingml/2006/table">
            <a:tbl>
              <a:tblPr/>
              <a:tblGrid>
                <a:gridCol w="16916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530352">
                <a:tc>
                  <a:txBody>
                    <a:bodyPr/>
                    <a:lstStyle/>
                    <a:p>
                      <a:pPr marL="0" indent="0">
                        <a:buNone/>
                      </a:pPr>
                      <a:r>
                        <a:rPr lang="en-US" sz="1400" b="1" dirty="0">
                          <a:solidFill>
                            <a:schemeClr val="bg1"/>
                          </a:solidFill>
                        </a:rPr>
                        <a:t>Sensor</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Measures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Interface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Status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30352">
                <a:tc>
                  <a:txBody>
                    <a:bodyPr/>
                    <a:lstStyle/>
                    <a:p>
                      <a:pPr marL="0" indent="0">
                        <a:buNone/>
                      </a:pPr>
                      <a:r>
                        <a:rPr lang="en-US" sz="1400" dirty="0">
                          <a:solidFill>
                            <a:schemeClr val="tx1"/>
                          </a:solidFill>
                        </a:rPr>
                        <a:t>SGP30</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TVOC, eCO₂</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I²C 0x58</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30352">
                <a:tc>
                  <a:txBody>
                    <a:bodyPr/>
                    <a:lstStyle/>
                    <a:p>
                      <a:pPr marL="0" indent="0">
                        <a:buNone/>
                      </a:pPr>
                      <a:r>
                        <a:rPr lang="en-US" sz="1400" dirty="0">
                          <a:solidFill>
                            <a:schemeClr val="tx1"/>
                          </a:solidFill>
                        </a:rPr>
                        <a:t>MCP9808</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Temperature, ±0.25 °C</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I²C 0x18</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0352">
                <a:tc>
                  <a:txBody>
                    <a:bodyPr/>
                    <a:lstStyle/>
                    <a:p>
                      <a:pPr marL="0" indent="0">
                        <a:buNone/>
                      </a:pPr>
                      <a:r>
                        <a:rPr lang="en-US" sz="1400" dirty="0">
                          <a:solidFill>
                            <a:schemeClr val="tx1"/>
                          </a:solidFill>
                        </a:rPr>
                        <a:t>PPD42</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Particles &gt; 1 µm</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D0, via divider</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30352">
                <a:tc>
                  <a:txBody>
                    <a:bodyPr/>
                    <a:lstStyle/>
                    <a:p>
                      <a:pPr marL="0" indent="0">
                        <a:buNone/>
                      </a:pPr>
                      <a:r>
                        <a:rPr lang="en-US" sz="1400" dirty="0">
                          <a:solidFill>
                            <a:schemeClr val="tx1"/>
                          </a:solidFill>
                        </a:rPr>
                        <a:t>OLED, buzzer, button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Display and alerts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On board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9" name="Text 4"/>
          <p:cNvSpPr txBox="1"/>
          <p:nvPr/>
        </p:nvSpPr>
        <p:spPr>
          <a:xfrm>
            <a:off x="5440680" y="4863810"/>
            <a:ext cx="6263640" cy="548640"/>
          </a:xfrm>
          <a:prstGeom prst="rect">
            <a:avLst/>
          </a:prstGeom>
          <a:noFill/>
          <a:ln/>
        </p:spPr>
        <p:txBody>
          <a:bodyPr wrap="square" lIns="0" tIns="0" rIns="0" bIns="0" rtlCol="0" anchor="t"/>
          <a:lstStyle/>
          <a:p>
            <a:pPr marL="0" indent="0">
              <a:buNone/>
            </a:pPr>
            <a:r>
              <a:rPr lang="en-US" sz="1300" i="1" dirty="0">
                <a:solidFill>
                  <a:schemeClr val="accent6"/>
                </a:solidFill>
              </a:rPr>
              <a:t>Ultrasonic firmware is written and flashed; the sensors report as absent until connected.</a:t>
            </a:r>
            <a:endParaRPr lang="en-US" sz="13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Firmware Algorithms</a:t>
            </a:r>
            <a:endParaRPr lang="en-US" sz="3000" dirty="0"/>
          </a:p>
        </p:txBody>
      </p:sp>
      <p:sp>
        <p:nvSpPr>
          <p:cNvPr id="4" name="panel-121"/>
          <p:cNvSpPr/>
          <p:nvPr/>
        </p:nvSpPr>
        <p:spPr>
          <a:xfrm>
            <a:off x="548640" y="1325880"/>
            <a:ext cx="3529584" cy="2286000"/>
          </a:xfrm>
          <a:prstGeom prst="roundRect">
            <a:avLst>
              <a:gd name="adj" fmla="val 4000"/>
            </a:avLst>
          </a:prstGeom>
          <a:solidFill>
            <a:schemeClr val="bg2"/>
          </a:solidFill>
          <a:ln w="12700">
            <a:solidFill>
              <a:schemeClr val="bg2"/>
            </a:solidFill>
            <a:prstDash val="solid"/>
          </a:ln>
        </p:spPr>
      </p:sp>
      <p:sp>
        <p:nvSpPr>
          <p:cNvPr id="5" name="icon-bg-122"/>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6" name="icon-123" descr="preencoded.png"/>
          <p:cNvPicPr>
            <a:picLocks noChangeAspect="1"/>
          </p:cNvPicPr>
          <p:nvPr/>
        </p:nvPicPr>
        <p:blipFill>
          <a:blip r:embed="rId3"/>
          <a:stretch>
            <a:fillRect/>
          </a:stretch>
        </p:blipFill>
        <p:spPr>
          <a:xfrm>
            <a:off x="908914" y="1686154"/>
            <a:ext cx="285293" cy="285293"/>
          </a:xfrm>
          <a:prstGeom prst="rect">
            <a:avLst/>
          </a:prstGeom>
        </p:spPr>
      </p:pic>
      <p:sp>
        <p:nvSpPr>
          <p:cNvPr id="7" name="Text 3"/>
          <p:cNvSpPr txBox="1"/>
          <p:nvPr/>
        </p:nvSpPr>
        <p:spPr>
          <a:xfrm>
            <a:off x="1463040" y="155448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Dust by low-pulse occupancy</a:t>
            </a:r>
            <a:endParaRPr lang="en-US" sz="1650" dirty="0"/>
          </a:p>
        </p:txBody>
      </p:sp>
      <p:sp>
        <p:nvSpPr>
          <p:cNvPr id="8" name="Text 4"/>
          <p:cNvSpPr txBox="1"/>
          <p:nvPr/>
        </p:nvSpPr>
        <p:spPr>
          <a:xfrm>
            <a:off x="777240"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An interrupt times the PPD42's low pulses over 30 s. C = 1.1r³ − 3.8r² + 520r + 0.62 particles per 0.01 ft³</a:t>
            </a:r>
            <a:endParaRPr lang="en-US" sz="1500" dirty="0"/>
          </a:p>
        </p:txBody>
      </p:sp>
      <p:sp>
        <p:nvSpPr>
          <p:cNvPr id="9" name="panel-124"/>
          <p:cNvSpPr/>
          <p:nvPr/>
        </p:nvSpPr>
        <p:spPr>
          <a:xfrm>
            <a:off x="4279392" y="1325880"/>
            <a:ext cx="3529584" cy="2286000"/>
          </a:xfrm>
          <a:prstGeom prst="roundRect">
            <a:avLst>
              <a:gd name="adj" fmla="val 4000"/>
            </a:avLst>
          </a:prstGeom>
          <a:solidFill>
            <a:schemeClr val="bg2"/>
          </a:solidFill>
          <a:ln w="12700">
            <a:solidFill>
              <a:schemeClr val="bg2"/>
            </a:solidFill>
            <a:prstDash val="solid"/>
          </a:ln>
        </p:spPr>
      </p:sp>
      <p:sp>
        <p:nvSpPr>
          <p:cNvPr id="10" name="icon-bg-125"/>
          <p:cNvSpPr/>
          <p:nvPr/>
        </p:nvSpPr>
        <p:spPr>
          <a:xfrm>
            <a:off x="4507992" y="1554480"/>
            <a:ext cx="548640" cy="548640"/>
          </a:xfrm>
          <a:prstGeom prst="ellipse">
            <a:avLst/>
          </a:prstGeom>
          <a:solidFill>
            <a:schemeClr val="accent1"/>
          </a:solidFill>
          <a:ln w="12700">
            <a:solidFill>
              <a:schemeClr val="accent1"/>
            </a:solidFill>
            <a:prstDash val="solid"/>
          </a:ln>
        </p:spPr>
      </p:sp>
      <p:pic>
        <p:nvPicPr>
          <p:cNvPr id="11" name="icon-126" descr="preencoded.png"/>
          <p:cNvPicPr>
            <a:picLocks noChangeAspect="1"/>
          </p:cNvPicPr>
          <p:nvPr/>
        </p:nvPicPr>
        <p:blipFill>
          <a:blip r:embed="rId4"/>
          <a:stretch>
            <a:fillRect/>
          </a:stretch>
        </p:blipFill>
        <p:spPr>
          <a:xfrm>
            <a:off x="4639666" y="1686154"/>
            <a:ext cx="285293" cy="285293"/>
          </a:xfrm>
          <a:prstGeom prst="rect">
            <a:avLst/>
          </a:prstGeom>
        </p:spPr>
      </p:pic>
      <p:sp>
        <p:nvSpPr>
          <p:cNvPr id="12" name="Text 7"/>
          <p:cNvSpPr txBox="1"/>
          <p:nvPr/>
        </p:nvSpPr>
        <p:spPr>
          <a:xfrm>
            <a:off x="5193792" y="155448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Absent-sensor detection</a:t>
            </a:r>
            <a:endParaRPr lang="en-US" sz="1650" dirty="0"/>
          </a:p>
        </p:txBody>
      </p:sp>
      <p:sp>
        <p:nvSpPr>
          <p:cNvPr id="13" name="Text 8"/>
          <p:cNvSpPr txBox="1"/>
          <p:nvPr/>
        </p:nvSpPr>
        <p:spPr>
          <a:xfrm>
            <a:off x="4507992"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An unplugged PPD42 read as 1.1 million particles. No edges and a low line now means absent</a:t>
            </a:r>
            <a:endParaRPr lang="en-US" sz="1500" dirty="0"/>
          </a:p>
        </p:txBody>
      </p:sp>
      <p:sp>
        <p:nvSpPr>
          <p:cNvPr id="14" name="panel-127"/>
          <p:cNvSpPr/>
          <p:nvPr/>
        </p:nvSpPr>
        <p:spPr>
          <a:xfrm>
            <a:off x="8010144" y="1325880"/>
            <a:ext cx="3529584" cy="2286000"/>
          </a:xfrm>
          <a:prstGeom prst="roundRect">
            <a:avLst>
              <a:gd name="adj" fmla="val 4000"/>
            </a:avLst>
          </a:prstGeom>
          <a:solidFill>
            <a:schemeClr val="bg2"/>
          </a:solidFill>
          <a:ln w="12700">
            <a:solidFill>
              <a:schemeClr val="bg2"/>
            </a:solidFill>
            <a:prstDash val="solid"/>
          </a:ln>
        </p:spPr>
      </p:sp>
      <p:sp>
        <p:nvSpPr>
          <p:cNvPr id="15" name="icon-bg-128"/>
          <p:cNvSpPr/>
          <p:nvPr/>
        </p:nvSpPr>
        <p:spPr>
          <a:xfrm>
            <a:off x="8238744" y="1554480"/>
            <a:ext cx="548640" cy="548640"/>
          </a:xfrm>
          <a:prstGeom prst="ellipse">
            <a:avLst/>
          </a:prstGeom>
          <a:solidFill>
            <a:schemeClr val="accent1"/>
          </a:solidFill>
          <a:ln w="12700">
            <a:solidFill>
              <a:schemeClr val="accent1"/>
            </a:solidFill>
            <a:prstDash val="solid"/>
          </a:ln>
        </p:spPr>
      </p:sp>
      <p:pic>
        <p:nvPicPr>
          <p:cNvPr id="16" name="icon-129" descr="preencoded.png"/>
          <p:cNvPicPr>
            <a:picLocks noChangeAspect="1"/>
          </p:cNvPicPr>
          <p:nvPr/>
        </p:nvPicPr>
        <p:blipFill>
          <a:blip r:embed="rId5"/>
          <a:stretch>
            <a:fillRect/>
          </a:stretch>
        </p:blipFill>
        <p:spPr>
          <a:xfrm>
            <a:off x="8370418" y="1686154"/>
            <a:ext cx="285293" cy="285293"/>
          </a:xfrm>
          <a:prstGeom prst="rect">
            <a:avLst/>
          </a:prstGeom>
        </p:spPr>
      </p:pic>
      <p:sp>
        <p:nvSpPr>
          <p:cNvPr id="17" name="Text 11"/>
          <p:cNvSpPr txBox="1"/>
          <p:nvPr/>
        </p:nvSpPr>
        <p:spPr>
          <a:xfrm>
            <a:off x="8924544" y="155448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Temperature-corrected range</a:t>
            </a:r>
            <a:endParaRPr lang="en-US" sz="1650" dirty="0"/>
          </a:p>
        </p:txBody>
      </p:sp>
      <p:sp>
        <p:nvSpPr>
          <p:cNvPr id="18" name="Text 12"/>
          <p:cNvSpPr txBox="1"/>
          <p:nvPr/>
        </p:nvSpPr>
        <p:spPr>
          <a:xfrm>
            <a:off x="8238744"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c = 331.3 + 0.606·T m/s from the MCP9808; a fixed 343 m/s is ~3 % off at 35 °C</a:t>
            </a:r>
            <a:endParaRPr lang="en-US" sz="1500" dirty="0"/>
          </a:p>
        </p:txBody>
      </p:sp>
      <p:sp>
        <p:nvSpPr>
          <p:cNvPr id="19" name="panel-130"/>
          <p:cNvSpPr/>
          <p:nvPr/>
        </p:nvSpPr>
        <p:spPr>
          <a:xfrm>
            <a:off x="548640" y="3794760"/>
            <a:ext cx="3529584" cy="2286000"/>
          </a:xfrm>
          <a:prstGeom prst="roundRect">
            <a:avLst>
              <a:gd name="adj" fmla="val 4000"/>
            </a:avLst>
          </a:prstGeom>
          <a:solidFill>
            <a:schemeClr val="bg2"/>
          </a:solidFill>
          <a:ln w="12700">
            <a:solidFill>
              <a:schemeClr val="bg2"/>
            </a:solidFill>
            <a:prstDash val="solid"/>
          </a:ln>
        </p:spPr>
      </p:sp>
      <p:sp>
        <p:nvSpPr>
          <p:cNvPr id="20" name="icon-bg-131"/>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21" name="icon-132" descr="preencoded.png"/>
          <p:cNvPicPr>
            <a:picLocks noChangeAspect="1"/>
          </p:cNvPicPr>
          <p:nvPr/>
        </p:nvPicPr>
        <p:blipFill>
          <a:blip r:embed="rId6"/>
          <a:stretch>
            <a:fillRect/>
          </a:stretch>
        </p:blipFill>
        <p:spPr>
          <a:xfrm>
            <a:off x="908914" y="4155034"/>
            <a:ext cx="285293" cy="285293"/>
          </a:xfrm>
          <a:prstGeom prst="rect">
            <a:avLst/>
          </a:prstGeom>
        </p:spPr>
      </p:pic>
      <p:sp>
        <p:nvSpPr>
          <p:cNvPr id="22" name="Text 15"/>
          <p:cNvSpPr txBox="1"/>
          <p:nvPr/>
        </p:nvSpPr>
        <p:spPr>
          <a:xfrm>
            <a:off x="1463040" y="402336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Crosstalk-free ultrasonics</a:t>
            </a:r>
            <a:endParaRPr lang="en-US" sz="1650" dirty="0"/>
          </a:p>
        </p:txBody>
      </p:sp>
      <p:sp>
        <p:nvSpPr>
          <p:cNvPr id="23" name="Text 16"/>
          <p:cNvSpPr txBox="1"/>
          <p:nvPr/>
        </p:nvSpPr>
        <p:spPr>
          <a:xfrm>
            <a:off x="777240"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The two HC-SR04s fire alternately, and each reading is a median of three</a:t>
            </a:r>
            <a:endParaRPr lang="en-US" sz="1500" dirty="0"/>
          </a:p>
        </p:txBody>
      </p:sp>
      <p:sp>
        <p:nvSpPr>
          <p:cNvPr id="24" name="panel-133"/>
          <p:cNvSpPr/>
          <p:nvPr/>
        </p:nvSpPr>
        <p:spPr>
          <a:xfrm>
            <a:off x="4279392" y="3794760"/>
            <a:ext cx="3529584" cy="2286000"/>
          </a:xfrm>
          <a:prstGeom prst="roundRect">
            <a:avLst>
              <a:gd name="adj" fmla="val 4000"/>
            </a:avLst>
          </a:prstGeom>
          <a:solidFill>
            <a:schemeClr val="bg2"/>
          </a:solidFill>
          <a:ln w="12700">
            <a:solidFill>
              <a:schemeClr val="bg2"/>
            </a:solidFill>
            <a:prstDash val="solid"/>
          </a:ln>
        </p:spPr>
      </p:sp>
      <p:sp>
        <p:nvSpPr>
          <p:cNvPr id="25" name="icon-bg-134"/>
          <p:cNvSpPr/>
          <p:nvPr/>
        </p:nvSpPr>
        <p:spPr>
          <a:xfrm>
            <a:off x="4507992" y="4023360"/>
            <a:ext cx="548640" cy="548640"/>
          </a:xfrm>
          <a:prstGeom prst="ellipse">
            <a:avLst/>
          </a:prstGeom>
          <a:solidFill>
            <a:schemeClr val="accent1"/>
          </a:solidFill>
          <a:ln w="12700">
            <a:solidFill>
              <a:schemeClr val="accent1"/>
            </a:solidFill>
            <a:prstDash val="solid"/>
          </a:ln>
        </p:spPr>
      </p:sp>
      <p:pic>
        <p:nvPicPr>
          <p:cNvPr id="26" name="icon-135" descr="preencoded.png"/>
          <p:cNvPicPr>
            <a:picLocks noChangeAspect="1"/>
          </p:cNvPicPr>
          <p:nvPr/>
        </p:nvPicPr>
        <p:blipFill>
          <a:blip r:embed="rId7"/>
          <a:stretch>
            <a:fillRect/>
          </a:stretch>
        </p:blipFill>
        <p:spPr>
          <a:xfrm>
            <a:off x="4639666" y="4155034"/>
            <a:ext cx="285293" cy="285293"/>
          </a:xfrm>
          <a:prstGeom prst="rect">
            <a:avLst/>
          </a:prstGeom>
        </p:spPr>
      </p:pic>
      <p:sp>
        <p:nvSpPr>
          <p:cNvPr id="27" name="Text 19"/>
          <p:cNvSpPr txBox="1"/>
          <p:nvPr/>
        </p:nvSpPr>
        <p:spPr>
          <a:xfrm>
            <a:off x="5193792" y="402336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Wi-Fi diagnostics</a:t>
            </a:r>
            <a:endParaRPr lang="en-US" sz="1650" dirty="0"/>
          </a:p>
        </p:txBody>
      </p:sp>
      <p:sp>
        <p:nvSpPr>
          <p:cNvPr id="28" name="Text 20"/>
          <p:cNvSpPr txBox="1"/>
          <p:nvPr/>
        </p:nvSpPr>
        <p:spPr>
          <a:xfrm>
            <a:off x="4507992"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Reports why a link fails; traced −78 dBm to a missing antenna, −26 dBm once fitted</a:t>
            </a:r>
            <a:endParaRPr lang="en-US" sz="1500" dirty="0"/>
          </a:p>
        </p:txBody>
      </p:sp>
      <p:sp>
        <p:nvSpPr>
          <p:cNvPr id="29" name="panel-136"/>
          <p:cNvSpPr/>
          <p:nvPr/>
        </p:nvSpPr>
        <p:spPr>
          <a:xfrm>
            <a:off x="8010144" y="3794760"/>
            <a:ext cx="3529584" cy="2286000"/>
          </a:xfrm>
          <a:prstGeom prst="roundRect">
            <a:avLst>
              <a:gd name="adj" fmla="val 4000"/>
            </a:avLst>
          </a:prstGeom>
          <a:solidFill>
            <a:schemeClr val="bg2"/>
          </a:solidFill>
          <a:ln w="12700">
            <a:solidFill>
              <a:schemeClr val="bg2"/>
            </a:solidFill>
            <a:prstDash val="solid"/>
          </a:ln>
        </p:spPr>
      </p:sp>
      <p:sp>
        <p:nvSpPr>
          <p:cNvPr id="30" name="icon-bg-137"/>
          <p:cNvSpPr/>
          <p:nvPr/>
        </p:nvSpPr>
        <p:spPr>
          <a:xfrm>
            <a:off x="8238744" y="4023360"/>
            <a:ext cx="548640" cy="548640"/>
          </a:xfrm>
          <a:prstGeom prst="ellipse">
            <a:avLst/>
          </a:prstGeom>
          <a:solidFill>
            <a:schemeClr val="accent1"/>
          </a:solidFill>
          <a:ln w="12700">
            <a:solidFill>
              <a:schemeClr val="accent1"/>
            </a:solidFill>
            <a:prstDash val="solid"/>
          </a:ln>
        </p:spPr>
      </p:sp>
      <p:pic>
        <p:nvPicPr>
          <p:cNvPr id="31" name="icon-138" descr="preencoded.png"/>
          <p:cNvPicPr>
            <a:picLocks noChangeAspect="1"/>
          </p:cNvPicPr>
          <p:nvPr/>
        </p:nvPicPr>
        <p:blipFill>
          <a:blip r:embed="rId8"/>
          <a:stretch>
            <a:fillRect/>
          </a:stretch>
        </p:blipFill>
        <p:spPr>
          <a:xfrm>
            <a:off x="8370418" y="4155034"/>
            <a:ext cx="285293" cy="285293"/>
          </a:xfrm>
          <a:prstGeom prst="rect">
            <a:avLst/>
          </a:prstGeom>
        </p:spPr>
      </p:pic>
      <p:sp>
        <p:nvSpPr>
          <p:cNvPr id="32" name="Text 23"/>
          <p:cNvSpPr txBox="1"/>
          <p:nvPr/>
        </p:nvSpPr>
        <p:spPr>
          <a:xfrm>
            <a:off x="8924544" y="4023360"/>
            <a:ext cx="2432304" cy="548640"/>
          </a:xfrm>
          <a:prstGeom prst="rect">
            <a:avLst/>
          </a:prstGeom>
          <a:noFill/>
          <a:ln/>
        </p:spPr>
        <p:txBody>
          <a:bodyPr wrap="square" lIns="0" tIns="0" rIns="0" bIns="0" rtlCol="0" anchor="ctr"/>
          <a:lstStyle/>
          <a:p>
            <a:pPr marL="0" indent="0">
              <a:buNone/>
            </a:pPr>
            <a:r>
              <a:rPr lang="en-US" sz="1650" b="1" dirty="0">
                <a:solidFill>
                  <a:schemeClr val="tx2"/>
                </a:solidFill>
              </a:rPr>
              <a:t>Self-registering camera</a:t>
            </a:r>
            <a:endParaRPr lang="en-US" sz="1650" dirty="0"/>
          </a:p>
        </p:txBody>
      </p:sp>
      <p:sp>
        <p:nvSpPr>
          <p:cNvPr id="33" name="Text 24"/>
          <p:cNvSpPr txBox="1"/>
          <p:nvPr/>
        </p:nvSpPr>
        <p:spPr>
          <a:xfrm>
            <a:off x="8238744"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The ESP32-CAM sends its stream URL to the dashboard at boot, so a new IP needs no setup</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Gated Leaf-Disease Classification</a:t>
            </a:r>
            <a:endParaRPr lang="en-US" sz="3000" dirty="0"/>
          </a:p>
        </p:txBody>
      </p:sp>
      <p:sp>
        <p:nvSpPr>
          <p:cNvPr id="4" name="icon-bg-139"/>
          <p:cNvSpPr/>
          <p:nvPr/>
        </p:nvSpPr>
        <p:spPr>
          <a:xfrm>
            <a:off x="548640" y="1325880"/>
            <a:ext cx="548640" cy="548640"/>
          </a:xfrm>
          <a:prstGeom prst="ellipse">
            <a:avLst/>
          </a:prstGeom>
          <a:solidFill>
            <a:schemeClr val="accent1"/>
          </a:solidFill>
          <a:ln w="12700">
            <a:solidFill>
              <a:schemeClr val="accent1"/>
            </a:solidFill>
            <a:prstDash val="solid"/>
          </a:ln>
        </p:spPr>
      </p:sp>
      <p:pic>
        <p:nvPicPr>
          <p:cNvPr id="5" name="icon-140" descr="preencoded.png"/>
          <p:cNvPicPr>
            <a:picLocks noChangeAspect="1"/>
          </p:cNvPicPr>
          <p:nvPr/>
        </p:nvPicPr>
        <p:blipFill>
          <a:blip r:embed="rId3"/>
          <a:stretch>
            <a:fillRect/>
          </a:stretch>
        </p:blipFill>
        <p:spPr>
          <a:xfrm>
            <a:off x="680314" y="1457554"/>
            <a:ext cx="285293" cy="285293"/>
          </a:xfrm>
          <a:prstGeom prst="rect">
            <a:avLst/>
          </a:prstGeom>
        </p:spPr>
      </p:pic>
      <p:sp>
        <p:nvSpPr>
          <p:cNvPr id="6" name="Text 2"/>
          <p:cNvSpPr txBox="1"/>
          <p:nvPr/>
        </p:nvSpPr>
        <p:spPr>
          <a:xfrm>
            <a:off x="1280160" y="1280160"/>
            <a:ext cx="3520440" cy="868680"/>
          </a:xfrm>
          <a:prstGeom prst="rect">
            <a:avLst/>
          </a:prstGeom>
          <a:noFill/>
          <a:ln/>
        </p:spPr>
        <p:txBody>
          <a:bodyPr wrap="square" lIns="0" tIns="0" rIns="0" bIns="0" rtlCol="0" anchor="ctr"/>
          <a:lstStyle/>
          <a:p>
            <a:pPr marL="0" indent="0">
              <a:buNone/>
            </a:pPr>
            <a:r>
              <a:rPr lang="en-US" sz="1500" dirty="0">
                <a:solidFill>
                  <a:schemeClr val="tx1"/>
                </a:solidFill>
              </a:rPr>
              <a:t>Frame from the ESP32-CAM</a:t>
            </a:r>
            <a:endParaRPr lang="en-US" sz="1500" dirty="0"/>
          </a:p>
        </p:txBody>
      </p:sp>
      <p:sp>
        <p:nvSpPr>
          <p:cNvPr id="7" name="icon-bg-141"/>
          <p:cNvSpPr/>
          <p:nvPr/>
        </p:nvSpPr>
        <p:spPr>
          <a:xfrm>
            <a:off x="548640" y="2286000"/>
            <a:ext cx="548640" cy="548640"/>
          </a:xfrm>
          <a:prstGeom prst="ellipse">
            <a:avLst/>
          </a:prstGeom>
          <a:solidFill>
            <a:schemeClr val="accent2"/>
          </a:solidFill>
          <a:ln w="12700">
            <a:solidFill>
              <a:schemeClr val="accent2"/>
            </a:solidFill>
            <a:prstDash val="solid"/>
          </a:ln>
        </p:spPr>
      </p:sp>
      <p:pic>
        <p:nvPicPr>
          <p:cNvPr id="8" name="icon-142" descr="preencoded.png"/>
          <p:cNvPicPr>
            <a:picLocks noChangeAspect="1"/>
          </p:cNvPicPr>
          <p:nvPr/>
        </p:nvPicPr>
        <p:blipFill>
          <a:blip r:embed="rId4"/>
          <a:stretch>
            <a:fillRect/>
          </a:stretch>
        </p:blipFill>
        <p:spPr>
          <a:xfrm>
            <a:off x="680314" y="2417674"/>
            <a:ext cx="285293" cy="285293"/>
          </a:xfrm>
          <a:prstGeom prst="rect">
            <a:avLst/>
          </a:prstGeom>
        </p:spPr>
      </p:pic>
      <p:sp>
        <p:nvSpPr>
          <p:cNvPr id="9" name="Text 4"/>
          <p:cNvSpPr txBox="1"/>
          <p:nvPr/>
        </p:nvSpPr>
        <p:spPr>
          <a:xfrm>
            <a:off x="1280160" y="2240280"/>
            <a:ext cx="3520440" cy="868680"/>
          </a:xfrm>
          <a:prstGeom prst="rect">
            <a:avLst/>
          </a:prstGeom>
          <a:noFill/>
          <a:ln/>
        </p:spPr>
        <p:txBody>
          <a:bodyPr wrap="square" lIns="0" tIns="0" rIns="0" bIns="0" rtlCol="0" anchor="ctr"/>
          <a:lstStyle/>
          <a:p>
            <a:pPr marL="0" indent="0">
              <a:buNone/>
            </a:pPr>
            <a:r>
              <a:rPr lang="en-US" sz="1500" b="1" dirty="0">
                <a:solidFill>
                  <a:schemeClr val="tx2"/>
                </a:solidFill>
              </a:rPr>
              <a:t>Vegetation gate: share of pixels with 38° ≤ H ≤ 165°, S ≥ 0.20, V ≥ 0.12; below 12 % → no leaf</a:t>
            </a:r>
            <a:endParaRPr lang="en-US" sz="1500" dirty="0"/>
          </a:p>
        </p:txBody>
      </p:sp>
      <p:sp>
        <p:nvSpPr>
          <p:cNvPr id="10" name="icon-bg-143"/>
          <p:cNvSpPr/>
          <p:nvPr/>
        </p:nvSpPr>
        <p:spPr>
          <a:xfrm>
            <a:off x="548640" y="3246120"/>
            <a:ext cx="548640" cy="548640"/>
          </a:xfrm>
          <a:prstGeom prst="ellipse">
            <a:avLst/>
          </a:prstGeom>
          <a:solidFill>
            <a:schemeClr val="accent1"/>
          </a:solidFill>
          <a:ln w="12700">
            <a:solidFill>
              <a:schemeClr val="accent1"/>
            </a:solidFill>
            <a:prstDash val="solid"/>
          </a:ln>
        </p:spPr>
      </p:sp>
      <p:pic>
        <p:nvPicPr>
          <p:cNvPr id="11" name="icon-144" descr="preencoded.png"/>
          <p:cNvPicPr>
            <a:picLocks noChangeAspect="1"/>
          </p:cNvPicPr>
          <p:nvPr/>
        </p:nvPicPr>
        <p:blipFill>
          <a:blip r:embed="rId5"/>
          <a:stretch>
            <a:fillRect/>
          </a:stretch>
        </p:blipFill>
        <p:spPr>
          <a:xfrm>
            <a:off x="680314" y="3377794"/>
            <a:ext cx="285293" cy="285293"/>
          </a:xfrm>
          <a:prstGeom prst="rect">
            <a:avLst/>
          </a:prstGeom>
        </p:spPr>
      </p:pic>
      <p:sp>
        <p:nvSpPr>
          <p:cNvPr id="12" name="Text 6"/>
          <p:cNvSpPr txBox="1"/>
          <p:nvPr/>
        </p:nvSpPr>
        <p:spPr>
          <a:xfrm>
            <a:off x="1280160" y="3200400"/>
            <a:ext cx="3520440" cy="868680"/>
          </a:xfrm>
          <a:prstGeom prst="rect">
            <a:avLst/>
          </a:prstGeom>
          <a:noFill/>
          <a:ln/>
        </p:spPr>
        <p:txBody>
          <a:bodyPr wrap="square" lIns="0" tIns="0" rIns="0" bIns="0" rtlCol="0" anchor="ctr"/>
          <a:lstStyle/>
          <a:p>
            <a:pPr marL="0" indent="0">
              <a:buNone/>
            </a:pPr>
            <a:r>
              <a:rPr lang="en-US" sz="1500" dirty="0">
                <a:solidFill>
                  <a:schemeClr val="tx1"/>
                </a:solidFill>
              </a:rPr>
              <a:t>MobileNetV2 trained on PlantVillage: 38 classes, 14 crops</a:t>
            </a:r>
            <a:endParaRPr lang="en-US" sz="1500" dirty="0"/>
          </a:p>
        </p:txBody>
      </p:sp>
      <p:sp>
        <p:nvSpPr>
          <p:cNvPr id="13" name="icon-bg-145"/>
          <p:cNvSpPr/>
          <p:nvPr/>
        </p:nvSpPr>
        <p:spPr>
          <a:xfrm>
            <a:off x="548640" y="4206240"/>
            <a:ext cx="548640" cy="548640"/>
          </a:xfrm>
          <a:prstGeom prst="ellipse">
            <a:avLst/>
          </a:prstGeom>
          <a:solidFill>
            <a:schemeClr val="accent1"/>
          </a:solidFill>
          <a:ln w="12700">
            <a:solidFill>
              <a:schemeClr val="accent1"/>
            </a:solidFill>
            <a:prstDash val="solid"/>
          </a:ln>
        </p:spPr>
      </p:sp>
      <p:pic>
        <p:nvPicPr>
          <p:cNvPr id="14" name="icon-146" descr="preencoded.png"/>
          <p:cNvPicPr>
            <a:picLocks noChangeAspect="1"/>
          </p:cNvPicPr>
          <p:nvPr/>
        </p:nvPicPr>
        <p:blipFill>
          <a:blip r:embed="rId6"/>
          <a:stretch>
            <a:fillRect/>
          </a:stretch>
        </p:blipFill>
        <p:spPr>
          <a:xfrm>
            <a:off x="680314" y="4337914"/>
            <a:ext cx="285293" cy="285293"/>
          </a:xfrm>
          <a:prstGeom prst="rect">
            <a:avLst/>
          </a:prstGeom>
        </p:spPr>
      </p:pic>
      <p:sp>
        <p:nvSpPr>
          <p:cNvPr id="15" name="Text 8"/>
          <p:cNvSpPr txBox="1"/>
          <p:nvPr/>
        </p:nvSpPr>
        <p:spPr>
          <a:xfrm>
            <a:off x="1280160" y="4160520"/>
            <a:ext cx="3520440" cy="868680"/>
          </a:xfrm>
          <a:prstGeom prst="rect">
            <a:avLst/>
          </a:prstGeom>
          <a:noFill/>
          <a:ln/>
        </p:spPr>
        <p:txBody>
          <a:bodyPr wrap="square" lIns="0" tIns="0" rIns="0" bIns="0" rtlCol="0" anchor="ctr"/>
          <a:lstStyle/>
          <a:p>
            <a:pPr marL="0" indent="0">
              <a:buNone/>
            </a:pPr>
            <a:r>
              <a:rPr lang="en-US" sz="1500" dirty="0">
                <a:solidFill>
                  <a:schemeClr val="tx1"/>
                </a:solidFill>
              </a:rPr>
              <a:t>Top probability below 50 % → reported as uncertain</a:t>
            </a:r>
            <a:endParaRPr lang="en-US" sz="1500" dirty="0"/>
          </a:p>
        </p:txBody>
      </p:sp>
      <p:sp>
        <p:nvSpPr>
          <p:cNvPr id="16" name="icon-bg-147"/>
          <p:cNvSpPr/>
          <p:nvPr/>
        </p:nvSpPr>
        <p:spPr>
          <a:xfrm>
            <a:off x="548640" y="5166360"/>
            <a:ext cx="548640" cy="548640"/>
          </a:xfrm>
          <a:prstGeom prst="ellipse">
            <a:avLst/>
          </a:prstGeom>
          <a:solidFill>
            <a:schemeClr val="accent1"/>
          </a:solidFill>
          <a:ln w="12700">
            <a:solidFill>
              <a:schemeClr val="accent1"/>
            </a:solidFill>
            <a:prstDash val="solid"/>
          </a:ln>
        </p:spPr>
      </p:sp>
      <p:pic>
        <p:nvPicPr>
          <p:cNvPr id="17" name="icon-148" descr="preencoded.png"/>
          <p:cNvPicPr>
            <a:picLocks noChangeAspect="1"/>
          </p:cNvPicPr>
          <p:nvPr/>
        </p:nvPicPr>
        <p:blipFill>
          <a:blip r:embed="rId7"/>
          <a:stretch>
            <a:fillRect/>
          </a:stretch>
        </p:blipFill>
        <p:spPr>
          <a:xfrm>
            <a:off x="680314" y="5298034"/>
            <a:ext cx="285293" cy="285293"/>
          </a:xfrm>
          <a:prstGeom prst="rect">
            <a:avLst/>
          </a:prstGeom>
        </p:spPr>
      </p:pic>
      <p:sp>
        <p:nvSpPr>
          <p:cNvPr id="18" name="Text 10"/>
          <p:cNvSpPr txBox="1"/>
          <p:nvPr/>
        </p:nvSpPr>
        <p:spPr>
          <a:xfrm>
            <a:off x="1280160" y="5120640"/>
            <a:ext cx="3520440" cy="868680"/>
          </a:xfrm>
          <a:prstGeom prst="rect">
            <a:avLst/>
          </a:prstGeom>
          <a:noFill/>
          <a:ln/>
        </p:spPr>
        <p:txBody>
          <a:bodyPr wrap="square" lIns="0" tIns="0" rIns="0" bIns="0" rtlCol="0" anchor="ctr"/>
          <a:lstStyle/>
          <a:p>
            <a:pPr marL="0" indent="0">
              <a:buNone/>
            </a:pPr>
            <a:r>
              <a:rPr lang="en-US" sz="1500" dirty="0">
                <a:solidFill>
                  <a:schemeClr val="tx1"/>
                </a:solidFill>
              </a:rPr>
              <a:t>Image saved and tagged with crop, condition and the readings</a:t>
            </a:r>
            <a:endParaRPr lang="en-US" sz="1500" dirty="0"/>
          </a:p>
        </p:txBody>
      </p:sp>
      <p:pic>
        <p:nvPicPr>
          <p:cNvPr id="19" name="image-149" descr="vegetation_gate.png"/>
          <p:cNvPicPr>
            <a:picLocks noChangeAspect="1"/>
          </p:cNvPicPr>
          <p:nvPr/>
        </p:nvPicPr>
        <p:blipFill>
          <a:blip r:embed="rId8"/>
          <a:stretch>
            <a:fillRect/>
          </a:stretch>
        </p:blipFill>
        <p:spPr>
          <a:xfrm>
            <a:off x="5029200" y="1280160"/>
            <a:ext cx="6583680" cy="3451845"/>
          </a:xfrm>
          <a:prstGeom prst="rect">
            <a:avLst/>
          </a:prstGeom>
        </p:spPr>
      </p:pic>
      <p:sp>
        <p:nvSpPr>
          <p:cNvPr id="20" name="Text 11"/>
          <p:cNvSpPr txBox="1"/>
          <p:nvPr/>
        </p:nvSpPr>
        <p:spPr>
          <a:xfrm>
            <a:off x="5029200" y="4823445"/>
            <a:ext cx="6583680" cy="274320"/>
          </a:xfrm>
          <a:prstGeom prst="rect">
            <a:avLst/>
          </a:prstGeom>
          <a:noFill/>
          <a:ln/>
        </p:spPr>
        <p:txBody>
          <a:bodyPr wrap="square" lIns="0" tIns="0" rIns="0" bIns="0" rtlCol="0" anchor="t"/>
          <a:lstStyle/>
          <a:p>
            <a:pPr marL="0" indent="0">
              <a:buNone/>
            </a:pPr>
            <a:r>
              <a:rPr lang="en-US" sz="1200" i="1" dirty="0">
                <a:solidFill>
                  <a:schemeClr val="accent6"/>
                </a:solidFill>
              </a:rPr>
              <a:t>The gate on four outdoor camera frames: leaf-coloured pixels in green</a:t>
            </a:r>
            <a:endParaRPr lang="en-US" sz="12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Locomotion Design: Kinematics, Gait, Centre of Mass</a:t>
            </a:r>
            <a:endParaRPr lang="en-US" sz="3000" dirty="0"/>
          </a:p>
        </p:txBody>
      </p:sp>
      <p:pic>
        <p:nvPicPr>
          <p:cNvPr id="4" name="image-150" descr="leg_kinematics.png"/>
          <p:cNvPicPr>
            <a:picLocks noChangeAspect="1"/>
          </p:cNvPicPr>
          <p:nvPr/>
        </p:nvPicPr>
        <p:blipFill>
          <a:blip r:embed="rId3"/>
          <a:stretch>
            <a:fillRect/>
          </a:stretch>
        </p:blipFill>
        <p:spPr>
          <a:xfrm>
            <a:off x="548640" y="1280160"/>
            <a:ext cx="3291840" cy="3329461"/>
          </a:xfrm>
          <a:prstGeom prst="rect">
            <a:avLst/>
          </a:prstGeom>
        </p:spPr>
      </p:pic>
      <p:sp>
        <p:nvSpPr>
          <p:cNvPr id="5" name="Text 1"/>
          <p:cNvSpPr txBox="1"/>
          <p:nvPr/>
        </p:nvSpPr>
        <p:spPr>
          <a:xfrm>
            <a:off x="548640" y="4682773"/>
            <a:ext cx="3291840" cy="274320"/>
          </a:xfrm>
          <a:prstGeom prst="rect">
            <a:avLst/>
          </a:prstGeom>
          <a:noFill/>
          <a:ln/>
        </p:spPr>
        <p:txBody>
          <a:bodyPr wrap="square" lIns="0" tIns="0" rIns="0" bIns="0" rtlCol="0" anchor="t"/>
          <a:lstStyle/>
          <a:p>
            <a:pPr marL="0" indent="0">
              <a:buNone/>
            </a:pPr>
            <a:r>
              <a:rPr lang="en-US" sz="1200" i="1" dirty="0">
                <a:solidFill>
                  <a:schemeClr val="accent6"/>
                </a:solidFill>
              </a:rPr>
              <a:t>Leg geometry: femur 111 mm, tibia 125 mm</a:t>
            </a:r>
            <a:endParaRPr lang="en-US" sz="1200" dirty="0"/>
          </a:p>
        </p:txBody>
      </p:sp>
      <p:pic>
        <p:nvPicPr>
          <p:cNvPr id="6" name="image-151" descr="com_support_line.png"/>
          <p:cNvPicPr>
            <a:picLocks noChangeAspect="1"/>
          </p:cNvPicPr>
          <p:nvPr/>
        </p:nvPicPr>
        <p:blipFill>
          <a:blip r:embed="rId4"/>
          <a:stretch>
            <a:fillRect/>
          </a:stretch>
        </p:blipFill>
        <p:spPr>
          <a:xfrm>
            <a:off x="4069080" y="1280160"/>
            <a:ext cx="3474720" cy="3341697"/>
          </a:xfrm>
          <a:prstGeom prst="rect">
            <a:avLst/>
          </a:prstGeom>
        </p:spPr>
      </p:pic>
      <p:sp>
        <p:nvSpPr>
          <p:cNvPr id="7" name="Text 2"/>
          <p:cNvSpPr txBox="1"/>
          <p:nvPr/>
        </p:nvSpPr>
        <p:spPr>
          <a:xfrm>
            <a:off x="4069080" y="4695009"/>
            <a:ext cx="3474720" cy="502920"/>
          </a:xfrm>
          <a:prstGeom prst="rect">
            <a:avLst/>
          </a:prstGeom>
          <a:noFill/>
          <a:ln/>
        </p:spPr>
        <p:txBody>
          <a:bodyPr wrap="square" lIns="0" tIns="0" rIns="0" bIns="0" rtlCol="0" anchor="t"/>
          <a:lstStyle/>
          <a:p>
            <a:pPr marL="0" indent="0">
              <a:buNone/>
            </a:pPr>
            <a:r>
              <a:rPr lang="en-US" sz="1200" i="1" dirty="0">
                <a:solidFill>
                  <a:schemeClr val="accent6"/>
                </a:solidFill>
              </a:rPr>
              <a:t>Trot support line passes in front of the centre of mass</a:t>
            </a:r>
            <a:endParaRPr lang="en-US" sz="1200" dirty="0"/>
          </a:p>
        </p:txBody>
      </p:sp>
      <p:sp>
        <p:nvSpPr>
          <p:cNvPr id="8" name="icon-bg-152"/>
          <p:cNvSpPr/>
          <p:nvPr/>
        </p:nvSpPr>
        <p:spPr>
          <a:xfrm>
            <a:off x="7818120" y="1325880"/>
            <a:ext cx="548640" cy="548640"/>
          </a:xfrm>
          <a:prstGeom prst="ellipse">
            <a:avLst/>
          </a:prstGeom>
          <a:solidFill>
            <a:schemeClr val="accent1"/>
          </a:solidFill>
          <a:ln w="12700">
            <a:solidFill>
              <a:schemeClr val="accent1"/>
            </a:solidFill>
            <a:prstDash val="solid"/>
          </a:ln>
        </p:spPr>
      </p:sp>
      <p:pic>
        <p:nvPicPr>
          <p:cNvPr id="9" name="icon-153" descr="preencoded.png"/>
          <p:cNvPicPr>
            <a:picLocks noChangeAspect="1"/>
          </p:cNvPicPr>
          <p:nvPr/>
        </p:nvPicPr>
        <p:blipFill>
          <a:blip r:embed="rId5"/>
          <a:stretch>
            <a:fillRect/>
          </a:stretch>
        </p:blipFill>
        <p:spPr>
          <a:xfrm>
            <a:off x="7949794" y="1457554"/>
            <a:ext cx="285293" cy="285293"/>
          </a:xfrm>
          <a:prstGeom prst="rect">
            <a:avLst/>
          </a:prstGeom>
        </p:spPr>
      </p:pic>
      <p:sp>
        <p:nvSpPr>
          <p:cNvPr id="10" name="Text 4"/>
          <p:cNvSpPr txBox="1"/>
          <p:nvPr/>
        </p:nvSpPr>
        <p:spPr>
          <a:xfrm>
            <a:off x="8503920" y="1307592"/>
            <a:ext cx="3108960" cy="411480"/>
          </a:xfrm>
          <a:prstGeom prst="rect">
            <a:avLst/>
          </a:prstGeom>
          <a:noFill/>
          <a:ln/>
        </p:spPr>
        <p:txBody>
          <a:bodyPr wrap="square" lIns="0" tIns="0" rIns="0" bIns="0" rtlCol="0" anchor="t"/>
          <a:lstStyle/>
          <a:p>
            <a:pPr marL="0" indent="0">
              <a:buNone/>
            </a:pPr>
            <a:r>
              <a:rPr lang="en-US" sz="1700" b="1" dirty="0">
                <a:solidFill>
                  <a:schemeClr val="tx2"/>
                </a:solidFill>
              </a:rPr>
              <a:t>Closed-form IK</a:t>
            </a:r>
            <a:endParaRPr lang="en-US" sz="1700" dirty="0"/>
          </a:p>
        </p:txBody>
      </p:sp>
      <p:sp>
        <p:nvSpPr>
          <p:cNvPr id="11" name="Text 5"/>
          <p:cNvSpPr txBox="1"/>
          <p:nvPr/>
        </p:nvSpPr>
        <p:spPr>
          <a:xfrm>
            <a:off x="8503920" y="1709928"/>
            <a:ext cx="3108960" cy="777240"/>
          </a:xfrm>
          <a:prstGeom prst="rect">
            <a:avLst/>
          </a:prstGeom>
          <a:noFill/>
          <a:ln/>
        </p:spPr>
        <p:txBody>
          <a:bodyPr wrap="square" lIns="0" tIns="0" rIns="0" bIns="0" rtlCol="0" anchor="t"/>
          <a:lstStyle/>
          <a:p>
            <a:pPr marL="0" indent="0">
              <a:buNone/>
            </a:pPr>
            <a:r>
              <a:rPr lang="en-US" sz="1450" dirty="0">
                <a:solidFill>
                  <a:schemeClr val="tx1"/>
                </a:solidFill>
              </a:rPr>
              <a:t>Abduction, hip, knee from the foot target; verified at 1,280 targets, error &lt; 10⁻⁷ m</a:t>
            </a:r>
            <a:endParaRPr lang="en-US" sz="1450" dirty="0"/>
          </a:p>
        </p:txBody>
      </p:sp>
      <p:sp>
        <p:nvSpPr>
          <p:cNvPr id="12" name="icon-bg-154"/>
          <p:cNvSpPr/>
          <p:nvPr/>
        </p:nvSpPr>
        <p:spPr>
          <a:xfrm>
            <a:off x="7818120" y="2606040"/>
            <a:ext cx="548640" cy="548640"/>
          </a:xfrm>
          <a:prstGeom prst="ellipse">
            <a:avLst/>
          </a:prstGeom>
          <a:solidFill>
            <a:schemeClr val="accent1"/>
          </a:solidFill>
          <a:ln w="12700">
            <a:solidFill>
              <a:schemeClr val="accent1"/>
            </a:solidFill>
            <a:prstDash val="solid"/>
          </a:ln>
        </p:spPr>
      </p:sp>
      <p:pic>
        <p:nvPicPr>
          <p:cNvPr id="13" name="icon-155" descr="preencoded.png"/>
          <p:cNvPicPr>
            <a:picLocks noChangeAspect="1"/>
          </p:cNvPicPr>
          <p:nvPr/>
        </p:nvPicPr>
        <p:blipFill>
          <a:blip r:embed="rId6"/>
          <a:stretch>
            <a:fillRect/>
          </a:stretch>
        </p:blipFill>
        <p:spPr>
          <a:xfrm>
            <a:off x="7949794" y="2737714"/>
            <a:ext cx="285293" cy="285293"/>
          </a:xfrm>
          <a:prstGeom prst="rect">
            <a:avLst/>
          </a:prstGeom>
        </p:spPr>
      </p:pic>
      <p:sp>
        <p:nvSpPr>
          <p:cNvPr id="14" name="Text 7"/>
          <p:cNvSpPr txBox="1"/>
          <p:nvPr/>
        </p:nvSpPr>
        <p:spPr>
          <a:xfrm>
            <a:off x="8503920" y="2587752"/>
            <a:ext cx="3108960" cy="411480"/>
          </a:xfrm>
          <a:prstGeom prst="rect">
            <a:avLst/>
          </a:prstGeom>
          <a:noFill/>
          <a:ln/>
        </p:spPr>
        <p:txBody>
          <a:bodyPr wrap="square" lIns="0" tIns="0" rIns="0" bIns="0" rtlCol="0" anchor="t"/>
          <a:lstStyle/>
          <a:p>
            <a:pPr marL="0" indent="0">
              <a:buNone/>
            </a:pPr>
            <a:r>
              <a:rPr lang="en-US" sz="1700" b="1" dirty="0">
                <a:solidFill>
                  <a:schemeClr val="tx2"/>
                </a:solidFill>
              </a:rPr>
              <a:t>Diagonal trot</a:t>
            </a:r>
            <a:endParaRPr lang="en-US" sz="1700" dirty="0"/>
          </a:p>
        </p:txBody>
      </p:sp>
      <p:sp>
        <p:nvSpPr>
          <p:cNvPr id="15" name="Text 8"/>
          <p:cNvSpPr txBox="1"/>
          <p:nvPr/>
        </p:nvSpPr>
        <p:spPr>
          <a:xfrm>
            <a:off x="8503920" y="2990088"/>
            <a:ext cx="3108960" cy="777240"/>
          </a:xfrm>
          <a:prstGeom prst="rect">
            <a:avLst/>
          </a:prstGeom>
          <a:noFill/>
          <a:ln/>
        </p:spPr>
        <p:txBody>
          <a:bodyPr wrap="square" lIns="0" tIns="0" rIns="0" bIns="0" rtlCol="0" anchor="t"/>
          <a:lstStyle/>
          <a:p>
            <a:pPr marL="0" indent="0">
              <a:buNone/>
            </a:pPr>
            <a:r>
              <a:rPr lang="en-US" sz="1450" dirty="0">
                <a:solidFill>
                  <a:schemeClr val="tx1"/>
                </a:solidFill>
              </a:rPr>
              <a:t>2 Hz, duty 0.6, 30 mm step height, 180 mm body height, roll and pitch levelling</a:t>
            </a:r>
            <a:endParaRPr lang="en-US" sz="1450" dirty="0"/>
          </a:p>
        </p:txBody>
      </p:sp>
      <p:sp>
        <p:nvSpPr>
          <p:cNvPr id="16" name="icon-bg-156"/>
          <p:cNvSpPr/>
          <p:nvPr/>
        </p:nvSpPr>
        <p:spPr>
          <a:xfrm>
            <a:off x="7818120" y="3886200"/>
            <a:ext cx="548640" cy="548640"/>
          </a:xfrm>
          <a:prstGeom prst="ellipse">
            <a:avLst/>
          </a:prstGeom>
          <a:solidFill>
            <a:schemeClr val="accent1"/>
          </a:solidFill>
          <a:ln w="12700">
            <a:solidFill>
              <a:schemeClr val="accent1"/>
            </a:solidFill>
            <a:prstDash val="solid"/>
          </a:ln>
        </p:spPr>
      </p:sp>
      <p:pic>
        <p:nvPicPr>
          <p:cNvPr id="17" name="icon-157" descr="preencoded.png"/>
          <p:cNvPicPr>
            <a:picLocks noChangeAspect="1"/>
          </p:cNvPicPr>
          <p:nvPr/>
        </p:nvPicPr>
        <p:blipFill>
          <a:blip r:embed="rId7"/>
          <a:stretch>
            <a:fillRect/>
          </a:stretch>
        </p:blipFill>
        <p:spPr>
          <a:xfrm>
            <a:off x="7949794" y="4017874"/>
            <a:ext cx="285293" cy="285293"/>
          </a:xfrm>
          <a:prstGeom prst="rect">
            <a:avLst/>
          </a:prstGeom>
        </p:spPr>
      </p:pic>
      <p:sp>
        <p:nvSpPr>
          <p:cNvPr id="18" name="Text 10"/>
          <p:cNvSpPr txBox="1"/>
          <p:nvPr/>
        </p:nvSpPr>
        <p:spPr>
          <a:xfrm>
            <a:off x="8503920" y="3867912"/>
            <a:ext cx="3108960" cy="411480"/>
          </a:xfrm>
          <a:prstGeom prst="rect">
            <a:avLst/>
          </a:prstGeom>
          <a:noFill/>
          <a:ln/>
        </p:spPr>
        <p:txBody>
          <a:bodyPr wrap="square" lIns="0" tIns="0" rIns="0" bIns="0" rtlCol="0" anchor="t"/>
          <a:lstStyle/>
          <a:p>
            <a:pPr marL="0" indent="0">
              <a:buNone/>
            </a:pPr>
            <a:r>
              <a:rPr lang="en-US" sz="1700" b="1" dirty="0">
                <a:solidFill>
                  <a:schemeClr val="tx2"/>
                </a:solidFill>
              </a:rPr>
              <a:t>CoM-centred footholds</a:t>
            </a:r>
            <a:endParaRPr lang="en-US" sz="1700" dirty="0"/>
          </a:p>
        </p:txBody>
      </p:sp>
      <p:sp>
        <p:nvSpPr>
          <p:cNvPr id="19" name="Text 11"/>
          <p:cNvSpPr txBox="1"/>
          <p:nvPr/>
        </p:nvSpPr>
        <p:spPr>
          <a:xfrm>
            <a:off x="8503920" y="4270248"/>
            <a:ext cx="3108960" cy="777240"/>
          </a:xfrm>
          <a:prstGeom prst="rect">
            <a:avLst/>
          </a:prstGeom>
          <a:noFill/>
          <a:ln/>
        </p:spPr>
        <p:txBody>
          <a:bodyPr wrap="square" lIns="0" tIns="0" rIns="0" bIns="0" rtlCol="0" anchor="t"/>
          <a:lstStyle/>
          <a:p>
            <a:pPr marL="0" indent="0">
              <a:buNone/>
            </a:pPr>
            <a:r>
              <a:rPr lang="en-US" sz="1450" dirty="0">
                <a:solidFill>
                  <a:schemeClr val="tx1"/>
                </a:solidFill>
              </a:rPr>
              <a:t>Feet placed around the measured centre of mass, 12 mm aft of the body centre</a:t>
            </a:r>
            <a:endParaRPr lang="en-US" sz="1450" dirty="0"/>
          </a:p>
        </p:txBody>
      </p:sp>
      <p:sp>
        <p:nvSpPr>
          <p:cNvPr id="20" name="panel-158"/>
          <p:cNvSpPr/>
          <p:nvPr/>
        </p:nvSpPr>
        <p:spPr>
          <a:xfrm>
            <a:off x="548640" y="5257800"/>
            <a:ext cx="11064240" cy="914400"/>
          </a:xfrm>
          <a:prstGeom prst="roundRect">
            <a:avLst>
              <a:gd name="adj" fmla="val 10000"/>
            </a:avLst>
          </a:prstGeom>
          <a:solidFill>
            <a:schemeClr val="tx2"/>
          </a:solidFill>
          <a:ln w="12700">
            <a:solidFill>
              <a:schemeClr val="tx2"/>
            </a:solidFill>
            <a:prstDash val="solid"/>
          </a:ln>
        </p:spPr>
      </p:sp>
      <p:sp>
        <p:nvSpPr>
          <p:cNvPr id="21" name="Text 13"/>
          <p:cNvSpPr txBox="1"/>
          <p:nvPr/>
        </p:nvSpPr>
        <p:spPr>
          <a:xfrm>
            <a:off x="777240" y="5257800"/>
            <a:ext cx="10607040" cy="914400"/>
          </a:xfrm>
          <a:prstGeom prst="rect">
            <a:avLst/>
          </a:prstGeom>
          <a:noFill/>
          <a:ln/>
        </p:spPr>
        <p:txBody>
          <a:bodyPr wrap="square" lIns="0" tIns="0" rIns="0" bIns="0" rtlCol="0" anchor="ctr"/>
          <a:lstStyle/>
          <a:p>
            <a:pPr marL="0" indent="0">
              <a:buNone/>
            </a:pPr>
            <a:r>
              <a:rPr lang="en-US" sz="1600" b="1" dirty="0">
                <a:solidFill>
                  <a:schemeClr val="accent2"/>
                </a:solidFill>
              </a:rPr>
              <a:t>Why footholds matter  </a:t>
            </a:r>
            <a:r>
              <a:rPr lang="en-US" sz="1600" dirty="0">
                <a:solidFill>
                  <a:schemeClr val="bg1"/>
                </a:solidFill>
              </a:rPr>
              <a:t>Centred on the body, the trot fell in all 24 gait settings; centred on the measured centre of mass, tilt stayed below 0.7°.</a:t>
            </a:r>
            <a:endParaRPr lang="en-US" sz="16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Simulation Model in MuJoCo</a:t>
            </a:r>
            <a:endParaRPr lang="en-US" sz="3000" dirty="0"/>
          </a:p>
        </p:txBody>
      </p:sp>
      <p:pic>
        <p:nvPicPr>
          <p:cNvPr id="3" name="video-15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6949440" cy="3909060"/>
          </a:xfrm>
          <a:prstGeom prst="rect">
            <a:avLst/>
          </a:prstGeom>
        </p:spPr>
      </p:pic>
      <p:sp>
        <p:nvSpPr>
          <p:cNvPr id="5" name="Text 1"/>
          <p:cNvSpPr txBox="1"/>
          <p:nvPr/>
        </p:nvSpPr>
        <p:spPr>
          <a:xfrm>
            <a:off x="548640" y="5280660"/>
            <a:ext cx="6949440" cy="274320"/>
          </a:xfrm>
          <a:prstGeom prst="rect">
            <a:avLst/>
          </a:prstGeom>
          <a:noFill/>
          <a:ln/>
        </p:spPr>
        <p:txBody>
          <a:bodyPr wrap="square" lIns="0" tIns="0" rIns="0" bIns="0" rtlCol="0" anchor="t"/>
          <a:lstStyle/>
          <a:p>
            <a:pPr marL="0" indent="0">
              <a:buNone/>
            </a:pPr>
            <a:r>
              <a:rPr lang="en-US" sz="1200" i="1" dirty="0">
                <a:solidFill>
                  <a:schemeClr val="accent6"/>
                </a:solidFill>
              </a:rPr>
              <a:t>Autonomous survey: stand up, trot each row gap, detect the row end, turn, log readings</a:t>
            </a:r>
            <a:endParaRPr lang="en-US" sz="1200" dirty="0"/>
          </a:p>
        </p:txBody>
      </p:sp>
      <p:sp>
        <p:nvSpPr>
          <p:cNvPr id="6" name="icon-bg-160"/>
          <p:cNvSpPr/>
          <p:nvPr/>
        </p:nvSpPr>
        <p:spPr>
          <a:xfrm>
            <a:off x="7818120" y="1325880"/>
            <a:ext cx="530352" cy="530352"/>
          </a:xfrm>
          <a:prstGeom prst="ellipse">
            <a:avLst/>
          </a:prstGeom>
          <a:solidFill>
            <a:schemeClr val="accent1"/>
          </a:solidFill>
          <a:ln w="12700">
            <a:solidFill>
              <a:schemeClr val="accent1"/>
            </a:solidFill>
            <a:prstDash val="solid"/>
          </a:ln>
        </p:spPr>
      </p:sp>
      <p:pic>
        <p:nvPicPr>
          <p:cNvPr id="7" name="icon-161" descr="preencoded.png"/>
          <p:cNvPicPr>
            <a:picLocks noChangeAspect="1"/>
          </p:cNvPicPr>
          <p:nvPr/>
        </p:nvPicPr>
        <p:blipFill>
          <a:blip r:embed="rId6"/>
          <a:stretch>
            <a:fillRect/>
          </a:stretch>
        </p:blipFill>
        <p:spPr>
          <a:xfrm>
            <a:off x="7945404" y="1453164"/>
            <a:ext cx="275783" cy="275783"/>
          </a:xfrm>
          <a:prstGeom prst="rect">
            <a:avLst/>
          </a:prstGeom>
        </p:spPr>
      </p:pic>
      <p:sp>
        <p:nvSpPr>
          <p:cNvPr id="8" name="Text 3"/>
          <p:cNvSpPr txBox="1"/>
          <p:nvPr/>
        </p:nvSpPr>
        <p:spPr>
          <a:xfrm>
            <a:off x="8503920" y="1307592"/>
            <a:ext cx="3108960" cy="384048"/>
          </a:xfrm>
          <a:prstGeom prst="rect">
            <a:avLst/>
          </a:prstGeom>
          <a:noFill/>
          <a:ln/>
        </p:spPr>
        <p:txBody>
          <a:bodyPr wrap="square" lIns="0" tIns="0" rIns="0" bIns="0" rtlCol="0" anchor="t"/>
          <a:lstStyle/>
          <a:p>
            <a:pPr marL="0" indent="0">
              <a:buNone/>
            </a:pPr>
            <a:r>
              <a:rPr lang="en-US" sz="1700" b="1" dirty="0">
                <a:solidFill>
                  <a:schemeClr val="tx2"/>
                </a:solidFill>
              </a:rPr>
              <a:t>Measured geometry</a:t>
            </a:r>
            <a:endParaRPr lang="en-US" sz="1700" dirty="0"/>
          </a:p>
        </p:txBody>
      </p:sp>
      <p:sp>
        <p:nvSpPr>
          <p:cNvPr id="9" name="Text 4"/>
          <p:cNvSpPr txBox="1"/>
          <p:nvPr/>
        </p:nvSpPr>
        <p:spPr>
          <a:xfrm>
            <a:off x="8503920" y="1691640"/>
            <a:ext cx="3108960" cy="658368"/>
          </a:xfrm>
          <a:prstGeom prst="rect">
            <a:avLst/>
          </a:prstGeom>
          <a:noFill/>
          <a:ln/>
        </p:spPr>
        <p:txBody>
          <a:bodyPr wrap="square" lIns="0" tIns="0" rIns="0" bIns="0" rtlCol="0" anchor="t"/>
          <a:lstStyle/>
          <a:p>
            <a:pPr marL="0" indent="0">
              <a:buNone/>
            </a:pPr>
            <a:r>
              <a:rPr lang="en-US" sz="1450" dirty="0">
                <a:solidFill>
                  <a:schemeClr val="tx1"/>
                </a:solidFill>
              </a:rPr>
              <a:t>140 × 78 mm hip spacing, 111 / 125 mm legs, 1.35 kg</a:t>
            </a:r>
            <a:endParaRPr lang="en-US" sz="1450" dirty="0"/>
          </a:p>
        </p:txBody>
      </p:sp>
      <p:sp>
        <p:nvSpPr>
          <p:cNvPr id="10" name="icon-bg-162"/>
          <p:cNvSpPr/>
          <p:nvPr/>
        </p:nvSpPr>
        <p:spPr>
          <a:xfrm>
            <a:off x="7818120" y="2377440"/>
            <a:ext cx="530352" cy="530352"/>
          </a:xfrm>
          <a:prstGeom prst="ellipse">
            <a:avLst/>
          </a:prstGeom>
          <a:solidFill>
            <a:schemeClr val="accent1"/>
          </a:solidFill>
          <a:ln w="12700">
            <a:solidFill>
              <a:schemeClr val="accent1"/>
            </a:solidFill>
            <a:prstDash val="solid"/>
          </a:ln>
        </p:spPr>
      </p:sp>
      <p:pic>
        <p:nvPicPr>
          <p:cNvPr id="11" name="icon-163" descr="preencoded.png"/>
          <p:cNvPicPr>
            <a:picLocks noChangeAspect="1"/>
          </p:cNvPicPr>
          <p:nvPr/>
        </p:nvPicPr>
        <p:blipFill>
          <a:blip r:embed="rId7"/>
          <a:stretch>
            <a:fillRect/>
          </a:stretch>
        </p:blipFill>
        <p:spPr>
          <a:xfrm>
            <a:off x="7945404" y="2504724"/>
            <a:ext cx="275783" cy="275783"/>
          </a:xfrm>
          <a:prstGeom prst="rect">
            <a:avLst/>
          </a:prstGeom>
        </p:spPr>
      </p:pic>
      <p:sp>
        <p:nvSpPr>
          <p:cNvPr id="12" name="Text 6"/>
          <p:cNvSpPr txBox="1"/>
          <p:nvPr/>
        </p:nvSpPr>
        <p:spPr>
          <a:xfrm>
            <a:off x="8503920" y="2359152"/>
            <a:ext cx="3108960" cy="384048"/>
          </a:xfrm>
          <a:prstGeom prst="rect">
            <a:avLst/>
          </a:prstGeom>
          <a:noFill/>
          <a:ln/>
        </p:spPr>
        <p:txBody>
          <a:bodyPr wrap="square" lIns="0" tIns="0" rIns="0" bIns="0" rtlCol="0" anchor="t"/>
          <a:lstStyle/>
          <a:p>
            <a:pPr marL="0" indent="0">
              <a:buNone/>
            </a:pPr>
            <a:r>
              <a:rPr lang="en-US" sz="1700" b="1" dirty="0">
                <a:solidFill>
                  <a:schemeClr val="tx2"/>
                </a:solidFill>
              </a:rPr>
              <a:t>Realistic servos</a:t>
            </a:r>
            <a:endParaRPr lang="en-US" sz="1700" dirty="0"/>
          </a:p>
        </p:txBody>
      </p:sp>
      <p:sp>
        <p:nvSpPr>
          <p:cNvPr id="13" name="Text 7"/>
          <p:cNvSpPr txBox="1"/>
          <p:nvPr/>
        </p:nvSpPr>
        <p:spPr>
          <a:xfrm>
            <a:off x="8503920" y="2743200"/>
            <a:ext cx="3108960" cy="658368"/>
          </a:xfrm>
          <a:prstGeom prst="rect">
            <a:avLst/>
          </a:prstGeom>
          <a:noFill/>
          <a:ln/>
        </p:spPr>
        <p:txBody>
          <a:bodyPr wrap="square" lIns="0" tIns="0" rIns="0" bIns="0" rtlCol="0" anchor="t"/>
          <a:lstStyle/>
          <a:p>
            <a:pPr marL="0" indent="0">
              <a:buNone/>
            </a:pPr>
            <a:r>
              <a:rPr lang="en-US" sz="1450" dirty="0">
                <a:solidFill>
                  <a:schemeClr val="tx1"/>
                </a:solidFill>
              </a:rPr>
              <a:t>Position servos capped at 1.0 N·m (MG996R stall 0.92–1.08 N·m)</a:t>
            </a:r>
            <a:endParaRPr lang="en-US" sz="1450" dirty="0"/>
          </a:p>
        </p:txBody>
      </p:sp>
      <p:sp>
        <p:nvSpPr>
          <p:cNvPr id="14" name="icon-bg-164"/>
          <p:cNvSpPr/>
          <p:nvPr/>
        </p:nvSpPr>
        <p:spPr>
          <a:xfrm>
            <a:off x="7818120" y="3429000"/>
            <a:ext cx="530352" cy="530352"/>
          </a:xfrm>
          <a:prstGeom prst="ellipse">
            <a:avLst/>
          </a:prstGeom>
          <a:solidFill>
            <a:schemeClr val="accent1"/>
          </a:solidFill>
          <a:ln w="12700">
            <a:solidFill>
              <a:schemeClr val="accent1"/>
            </a:solidFill>
            <a:prstDash val="solid"/>
          </a:ln>
        </p:spPr>
      </p:sp>
      <p:pic>
        <p:nvPicPr>
          <p:cNvPr id="15" name="icon-165" descr="preencoded.png"/>
          <p:cNvPicPr>
            <a:picLocks noChangeAspect="1"/>
          </p:cNvPicPr>
          <p:nvPr/>
        </p:nvPicPr>
        <p:blipFill>
          <a:blip r:embed="rId8"/>
          <a:stretch>
            <a:fillRect/>
          </a:stretch>
        </p:blipFill>
        <p:spPr>
          <a:xfrm>
            <a:off x="7945404" y="3556284"/>
            <a:ext cx="275783" cy="275783"/>
          </a:xfrm>
          <a:prstGeom prst="rect">
            <a:avLst/>
          </a:prstGeom>
        </p:spPr>
      </p:pic>
      <p:sp>
        <p:nvSpPr>
          <p:cNvPr id="16" name="Text 9"/>
          <p:cNvSpPr txBox="1"/>
          <p:nvPr/>
        </p:nvSpPr>
        <p:spPr>
          <a:xfrm>
            <a:off x="8503920" y="3410712"/>
            <a:ext cx="3108960" cy="384048"/>
          </a:xfrm>
          <a:prstGeom prst="rect">
            <a:avLst/>
          </a:prstGeom>
          <a:noFill/>
          <a:ln/>
        </p:spPr>
        <p:txBody>
          <a:bodyPr wrap="square" lIns="0" tIns="0" rIns="0" bIns="0" rtlCol="0" anchor="t"/>
          <a:lstStyle/>
          <a:p>
            <a:pPr marL="0" indent="0">
              <a:buNone/>
            </a:pPr>
            <a:r>
              <a:rPr lang="en-US" sz="1700" b="1" dirty="0">
                <a:solidFill>
                  <a:schemeClr val="tx2"/>
                </a:solidFill>
              </a:rPr>
              <a:t>Modelled field</a:t>
            </a:r>
            <a:endParaRPr lang="en-US" sz="1700" dirty="0"/>
          </a:p>
        </p:txBody>
      </p:sp>
      <p:sp>
        <p:nvSpPr>
          <p:cNvPr id="17" name="Text 10"/>
          <p:cNvSpPr txBox="1"/>
          <p:nvPr/>
        </p:nvSpPr>
        <p:spPr>
          <a:xfrm>
            <a:off x="8503920" y="3794760"/>
            <a:ext cx="3108960" cy="658368"/>
          </a:xfrm>
          <a:prstGeom prst="rect">
            <a:avLst/>
          </a:prstGeom>
          <a:noFill/>
          <a:ln/>
        </p:spPr>
        <p:txBody>
          <a:bodyPr wrap="square" lIns="0" tIns="0" rIns="0" bIns="0" rtlCol="0" anchor="t"/>
          <a:lstStyle/>
          <a:p>
            <a:pPr marL="0" indent="0">
              <a:buNone/>
            </a:pPr>
            <a:r>
              <a:rPr lang="en-US" sz="1450" dirty="0">
                <a:solidFill>
                  <a:schemeClr val="tx1"/>
                </a:solidFill>
              </a:rPr>
              <a:t>4 tomato rows, a stressed patch emitting VOCs, a dusty headland</a:t>
            </a:r>
            <a:endParaRPr lang="en-US" sz="1450" dirty="0"/>
          </a:p>
        </p:txBody>
      </p:sp>
      <p:sp>
        <p:nvSpPr>
          <p:cNvPr id="18" name="icon-bg-166"/>
          <p:cNvSpPr/>
          <p:nvPr/>
        </p:nvSpPr>
        <p:spPr>
          <a:xfrm>
            <a:off x="7818120" y="4480560"/>
            <a:ext cx="530352" cy="530352"/>
          </a:xfrm>
          <a:prstGeom prst="ellipse">
            <a:avLst/>
          </a:prstGeom>
          <a:solidFill>
            <a:schemeClr val="accent1"/>
          </a:solidFill>
          <a:ln w="12700">
            <a:solidFill>
              <a:schemeClr val="accent1"/>
            </a:solidFill>
            <a:prstDash val="solid"/>
          </a:ln>
        </p:spPr>
      </p:sp>
      <p:pic>
        <p:nvPicPr>
          <p:cNvPr id="19" name="icon-167" descr="preencoded.png"/>
          <p:cNvPicPr>
            <a:picLocks noChangeAspect="1"/>
          </p:cNvPicPr>
          <p:nvPr/>
        </p:nvPicPr>
        <p:blipFill>
          <a:blip r:embed="rId9"/>
          <a:stretch>
            <a:fillRect/>
          </a:stretch>
        </p:blipFill>
        <p:spPr>
          <a:xfrm>
            <a:off x="7945404" y="4607844"/>
            <a:ext cx="275783" cy="275783"/>
          </a:xfrm>
          <a:prstGeom prst="rect">
            <a:avLst/>
          </a:prstGeom>
        </p:spPr>
      </p:pic>
      <p:sp>
        <p:nvSpPr>
          <p:cNvPr id="20" name="Text 12"/>
          <p:cNvSpPr txBox="1"/>
          <p:nvPr/>
        </p:nvSpPr>
        <p:spPr>
          <a:xfrm>
            <a:off x="8503920" y="4462272"/>
            <a:ext cx="3108960" cy="384048"/>
          </a:xfrm>
          <a:prstGeom prst="rect">
            <a:avLst/>
          </a:prstGeom>
          <a:noFill/>
          <a:ln/>
        </p:spPr>
        <p:txBody>
          <a:bodyPr wrap="square" lIns="0" tIns="0" rIns="0" bIns="0" rtlCol="0" anchor="t"/>
          <a:lstStyle/>
          <a:p>
            <a:pPr marL="0" indent="0">
              <a:buNone/>
            </a:pPr>
            <a:r>
              <a:rPr lang="en-US" sz="1700" b="1" dirty="0">
                <a:solidFill>
                  <a:schemeClr val="tx2"/>
                </a:solidFill>
              </a:rPr>
              <a:t>Autonomous mission</a:t>
            </a:r>
            <a:endParaRPr lang="en-US" sz="1700" dirty="0"/>
          </a:p>
        </p:txBody>
      </p:sp>
      <p:sp>
        <p:nvSpPr>
          <p:cNvPr id="21" name="Text 13"/>
          <p:cNvSpPr txBox="1"/>
          <p:nvPr/>
        </p:nvSpPr>
        <p:spPr>
          <a:xfrm>
            <a:off x="8503920" y="4846320"/>
            <a:ext cx="3108960" cy="658368"/>
          </a:xfrm>
          <a:prstGeom prst="rect">
            <a:avLst/>
          </a:prstGeom>
          <a:noFill/>
          <a:ln/>
        </p:spPr>
        <p:txBody>
          <a:bodyPr wrap="square" lIns="0" tIns="0" rIns="0" bIns="0" rtlCol="0" anchor="t"/>
          <a:lstStyle/>
          <a:p>
            <a:pPr marL="0" indent="0">
              <a:buNone/>
            </a:pPr>
            <a:r>
              <a:rPr lang="en-US" sz="1450" dirty="0">
                <a:solidFill>
                  <a:schemeClr val="tx1"/>
                </a:solidFill>
              </a:rPr>
              <a:t>Heading control; front range sensor ends each row at 55 cm</a:t>
            </a:r>
            <a:endParaRPr lang="en-US" sz="1450" dirty="0"/>
          </a:p>
        </p:txBody>
      </p:sp>
      <p:sp>
        <p:nvSpPr>
          <p:cNvPr id="22" name="panel-168"/>
          <p:cNvSpPr/>
          <p:nvPr/>
        </p:nvSpPr>
        <p:spPr>
          <a:xfrm>
            <a:off x="548640" y="5669280"/>
            <a:ext cx="11064240" cy="566928"/>
          </a:xfrm>
          <a:prstGeom prst="roundRect">
            <a:avLst>
              <a:gd name="adj" fmla="val 16129"/>
            </a:avLst>
          </a:prstGeom>
          <a:solidFill>
            <a:schemeClr val="bg2"/>
          </a:solidFill>
          <a:ln w="12700">
            <a:solidFill>
              <a:schemeClr val="bg2"/>
            </a:solidFill>
            <a:prstDash val="solid"/>
          </a:ln>
        </p:spPr>
      </p:sp>
      <p:sp>
        <p:nvSpPr>
          <p:cNvPr id="23" name="Text 15"/>
          <p:cNvSpPr txBox="1"/>
          <p:nvPr/>
        </p:nvSpPr>
        <p:spPr>
          <a:xfrm>
            <a:off x="777240" y="5669280"/>
            <a:ext cx="10607040" cy="566928"/>
          </a:xfrm>
          <a:prstGeom prst="rect">
            <a:avLst/>
          </a:prstGeom>
          <a:noFill/>
          <a:ln/>
        </p:spPr>
        <p:txBody>
          <a:bodyPr wrap="square" lIns="0" tIns="0" rIns="0" bIns="0" rtlCol="0" anchor="ctr"/>
          <a:lstStyle/>
          <a:p>
            <a:pPr marL="0" indent="0">
              <a:buNone/>
            </a:pPr>
            <a:r>
              <a:rPr lang="en-US" sz="1500" b="1" dirty="0">
                <a:solidFill>
                  <a:schemeClr val="tx2"/>
                </a:solidFill>
              </a:rPr>
              <a:t>Gait chosen by a sweep  </a:t>
            </a:r>
            <a:r>
              <a:rPr lang="en-US" sz="1500" dirty="0">
                <a:solidFill>
                  <a:schemeClr val="tx1"/>
                </a:solidFill>
              </a:rPr>
              <a:t>24 settings: frequency 2 / 2.5 / 3 Hz × duty 0.5 / 0.6 × stiffness 15 / 30 N·m/rad × levelling gain 0 / 0.5</a:t>
            </a:r>
            <a:endParaRPr lang="en-US" sz="15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Technology Stack</a:t>
            </a:r>
            <a:endParaRPr lang="en-US" sz="3000" dirty="0"/>
          </a:p>
        </p:txBody>
      </p:sp>
      <p:sp>
        <p:nvSpPr>
          <p:cNvPr id="4" name="panel-169"/>
          <p:cNvSpPr/>
          <p:nvPr/>
        </p:nvSpPr>
        <p:spPr>
          <a:xfrm>
            <a:off x="548640" y="1325880"/>
            <a:ext cx="3529584" cy="2286000"/>
          </a:xfrm>
          <a:prstGeom prst="roundRect">
            <a:avLst>
              <a:gd name="adj" fmla="val 4000"/>
            </a:avLst>
          </a:prstGeom>
          <a:solidFill>
            <a:schemeClr val="bg2"/>
          </a:solidFill>
          <a:ln w="12700">
            <a:solidFill>
              <a:schemeClr val="bg2"/>
            </a:solidFill>
            <a:prstDash val="solid"/>
          </a:ln>
        </p:spPr>
      </p:sp>
      <p:sp>
        <p:nvSpPr>
          <p:cNvPr id="5" name="icon-bg-170"/>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6" name="icon-171" descr="preencoded.png"/>
          <p:cNvPicPr>
            <a:picLocks noChangeAspect="1"/>
          </p:cNvPicPr>
          <p:nvPr/>
        </p:nvPicPr>
        <p:blipFill>
          <a:blip r:embed="rId3"/>
          <a:stretch>
            <a:fillRect/>
          </a:stretch>
        </p:blipFill>
        <p:spPr>
          <a:xfrm>
            <a:off x="908914" y="1686154"/>
            <a:ext cx="285293" cy="285293"/>
          </a:xfrm>
          <a:prstGeom prst="rect">
            <a:avLst/>
          </a:prstGeom>
        </p:spPr>
      </p:pic>
      <p:sp>
        <p:nvSpPr>
          <p:cNvPr id="7" name="Text 3"/>
          <p:cNvSpPr txBox="1"/>
          <p:nvPr/>
        </p:nvSpPr>
        <p:spPr>
          <a:xfrm>
            <a:off x="1463040" y="155448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Hardware</a:t>
            </a:r>
            <a:endParaRPr lang="en-US" sz="1800" dirty="0"/>
          </a:p>
        </p:txBody>
      </p:sp>
      <p:sp>
        <p:nvSpPr>
          <p:cNvPr id="8" name="Text 4"/>
          <p:cNvSpPr txBox="1"/>
          <p:nvPr/>
        </p:nvSpPr>
        <p:spPr>
          <a:xfrm>
            <a:off x="777240"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XIAO ESP32-S3 + expansion board · ESP32-CAM (OV3660) · SGP30, MCP9808, PPD42, HC-SR04 × 2 · 12 × MG996R</a:t>
            </a:r>
            <a:endParaRPr lang="en-US" sz="1500" dirty="0"/>
          </a:p>
        </p:txBody>
      </p:sp>
      <p:sp>
        <p:nvSpPr>
          <p:cNvPr id="9" name="panel-172"/>
          <p:cNvSpPr/>
          <p:nvPr/>
        </p:nvSpPr>
        <p:spPr>
          <a:xfrm>
            <a:off x="4279392" y="1325880"/>
            <a:ext cx="3529584" cy="2286000"/>
          </a:xfrm>
          <a:prstGeom prst="roundRect">
            <a:avLst>
              <a:gd name="adj" fmla="val 4000"/>
            </a:avLst>
          </a:prstGeom>
          <a:solidFill>
            <a:schemeClr val="bg2"/>
          </a:solidFill>
          <a:ln w="12700">
            <a:solidFill>
              <a:schemeClr val="bg2"/>
            </a:solidFill>
            <a:prstDash val="solid"/>
          </a:ln>
        </p:spPr>
      </p:sp>
      <p:sp>
        <p:nvSpPr>
          <p:cNvPr id="10" name="icon-bg-173"/>
          <p:cNvSpPr/>
          <p:nvPr/>
        </p:nvSpPr>
        <p:spPr>
          <a:xfrm>
            <a:off x="4507992" y="1554480"/>
            <a:ext cx="548640" cy="548640"/>
          </a:xfrm>
          <a:prstGeom prst="ellipse">
            <a:avLst/>
          </a:prstGeom>
          <a:solidFill>
            <a:schemeClr val="accent1"/>
          </a:solidFill>
          <a:ln w="12700">
            <a:solidFill>
              <a:schemeClr val="accent1"/>
            </a:solidFill>
            <a:prstDash val="solid"/>
          </a:ln>
        </p:spPr>
      </p:sp>
      <p:pic>
        <p:nvPicPr>
          <p:cNvPr id="11" name="icon-174" descr="preencoded.png"/>
          <p:cNvPicPr>
            <a:picLocks noChangeAspect="1"/>
          </p:cNvPicPr>
          <p:nvPr/>
        </p:nvPicPr>
        <p:blipFill>
          <a:blip r:embed="rId4"/>
          <a:stretch>
            <a:fillRect/>
          </a:stretch>
        </p:blipFill>
        <p:spPr>
          <a:xfrm>
            <a:off x="4639666" y="1686154"/>
            <a:ext cx="285293" cy="285293"/>
          </a:xfrm>
          <a:prstGeom prst="rect">
            <a:avLst/>
          </a:prstGeom>
        </p:spPr>
      </p:pic>
      <p:sp>
        <p:nvSpPr>
          <p:cNvPr id="12" name="Text 7"/>
          <p:cNvSpPr txBox="1"/>
          <p:nvPr/>
        </p:nvSpPr>
        <p:spPr>
          <a:xfrm>
            <a:off x="5193792" y="155448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Firmware</a:t>
            </a:r>
            <a:endParaRPr lang="en-US" sz="1800" dirty="0"/>
          </a:p>
        </p:txBody>
      </p:sp>
      <p:sp>
        <p:nvSpPr>
          <p:cNvPr id="13" name="Text 8"/>
          <p:cNvSpPr txBox="1"/>
          <p:nvPr/>
        </p:nvSpPr>
        <p:spPr>
          <a:xfrm>
            <a:off x="4507992"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Arduino-ESP32 core 3.3 · Adafruit SGP30 · U8g2 display · esp_http_server for MJPEG</a:t>
            </a:r>
            <a:endParaRPr lang="en-US" sz="1500" dirty="0"/>
          </a:p>
        </p:txBody>
      </p:sp>
      <p:sp>
        <p:nvSpPr>
          <p:cNvPr id="14" name="panel-175"/>
          <p:cNvSpPr/>
          <p:nvPr/>
        </p:nvSpPr>
        <p:spPr>
          <a:xfrm>
            <a:off x="8010144" y="1325880"/>
            <a:ext cx="3529584" cy="2286000"/>
          </a:xfrm>
          <a:prstGeom prst="roundRect">
            <a:avLst>
              <a:gd name="adj" fmla="val 4000"/>
            </a:avLst>
          </a:prstGeom>
          <a:solidFill>
            <a:schemeClr val="bg2"/>
          </a:solidFill>
          <a:ln w="12700">
            <a:solidFill>
              <a:schemeClr val="bg2"/>
            </a:solidFill>
            <a:prstDash val="solid"/>
          </a:ln>
        </p:spPr>
      </p:sp>
      <p:sp>
        <p:nvSpPr>
          <p:cNvPr id="15" name="icon-bg-176"/>
          <p:cNvSpPr/>
          <p:nvPr/>
        </p:nvSpPr>
        <p:spPr>
          <a:xfrm>
            <a:off x="8238744" y="1554480"/>
            <a:ext cx="548640" cy="548640"/>
          </a:xfrm>
          <a:prstGeom prst="ellipse">
            <a:avLst/>
          </a:prstGeom>
          <a:solidFill>
            <a:schemeClr val="accent1"/>
          </a:solidFill>
          <a:ln w="12700">
            <a:solidFill>
              <a:schemeClr val="accent1"/>
            </a:solidFill>
            <a:prstDash val="solid"/>
          </a:ln>
        </p:spPr>
      </p:sp>
      <p:pic>
        <p:nvPicPr>
          <p:cNvPr id="16" name="icon-177" descr="preencoded.png"/>
          <p:cNvPicPr>
            <a:picLocks noChangeAspect="1"/>
          </p:cNvPicPr>
          <p:nvPr/>
        </p:nvPicPr>
        <p:blipFill>
          <a:blip r:embed="rId5"/>
          <a:stretch>
            <a:fillRect/>
          </a:stretch>
        </p:blipFill>
        <p:spPr>
          <a:xfrm>
            <a:off x="8370418" y="1686154"/>
            <a:ext cx="285293" cy="285293"/>
          </a:xfrm>
          <a:prstGeom prst="rect">
            <a:avLst/>
          </a:prstGeom>
        </p:spPr>
      </p:pic>
      <p:sp>
        <p:nvSpPr>
          <p:cNvPr id="17" name="Text 11"/>
          <p:cNvSpPr txBox="1"/>
          <p:nvPr/>
        </p:nvSpPr>
        <p:spPr>
          <a:xfrm>
            <a:off x="8924544" y="155448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Dashboard and AI</a:t>
            </a:r>
            <a:endParaRPr lang="en-US" sz="1800" dirty="0"/>
          </a:p>
        </p:txBody>
      </p:sp>
      <p:sp>
        <p:nvSpPr>
          <p:cNvPr id="18" name="Text 12"/>
          <p:cNvSpPr txBox="1"/>
          <p:nvPr/>
        </p:nvSpPr>
        <p:spPr>
          <a:xfrm>
            <a:off x="8238744" y="224028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Python · Flask · PyTorch · Hugging Face Transformers · MobileNetV2 (PlantVillage)</a:t>
            </a:r>
            <a:endParaRPr lang="en-US" sz="1500" dirty="0"/>
          </a:p>
        </p:txBody>
      </p:sp>
      <p:sp>
        <p:nvSpPr>
          <p:cNvPr id="19" name="panel-178"/>
          <p:cNvSpPr/>
          <p:nvPr/>
        </p:nvSpPr>
        <p:spPr>
          <a:xfrm>
            <a:off x="548640" y="3794760"/>
            <a:ext cx="3529584" cy="2286000"/>
          </a:xfrm>
          <a:prstGeom prst="roundRect">
            <a:avLst>
              <a:gd name="adj" fmla="val 4000"/>
            </a:avLst>
          </a:prstGeom>
          <a:solidFill>
            <a:schemeClr val="bg2"/>
          </a:solidFill>
          <a:ln w="12700">
            <a:solidFill>
              <a:schemeClr val="bg2"/>
            </a:solidFill>
            <a:prstDash val="solid"/>
          </a:ln>
        </p:spPr>
      </p:sp>
      <p:sp>
        <p:nvSpPr>
          <p:cNvPr id="20" name="icon-bg-179"/>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21" name="icon-180" descr="preencoded.png"/>
          <p:cNvPicPr>
            <a:picLocks noChangeAspect="1"/>
          </p:cNvPicPr>
          <p:nvPr/>
        </p:nvPicPr>
        <p:blipFill>
          <a:blip r:embed="rId6"/>
          <a:stretch>
            <a:fillRect/>
          </a:stretch>
        </p:blipFill>
        <p:spPr>
          <a:xfrm>
            <a:off x="908914" y="4155034"/>
            <a:ext cx="285293" cy="285293"/>
          </a:xfrm>
          <a:prstGeom prst="rect">
            <a:avLst/>
          </a:prstGeom>
        </p:spPr>
      </p:pic>
      <p:sp>
        <p:nvSpPr>
          <p:cNvPr id="22" name="Text 15"/>
          <p:cNvSpPr txBox="1"/>
          <p:nvPr/>
        </p:nvSpPr>
        <p:spPr>
          <a:xfrm>
            <a:off x="1463040" y="402336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Simulation</a:t>
            </a:r>
            <a:endParaRPr lang="en-US" sz="1800" dirty="0"/>
          </a:p>
        </p:txBody>
      </p:sp>
      <p:sp>
        <p:nvSpPr>
          <p:cNvPr id="23" name="Text 16"/>
          <p:cNvSpPr txBox="1"/>
          <p:nvPr/>
        </p:nvSpPr>
        <p:spPr>
          <a:xfrm>
            <a:off x="777240"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MuJoCo 3 · NumPy · Matplotlib · headless video and metrics</a:t>
            </a:r>
            <a:endParaRPr lang="en-US" sz="1500" dirty="0"/>
          </a:p>
        </p:txBody>
      </p:sp>
      <p:sp>
        <p:nvSpPr>
          <p:cNvPr id="24" name="panel-181"/>
          <p:cNvSpPr/>
          <p:nvPr/>
        </p:nvSpPr>
        <p:spPr>
          <a:xfrm>
            <a:off x="4279392" y="3794760"/>
            <a:ext cx="3529584" cy="2286000"/>
          </a:xfrm>
          <a:prstGeom prst="roundRect">
            <a:avLst>
              <a:gd name="adj" fmla="val 4000"/>
            </a:avLst>
          </a:prstGeom>
          <a:solidFill>
            <a:schemeClr val="bg2"/>
          </a:solidFill>
          <a:ln w="12700">
            <a:solidFill>
              <a:schemeClr val="bg2"/>
            </a:solidFill>
            <a:prstDash val="solid"/>
          </a:ln>
        </p:spPr>
      </p:sp>
      <p:sp>
        <p:nvSpPr>
          <p:cNvPr id="25" name="icon-bg-182"/>
          <p:cNvSpPr/>
          <p:nvPr/>
        </p:nvSpPr>
        <p:spPr>
          <a:xfrm>
            <a:off x="4507992" y="4023360"/>
            <a:ext cx="548640" cy="548640"/>
          </a:xfrm>
          <a:prstGeom prst="ellipse">
            <a:avLst/>
          </a:prstGeom>
          <a:solidFill>
            <a:schemeClr val="accent1"/>
          </a:solidFill>
          <a:ln w="12700">
            <a:solidFill>
              <a:schemeClr val="accent1"/>
            </a:solidFill>
            <a:prstDash val="solid"/>
          </a:ln>
        </p:spPr>
      </p:sp>
      <p:pic>
        <p:nvPicPr>
          <p:cNvPr id="26" name="icon-183" descr="preencoded.png"/>
          <p:cNvPicPr>
            <a:picLocks noChangeAspect="1"/>
          </p:cNvPicPr>
          <p:nvPr/>
        </p:nvPicPr>
        <p:blipFill>
          <a:blip r:embed="rId7"/>
          <a:stretch>
            <a:fillRect/>
          </a:stretch>
        </p:blipFill>
        <p:spPr>
          <a:xfrm>
            <a:off x="4639666" y="4155034"/>
            <a:ext cx="285293" cy="285293"/>
          </a:xfrm>
          <a:prstGeom prst="rect">
            <a:avLst/>
          </a:prstGeom>
        </p:spPr>
      </p:pic>
      <p:sp>
        <p:nvSpPr>
          <p:cNvPr id="27" name="Text 19"/>
          <p:cNvSpPr txBox="1"/>
          <p:nvPr/>
        </p:nvSpPr>
        <p:spPr>
          <a:xfrm>
            <a:off x="5193792" y="402336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Mechanical</a:t>
            </a:r>
            <a:endParaRPr lang="en-US" sz="1800" dirty="0"/>
          </a:p>
        </p:txBody>
      </p:sp>
      <p:sp>
        <p:nvSpPr>
          <p:cNvPr id="28" name="Text 20"/>
          <p:cNvSpPr txBox="1"/>
          <p:nvPr/>
        </p:nvSpPr>
        <p:spPr>
          <a:xfrm>
            <a:off x="4507992"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SpotMicro base (CC-BY) · PLA+ and TPU · Python generators for the custom mounts</a:t>
            </a:r>
            <a:endParaRPr lang="en-US" sz="1500" dirty="0"/>
          </a:p>
        </p:txBody>
      </p:sp>
      <p:sp>
        <p:nvSpPr>
          <p:cNvPr id="29" name="panel-184"/>
          <p:cNvSpPr/>
          <p:nvPr/>
        </p:nvSpPr>
        <p:spPr>
          <a:xfrm>
            <a:off x="8010144" y="3794760"/>
            <a:ext cx="3529584" cy="2286000"/>
          </a:xfrm>
          <a:prstGeom prst="roundRect">
            <a:avLst>
              <a:gd name="adj" fmla="val 4000"/>
            </a:avLst>
          </a:prstGeom>
          <a:solidFill>
            <a:schemeClr val="bg2"/>
          </a:solidFill>
          <a:ln w="12700">
            <a:solidFill>
              <a:schemeClr val="bg2"/>
            </a:solidFill>
            <a:prstDash val="solid"/>
          </a:ln>
        </p:spPr>
      </p:sp>
      <p:sp>
        <p:nvSpPr>
          <p:cNvPr id="30" name="icon-bg-185"/>
          <p:cNvSpPr/>
          <p:nvPr/>
        </p:nvSpPr>
        <p:spPr>
          <a:xfrm>
            <a:off x="8238744" y="4023360"/>
            <a:ext cx="548640" cy="548640"/>
          </a:xfrm>
          <a:prstGeom prst="ellipse">
            <a:avLst/>
          </a:prstGeom>
          <a:solidFill>
            <a:schemeClr val="accent1"/>
          </a:solidFill>
          <a:ln w="12700">
            <a:solidFill>
              <a:schemeClr val="accent1"/>
            </a:solidFill>
            <a:prstDash val="solid"/>
          </a:ln>
        </p:spPr>
      </p:sp>
      <p:pic>
        <p:nvPicPr>
          <p:cNvPr id="31" name="icon-186" descr="preencoded.png"/>
          <p:cNvPicPr>
            <a:picLocks noChangeAspect="1"/>
          </p:cNvPicPr>
          <p:nvPr/>
        </p:nvPicPr>
        <p:blipFill>
          <a:blip r:embed="rId8"/>
          <a:stretch>
            <a:fillRect/>
          </a:stretch>
        </p:blipFill>
        <p:spPr>
          <a:xfrm>
            <a:off x="8370418" y="4155034"/>
            <a:ext cx="285293" cy="285293"/>
          </a:xfrm>
          <a:prstGeom prst="rect">
            <a:avLst/>
          </a:prstGeom>
        </p:spPr>
      </p:pic>
      <p:sp>
        <p:nvSpPr>
          <p:cNvPr id="32" name="Text 23"/>
          <p:cNvSpPr txBox="1"/>
          <p:nvPr/>
        </p:nvSpPr>
        <p:spPr>
          <a:xfrm>
            <a:off x="8924544" y="402336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Collaboration</a:t>
            </a:r>
            <a:endParaRPr lang="en-US" sz="1800" dirty="0"/>
          </a:p>
        </p:txBody>
      </p:sp>
      <p:sp>
        <p:nvSpPr>
          <p:cNvPr id="33" name="Text 24"/>
          <p:cNvSpPr txBox="1"/>
          <p:nvPr/>
        </p:nvSpPr>
        <p:spPr>
          <a:xfrm>
            <a:off x="8238744" y="4709160"/>
            <a:ext cx="3072384" cy="123444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Git and GitHub: firmware, dashboard, simulation and print files in one repository</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lIns="0" tIns="0" rIns="0" bIns="0" rtlCol="0" anchor="b"/>
          <a:lstStyle/>
          <a:p>
            <a:pPr marL="0" indent="0" algn="l">
              <a:buNone/>
            </a:pPr>
            <a:r>
              <a:rPr lang="en-US" sz="8800" b="1" dirty="0">
                <a:solidFill>
                  <a:schemeClr val="accent2"/>
                </a:solidFill>
                <a:latin typeface="Cambria" pitchFamily="34" charset="0"/>
                <a:ea typeface="Cambria" pitchFamily="34" charset="-122"/>
                <a:cs typeface="Cambria" pitchFamily="34" charset="-120"/>
              </a:rPr>
              <a:t>03</a:t>
            </a: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lIns="0" tIns="0" rIns="0" bIns="0" rtlCol="0" anchor="t"/>
          <a:lstStyle/>
          <a:p>
            <a:pPr marL="0" indent="0" algn="l">
              <a:buNone/>
            </a:pPr>
            <a:r>
              <a:rPr lang="en-US" sz="4400" b="1" dirty="0">
                <a:solidFill>
                  <a:schemeClr val="bg1"/>
                </a:solidFill>
              </a:rPr>
              <a:t>Completion and Integration</a:t>
            </a: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lIns="0" tIns="0" rIns="0" bIns="0" rtlCol="0" anchor="t"/>
          <a:lstStyle/>
          <a:p>
            <a:pPr marL="0" indent="0" algn="l">
              <a:buNone/>
            </a:pPr>
            <a:r>
              <a:rPr lang="en-US" sz="1800" dirty="0">
                <a:solidFill>
                  <a:schemeClr val="bg2"/>
                </a:solidFill>
              </a:rPr>
              <a:t>What was delivered, how the parts work together, and evidence of stable operation, followed by the live demo</a:t>
            </a:r>
            <a:endParaRPr lang="en-US" sz="1800" dirty="0"/>
          </a:p>
        </p:txBody>
      </p:sp>
      <p:pic>
        <p:nvPicPr>
          <p:cNvPr id="5" name="divider-icon-187" descr="preencoded.png"/>
          <p:cNvPicPr>
            <a:picLocks noChangeAspect="1"/>
          </p:cNvPicPr>
          <p:nvPr/>
        </p:nvPicPr>
        <p:blipFill>
          <a:blip r:embed="rId3">
            <a:alphaModFix amt="30000"/>
          </a:blip>
          <a:stretch>
            <a:fillRect/>
          </a:stretch>
        </p:blipFill>
        <p:spPr>
          <a:xfrm>
            <a:off x="8549640" y="1554480"/>
            <a:ext cx="3017520" cy="3017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Scope Delivered</a:t>
            </a:r>
            <a:endParaRPr lang="en-US" sz="3000" dirty="0"/>
          </a:p>
        </p:txBody>
      </p:sp>
      <p:sp>
        <p:nvSpPr>
          <p:cNvPr id="4" name="Text 1"/>
          <p:cNvSpPr txBox="1"/>
          <p:nvPr/>
        </p:nvSpPr>
        <p:spPr>
          <a:xfrm>
            <a:off x="548640" y="1371600"/>
            <a:ext cx="2743200" cy="822960"/>
          </a:xfrm>
          <a:prstGeom prst="rect">
            <a:avLst/>
          </a:prstGeom>
          <a:noFill/>
          <a:ln/>
        </p:spPr>
        <p:txBody>
          <a:bodyPr wrap="square" lIns="0" tIns="0" rIns="0" bIns="0" rtlCol="0" anchor="b"/>
          <a:lstStyle/>
          <a:p>
            <a:pPr marL="0" indent="0">
              <a:buNone/>
            </a:pPr>
            <a:r>
              <a:rPr lang="en-US" sz="5400" b="1" dirty="0">
                <a:solidFill>
                  <a:schemeClr val="accent1"/>
                </a:solidFill>
                <a:latin typeface="Cambria" pitchFamily="34" charset="0"/>
                <a:ea typeface="Cambria" pitchFamily="34" charset="-122"/>
                <a:cs typeface="Cambria" pitchFamily="34" charset="-120"/>
              </a:rPr>
              <a:t>5 / 6</a:t>
            </a:r>
            <a:endParaRPr lang="en-US" sz="5400" dirty="0"/>
          </a:p>
        </p:txBody>
      </p:sp>
      <p:sp>
        <p:nvSpPr>
          <p:cNvPr id="5" name="Text 2"/>
          <p:cNvSpPr txBox="1"/>
          <p:nvPr/>
        </p:nvSpPr>
        <p:spPr>
          <a:xfrm>
            <a:off x="548640" y="2249424"/>
            <a:ext cx="2743200" cy="640080"/>
          </a:xfrm>
          <a:prstGeom prst="rect">
            <a:avLst/>
          </a:prstGeom>
          <a:noFill/>
          <a:ln/>
        </p:spPr>
        <p:txBody>
          <a:bodyPr wrap="square" lIns="0" tIns="0" rIns="0" bIns="0" rtlCol="0" anchor="t"/>
          <a:lstStyle/>
          <a:p>
            <a:pPr marL="0" indent="0">
              <a:buNone/>
            </a:pPr>
            <a:r>
              <a:rPr lang="en-US" sz="1400" dirty="0">
                <a:solidFill>
                  <a:schemeClr val="accent6"/>
                </a:solidFill>
              </a:rPr>
              <a:t>objectives fully achieved</a:t>
            </a:r>
            <a:endParaRPr lang="en-US" sz="1400" dirty="0"/>
          </a:p>
        </p:txBody>
      </p:sp>
      <p:graphicFrame>
        <p:nvGraphicFramePr>
          <p:cNvPr id="22" name="table-188"/>
          <p:cNvGraphicFramePr>
            <a:graphicFrameLocks noGrp="1"/>
          </p:cNvGraphicFramePr>
          <p:nvPr>
            <p:extLst>
              <p:ext uri="{D42A27DB-BD31-4B8C-83A1-F6EECF244321}">
                <p14:modId xmlns:p14="http://schemas.microsoft.com/office/powerpoint/2010/main" val="2547334186"/>
              </p:ext>
            </p:extLst>
          </p:nvPr>
        </p:nvGraphicFramePr>
        <p:xfrm>
          <a:off x="3520440" y="1325880"/>
          <a:ext cx="8092440" cy="4572000"/>
        </p:xfrm>
        <a:graphic>
          <a:graphicData uri="http://schemas.openxmlformats.org/drawingml/2006/table">
            <a:tbl>
              <a:tblPr/>
              <a:tblGrid>
                <a:gridCol w="32918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rPr>
                        <a:t>Objective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Status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Evidence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85800">
                <a:tc>
                  <a:txBody>
                    <a:bodyPr/>
                    <a:lstStyle/>
                    <a:p>
                      <a:pPr marL="0" indent="0">
                        <a:buNone/>
                      </a:pPr>
                      <a:r>
                        <a:rPr lang="en-US" sz="1400" dirty="0">
                          <a:solidFill>
                            <a:schemeClr val="tx1"/>
                          </a:solidFill>
                        </a:rPr>
                        <a:t>Print and adapt the chassis; measure its geometry</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Achieved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35 parts printed; four custom parts; measured geometry</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685800">
                <a:tc>
                  <a:txBody>
                    <a:bodyPr/>
                    <a:lstStyle/>
                    <a:p>
                      <a:pPr marL="0" indent="0">
                        <a:buNone/>
                      </a:pPr>
                      <a:r>
                        <a:rPr lang="en-US" sz="1400" dirty="0">
                          <a:solidFill>
                            <a:schemeClr val="tx1"/>
                          </a:solidFill>
                        </a:rPr>
                        <a:t>Wireless sensing payload, robust to faults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Achieved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Gas, dust, temperature 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85800">
                <a:tc>
                  <a:txBody>
                    <a:bodyPr/>
                    <a:lstStyle/>
                    <a:p>
                      <a:pPr marL="0" indent="0">
                        <a:buNone/>
                      </a:pPr>
                      <a:r>
                        <a:rPr lang="en-US" sz="1400" dirty="0">
                          <a:solidFill>
                            <a:schemeClr val="tx1"/>
                          </a:solidFill>
                        </a:rPr>
                        <a:t>Camera streaming and gated classification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Achieved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16–20 fps; gate rejects non-leaf frames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685800">
                <a:tc>
                  <a:txBody>
                    <a:bodyPr/>
                    <a:lstStyle/>
                    <a:p>
                      <a:pPr marL="0" indent="0">
                        <a:buNone/>
                      </a:pPr>
                      <a:r>
                        <a:rPr lang="en-US" sz="1400" dirty="0">
                          <a:solidFill>
                            <a:schemeClr val="tx1"/>
                          </a:solidFill>
                        </a:rPr>
                        <a:t>Live dashboard with logging and tagging</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1"/>
                          </a:solidFill>
                        </a:rPr>
                        <a:t>Achieved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Logged sessions; tagged captures with readings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85800">
                <a:tc>
                  <a:txBody>
                    <a:bodyPr/>
                    <a:lstStyle/>
                    <a:p>
                      <a:pPr marL="0" indent="0">
                        <a:buNone/>
                      </a:pPr>
                      <a:r>
                        <a:rPr lang="en-US" sz="1400" dirty="0">
                          <a:solidFill>
                            <a:schemeClr val="tx1"/>
                          </a:solidFill>
                        </a:rPr>
                        <a:t>Verified kinematics; gait feasible in simulation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b="1" dirty="0">
                          <a:solidFill>
                            <a:schemeClr val="accent1"/>
                          </a:solidFill>
                        </a:rPr>
                        <a:t>Achieved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IK error &lt; 10⁻⁷ m; full survey, no fall</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685800">
                <a:tc>
                  <a:txBody>
                    <a:bodyPr/>
                    <a:lstStyle/>
                    <a:p>
                      <a:pPr marL="0" indent="0">
                        <a:buNone/>
                      </a:pPr>
                      <a:r>
                        <a:rPr lang="en-US" sz="1400" dirty="0">
                          <a:solidFill>
                            <a:schemeClr val="tx1"/>
                          </a:solidFill>
                        </a:rPr>
                        <a:t>Walking on the physical robot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3"/>
                          </a:solidFill>
                        </a:rPr>
                        <a:t>Partly</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Legs actuate and it stands; no steps yet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The Assembled Robot</a:t>
            </a:r>
            <a:endParaRPr lang="en-US" sz="3000" dirty="0"/>
          </a:p>
        </p:txBody>
      </p:sp>
      <p:pic>
        <p:nvPicPr>
          <p:cNvPr id="4" name="image-189" descr="photo_robot.jpg"/>
          <p:cNvPicPr>
            <a:picLocks noChangeAspect="1"/>
          </p:cNvPicPr>
          <p:nvPr/>
        </p:nvPicPr>
        <p:blipFill>
          <a:blip r:embed="rId3"/>
          <a:stretch>
            <a:fillRect/>
          </a:stretch>
        </p:blipFill>
        <p:spPr>
          <a:xfrm>
            <a:off x="548640" y="1280160"/>
            <a:ext cx="6949440" cy="4119728"/>
          </a:xfrm>
          <a:prstGeom prst="rect">
            <a:avLst/>
          </a:prstGeom>
        </p:spPr>
      </p:pic>
      <p:sp>
        <p:nvSpPr>
          <p:cNvPr id="5" name="Text 1"/>
          <p:cNvSpPr txBox="1"/>
          <p:nvPr/>
        </p:nvSpPr>
        <p:spPr>
          <a:xfrm>
            <a:off x="548640" y="5473040"/>
            <a:ext cx="6949440" cy="274320"/>
          </a:xfrm>
          <a:prstGeom prst="rect">
            <a:avLst/>
          </a:prstGeom>
          <a:noFill/>
          <a:ln/>
        </p:spPr>
        <p:txBody>
          <a:bodyPr wrap="square" lIns="0" tIns="0" rIns="0" bIns="0" rtlCol="0" anchor="t"/>
          <a:lstStyle/>
          <a:p>
            <a:pPr marL="0" indent="0">
              <a:buNone/>
            </a:pPr>
            <a:r>
              <a:rPr lang="en-US" sz="1200" i="1" dirty="0">
                <a:solidFill>
                  <a:schemeClr val="accent6"/>
                </a:solidFill>
              </a:rPr>
              <a:t>The assembled robot standing outdoors</a:t>
            </a:r>
            <a:endParaRPr lang="en-US" sz="1200" dirty="0"/>
          </a:p>
        </p:txBody>
      </p:sp>
      <p:sp>
        <p:nvSpPr>
          <p:cNvPr id="6" name="icon-bg-190"/>
          <p:cNvSpPr/>
          <p:nvPr/>
        </p:nvSpPr>
        <p:spPr>
          <a:xfrm>
            <a:off x="7818120" y="1325880"/>
            <a:ext cx="530352" cy="530352"/>
          </a:xfrm>
          <a:prstGeom prst="ellipse">
            <a:avLst/>
          </a:prstGeom>
          <a:solidFill>
            <a:schemeClr val="accent1"/>
          </a:solidFill>
          <a:ln w="12700">
            <a:solidFill>
              <a:schemeClr val="accent1"/>
            </a:solidFill>
            <a:prstDash val="solid"/>
          </a:ln>
        </p:spPr>
      </p:sp>
      <p:pic>
        <p:nvPicPr>
          <p:cNvPr id="7" name="icon-191" descr="preencoded.png"/>
          <p:cNvPicPr>
            <a:picLocks noChangeAspect="1"/>
          </p:cNvPicPr>
          <p:nvPr/>
        </p:nvPicPr>
        <p:blipFill>
          <a:blip r:embed="rId4"/>
          <a:stretch>
            <a:fillRect/>
          </a:stretch>
        </p:blipFill>
        <p:spPr>
          <a:xfrm>
            <a:off x="7945404" y="1453164"/>
            <a:ext cx="275783" cy="275783"/>
          </a:xfrm>
          <a:prstGeom prst="rect">
            <a:avLst/>
          </a:prstGeom>
        </p:spPr>
      </p:pic>
      <p:sp>
        <p:nvSpPr>
          <p:cNvPr id="8" name="Text 3"/>
          <p:cNvSpPr txBox="1"/>
          <p:nvPr/>
        </p:nvSpPr>
        <p:spPr>
          <a:xfrm>
            <a:off x="8503920" y="1307592"/>
            <a:ext cx="3108960" cy="384048"/>
          </a:xfrm>
          <a:prstGeom prst="rect">
            <a:avLst/>
          </a:prstGeom>
          <a:noFill/>
          <a:ln/>
        </p:spPr>
        <p:txBody>
          <a:bodyPr wrap="square" lIns="0" tIns="0" rIns="0" bIns="0" rtlCol="0" anchor="t"/>
          <a:lstStyle/>
          <a:p>
            <a:pPr marL="0" indent="0">
              <a:buNone/>
            </a:pPr>
            <a:r>
              <a:rPr lang="en-US" sz="1700" b="1" dirty="0">
                <a:solidFill>
                  <a:schemeClr val="tx2"/>
                </a:solidFill>
              </a:rPr>
              <a:t>35 printed parts</a:t>
            </a:r>
            <a:endParaRPr lang="en-US" sz="1700" dirty="0"/>
          </a:p>
        </p:txBody>
      </p:sp>
      <p:sp>
        <p:nvSpPr>
          <p:cNvPr id="9" name="Text 4"/>
          <p:cNvSpPr txBox="1"/>
          <p:nvPr/>
        </p:nvSpPr>
        <p:spPr>
          <a:xfrm>
            <a:off x="8503920" y="1691640"/>
            <a:ext cx="3108960" cy="777240"/>
          </a:xfrm>
          <a:prstGeom prst="rect">
            <a:avLst/>
          </a:prstGeom>
          <a:noFill/>
          <a:ln/>
        </p:spPr>
        <p:txBody>
          <a:bodyPr wrap="square" lIns="0" tIns="0" rIns="0" bIns="0" rtlCol="0" anchor="t"/>
          <a:lstStyle/>
          <a:p>
            <a:pPr marL="0" indent="0">
              <a:buNone/>
            </a:pPr>
            <a:r>
              <a:rPr lang="en-US" sz="1450" dirty="0">
                <a:solidFill>
                  <a:schemeClr val="tx1"/>
                </a:solidFill>
              </a:rPr>
              <a:t>SpotMicro base adapted for the payload; ~700 g PLA+ with TPU feet; ₹5,200 to print</a:t>
            </a:r>
            <a:endParaRPr lang="en-US" sz="1450" dirty="0"/>
          </a:p>
        </p:txBody>
      </p:sp>
      <p:sp>
        <p:nvSpPr>
          <p:cNvPr id="10" name="icon-bg-192"/>
          <p:cNvSpPr/>
          <p:nvPr/>
        </p:nvSpPr>
        <p:spPr>
          <a:xfrm>
            <a:off x="7818120" y="2532888"/>
            <a:ext cx="530352" cy="530352"/>
          </a:xfrm>
          <a:prstGeom prst="ellipse">
            <a:avLst/>
          </a:prstGeom>
          <a:solidFill>
            <a:schemeClr val="accent1"/>
          </a:solidFill>
          <a:ln w="12700">
            <a:solidFill>
              <a:schemeClr val="accent1"/>
            </a:solidFill>
            <a:prstDash val="solid"/>
          </a:ln>
        </p:spPr>
      </p:sp>
      <p:pic>
        <p:nvPicPr>
          <p:cNvPr id="11" name="icon-193" descr="preencoded.png"/>
          <p:cNvPicPr>
            <a:picLocks noChangeAspect="1"/>
          </p:cNvPicPr>
          <p:nvPr/>
        </p:nvPicPr>
        <p:blipFill>
          <a:blip r:embed="rId5"/>
          <a:stretch>
            <a:fillRect/>
          </a:stretch>
        </p:blipFill>
        <p:spPr>
          <a:xfrm>
            <a:off x="7945404" y="2660172"/>
            <a:ext cx="275783" cy="275783"/>
          </a:xfrm>
          <a:prstGeom prst="rect">
            <a:avLst/>
          </a:prstGeom>
        </p:spPr>
      </p:pic>
      <p:sp>
        <p:nvSpPr>
          <p:cNvPr id="12" name="Text 6"/>
          <p:cNvSpPr txBox="1"/>
          <p:nvPr/>
        </p:nvSpPr>
        <p:spPr>
          <a:xfrm>
            <a:off x="8503920" y="2514600"/>
            <a:ext cx="3108960" cy="384048"/>
          </a:xfrm>
          <a:prstGeom prst="rect">
            <a:avLst/>
          </a:prstGeom>
          <a:noFill/>
          <a:ln/>
        </p:spPr>
        <p:txBody>
          <a:bodyPr wrap="square" lIns="0" tIns="0" rIns="0" bIns="0" rtlCol="0" anchor="t"/>
          <a:lstStyle/>
          <a:p>
            <a:pPr marL="0" indent="0">
              <a:buNone/>
            </a:pPr>
            <a:r>
              <a:rPr lang="en-US" sz="1700" b="1" dirty="0">
                <a:solidFill>
                  <a:schemeClr val="tx2"/>
                </a:solidFill>
              </a:rPr>
              <a:t>Sensor node on the top cover</a:t>
            </a:r>
            <a:endParaRPr lang="en-US" sz="1700" dirty="0"/>
          </a:p>
        </p:txBody>
      </p:sp>
      <p:sp>
        <p:nvSpPr>
          <p:cNvPr id="13" name="Text 7"/>
          <p:cNvSpPr txBox="1"/>
          <p:nvPr/>
        </p:nvSpPr>
        <p:spPr>
          <a:xfrm>
            <a:off x="8503920" y="2898648"/>
            <a:ext cx="3108960" cy="777240"/>
          </a:xfrm>
          <a:prstGeom prst="rect">
            <a:avLst/>
          </a:prstGeom>
          <a:noFill/>
          <a:ln/>
        </p:spPr>
        <p:txBody>
          <a:bodyPr wrap="square" lIns="0" tIns="0" rIns="0" bIns="0" rtlCol="0" anchor="t"/>
          <a:lstStyle/>
          <a:p>
            <a:pPr marL="0" indent="0">
              <a:buNone/>
            </a:pPr>
            <a:r>
              <a:rPr lang="en-US" sz="1450" dirty="0">
                <a:solidFill>
                  <a:schemeClr val="tx1"/>
                </a:solidFill>
              </a:rPr>
              <a:t>XIAO, breadboard and sensors, with the external antenna on a standoff</a:t>
            </a:r>
            <a:endParaRPr lang="en-US" sz="1450" dirty="0"/>
          </a:p>
        </p:txBody>
      </p:sp>
      <p:sp>
        <p:nvSpPr>
          <p:cNvPr id="14" name="icon-bg-194"/>
          <p:cNvSpPr/>
          <p:nvPr/>
        </p:nvSpPr>
        <p:spPr>
          <a:xfrm>
            <a:off x="7818120" y="3739896"/>
            <a:ext cx="530352" cy="530352"/>
          </a:xfrm>
          <a:prstGeom prst="ellipse">
            <a:avLst/>
          </a:prstGeom>
          <a:solidFill>
            <a:schemeClr val="accent1"/>
          </a:solidFill>
          <a:ln w="12700">
            <a:solidFill>
              <a:schemeClr val="accent1"/>
            </a:solidFill>
            <a:prstDash val="solid"/>
          </a:ln>
        </p:spPr>
      </p:sp>
      <p:pic>
        <p:nvPicPr>
          <p:cNvPr id="15" name="icon-195" descr="preencoded.png"/>
          <p:cNvPicPr>
            <a:picLocks noChangeAspect="1"/>
          </p:cNvPicPr>
          <p:nvPr/>
        </p:nvPicPr>
        <p:blipFill>
          <a:blip r:embed="rId6"/>
          <a:stretch>
            <a:fillRect/>
          </a:stretch>
        </p:blipFill>
        <p:spPr>
          <a:xfrm>
            <a:off x="7945404" y="3867180"/>
            <a:ext cx="275783" cy="275783"/>
          </a:xfrm>
          <a:prstGeom prst="rect">
            <a:avLst/>
          </a:prstGeom>
        </p:spPr>
      </p:pic>
      <p:sp>
        <p:nvSpPr>
          <p:cNvPr id="16" name="Text 9"/>
          <p:cNvSpPr txBox="1"/>
          <p:nvPr/>
        </p:nvSpPr>
        <p:spPr>
          <a:xfrm>
            <a:off x="8503920" y="3721608"/>
            <a:ext cx="3108960" cy="384048"/>
          </a:xfrm>
          <a:prstGeom prst="rect">
            <a:avLst/>
          </a:prstGeom>
          <a:noFill/>
          <a:ln/>
        </p:spPr>
        <p:txBody>
          <a:bodyPr wrap="square" lIns="0" tIns="0" rIns="0" bIns="0" rtlCol="0" anchor="t"/>
          <a:lstStyle/>
          <a:p>
            <a:pPr marL="0" indent="0">
              <a:buNone/>
            </a:pPr>
            <a:r>
              <a:rPr lang="en-US" sz="1700" b="1" dirty="0">
                <a:solidFill>
                  <a:schemeClr val="tx2"/>
                </a:solidFill>
              </a:rPr>
              <a:t>Camera in the head</a:t>
            </a:r>
            <a:endParaRPr lang="en-US" sz="1700" dirty="0"/>
          </a:p>
        </p:txBody>
      </p:sp>
      <p:sp>
        <p:nvSpPr>
          <p:cNvPr id="17" name="Text 10"/>
          <p:cNvSpPr txBox="1"/>
          <p:nvPr/>
        </p:nvSpPr>
        <p:spPr>
          <a:xfrm>
            <a:off x="8503920" y="4105656"/>
            <a:ext cx="3108960" cy="777240"/>
          </a:xfrm>
          <a:prstGeom prst="rect">
            <a:avLst/>
          </a:prstGeom>
          <a:noFill/>
          <a:ln/>
        </p:spPr>
        <p:txBody>
          <a:bodyPr wrap="square" lIns="0" tIns="0" rIns="0" bIns="0" rtlCol="0" anchor="t"/>
          <a:lstStyle/>
          <a:p>
            <a:pPr marL="0" indent="0">
              <a:buNone/>
            </a:pPr>
            <a:r>
              <a:rPr lang="en-US" sz="1450" dirty="0">
                <a:solidFill>
                  <a:schemeClr val="tx1"/>
                </a:solidFill>
              </a:rPr>
              <a:t>ESP32-CAM looks out through the printed nose</a:t>
            </a:r>
            <a:endParaRPr lang="en-US" sz="1450" dirty="0"/>
          </a:p>
        </p:txBody>
      </p:sp>
      <p:sp>
        <p:nvSpPr>
          <p:cNvPr id="18" name="icon-bg-196"/>
          <p:cNvSpPr/>
          <p:nvPr/>
        </p:nvSpPr>
        <p:spPr>
          <a:xfrm>
            <a:off x="7818120" y="4946904"/>
            <a:ext cx="530352" cy="530352"/>
          </a:xfrm>
          <a:prstGeom prst="ellipse">
            <a:avLst/>
          </a:prstGeom>
          <a:solidFill>
            <a:schemeClr val="accent1"/>
          </a:solidFill>
          <a:ln w="12700">
            <a:solidFill>
              <a:schemeClr val="accent1"/>
            </a:solidFill>
            <a:prstDash val="solid"/>
          </a:ln>
        </p:spPr>
      </p:sp>
      <p:pic>
        <p:nvPicPr>
          <p:cNvPr id="19" name="icon-197" descr="preencoded.png"/>
          <p:cNvPicPr>
            <a:picLocks noChangeAspect="1"/>
          </p:cNvPicPr>
          <p:nvPr/>
        </p:nvPicPr>
        <p:blipFill>
          <a:blip r:embed="rId7"/>
          <a:stretch>
            <a:fillRect/>
          </a:stretch>
        </p:blipFill>
        <p:spPr>
          <a:xfrm>
            <a:off x="7945404" y="5074188"/>
            <a:ext cx="275783" cy="275783"/>
          </a:xfrm>
          <a:prstGeom prst="rect">
            <a:avLst/>
          </a:prstGeom>
        </p:spPr>
      </p:pic>
      <p:sp>
        <p:nvSpPr>
          <p:cNvPr id="20" name="Text 12"/>
          <p:cNvSpPr txBox="1"/>
          <p:nvPr/>
        </p:nvSpPr>
        <p:spPr>
          <a:xfrm>
            <a:off x="8503920" y="4928616"/>
            <a:ext cx="3108960" cy="384048"/>
          </a:xfrm>
          <a:prstGeom prst="rect">
            <a:avLst/>
          </a:prstGeom>
          <a:noFill/>
          <a:ln/>
        </p:spPr>
        <p:txBody>
          <a:bodyPr wrap="square" lIns="0" tIns="0" rIns="0" bIns="0" rtlCol="0" anchor="t"/>
          <a:lstStyle/>
          <a:p>
            <a:pPr marL="0" indent="0">
              <a:buNone/>
            </a:pPr>
            <a:r>
              <a:rPr lang="en-US" sz="1700" b="1" dirty="0">
                <a:solidFill>
                  <a:schemeClr val="tx2"/>
                </a:solidFill>
              </a:rPr>
              <a:t>No battery on board</a:t>
            </a:r>
            <a:endParaRPr lang="en-US" sz="1700" dirty="0"/>
          </a:p>
        </p:txBody>
      </p:sp>
      <p:sp>
        <p:nvSpPr>
          <p:cNvPr id="21" name="Text 13"/>
          <p:cNvSpPr txBox="1"/>
          <p:nvPr/>
        </p:nvSpPr>
        <p:spPr>
          <a:xfrm>
            <a:off x="8503920" y="5312664"/>
            <a:ext cx="3108960" cy="777240"/>
          </a:xfrm>
          <a:prstGeom prst="rect">
            <a:avLst/>
          </a:prstGeom>
          <a:noFill/>
          <a:ln/>
        </p:spPr>
        <p:txBody>
          <a:bodyPr wrap="square" lIns="0" tIns="0" rIns="0" bIns="0" rtlCol="0" anchor="t"/>
          <a:lstStyle/>
          <a:p>
            <a:pPr marL="0" indent="0">
              <a:buNone/>
            </a:pPr>
            <a:r>
              <a:rPr lang="en-US" sz="1450" dirty="0">
                <a:solidFill>
                  <a:schemeClr val="tx1"/>
                </a:solidFill>
              </a:rPr>
              <a:t>Payload runs from a USB power bank beside the robot</a:t>
            </a:r>
            <a:endParaRPr lang="en-US" sz="145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Integrated Dashboard</a:t>
            </a:r>
            <a:endParaRPr lang="en-US" sz="3000" dirty="0"/>
          </a:p>
        </p:txBody>
      </p:sp>
      <p:pic>
        <p:nvPicPr>
          <p:cNvPr id="4" name="image-198" descr="dash_cards.jpg"/>
          <p:cNvPicPr>
            <a:picLocks noChangeAspect="1"/>
          </p:cNvPicPr>
          <p:nvPr/>
        </p:nvPicPr>
        <p:blipFill>
          <a:blip r:embed="rId3"/>
          <a:stretch>
            <a:fillRect/>
          </a:stretch>
        </p:blipFill>
        <p:spPr>
          <a:xfrm>
            <a:off x="548640" y="1280160"/>
            <a:ext cx="11064240" cy="2076638"/>
          </a:xfrm>
          <a:prstGeom prst="rect">
            <a:avLst/>
          </a:prstGeom>
        </p:spPr>
      </p:pic>
      <p:sp>
        <p:nvSpPr>
          <p:cNvPr id="5" name="Text 1"/>
          <p:cNvSpPr txBox="1"/>
          <p:nvPr/>
        </p:nvSpPr>
        <p:spPr>
          <a:xfrm>
            <a:off x="548640" y="3429950"/>
            <a:ext cx="11064240" cy="274320"/>
          </a:xfrm>
          <a:prstGeom prst="rect">
            <a:avLst/>
          </a:prstGeom>
          <a:noFill/>
          <a:ln/>
        </p:spPr>
        <p:txBody>
          <a:bodyPr wrap="square" lIns="0" tIns="0" rIns="0" bIns="0" rtlCol="0" anchor="t"/>
          <a:lstStyle/>
          <a:p>
            <a:pPr marL="0" indent="0">
              <a:buNone/>
            </a:pPr>
            <a:r>
              <a:rPr lang="en-US" sz="1200" i="1" dirty="0">
                <a:solidFill>
                  <a:schemeClr val="accent6"/>
                </a:solidFill>
              </a:rPr>
              <a:t>Dashboard on 18 October 2026: live eCO₂, TVOC, dust and temperature from the sensor node</a:t>
            </a:r>
            <a:endParaRPr lang="en-US" sz="1200" dirty="0"/>
          </a:p>
        </p:txBody>
      </p:sp>
      <p:sp>
        <p:nvSpPr>
          <p:cNvPr id="6" name="panel-199"/>
          <p:cNvSpPr/>
          <p:nvPr/>
        </p:nvSpPr>
        <p:spPr>
          <a:xfrm>
            <a:off x="548640" y="3977640"/>
            <a:ext cx="3529584" cy="2194560"/>
          </a:xfrm>
          <a:prstGeom prst="roundRect">
            <a:avLst>
              <a:gd name="adj" fmla="val 4167"/>
            </a:avLst>
          </a:prstGeom>
          <a:solidFill>
            <a:schemeClr val="bg2"/>
          </a:solidFill>
          <a:ln w="12700">
            <a:solidFill>
              <a:schemeClr val="bg2"/>
            </a:solidFill>
            <a:prstDash val="solid"/>
          </a:ln>
        </p:spPr>
      </p:sp>
      <p:sp>
        <p:nvSpPr>
          <p:cNvPr id="7" name="icon-bg-200"/>
          <p:cNvSpPr/>
          <p:nvPr/>
        </p:nvSpPr>
        <p:spPr>
          <a:xfrm>
            <a:off x="777240" y="4206240"/>
            <a:ext cx="548640" cy="548640"/>
          </a:xfrm>
          <a:prstGeom prst="ellipse">
            <a:avLst/>
          </a:prstGeom>
          <a:solidFill>
            <a:schemeClr val="accent1"/>
          </a:solidFill>
          <a:ln w="12700">
            <a:solidFill>
              <a:schemeClr val="accent1"/>
            </a:solidFill>
            <a:prstDash val="solid"/>
          </a:ln>
        </p:spPr>
      </p:sp>
      <p:pic>
        <p:nvPicPr>
          <p:cNvPr id="8" name="icon-201" descr="preencoded.png"/>
          <p:cNvPicPr>
            <a:picLocks noChangeAspect="1"/>
          </p:cNvPicPr>
          <p:nvPr/>
        </p:nvPicPr>
        <p:blipFill>
          <a:blip r:embed="rId4"/>
          <a:stretch>
            <a:fillRect/>
          </a:stretch>
        </p:blipFill>
        <p:spPr>
          <a:xfrm>
            <a:off x="908914" y="4337914"/>
            <a:ext cx="285293" cy="285293"/>
          </a:xfrm>
          <a:prstGeom prst="rect">
            <a:avLst/>
          </a:prstGeom>
        </p:spPr>
      </p:pic>
      <p:sp>
        <p:nvSpPr>
          <p:cNvPr id="9" name="Text 4"/>
          <p:cNvSpPr txBox="1"/>
          <p:nvPr/>
        </p:nvSpPr>
        <p:spPr>
          <a:xfrm>
            <a:off x="1463040" y="420624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Status bands</a:t>
            </a:r>
            <a:endParaRPr lang="en-US" sz="1800" dirty="0"/>
          </a:p>
        </p:txBody>
      </p:sp>
      <p:sp>
        <p:nvSpPr>
          <p:cNvPr id="10" name="Text 5"/>
          <p:cNvSpPr txBox="1"/>
          <p:nvPr/>
        </p:nvSpPr>
        <p:spPr>
          <a:xfrm>
            <a:off x="777240" y="4892040"/>
            <a:ext cx="3072384" cy="114300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TVOC 220 / 660 ppb (German UBA guideline); eCO₂ 1,000 / 2,000 ppm; node marked offline after 15 s of silence</a:t>
            </a:r>
            <a:endParaRPr lang="en-US" sz="1500" dirty="0"/>
          </a:p>
        </p:txBody>
      </p:sp>
      <p:sp>
        <p:nvSpPr>
          <p:cNvPr id="11" name="panel-202"/>
          <p:cNvSpPr/>
          <p:nvPr/>
        </p:nvSpPr>
        <p:spPr>
          <a:xfrm>
            <a:off x="4279392" y="3977640"/>
            <a:ext cx="3529584" cy="2194560"/>
          </a:xfrm>
          <a:prstGeom prst="roundRect">
            <a:avLst>
              <a:gd name="adj" fmla="val 4167"/>
            </a:avLst>
          </a:prstGeom>
          <a:solidFill>
            <a:schemeClr val="bg2"/>
          </a:solidFill>
          <a:ln w="12700">
            <a:solidFill>
              <a:schemeClr val="bg2"/>
            </a:solidFill>
            <a:prstDash val="solid"/>
          </a:ln>
        </p:spPr>
      </p:sp>
      <p:sp>
        <p:nvSpPr>
          <p:cNvPr id="12" name="icon-bg-203"/>
          <p:cNvSpPr/>
          <p:nvPr/>
        </p:nvSpPr>
        <p:spPr>
          <a:xfrm>
            <a:off x="4507992" y="4206240"/>
            <a:ext cx="548640" cy="548640"/>
          </a:xfrm>
          <a:prstGeom prst="ellipse">
            <a:avLst/>
          </a:prstGeom>
          <a:solidFill>
            <a:schemeClr val="accent1"/>
          </a:solidFill>
          <a:ln w="12700">
            <a:solidFill>
              <a:schemeClr val="accent1"/>
            </a:solidFill>
            <a:prstDash val="solid"/>
          </a:ln>
        </p:spPr>
      </p:sp>
      <p:pic>
        <p:nvPicPr>
          <p:cNvPr id="13" name="icon-204" descr="preencoded.png"/>
          <p:cNvPicPr>
            <a:picLocks noChangeAspect="1"/>
          </p:cNvPicPr>
          <p:nvPr/>
        </p:nvPicPr>
        <p:blipFill>
          <a:blip r:embed="rId5"/>
          <a:stretch>
            <a:fillRect/>
          </a:stretch>
        </p:blipFill>
        <p:spPr>
          <a:xfrm>
            <a:off x="4639666" y="4337914"/>
            <a:ext cx="285293" cy="285293"/>
          </a:xfrm>
          <a:prstGeom prst="rect">
            <a:avLst/>
          </a:prstGeom>
        </p:spPr>
      </p:pic>
      <p:sp>
        <p:nvSpPr>
          <p:cNvPr id="14" name="Text 8"/>
          <p:cNvSpPr txBox="1"/>
          <p:nvPr/>
        </p:nvSpPr>
        <p:spPr>
          <a:xfrm>
            <a:off x="5193792" y="420624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Logging</a:t>
            </a:r>
            <a:endParaRPr lang="en-US" sz="1800" dirty="0"/>
          </a:p>
        </p:txBody>
      </p:sp>
      <p:sp>
        <p:nvSpPr>
          <p:cNvPr id="15" name="Text 9"/>
          <p:cNvSpPr txBox="1"/>
          <p:nvPr/>
        </p:nvSpPr>
        <p:spPr>
          <a:xfrm>
            <a:off x="4507992" y="4892040"/>
            <a:ext cx="3072384" cy="114300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Every reading to a daily CSV; every scan saved as a tagged image with the readings at capture</a:t>
            </a:r>
            <a:endParaRPr lang="en-US" sz="1500" dirty="0"/>
          </a:p>
        </p:txBody>
      </p:sp>
      <p:sp>
        <p:nvSpPr>
          <p:cNvPr id="16" name="panel-205"/>
          <p:cNvSpPr/>
          <p:nvPr/>
        </p:nvSpPr>
        <p:spPr>
          <a:xfrm>
            <a:off x="8010144" y="3977640"/>
            <a:ext cx="3529584" cy="2194560"/>
          </a:xfrm>
          <a:prstGeom prst="roundRect">
            <a:avLst>
              <a:gd name="adj" fmla="val 4167"/>
            </a:avLst>
          </a:prstGeom>
          <a:solidFill>
            <a:schemeClr val="bg2"/>
          </a:solidFill>
          <a:ln w="12700">
            <a:solidFill>
              <a:schemeClr val="bg2"/>
            </a:solidFill>
            <a:prstDash val="solid"/>
          </a:ln>
        </p:spPr>
      </p:sp>
      <p:sp>
        <p:nvSpPr>
          <p:cNvPr id="17" name="icon-bg-206"/>
          <p:cNvSpPr/>
          <p:nvPr/>
        </p:nvSpPr>
        <p:spPr>
          <a:xfrm>
            <a:off x="8238744" y="4206240"/>
            <a:ext cx="548640" cy="548640"/>
          </a:xfrm>
          <a:prstGeom prst="ellipse">
            <a:avLst/>
          </a:prstGeom>
          <a:solidFill>
            <a:schemeClr val="accent1"/>
          </a:solidFill>
          <a:ln w="12700">
            <a:solidFill>
              <a:schemeClr val="accent1"/>
            </a:solidFill>
            <a:prstDash val="solid"/>
          </a:ln>
        </p:spPr>
      </p:sp>
      <p:pic>
        <p:nvPicPr>
          <p:cNvPr id="18" name="icon-207" descr="preencoded.png"/>
          <p:cNvPicPr>
            <a:picLocks noChangeAspect="1"/>
          </p:cNvPicPr>
          <p:nvPr/>
        </p:nvPicPr>
        <p:blipFill>
          <a:blip r:embed="rId6"/>
          <a:stretch>
            <a:fillRect/>
          </a:stretch>
        </p:blipFill>
        <p:spPr>
          <a:xfrm>
            <a:off x="8370418" y="4337914"/>
            <a:ext cx="285293" cy="285293"/>
          </a:xfrm>
          <a:prstGeom prst="rect">
            <a:avLst/>
          </a:prstGeom>
        </p:spPr>
      </p:pic>
      <p:sp>
        <p:nvSpPr>
          <p:cNvPr id="19" name="Text 12"/>
          <p:cNvSpPr txBox="1"/>
          <p:nvPr/>
        </p:nvSpPr>
        <p:spPr>
          <a:xfrm>
            <a:off x="8924544" y="4206240"/>
            <a:ext cx="2432304" cy="548640"/>
          </a:xfrm>
          <a:prstGeom prst="rect">
            <a:avLst/>
          </a:prstGeom>
          <a:noFill/>
          <a:ln/>
        </p:spPr>
        <p:txBody>
          <a:bodyPr wrap="square" lIns="0" tIns="0" rIns="0" bIns="0" rtlCol="0" anchor="ctr"/>
          <a:lstStyle/>
          <a:p>
            <a:pPr marL="0" indent="0">
              <a:buNone/>
            </a:pPr>
            <a:r>
              <a:rPr lang="en-US" sz="1800" b="1" dirty="0">
                <a:solidFill>
                  <a:schemeClr val="tx2"/>
                </a:solidFill>
              </a:rPr>
              <a:t>Camera and diagnosis</a:t>
            </a:r>
            <a:endParaRPr lang="en-US" sz="1800" dirty="0"/>
          </a:p>
        </p:txBody>
      </p:sp>
      <p:sp>
        <p:nvSpPr>
          <p:cNvPr id="20" name="Text 13"/>
          <p:cNvSpPr txBox="1"/>
          <p:nvPr/>
        </p:nvSpPr>
        <p:spPr>
          <a:xfrm>
            <a:off x="8238744" y="4892040"/>
            <a:ext cx="3072384" cy="1143000"/>
          </a:xfrm>
          <a:prstGeom prst="rect">
            <a:avLst/>
          </a:prstGeom>
          <a:noFill/>
          <a:ln/>
        </p:spPr>
        <p:txBody>
          <a:bodyPr wrap="square" lIns="0" tIns="0" rIns="0" bIns="0" rtlCol="0" anchor="t"/>
          <a:lstStyle/>
          <a:p>
            <a:pPr marL="0" indent="0">
              <a:spcAft>
                <a:spcPts val="400"/>
              </a:spcAft>
              <a:buNone/>
            </a:pPr>
            <a:r>
              <a:rPr lang="en-US" sz="1500" dirty="0">
                <a:solidFill>
                  <a:schemeClr val="tx1"/>
                </a:solidFill>
              </a:rPr>
              <a:t>Live MJPEG video, one-click scan or image upload, top three classes with confidence</a:t>
            </a:r>
            <a:endParaRPr lang="en-US" sz="15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Stable Operation over Wi-Fi</a:t>
            </a:r>
            <a:endParaRPr lang="en-US" sz="3000" dirty="0"/>
          </a:p>
        </p:txBody>
      </p:sp>
      <p:graphicFrame>
        <p:nvGraphicFramePr>
          <p:cNvPr id="4" name="tvoc-session-chart"/>
          <p:cNvGraphicFramePr/>
          <p:nvPr/>
        </p:nvGraphicFramePr>
        <p:xfrm>
          <a:off x="548640" y="1280160"/>
          <a:ext cx="72237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8183880" y="1325880"/>
            <a:ext cx="3429000" cy="579120"/>
          </a:xfrm>
          <a:prstGeom prst="rect">
            <a:avLst/>
          </a:prstGeom>
          <a:noFill/>
          <a:ln/>
        </p:spPr>
        <p:txBody>
          <a:bodyPr wrap="square" lIns="0" tIns="0" rIns="0" bIns="0" rtlCol="0" anchor="b"/>
          <a:lstStyle/>
          <a:p>
            <a:pPr marL="0" indent="0">
              <a:buNone/>
            </a:pPr>
            <a:r>
              <a:rPr lang="en-US" sz="3800" b="1" dirty="0">
                <a:solidFill>
                  <a:schemeClr val="accent1"/>
                </a:solidFill>
                <a:latin typeface="Cambria" pitchFamily="34" charset="0"/>
                <a:ea typeface="Cambria" pitchFamily="34" charset="-122"/>
                <a:cs typeface="Cambria" pitchFamily="34" charset="-120"/>
              </a:rPr>
              <a:t>321 + 199</a:t>
            </a:r>
            <a:endParaRPr lang="en-US" sz="3800" dirty="0"/>
          </a:p>
        </p:txBody>
      </p:sp>
      <p:sp>
        <p:nvSpPr>
          <p:cNvPr id="6" name="Text 2"/>
          <p:cNvSpPr txBox="1"/>
          <p:nvPr/>
        </p:nvSpPr>
        <p:spPr>
          <a:xfrm>
            <a:off x="8183880" y="1959864"/>
            <a:ext cx="3429000" cy="640080"/>
          </a:xfrm>
          <a:prstGeom prst="rect">
            <a:avLst/>
          </a:prstGeom>
          <a:noFill/>
          <a:ln/>
        </p:spPr>
        <p:txBody>
          <a:bodyPr wrap="square" lIns="0" tIns="0" rIns="0" bIns="0" rtlCol="0" anchor="t"/>
          <a:lstStyle/>
          <a:p>
            <a:pPr marL="0" indent="0">
              <a:buNone/>
            </a:pPr>
            <a:r>
              <a:rPr lang="en-US" sz="1400" dirty="0">
                <a:solidFill>
                  <a:schemeClr val="accent6"/>
                </a:solidFill>
              </a:rPr>
              <a:t>readings in two sessions (28 and 17 min), no records lost</a:t>
            </a:r>
            <a:endParaRPr lang="en-US" sz="1400" dirty="0"/>
          </a:p>
        </p:txBody>
      </p:sp>
      <p:sp>
        <p:nvSpPr>
          <p:cNvPr id="7" name="Text 3"/>
          <p:cNvSpPr txBox="1"/>
          <p:nvPr/>
        </p:nvSpPr>
        <p:spPr>
          <a:xfrm>
            <a:off x="8183880" y="2880360"/>
            <a:ext cx="3429000" cy="579120"/>
          </a:xfrm>
          <a:prstGeom prst="rect">
            <a:avLst/>
          </a:prstGeom>
          <a:noFill/>
          <a:ln/>
        </p:spPr>
        <p:txBody>
          <a:bodyPr wrap="square" lIns="0" tIns="0" rIns="0" bIns="0" rtlCol="0" anchor="b"/>
          <a:lstStyle/>
          <a:p>
            <a:pPr marL="0" indent="0">
              <a:buNone/>
            </a:pPr>
            <a:r>
              <a:rPr lang="en-US" sz="3800" b="1" dirty="0">
                <a:solidFill>
                  <a:schemeClr val="accent4"/>
                </a:solidFill>
                <a:latin typeface="Cambria" pitchFamily="34" charset="0"/>
                <a:ea typeface="Cambria" pitchFamily="34" charset="-122"/>
                <a:cs typeface="Cambria" pitchFamily="34" charset="-120"/>
              </a:rPr>
              <a:t>1,764 ppb</a:t>
            </a:r>
            <a:endParaRPr lang="en-US" sz="3800" dirty="0"/>
          </a:p>
        </p:txBody>
      </p:sp>
      <p:sp>
        <p:nvSpPr>
          <p:cNvPr id="8" name="Text 4"/>
          <p:cNvSpPr txBox="1"/>
          <p:nvPr/>
        </p:nvSpPr>
        <p:spPr>
          <a:xfrm>
            <a:off x="8183880" y="3514344"/>
            <a:ext cx="3429000" cy="640080"/>
          </a:xfrm>
          <a:prstGeom prst="rect">
            <a:avLst/>
          </a:prstGeom>
          <a:noFill/>
          <a:ln/>
        </p:spPr>
        <p:txBody>
          <a:bodyPr wrap="square" lIns="0" tIns="0" rIns="0" bIns="0" rtlCol="0" anchor="t"/>
          <a:lstStyle/>
          <a:p>
            <a:pPr marL="0" indent="0">
              <a:buNone/>
            </a:pPr>
            <a:r>
              <a:rPr lang="en-US" sz="1400" dirty="0">
                <a:solidFill>
                  <a:schemeClr val="accent6"/>
                </a:solidFill>
              </a:rPr>
              <a:t>TVOC peak during exposure, back to baseline within tens of seconds</a:t>
            </a:r>
            <a:endParaRPr lang="en-US" sz="1400" dirty="0"/>
          </a:p>
        </p:txBody>
      </p:sp>
      <p:sp>
        <p:nvSpPr>
          <p:cNvPr id="9" name="Text 5"/>
          <p:cNvSpPr txBox="1"/>
          <p:nvPr/>
        </p:nvSpPr>
        <p:spPr>
          <a:xfrm>
            <a:off x="8183880" y="4434840"/>
            <a:ext cx="3429000" cy="579120"/>
          </a:xfrm>
          <a:prstGeom prst="rect">
            <a:avLst/>
          </a:prstGeom>
          <a:noFill/>
          <a:ln/>
        </p:spPr>
        <p:txBody>
          <a:bodyPr wrap="square" lIns="0" tIns="0" rIns="0" bIns="0" rtlCol="0" anchor="b"/>
          <a:lstStyle/>
          <a:p>
            <a:pPr marL="0" indent="0">
              <a:buNone/>
            </a:pPr>
            <a:r>
              <a:rPr lang="en-US" sz="3800" b="1" dirty="0">
                <a:solidFill>
                  <a:schemeClr val="accent5"/>
                </a:solidFill>
                <a:latin typeface="Cambria" pitchFamily="34" charset="0"/>
                <a:ea typeface="Cambria" pitchFamily="34" charset="-122"/>
                <a:cs typeface="Cambria" pitchFamily="34" charset="-120"/>
              </a:rPr>
              <a:t>−26 to −60</a:t>
            </a:r>
            <a:endParaRPr lang="en-US" sz="3800" dirty="0"/>
          </a:p>
        </p:txBody>
      </p:sp>
      <p:sp>
        <p:nvSpPr>
          <p:cNvPr id="10" name="Text 6"/>
          <p:cNvSpPr txBox="1"/>
          <p:nvPr/>
        </p:nvSpPr>
        <p:spPr>
          <a:xfrm>
            <a:off x="8183880" y="5068824"/>
            <a:ext cx="3429000" cy="640080"/>
          </a:xfrm>
          <a:prstGeom prst="rect">
            <a:avLst/>
          </a:prstGeom>
          <a:noFill/>
          <a:ln/>
        </p:spPr>
        <p:txBody>
          <a:bodyPr wrap="square" lIns="0" tIns="0" rIns="0" bIns="0" rtlCol="0" anchor="t"/>
          <a:lstStyle/>
          <a:p>
            <a:pPr marL="0" indent="0">
              <a:buNone/>
            </a:pPr>
            <a:r>
              <a:rPr lang="en-US" sz="1400" dirty="0">
                <a:solidFill>
                  <a:schemeClr val="accent6"/>
                </a:solidFill>
              </a:rPr>
              <a:t>dBm Wi-Fi signal throughout, ample for 5 s telemetry</a:t>
            </a:r>
            <a:endParaRPr lang="en-US" sz="14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Live Demonstration</a:t>
            </a:r>
            <a:endParaRPr lang="en-US" sz="3000" dirty="0"/>
          </a:p>
        </p:txBody>
      </p:sp>
      <p:sp>
        <p:nvSpPr>
          <p:cNvPr id="4" name="panel-208"/>
          <p:cNvSpPr/>
          <p:nvPr/>
        </p:nvSpPr>
        <p:spPr>
          <a:xfrm>
            <a:off x="548640" y="1325880"/>
            <a:ext cx="5440680" cy="1463040"/>
          </a:xfrm>
          <a:prstGeom prst="roundRect">
            <a:avLst>
              <a:gd name="adj" fmla="val 6250"/>
            </a:avLst>
          </a:prstGeom>
          <a:solidFill>
            <a:schemeClr val="bg2"/>
          </a:solidFill>
          <a:ln w="12700">
            <a:solidFill>
              <a:schemeClr val="bg2"/>
            </a:solidFill>
            <a:prstDash val="solid"/>
          </a:ln>
        </p:spPr>
      </p:sp>
      <p:sp>
        <p:nvSpPr>
          <p:cNvPr id="5" name="Text 2"/>
          <p:cNvSpPr txBox="1"/>
          <p:nvPr/>
        </p:nvSpPr>
        <p:spPr>
          <a:xfrm>
            <a:off x="777240" y="150876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1</a:t>
            </a:r>
            <a:endParaRPr lang="en-US" sz="3400" dirty="0"/>
          </a:p>
        </p:txBody>
      </p:sp>
      <p:sp>
        <p:nvSpPr>
          <p:cNvPr id="6" name="icon-bg-209"/>
          <p:cNvSpPr/>
          <p:nvPr/>
        </p:nvSpPr>
        <p:spPr>
          <a:xfrm>
            <a:off x="1325880" y="1554480"/>
            <a:ext cx="502920" cy="502920"/>
          </a:xfrm>
          <a:prstGeom prst="ellipse">
            <a:avLst/>
          </a:prstGeom>
          <a:solidFill>
            <a:schemeClr val="accent1"/>
          </a:solidFill>
          <a:ln w="12700">
            <a:solidFill>
              <a:schemeClr val="accent1"/>
            </a:solidFill>
            <a:prstDash val="solid"/>
          </a:ln>
        </p:spPr>
      </p:sp>
      <p:pic>
        <p:nvPicPr>
          <p:cNvPr id="7" name="icon-210" descr="preencoded.png"/>
          <p:cNvPicPr>
            <a:picLocks noChangeAspect="1"/>
          </p:cNvPicPr>
          <p:nvPr/>
        </p:nvPicPr>
        <p:blipFill>
          <a:blip r:embed="rId3"/>
          <a:stretch>
            <a:fillRect/>
          </a:stretch>
        </p:blipFill>
        <p:spPr>
          <a:xfrm>
            <a:off x="1446581" y="1675181"/>
            <a:ext cx="261518" cy="261518"/>
          </a:xfrm>
          <a:prstGeom prst="rect">
            <a:avLst/>
          </a:prstGeom>
        </p:spPr>
      </p:pic>
      <p:sp>
        <p:nvSpPr>
          <p:cNvPr id="8" name="Text 4"/>
          <p:cNvSpPr txBox="1"/>
          <p:nvPr/>
        </p:nvSpPr>
        <p:spPr>
          <a:xfrm>
            <a:off x="2011680" y="1508760"/>
            <a:ext cx="3840480" cy="411480"/>
          </a:xfrm>
          <a:prstGeom prst="rect">
            <a:avLst/>
          </a:prstGeom>
          <a:noFill/>
          <a:ln/>
        </p:spPr>
        <p:txBody>
          <a:bodyPr wrap="square" lIns="0" tIns="0" rIns="0" bIns="0" rtlCol="0" anchor="t"/>
          <a:lstStyle/>
          <a:p>
            <a:pPr marL="0" indent="0">
              <a:buNone/>
            </a:pPr>
            <a:r>
              <a:rPr lang="en-US" sz="1800" b="1" dirty="0">
                <a:solidFill>
                  <a:schemeClr val="tx2"/>
                </a:solidFill>
              </a:rPr>
              <a:t>Dashboard live</a:t>
            </a:r>
            <a:endParaRPr lang="en-US" sz="1800" dirty="0"/>
          </a:p>
        </p:txBody>
      </p:sp>
      <p:sp>
        <p:nvSpPr>
          <p:cNvPr id="9" name="Text 5"/>
          <p:cNvSpPr txBox="1"/>
          <p:nvPr/>
        </p:nvSpPr>
        <p:spPr>
          <a:xfrm>
            <a:off x="2011680" y="1929384"/>
            <a:ext cx="3840480" cy="822960"/>
          </a:xfrm>
          <a:prstGeom prst="rect">
            <a:avLst/>
          </a:prstGeom>
          <a:noFill/>
          <a:ln/>
        </p:spPr>
        <p:txBody>
          <a:bodyPr wrap="square" lIns="0" tIns="0" rIns="0" bIns="0" rtlCol="0" anchor="t"/>
          <a:lstStyle/>
          <a:p>
            <a:pPr marL="0" indent="0">
              <a:buNone/>
            </a:pPr>
            <a:r>
              <a:rPr lang="en-US" sz="1450" dirty="0">
                <a:solidFill>
                  <a:schemeClr val="tx1"/>
                </a:solidFill>
              </a:rPr>
              <a:t>Open http://192.168.137.1:5000; status pills show the sensor node, camera and classifier</a:t>
            </a:r>
            <a:endParaRPr lang="en-US" sz="1450" dirty="0"/>
          </a:p>
        </p:txBody>
      </p:sp>
      <p:sp>
        <p:nvSpPr>
          <p:cNvPr id="10" name="panel-211"/>
          <p:cNvSpPr/>
          <p:nvPr/>
        </p:nvSpPr>
        <p:spPr>
          <a:xfrm>
            <a:off x="6172200" y="1325880"/>
            <a:ext cx="5440680" cy="1463040"/>
          </a:xfrm>
          <a:prstGeom prst="roundRect">
            <a:avLst>
              <a:gd name="adj" fmla="val 6250"/>
            </a:avLst>
          </a:prstGeom>
          <a:solidFill>
            <a:schemeClr val="bg2"/>
          </a:solidFill>
          <a:ln w="12700">
            <a:solidFill>
              <a:schemeClr val="bg2"/>
            </a:solidFill>
            <a:prstDash val="solid"/>
          </a:ln>
        </p:spPr>
      </p:sp>
      <p:sp>
        <p:nvSpPr>
          <p:cNvPr id="11" name="Text 7"/>
          <p:cNvSpPr txBox="1"/>
          <p:nvPr/>
        </p:nvSpPr>
        <p:spPr>
          <a:xfrm>
            <a:off x="6400800" y="150876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2</a:t>
            </a:r>
            <a:endParaRPr lang="en-US" sz="3400" dirty="0"/>
          </a:p>
        </p:txBody>
      </p:sp>
      <p:sp>
        <p:nvSpPr>
          <p:cNvPr id="12" name="icon-bg-212"/>
          <p:cNvSpPr/>
          <p:nvPr/>
        </p:nvSpPr>
        <p:spPr>
          <a:xfrm>
            <a:off x="6949440" y="1554480"/>
            <a:ext cx="502920" cy="502920"/>
          </a:xfrm>
          <a:prstGeom prst="ellipse">
            <a:avLst/>
          </a:prstGeom>
          <a:solidFill>
            <a:schemeClr val="accent1"/>
          </a:solidFill>
          <a:ln w="12700">
            <a:solidFill>
              <a:schemeClr val="accent1"/>
            </a:solidFill>
            <a:prstDash val="solid"/>
          </a:ln>
        </p:spPr>
      </p:sp>
      <p:pic>
        <p:nvPicPr>
          <p:cNvPr id="13" name="icon-213" descr="preencoded.png"/>
          <p:cNvPicPr>
            <a:picLocks noChangeAspect="1"/>
          </p:cNvPicPr>
          <p:nvPr/>
        </p:nvPicPr>
        <p:blipFill>
          <a:blip r:embed="rId4"/>
          <a:stretch>
            <a:fillRect/>
          </a:stretch>
        </p:blipFill>
        <p:spPr>
          <a:xfrm>
            <a:off x="7070141" y="1675181"/>
            <a:ext cx="261518" cy="261518"/>
          </a:xfrm>
          <a:prstGeom prst="rect">
            <a:avLst/>
          </a:prstGeom>
        </p:spPr>
      </p:pic>
      <p:sp>
        <p:nvSpPr>
          <p:cNvPr id="14" name="Text 9"/>
          <p:cNvSpPr txBox="1"/>
          <p:nvPr/>
        </p:nvSpPr>
        <p:spPr>
          <a:xfrm>
            <a:off x="7635240" y="1508760"/>
            <a:ext cx="3840480" cy="411480"/>
          </a:xfrm>
          <a:prstGeom prst="rect">
            <a:avLst/>
          </a:prstGeom>
          <a:noFill/>
          <a:ln/>
        </p:spPr>
        <p:txBody>
          <a:bodyPr wrap="square" lIns="0" tIns="0" rIns="0" bIns="0" rtlCol="0" anchor="t"/>
          <a:lstStyle/>
          <a:p>
            <a:pPr marL="0" indent="0">
              <a:buNone/>
            </a:pPr>
            <a:r>
              <a:rPr lang="en-US" sz="1800" b="1" dirty="0">
                <a:solidFill>
                  <a:schemeClr val="tx2"/>
                </a:solidFill>
              </a:rPr>
              <a:t>Breath test</a:t>
            </a:r>
            <a:endParaRPr lang="en-US" sz="1800" dirty="0"/>
          </a:p>
        </p:txBody>
      </p:sp>
      <p:sp>
        <p:nvSpPr>
          <p:cNvPr id="15" name="Text 10"/>
          <p:cNvSpPr txBox="1"/>
          <p:nvPr/>
        </p:nvSpPr>
        <p:spPr>
          <a:xfrm>
            <a:off x="7635240" y="1929384"/>
            <a:ext cx="3840480" cy="822960"/>
          </a:xfrm>
          <a:prstGeom prst="rect">
            <a:avLst/>
          </a:prstGeom>
          <a:noFill/>
          <a:ln/>
        </p:spPr>
        <p:txBody>
          <a:bodyPr wrap="square" lIns="0" tIns="0" rIns="0" bIns="0" rtlCol="0" anchor="t"/>
          <a:lstStyle/>
          <a:p>
            <a:pPr marL="0" indent="0">
              <a:buNone/>
            </a:pPr>
            <a:r>
              <a:rPr lang="en-US" sz="1450" dirty="0">
                <a:solidFill>
                  <a:schemeClr val="tx1"/>
                </a:solidFill>
              </a:rPr>
              <a:t>Breathe on the SGP30: eCO₂ and TVOC rise within seconds and recover</a:t>
            </a:r>
            <a:endParaRPr lang="en-US" sz="1450" dirty="0"/>
          </a:p>
        </p:txBody>
      </p:sp>
      <p:sp>
        <p:nvSpPr>
          <p:cNvPr id="16" name="panel-214"/>
          <p:cNvSpPr/>
          <p:nvPr/>
        </p:nvSpPr>
        <p:spPr>
          <a:xfrm>
            <a:off x="548640" y="2971800"/>
            <a:ext cx="5440680" cy="1463040"/>
          </a:xfrm>
          <a:prstGeom prst="roundRect">
            <a:avLst>
              <a:gd name="adj" fmla="val 6250"/>
            </a:avLst>
          </a:prstGeom>
          <a:solidFill>
            <a:schemeClr val="bg2"/>
          </a:solidFill>
          <a:ln w="12700">
            <a:solidFill>
              <a:schemeClr val="bg2"/>
            </a:solidFill>
            <a:prstDash val="solid"/>
          </a:ln>
        </p:spPr>
      </p:sp>
      <p:sp>
        <p:nvSpPr>
          <p:cNvPr id="17" name="Text 12"/>
          <p:cNvSpPr txBox="1"/>
          <p:nvPr/>
        </p:nvSpPr>
        <p:spPr>
          <a:xfrm>
            <a:off x="777240" y="315468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3</a:t>
            </a:r>
            <a:endParaRPr lang="en-US" sz="3400" dirty="0"/>
          </a:p>
        </p:txBody>
      </p:sp>
      <p:sp>
        <p:nvSpPr>
          <p:cNvPr id="18" name="icon-bg-215"/>
          <p:cNvSpPr/>
          <p:nvPr/>
        </p:nvSpPr>
        <p:spPr>
          <a:xfrm>
            <a:off x="1325880" y="3200400"/>
            <a:ext cx="502920" cy="502920"/>
          </a:xfrm>
          <a:prstGeom prst="ellipse">
            <a:avLst/>
          </a:prstGeom>
          <a:solidFill>
            <a:schemeClr val="accent1"/>
          </a:solidFill>
          <a:ln w="12700">
            <a:solidFill>
              <a:schemeClr val="accent1"/>
            </a:solidFill>
            <a:prstDash val="solid"/>
          </a:ln>
        </p:spPr>
      </p:sp>
      <p:pic>
        <p:nvPicPr>
          <p:cNvPr id="19" name="icon-216" descr="preencoded.png"/>
          <p:cNvPicPr>
            <a:picLocks noChangeAspect="1"/>
          </p:cNvPicPr>
          <p:nvPr/>
        </p:nvPicPr>
        <p:blipFill>
          <a:blip r:embed="rId5"/>
          <a:stretch>
            <a:fillRect/>
          </a:stretch>
        </p:blipFill>
        <p:spPr>
          <a:xfrm>
            <a:off x="1446581" y="3321101"/>
            <a:ext cx="261518" cy="261518"/>
          </a:xfrm>
          <a:prstGeom prst="rect">
            <a:avLst/>
          </a:prstGeom>
        </p:spPr>
      </p:pic>
      <p:sp>
        <p:nvSpPr>
          <p:cNvPr id="20" name="Text 14"/>
          <p:cNvSpPr txBox="1"/>
          <p:nvPr/>
        </p:nvSpPr>
        <p:spPr>
          <a:xfrm>
            <a:off x="2011680" y="3154680"/>
            <a:ext cx="3840480" cy="411480"/>
          </a:xfrm>
          <a:prstGeom prst="rect">
            <a:avLst/>
          </a:prstGeom>
          <a:noFill/>
          <a:ln/>
        </p:spPr>
        <p:txBody>
          <a:bodyPr wrap="square" lIns="0" tIns="0" rIns="0" bIns="0" rtlCol="0" anchor="t"/>
          <a:lstStyle/>
          <a:p>
            <a:pPr marL="0" indent="0">
              <a:buNone/>
            </a:pPr>
            <a:r>
              <a:rPr lang="en-US" sz="1800" b="1" dirty="0">
                <a:solidFill>
                  <a:schemeClr val="tx2"/>
                </a:solidFill>
              </a:rPr>
              <a:t>Touch test</a:t>
            </a:r>
            <a:endParaRPr lang="en-US" sz="1800" dirty="0"/>
          </a:p>
        </p:txBody>
      </p:sp>
      <p:sp>
        <p:nvSpPr>
          <p:cNvPr id="21" name="Text 15"/>
          <p:cNvSpPr txBox="1"/>
          <p:nvPr/>
        </p:nvSpPr>
        <p:spPr>
          <a:xfrm>
            <a:off x="2011680" y="3575304"/>
            <a:ext cx="3840480" cy="822960"/>
          </a:xfrm>
          <a:prstGeom prst="rect">
            <a:avLst/>
          </a:prstGeom>
          <a:noFill/>
          <a:ln/>
        </p:spPr>
        <p:txBody>
          <a:bodyPr wrap="square" lIns="0" tIns="0" rIns="0" bIns="0" rtlCol="0" anchor="t"/>
          <a:lstStyle/>
          <a:p>
            <a:pPr marL="0" indent="0">
              <a:buNone/>
            </a:pPr>
            <a:r>
              <a:rPr lang="en-US" sz="1450" dirty="0">
                <a:solidFill>
                  <a:schemeClr val="tx1"/>
                </a:solidFill>
              </a:rPr>
              <a:t>Hold the MCP9808: temperature climbs about 3–4 °C</a:t>
            </a:r>
            <a:endParaRPr lang="en-US" sz="1450" dirty="0"/>
          </a:p>
        </p:txBody>
      </p:sp>
      <p:sp>
        <p:nvSpPr>
          <p:cNvPr id="22" name="panel-217"/>
          <p:cNvSpPr/>
          <p:nvPr/>
        </p:nvSpPr>
        <p:spPr>
          <a:xfrm>
            <a:off x="6172200" y="2971800"/>
            <a:ext cx="5440680" cy="1463040"/>
          </a:xfrm>
          <a:prstGeom prst="roundRect">
            <a:avLst>
              <a:gd name="adj" fmla="val 6250"/>
            </a:avLst>
          </a:prstGeom>
          <a:solidFill>
            <a:schemeClr val="bg2"/>
          </a:solidFill>
          <a:ln w="12700">
            <a:solidFill>
              <a:schemeClr val="bg2"/>
            </a:solidFill>
            <a:prstDash val="solid"/>
          </a:ln>
        </p:spPr>
      </p:sp>
      <p:sp>
        <p:nvSpPr>
          <p:cNvPr id="23" name="Text 17"/>
          <p:cNvSpPr txBox="1"/>
          <p:nvPr/>
        </p:nvSpPr>
        <p:spPr>
          <a:xfrm>
            <a:off x="6400800" y="315468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4</a:t>
            </a:r>
            <a:endParaRPr lang="en-US" sz="3400" dirty="0"/>
          </a:p>
        </p:txBody>
      </p:sp>
      <p:sp>
        <p:nvSpPr>
          <p:cNvPr id="24" name="icon-bg-218"/>
          <p:cNvSpPr/>
          <p:nvPr/>
        </p:nvSpPr>
        <p:spPr>
          <a:xfrm>
            <a:off x="6949440" y="3200400"/>
            <a:ext cx="502920" cy="502920"/>
          </a:xfrm>
          <a:prstGeom prst="ellipse">
            <a:avLst/>
          </a:prstGeom>
          <a:solidFill>
            <a:schemeClr val="accent1"/>
          </a:solidFill>
          <a:ln w="12700">
            <a:solidFill>
              <a:schemeClr val="accent1"/>
            </a:solidFill>
            <a:prstDash val="solid"/>
          </a:ln>
        </p:spPr>
      </p:sp>
      <p:pic>
        <p:nvPicPr>
          <p:cNvPr id="25" name="icon-219" descr="preencoded.png"/>
          <p:cNvPicPr>
            <a:picLocks noChangeAspect="1"/>
          </p:cNvPicPr>
          <p:nvPr/>
        </p:nvPicPr>
        <p:blipFill>
          <a:blip r:embed="rId6"/>
          <a:stretch>
            <a:fillRect/>
          </a:stretch>
        </p:blipFill>
        <p:spPr>
          <a:xfrm>
            <a:off x="7070141" y="3321101"/>
            <a:ext cx="261518" cy="261518"/>
          </a:xfrm>
          <a:prstGeom prst="rect">
            <a:avLst/>
          </a:prstGeom>
        </p:spPr>
      </p:pic>
      <p:sp>
        <p:nvSpPr>
          <p:cNvPr id="26" name="Text 19"/>
          <p:cNvSpPr txBox="1"/>
          <p:nvPr/>
        </p:nvSpPr>
        <p:spPr>
          <a:xfrm>
            <a:off x="7635240" y="3154680"/>
            <a:ext cx="3840480" cy="411480"/>
          </a:xfrm>
          <a:prstGeom prst="rect">
            <a:avLst/>
          </a:prstGeom>
          <a:noFill/>
          <a:ln/>
        </p:spPr>
        <p:txBody>
          <a:bodyPr wrap="square" lIns="0" tIns="0" rIns="0" bIns="0" rtlCol="0" anchor="t"/>
          <a:lstStyle/>
          <a:p>
            <a:pPr marL="0" indent="0">
              <a:buNone/>
            </a:pPr>
            <a:r>
              <a:rPr lang="en-US" sz="1800" b="1" dirty="0">
                <a:solidFill>
                  <a:schemeClr val="tx2"/>
                </a:solidFill>
              </a:rPr>
              <a:t>Leaf scan</a:t>
            </a:r>
            <a:endParaRPr lang="en-US" sz="1800" dirty="0"/>
          </a:p>
        </p:txBody>
      </p:sp>
      <p:sp>
        <p:nvSpPr>
          <p:cNvPr id="27" name="Text 20"/>
          <p:cNvSpPr txBox="1"/>
          <p:nvPr/>
        </p:nvSpPr>
        <p:spPr>
          <a:xfrm>
            <a:off x="7635240" y="3575304"/>
            <a:ext cx="3840480" cy="822960"/>
          </a:xfrm>
          <a:prstGeom prst="rect">
            <a:avLst/>
          </a:prstGeom>
          <a:noFill/>
          <a:ln/>
        </p:spPr>
        <p:txBody>
          <a:bodyPr wrap="square" lIns="0" tIns="0" rIns="0" bIns="0" rtlCol="0" anchor="t"/>
          <a:lstStyle/>
          <a:p>
            <a:pPr marL="0" indent="0">
              <a:buNone/>
            </a:pPr>
            <a:r>
              <a:rPr lang="en-US" sz="1450" dirty="0">
                <a:solidFill>
                  <a:schemeClr val="tx1"/>
                </a:solidFill>
              </a:rPr>
              <a:t>Show a leaf to the camera, then an empty scene: diagnosis versus no leaf in view</a:t>
            </a:r>
            <a:endParaRPr lang="en-US" sz="1450" dirty="0"/>
          </a:p>
        </p:txBody>
      </p:sp>
      <p:sp>
        <p:nvSpPr>
          <p:cNvPr id="28" name="panel-220"/>
          <p:cNvSpPr/>
          <p:nvPr/>
        </p:nvSpPr>
        <p:spPr>
          <a:xfrm>
            <a:off x="548640" y="4617720"/>
            <a:ext cx="5440680" cy="1463040"/>
          </a:xfrm>
          <a:prstGeom prst="roundRect">
            <a:avLst>
              <a:gd name="adj" fmla="val 6250"/>
            </a:avLst>
          </a:prstGeom>
          <a:solidFill>
            <a:schemeClr val="bg2"/>
          </a:solidFill>
          <a:ln w="12700">
            <a:solidFill>
              <a:schemeClr val="bg2"/>
            </a:solidFill>
            <a:prstDash val="solid"/>
          </a:ln>
        </p:spPr>
      </p:sp>
      <p:sp>
        <p:nvSpPr>
          <p:cNvPr id="29" name="Text 22"/>
          <p:cNvSpPr txBox="1"/>
          <p:nvPr/>
        </p:nvSpPr>
        <p:spPr>
          <a:xfrm>
            <a:off x="777240" y="480060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5</a:t>
            </a:r>
            <a:endParaRPr lang="en-US" sz="3400" dirty="0"/>
          </a:p>
        </p:txBody>
      </p:sp>
      <p:sp>
        <p:nvSpPr>
          <p:cNvPr id="30" name="icon-bg-221"/>
          <p:cNvSpPr/>
          <p:nvPr/>
        </p:nvSpPr>
        <p:spPr>
          <a:xfrm>
            <a:off x="1325880" y="4846320"/>
            <a:ext cx="502920" cy="502920"/>
          </a:xfrm>
          <a:prstGeom prst="ellipse">
            <a:avLst/>
          </a:prstGeom>
          <a:solidFill>
            <a:schemeClr val="accent1"/>
          </a:solidFill>
          <a:ln w="12700">
            <a:solidFill>
              <a:schemeClr val="accent1"/>
            </a:solidFill>
            <a:prstDash val="solid"/>
          </a:ln>
        </p:spPr>
      </p:sp>
      <p:pic>
        <p:nvPicPr>
          <p:cNvPr id="31" name="icon-222" descr="preencoded.png"/>
          <p:cNvPicPr>
            <a:picLocks noChangeAspect="1"/>
          </p:cNvPicPr>
          <p:nvPr/>
        </p:nvPicPr>
        <p:blipFill>
          <a:blip r:embed="rId7"/>
          <a:stretch>
            <a:fillRect/>
          </a:stretch>
        </p:blipFill>
        <p:spPr>
          <a:xfrm>
            <a:off x="1446581" y="4967021"/>
            <a:ext cx="261518" cy="261518"/>
          </a:xfrm>
          <a:prstGeom prst="rect">
            <a:avLst/>
          </a:prstGeom>
        </p:spPr>
      </p:pic>
      <p:sp>
        <p:nvSpPr>
          <p:cNvPr id="32" name="Text 24"/>
          <p:cNvSpPr txBox="1"/>
          <p:nvPr/>
        </p:nvSpPr>
        <p:spPr>
          <a:xfrm>
            <a:off x="2011680" y="4800600"/>
            <a:ext cx="3840480" cy="411480"/>
          </a:xfrm>
          <a:prstGeom prst="rect">
            <a:avLst/>
          </a:prstGeom>
          <a:noFill/>
          <a:ln/>
        </p:spPr>
        <p:txBody>
          <a:bodyPr wrap="square" lIns="0" tIns="0" rIns="0" bIns="0" rtlCol="0" anchor="t"/>
          <a:lstStyle/>
          <a:p>
            <a:pPr marL="0" indent="0">
              <a:buNone/>
            </a:pPr>
            <a:r>
              <a:rPr lang="en-US" sz="1800" b="1" dirty="0">
                <a:solidFill>
                  <a:schemeClr val="tx2"/>
                </a:solidFill>
              </a:rPr>
              <a:t>Simulation</a:t>
            </a:r>
            <a:endParaRPr lang="en-US" sz="1800" dirty="0"/>
          </a:p>
        </p:txBody>
      </p:sp>
      <p:sp>
        <p:nvSpPr>
          <p:cNvPr id="33" name="Text 25"/>
          <p:cNvSpPr txBox="1"/>
          <p:nvPr/>
        </p:nvSpPr>
        <p:spPr>
          <a:xfrm>
            <a:off x="2011680" y="5221224"/>
            <a:ext cx="3840480" cy="822960"/>
          </a:xfrm>
          <a:prstGeom prst="rect">
            <a:avLst/>
          </a:prstGeom>
          <a:noFill/>
          <a:ln/>
        </p:spPr>
        <p:txBody>
          <a:bodyPr wrap="square" lIns="0" tIns="0" rIns="0" bIns="0" rtlCol="0" anchor="t"/>
          <a:lstStyle/>
          <a:p>
            <a:pPr marL="0" indent="0">
              <a:buNone/>
            </a:pPr>
            <a:r>
              <a:rPr lang="en-US" sz="1450" dirty="0">
                <a:solidFill>
                  <a:schemeClr val="tx1"/>
                </a:solidFill>
              </a:rPr>
              <a:t>Run the MuJoCo survey: rows, turns, TVOC trail over the stressed patch</a:t>
            </a:r>
            <a:endParaRPr lang="en-US" sz="1450" dirty="0"/>
          </a:p>
        </p:txBody>
      </p:sp>
      <p:sp>
        <p:nvSpPr>
          <p:cNvPr id="34" name="panel-223"/>
          <p:cNvSpPr/>
          <p:nvPr/>
        </p:nvSpPr>
        <p:spPr>
          <a:xfrm>
            <a:off x="6172200" y="4617720"/>
            <a:ext cx="5440680" cy="1463040"/>
          </a:xfrm>
          <a:prstGeom prst="roundRect">
            <a:avLst>
              <a:gd name="adj" fmla="val 6250"/>
            </a:avLst>
          </a:prstGeom>
          <a:solidFill>
            <a:schemeClr val="bg2"/>
          </a:solidFill>
          <a:ln w="12700">
            <a:solidFill>
              <a:schemeClr val="bg2"/>
            </a:solidFill>
            <a:prstDash val="solid"/>
          </a:ln>
        </p:spPr>
      </p:sp>
      <p:sp>
        <p:nvSpPr>
          <p:cNvPr id="35" name="Text 27"/>
          <p:cNvSpPr txBox="1"/>
          <p:nvPr/>
        </p:nvSpPr>
        <p:spPr>
          <a:xfrm>
            <a:off x="6400800" y="4800600"/>
            <a:ext cx="548640" cy="640080"/>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6</a:t>
            </a:r>
            <a:endParaRPr lang="en-US" sz="3400" dirty="0"/>
          </a:p>
        </p:txBody>
      </p:sp>
      <p:sp>
        <p:nvSpPr>
          <p:cNvPr id="36" name="icon-bg-224"/>
          <p:cNvSpPr/>
          <p:nvPr/>
        </p:nvSpPr>
        <p:spPr>
          <a:xfrm>
            <a:off x="6949440" y="4846320"/>
            <a:ext cx="502920" cy="502920"/>
          </a:xfrm>
          <a:prstGeom prst="ellipse">
            <a:avLst/>
          </a:prstGeom>
          <a:solidFill>
            <a:schemeClr val="accent1"/>
          </a:solidFill>
          <a:ln w="12700">
            <a:solidFill>
              <a:schemeClr val="accent1"/>
            </a:solidFill>
            <a:prstDash val="solid"/>
          </a:ln>
        </p:spPr>
      </p:sp>
      <p:pic>
        <p:nvPicPr>
          <p:cNvPr id="37" name="icon-225" descr="preencoded.png"/>
          <p:cNvPicPr>
            <a:picLocks noChangeAspect="1"/>
          </p:cNvPicPr>
          <p:nvPr/>
        </p:nvPicPr>
        <p:blipFill>
          <a:blip r:embed="rId8"/>
          <a:stretch>
            <a:fillRect/>
          </a:stretch>
        </p:blipFill>
        <p:spPr>
          <a:xfrm>
            <a:off x="7070141" y="4967021"/>
            <a:ext cx="261518" cy="261518"/>
          </a:xfrm>
          <a:prstGeom prst="rect">
            <a:avLst/>
          </a:prstGeom>
        </p:spPr>
      </p:pic>
      <p:sp>
        <p:nvSpPr>
          <p:cNvPr id="38" name="Text 29"/>
          <p:cNvSpPr txBox="1"/>
          <p:nvPr/>
        </p:nvSpPr>
        <p:spPr>
          <a:xfrm>
            <a:off x="7635240" y="4800600"/>
            <a:ext cx="3840480" cy="411480"/>
          </a:xfrm>
          <a:prstGeom prst="rect">
            <a:avLst/>
          </a:prstGeom>
          <a:noFill/>
          <a:ln/>
        </p:spPr>
        <p:txBody>
          <a:bodyPr wrap="square" lIns="0" tIns="0" rIns="0" bIns="0" rtlCol="0" anchor="t"/>
          <a:lstStyle/>
          <a:p>
            <a:pPr marL="0" indent="0">
              <a:buNone/>
            </a:pPr>
            <a:r>
              <a:rPr lang="en-US" sz="1800" b="1" dirty="0">
                <a:solidFill>
                  <a:schemeClr val="tx2"/>
                </a:solidFill>
              </a:rPr>
              <a:t>Robot</a:t>
            </a:r>
            <a:endParaRPr lang="en-US" sz="1800" dirty="0"/>
          </a:p>
        </p:txBody>
      </p:sp>
      <p:sp>
        <p:nvSpPr>
          <p:cNvPr id="39" name="Text 30"/>
          <p:cNvSpPr txBox="1"/>
          <p:nvPr/>
        </p:nvSpPr>
        <p:spPr>
          <a:xfrm>
            <a:off x="7635240" y="5221224"/>
            <a:ext cx="3840480" cy="822960"/>
          </a:xfrm>
          <a:prstGeom prst="rect">
            <a:avLst/>
          </a:prstGeom>
          <a:noFill/>
          <a:ln/>
        </p:spPr>
        <p:txBody>
          <a:bodyPr wrap="square" lIns="0" tIns="0" rIns="0" bIns="0" rtlCol="0" anchor="t"/>
          <a:lstStyle/>
          <a:p>
            <a:pPr marL="0" indent="0">
              <a:buNone/>
            </a:pPr>
            <a:r>
              <a:rPr lang="en-US" sz="1450" dirty="0">
                <a:solidFill>
                  <a:schemeClr val="tx1"/>
                </a:solidFill>
              </a:rPr>
              <a:t>Power the servos: the robot stands and moves its legs</a:t>
            </a:r>
            <a:endParaRPr lang="en-US" sz="145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lIns="0" tIns="0" rIns="0" bIns="0" rtlCol="0" anchor="b"/>
          <a:lstStyle/>
          <a:p>
            <a:pPr marL="0" indent="0" algn="l">
              <a:buNone/>
            </a:pPr>
            <a:r>
              <a:rPr lang="en-US" sz="8800" b="1" dirty="0">
                <a:solidFill>
                  <a:schemeClr val="accent2"/>
                </a:solidFill>
                <a:latin typeface="Cambria" pitchFamily="34" charset="0"/>
                <a:ea typeface="Cambria" pitchFamily="34" charset="-122"/>
                <a:cs typeface="Cambria" pitchFamily="34" charset="-120"/>
              </a:rPr>
              <a:t>04</a:t>
            </a: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lIns="0" tIns="0" rIns="0" bIns="0" rtlCol="0" anchor="t"/>
          <a:lstStyle/>
          <a:p>
            <a:pPr marL="0" indent="0" algn="l">
              <a:buNone/>
            </a:pPr>
            <a:r>
              <a:rPr lang="en-US" sz="4400" b="1" dirty="0">
                <a:solidFill>
                  <a:schemeClr val="bg1"/>
                </a:solidFill>
              </a:rPr>
              <a:t>Testing and Results</a:t>
            </a: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lIns="0" tIns="0" rIns="0" bIns="0" rtlCol="0" anchor="t"/>
          <a:lstStyle/>
          <a:p>
            <a:pPr marL="0" indent="0" algn="l">
              <a:buNone/>
            </a:pPr>
            <a:r>
              <a:rPr lang="en-US" sz="1800" dirty="0">
                <a:solidFill>
                  <a:schemeClr val="bg2"/>
                </a:solidFill>
              </a:rPr>
              <a:t>Test procedures and measured results on the hardware, then the simulation metrics and their interpretation</a:t>
            </a:r>
            <a:endParaRPr lang="en-US" sz="1800" dirty="0"/>
          </a:p>
        </p:txBody>
      </p:sp>
      <p:pic>
        <p:nvPicPr>
          <p:cNvPr id="5" name="divider-icon-226" descr="preencoded.png"/>
          <p:cNvPicPr>
            <a:picLocks noChangeAspect="1"/>
          </p:cNvPicPr>
          <p:nvPr/>
        </p:nvPicPr>
        <p:blipFill>
          <a:blip r:embed="rId3">
            <a:alphaModFix amt="30000"/>
          </a:blip>
          <a:stretch>
            <a:fillRect/>
          </a:stretch>
        </p:blipFill>
        <p:spPr>
          <a:xfrm>
            <a:off x="8549640" y="1554480"/>
            <a:ext cx="3017520" cy="301752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Bench Validation of the Hardware</a:t>
            </a:r>
            <a:endParaRPr lang="en-US" sz="3000" dirty="0"/>
          </a:p>
        </p:txBody>
      </p:sp>
      <p:graphicFrame>
        <p:nvGraphicFramePr>
          <p:cNvPr id="28" name="table-227"/>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814316"/>
        </p:xfrm>
        <a:graphic>
          <a:graphicData uri="http://schemas.openxmlformats.org/drawingml/2006/table">
            <a:tbl>
              <a:tblPr/>
              <a:tblGrid>
                <a:gridCol w="28346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534924">
                <a:tc>
                  <a:txBody>
                    <a:bodyPr/>
                    <a:lstStyle/>
                    <a:p>
                      <a:pPr marL="0" indent="0">
                        <a:buNone/>
                      </a:pPr>
                      <a:r>
                        <a:rPr lang="en-US" sz="1400" b="1" dirty="0">
                          <a:solidFill>
                            <a:schemeClr val="bg1"/>
                          </a:solidFill>
                        </a:rPr>
                        <a:t>Test procedure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Measured result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it shows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534924">
                <a:tc>
                  <a:txBody>
                    <a:bodyPr/>
                    <a:lstStyle/>
                    <a:p>
                      <a:pPr marL="0" indent="0">
                        <a:buNone/>
                      </a:pPr>
                      <a:r>
                        <a:rPr lang="en-US" sz="1400" dirty="0">
                          <a:solidFill>
                            <a:schemeClr val="tx1"/>
                          </a:solidFill>
                        </a:rPr>
                        <a:t>Breathe on the SGP30</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eCO₂ 400 → 746 ppm, TVOC 0 → 210 ppb within 5 s; back to baseline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Gas sensing responds and recovers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534924">
                <a:tc>
                  <a:txBody>
                    <a:bodyPr/>
                    <a:lstStyle/>
                    <a:p>
                      <a:pPr marL="0" indent="0">
                        <a:buNone/>
                      </a:pPr>
                      <a:r>
                        <a:rPr lang="en-US" sz="1400" dirty="0">
                          <a:solidFill>
                            <a:schemeClr val="tx1"/>
                          </a:solidFill>
                        </a:rPr>
                        <a:t>Finger on the MCP9808</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31.5 → 35.0 °C in about 10 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Temperature tracks a real change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4924">
                <a:tc>
                  <a:txBody>
                    <a:bodyPr/>
                    <a:lstStyle/>
                    <a:p>
                      <a:pPr marL="0" indent="0">
                        <a:buNone/>
                      </a:pPr>
                      <a:r>
                        <a:rPr lang="en-US" sz="1400" dirty="0">
                          <a:solidFill>
                            <a:schemeClr val="tx1"/>
                          </a:solidFill>
                        </a:rPr>
                        <a:t>PPD42 in room air</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0–5,065 particles / 0.01 ft³ per 30 s window</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Dust sensing live</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534924">
                <a:tc>
                  <a:txBody>
                    <a:bodyPr/>
                    <a:lstStyle/>
                    <a:p>
                      <a:pPr marL="0" indent="0">
                        <a:buNone/>
                      </a:pPr>
                      <a:r>
                        <a:rPr lang="en-US" sz="1400" dirty="0">
                          <a:solidFill>
                            <a:schemeClr val="tx1"/>
                          </a:solidFill>
                        </a:rPr>
                        <a:t>PPD42 unplugged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Reported as absent instead of 1.1 million</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No false alarms from wiring faults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4924">
                <a:tc>
                  <a:txBody>
                    <a:bodyPr/>
                    <a:lstStyle/>
                    <a:p>
                      <a:pPr marL="0" indent="0">
                        <a:buNone/>
                      </a:pPr>
                      <a:r>
                        <a:rPr lang="en-US" sz="1400" dirty="0">
                          <a:solidFill>
                            <a:schemeClr val="tx1"/>
                          </a:solidFill>
                        </a:rPr>
                        <a:t>Wi-Fi link of the XIAO</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−78 dBm with time-outs → −26 dBm with antenna</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Diagnostics found the fault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534924">
                <a:tc>
                  <a:txBody>
                    <a:bodyPr/>
                    <a:lstStyle/>
                    <a:p>
                      <a:pPr marL="0" indent="0">
                        <a:buNone/>
                      </a:pPr>
                      <a:r>
                        <a:rPr lang="en-US" sz="1400" dirty="0">
                          <a:solidFill>
                            <a:schemeClr val="tx1"/>
                          </a:solidFill>
                        </a:rPr>
                        <a:t>Camera video</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≈0.5 → 16–20 fps after moving to MJPEG</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Live view usable for scanning</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534924">
                <a:tc>
                  <a:txBody>
                    <a:bodyPr/>
                    <a:lstStyle/>
                    <a:p>
                      <a:pPr marL="0" indent="0">
                        <a:buNone/>
                      </a:pPr>
                      <a:r>
                        <a:rPr lang="en-US" sz="1400" dirty="0">
                          <a:solidFill>
                            <a:schemeClr val="tx1"/>
                          </a:solidFill>
                        </a:rPr>
                        <a:t>Servos, robot on its back</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All four legs follow commanded angles</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Wiring and servo control work</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534924">
                <a:tc>
                  <a:txBody>
                    <a:bodyPr/>
                    <a:lstStyle/>
                    <a:p>
                      <a:pPr marL="0" indent="0">
                        <a:buNone/>
                      </a:pPr>
                      <a:r>
                        <a:rPr lang="en-US" sz="1400" dirty="0">
                          <a:solidFill>
                            <a:schemeClr val="tx1"/>
                          </a:solidFill>
                        </a:rPr>
                        <a:t>Servos, robot standing</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Holds a stance and shifts its legs, slowly</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Torque margin is thin, as predicted</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Classifier Validation: The Gate Prevents False Diagnoses</a:t>
            </a:r>
            <a:endParaRPr lang="en-US" sz="3000" dirty="0"/>
          </a:p>
        </p:txBody>
      </p:sp>
      <p:sp>
        <p:nvSpPr>
          <p:cNvPr id="4" name="panel-228"/>
          <p:cNvSpPr/>
          <p:nvPr/>
        </p:nvSpPr>
        <p:spPr>
          <a:xfrm>
            <a:off x="548640" y="1325880"/>
            <a:ext cx="5440680" cy="2377440"/>
          </a:xfrm>
          <a:prstGeom prst="roundRect">
            <a:avLst>
              <a:gd name="adj" fmla="val 3846"/>
            </a:avLst>
          </a:prstGeom>
          <a:solidFill>
            <a:schemeClr val="bg2"/>
          </a:solidFill>
          <a:ln w="12700">
            <a:solidFill>
              <a:schemeClr val="bg2"/>
            </a:solidFill>
            <a:prstDash val="solid"/>
          </a:ln>
        </p:spPr>
      </p:sp>
      <p:sp>
        <p:nvSpPr>
          <p:cNvPr id="5" name="Text 2"/>
          <p:cNvSpPr txBox="1"/>
          <p:nvPr/>
        </p:nvSpPr>
        <p:spPr>
          <a:xfrm>
            <a:off x="777240" y="1463040"/>
            <a:ext cx="5029200" cy="365760"/>
          </a:xfrm>
          <a:prstGeom prst="rect">
            <a:avLst/>
          </a:prstGeom>
          <a:noFill/>
          <a:ln/>
        </p:spPr>
        <p:txBody>
          <a:bodyPr wrap="square" lIns="0" tIns="0" rIns="0" bIns="0" rtlCol="0" anchor="t"/>
          <a:lstStyle/>
          <a:p>
            <a:pPr marL="0" indent="0">
              <a:buNone/>
            </a:pPr>
            <a:r>
              <a:rPr lang="en-US" sz="1600" b="1" dirty="0">
                <a:solidFill>
                  <a:schemeClr val="accent4"/>
                </a:solidFill>
              </a:rPr>
              <a:t>Without the gate</a:t>
            </a:r>
            <a:endParaRPr lang="en-US" sz="1600" dirty="0"/>
          </a:p>
        </p:txBody>
      </p:sp>
      <p:sp>
        <p:nvSpPr>
          <p:cNvPr id="6" name="Text 3"/>
          <p:cNvSpPr txBox="1"/>
          <p:nvPr/>
        </p:nvSpPr>
        <p:spPr>
          <a:xfrm>
            <a:off x="777240" y="1828800"/>
            <a:ext cx="5029200" cy="914400"/>
          </a:xfrm>
          <a:prstGeom prst="rect">
            <a:avLst/>
          </a:prstGeom>
          <a:noFill/>
          <a:ln/>
        </p:spPr>
        <p:txBody>
          <a:bodyPr wrap="square" lIns="0" tIns="0" rIns="0" bIns="0" rtlCol="0" anchor="t"/>
          <a:lstStyle/>
          <a:p>
            <a:pPr marL="0" indent="0">
              <a:buNone/>
            </a:pPr>
            <a:r>
              <a:rPr lang="en-US" sz="5200" b="1" dirty="0">
                <a:solidFill>
                  <a:schemeClr val="accent4"/>
                </a:solidFill>
                <a:latin typeface="Cambria" pitchFamily="34" charset="0"/>
                <a:ea typeface="Cambria" pitchFamily="34" charset="-122"/>
                <a:cs typeface="Cambria" pitchFamily="34" charset="-120"/>
              </a:rPr>
              <a:t>82–90 %</a:t>
            </a:r>
            <a:endParaRPr lang="en-US" sz="5200" dirty="0"/>
          </a:p>
        </p:txBody>
      </p:sp>
      <p:sp>
        <p:nvSpPr>
          <p:cNvPr id="7" name="Text 4"/>
          <p:cNvSpPr txBox="1"/>
          <p:nvPr/>
        </p:nvSpPr>
        <p:spPr>
          <a:xfrm>
            <a:off x="777240" y="2788920"/>
            <a:ext cx="5029200" cy="731520"/>
          </a:xfrm>
          <a:prstGeom prst="rect">
            <a:avLst/>
          </a:prstGeom>
          <a:noFill/>
          <a:ln/>
        </p:spPr>
        <p:txBody>
          <a:bodyPr wrap="square" lIns="0" tIns="0" rIns="0" bIns="0" rtlCol="0" anchor="t"/>
          <a:lstStyle/>
          <a:p>
            <a:pPr marL="0" indent="0">
              <a:buNone/>
            </a:pPr>
            <a:r>
              <a:rPr lang="en-US" sz="1500" dirty="0">
                <a:solidFill>
                  <a:schemeClr val="tx1"/>
                </a:solidFill>
              </a:rPr>
              <a:t>confidence for “citrus greening” on a photo of an empty room</a:t>
            </a:r>
            <a:endParaRPr lang="en-US" sz="1500" dirty="0"/>
          </a:p>
        </p:txBody>
      </p:sp>
      <p:sp>
        <p:nvSpPr>
          <p:cNvPr id="8" name="panel-229"/>
          <p:cNvSpPr/>
          <p:nvPr/>
        </p:nvSpPr>
        <p:spPr>
          <a:xfrm>
            <a:off x="6172200" y="1325880"/>
            <a:ext cx="5440680" cy="2377440"/>
          </a:xfrm>
          <a:prstGeom prst="roundRect">
            <a:avLst>
              <a:gd name="adj" fmla="val 3846"/>
            </a:avLst>
          </a:prstGeom>
          <a:solidFill>
            <a:schemeClr val="tx2"/>
          </a:solidFill>
          <a:ln w="12700">
            <a:solidFill>
              <a:schemeClr val="tx2"/>
            </a:solidFill>
            <a:prstDash val="solid"/>
          </a:ln>
        </p:spPr>
      </p:sp>
      <p:sp>
        <p:nvSpPr>
          <p:cNvPr id="9" name="Text 6"/>
          <p:cNvSpPr txBox="1"/>
          <p:nvPr/>
        </p:nvSpPr>
        <p:spPr>
          <a:xfrm>
            <a:off x="6400800" y="1463040"/>
            <a:ext cx="5029200" cy="365760"/>
          </a:xfrm>
          <a:prstGeom prst="rect">
            <a:avLst/>
          </a:prstGeom>
          <a:noFill/>
          <a:ln/>
        </p:spPr>
        <p:txBody>
          <a:bodyPr wrap="square" lIns="0" tIns="0" rIns="0" bIns="0" rtlCol="0" anchor="t"/>
          <a:lstStyle/>
          <a:p>
            <a:pPr marL="0" indent="0">
              <a:buNone/>
            </a:pPr>
            <a:r>
              <a:rPr lang="en-US" sz="1600" b="1" dirty="0">
                <a:solidFill>
                  <a:schemeClr val="accent2"/>
                </a:solidFill>
              </a:rPr>
              <a:t>With the gate</a:t>
            </a:r>
            <a:endParaRPr lang="en-US" sz="1600" dirty="0"/>
          </a:p>
        </p:txBody>
      </p:sp>
      <p:sp>
        <p:nvSpPr>
          <p:cNvPr id="10" name="Text 7"/>
          <p:cNvSpPr txBox="1"/>
          <p:nvPr/>
        </p:nvSpPr>
        <p:spPr>
          <a:xfrm>
            <a:off x="6400800" y="1828800"/>
            <a:ext cx="5029200" cy="914400"/>
          </a:xfrm>
          <a:prstGeom prst="rect">
            <a:avLst/>
          </a:prstGeom>
          <a:noFill/>
          <a:ln/>
        </p:spPr>
        <p:txBody>
          <a:bodyPr wrap="square" lIns="0" tIns="0" rIns="0" bIns="0" rtlCol="0" anchor="t"/>
          <a:lstStyle/>
          <a:p>
            <a:pPr marL="0" indent="0">
              <a:buNone/>
            </a:pPr>
            <a:r>
              <a:rPr lang="en-US" sz="5200" b="1" dirty="0">
                <a:solidFill>
                  <a:schemeClr val="bg1"/>
                </a:solidFill>
                <a:latin typeface="Cambria" pitchFamily="34" charset="0"/>
                <a:ea typeface="Cambria" pitchFamily="34" charset="-122"/>
                <a:cs typeface="Cambria" pitchFamily="34" charset="-120"/>
              </a:rPr>
              <a:t>Rejected</a:t>
            </a:r>
            <a:endParaRPr lang="en-US" sz="5200" dirty="0"/>
          </a:p>
        </p:txBody>
      </p:sp>
      <p:sp>
        <p:nvSpPr>
          <p:cNvPr id="11" name="Text 8"/>
          <p:cNvSpPr txBox="1"/>
          <p:nvPr/>
        </p:nvSpPr>
        <p:spPr>
          <a:xfrm>
            <a:off x="6400800" y="2788920"/>
            <a:ext cx="5029200" cy="731520"/>
          </a:xfrm>
          <a:prstGeom prst="rect">
            <a:avLst/>
          </a:prstGeom>
          <a:noFill/>
          <a:ln/>
        </p:spPr>
        <p:txBody>
          <a:bodyPr wrap="square" lIns="0" tIns="0" rIns="0" bIns="0" rtlCol="0" anchor="t"/>
          <a:lstStyle/>
          <a:p>
            <a:pPr marL="0" indent="0">
              <a:buNone/>
            </a:pPr>
            <a:r>
              <a:rPr lang="en-US" sz="1500" dirty="0">
                <a:solidFill>
                  <a:schemeClr val="bg2"/>
                </a:solidFill>
              </a:rPr>
              <a:t>0–0.1 % leaf coverage measured: “no leaf in view”, no diagnosis shown</a:t>
            </a:r>
            <a:endParaRPr lang="en-US" sz="1500" dirty="0"/>
          </a:p>
        </p:txBody>
      </p:sp>
      <p:sp>
        <p:nvSpPr>
          <p:cNvPr id="12" name="Text 9"/>
          <p:cNvSpPr txBox="1"/>
          <p:nvPr/>
        </p:nvSpPr>
        <p:spPr>
          <a:xfrm>
            <a:off x="548640" y="4069080"/>
            <a:ext cx="3474720" cy="60960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12 / 12</a:t>
            </a:r>
            <a:endParaRPr lang="en-US" sz="4000" dirty="0"/>
          </a:p>
        </p:txBody>
      </p:sp>
      <p:sp>
        <p:nvSpPr>
          <p:cNvPr id="13" name="Text 10"/>
          <p:cNvSpPr txBox="1"/>
          <p:nvPr/>
        </p:nvSpPr>
        <p:spPr>
          <a:xfrm>
            <a:off x="548640" y="4733544"/>
            <a:ext cx="3474720" cy="640080"/>
          </a:xfrm>
          <a:prstGeom prst="rect">
            <a:avLst/>
          </a:prstGeom>
          <a:noFill/>
          <a:ln/>
        </p:spPr>
        <p:txBody>
          <a:bodyPr wrap="square" lIns="0" tIns="0" rIns="0" bIns="0" rtlCol="0" anchor="t"/>
          <a:lstStyle/>
          <a:p>
            <a:pPr marL="0" indent="0">
              <a:buNone/>
            </a:pPr>
            <a:r>
              <a:rPr lang="en-US" sz="1400" dirty="0">
                <a:solidFill>
                  <a:schemeClr val="accent6"/>
                </a:solidFill>
              </a:rPr>
              <a:t>PlantVillage leaves accepted by the gate (27–76 % coverage)</a:t>
            </a:r>
            <a:endParaRPr lang="en-US" sz="1400" dirty="0"/>
          </a:p>
        </p:txBody>
      </p:sp>
      <p:sp>
        <p:nvSpPr>
          <p:cNvPr id="14" name="Text 11"/>
          <p:cNvSpPr txBox="1"/>
          <p:nvPr/>
        </p:nvSpPr>
        <p:spPr>
          <a:xfrm>
            <a:off x="4279392" y="4069080"/>
            <a:ext cx="3474720" cy="60960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8 / 10</a:t>
            </a:r>
            <a:endParaRPr lang="en-US" sz="4000" dirty="0"/>
          </a:p>
        </p:txBody>
      </p:sp>
      <p:sp>
        <p:nvSpPr>
          <p:cNvPr id="15" name="Text 12"/>
          <p:cNvSpPr txBox="1"/>
          <p:nvPr/>
        </p:nvSpPr>
        <p:spPr>
          <a:xfrm>
            <a:off x="4279392" y="4733544"/>
            <a:ext cx="3474720" cy="640080"/>
          </a:xfrm>
          <a:prstGeom prst="rect">
            <a:avLst/>
          </a:prstGeom>
          <a:noFill/>
          <a:ln/>
        </p:spPr>
        <p:txBody>
          <a:bodyPr wrap="square" lIns="0" tIns="0" rIns="0" bIns="0" rtlCol="0" anchor="t"/>
          <a:lstStyle/>
          <a:p>
            <a:pPr marL="0" indent="0">
              <a:buNone/>
            </a:pPr>
            <a:r>
              <a:rPr lang="en-US" sz="1400" dirty="0">
                <a:solidFill>
                  <a:schemeClr val="accent6"/>
                </a:solidFill>
              </a:rPr>
              <a:t>spot-check images classified correctly above 92 %; 1 uncertain, 1 wrong</a:t>
            </a:r>
            <a:endParaRPr lang="en-US" sz="1400" dirty="0"/>
          </a:p>
        </p:txBody>
      </p:sp>
      <p:sp>
        <p:nvSpPr>
          <p:cNvPr id="16" name="Text 13"/>
          <p:cNvSpPr txBox="1"/>
          <p:nvPr/>
        </p:nvSpPr>
        <p:spPr>
          <a:xfrm>
            <a:off x="8010144" y="4069080"/>
            <a:ext cx="3474720" cy="609600"/>
          </a:xfrm>
          <a:prstGeom prst="rect">
            <a:avLst/>
          </a:prstGeom>
          <a:noFill/>
          <a:ln/>
        </p:spPr>
        <p:txBody>
          <a:bodyPr wrap="square" lIns="0" tIns="0" rIns="0" bIns="0" rtlCol="0" anchor="b"/>
          <a:lstStyle/>
          <a:p>
            <a:pPr marL="0" indent="0">
              <a:buNone/>
            </a:pPr>
            <a:r>
              <a:rPr lang="en-US" sz="4000" b="1" dirty="0">
                <a:solidFill>
                  <a:schemeClr val="accent5"/>
                </a:solidFill>
                <a:latin typeface="Cambria" pitchFamily="34" charset="0"/>
                <a:ea typeface="Cambria" pitchFamily="34" charset="-122"/>
                <a:cs typeface="Cambria" pitchFamily="34" charset="-120"/>
              </a:rPr>
              <a:t>30–80 ms</a:t>
            </a:r>
            <a:endParaRPr lang="en-US" sz="4000" dirty="0"/>
          </a:p>
        </p:txBody>
      </p:sp>
      <p:sp>
        <p:nvSpPr>
          <p:cNvPr id="17" name="Text 14"/>
          <p:cNvSpPr txBox="1"/>
          <p:nvPr/>
        </p:nvSpPr>
        <p:spPr>
          <a:xfrm>
            <a:off x="8010144" y="4733544"/>
            <a:ext cx="3474720" cy="640080"/>
          </a:xfrm>
          <a:prstGeom prst="rect">
            <a:avLst/>
          </a:prstGeom>
          <a:noFill/>
          <a:ln/>
        </p:spPr>
        <p:txBody>
          <a:bodyPr wrap="square" lIns="0" tIns="0" rIns="0" bIns="0" rtlCol="0" anchor="t"/>
          <a:lstStyle/>
          <a:p>
            <a:pPr marL="0" indent="0">
              <a:buNone/>
            </a:pPr>
            <a:r>
              <a:rPr lang="en-US" sz="1400" dirty="0">
                <a:solidFill>
                  <a:schemeClr val="accent6"/>
                </a:solidFill>
              </a:rPr>
              <a:t>inference per image on the laptop CPU</a:t>
            </a:r>
            <a:endParaRPr lang="en-US" sz="14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Live Scans Outdoors with the Robot's Camera</a:t>
            </a:r>
            <a:endParaRPr lang="en-US" sz="3000" dirty="0"/>
          </a:p>
        </p:txBody>
      </p:sp>
      <p:pic>
        <p:nvPicPr>
          <p:cNvPr id="4" name="image-230" descr="diag_hedge.jpg"/>
          <p:cNvPicPr>
            <a:picLocks noChangeAspect="1"/>
          </p:cNvPicPr>
          <p:nvPr/>
        </p:nvPicPr>
        <p:blipFill>
          <a:blip r:embed="rId3"/>
          <a:stretch>
            <a:fillRect/>
          </a:stretch>
        </p:blipFill>
        <p:spPr>
          <a:xfrm>
            <a:off x="1034456" y="1280160"/>
            <a:ext cx="2557952" cy="3291840"/>
          </a:xfrm>
          <a:prstGeom prst="rect">
            <a:avLst/>
          </a:prstGeom>
        </p:spPr>
      </p:pic>
      <p:sp>
        <p:nvSpPr>
          <p:cNvPr id="5" name="Text 1"/>
          <p:cNvSpPr txBox="1"/>
          <p:nvPr/>
        </p:nvSpPr>
        <p:spPr>
          <a:xfrm>
            <a:off x="548640" y="4709160"/>
            <a:ext cx="3529584" cy="411480"/>
          </a:xfrm>
          <a:prstGeom prst="rect">
            <a:avLst/>
          </a:prstGeom>
          <a:noFill/>
          <a:ln/>
        </p:spPr>
        <p:txBody>
          <a:bodyPr wrap="square" lIns="0" tIns="0" rIns="0" bIns="0" rtlCol="0" anchor="t"/>
          <a:lstStyle/>
          <a:p>
            <a:pPr marL="0" indent="0">
              <a:buNone/>
            </a:pPr>
            <a:r>
              <a:rPr lang="en-US" sz="1700" b="1" dirty="0">
                <a:solidFill>
                  <a:schemeClr val="accent3"/>
                </a:solidFill>
              </a:rPr>
              <a:t>Hedge at ~1 m: no leaf in view</a:t>
            </a:r>
            <a:endParaRPr lang="en-US" sz="1700" dirty="0"/>
          </a:p>
        </p:txBody>
      </p:sp>
      <p:sp>
        <p:nvSpPr>
          <p:cNvPr id="6" name="Text 2"/>
          <p:cNvSpPr txBox="1"/>
          <p:nvPr/>
        </p:nvSpPr>
        <p:spPr>
          <a:xfrm>
            <a:off x="548640" y="5120640"/>
            <a:ext cx="3529584" cy="731520"/>
          </a:xfrm>
          <a:prstGeom prst="rect">
            <a:avLst/>
          </a:prstGeom>
          <a:noFill/>
          <a:ln/>
        </p:spPr>
        <p:txBody>
          <a:bodyPr wrap="square" lIns="0" tIns="0" rIns="0" bIns="0" rtlCol="0" anchor="t"/>
          <a:lstStyle/>
          <a:p>
            <a:pPr marL="0" indent="0">
              <a:buNone/>
            </a:pPr>
            <a:r>
              <a:rPr lang="en-US" sz="1450" dirty="0">
                <a:solidFill>
                  <a:schemeClr val="tx1"/>
                </a:solidFill>
              </a:rPr>
              <a:t>11 % coverage, so the model's 75.5 % “black rot” is withheld</a:t>
            </a:r>
            <a:endParaRPr lang="en-US" sz="1450" dirty="0"/>
          </a:p>
        </p:txBody>
      </p:sp>
      <p:pic>
        <p:nvPicPr>
          <p:cNvPr id="7" name="image-231" descr="diag_plant.jpg"/>
          <p:cNvPicPr>
            <a:picLocks noChangeAspect="1"/>
          </p:cNvPicPr>
          <p:nvPr/>
        </p:nvPicPr>
        <p:blipFill>
          <a:blip r:embed="rId4"/>
          <a:stretch>
            <a:fillRect/>
          </a:stretch>
        </p:blipFill>
        <p:spPr>
          <a:xfrm>
            <a:off x="4762003" y="1280160"/>
            <a:ext cx="2564362" cy="3291840"/>
          </a:xfrm>
          <a:prstGeom prst="rect">
            <a:avLst/>
          </a:prstGeom>
        </p:spPr>
      </p:pic>
      <p:sp>
        <p:nvSpPr>
          <p:cNvPr id="8" name="Text 3"/>
          <p:cNvSpPr txBox="1"/>
          <p:nvPr/>
        </p:nvSpPr>
        <p:spPr>
          <a:xfrm>
            <a:off x="4279392" y="4709160"/>
            <a:ext cx="3529584" cy="411480"/>
          </a:xfrm>
          <a:prstGeom prst="rect">
            <a:avLst/>
          </a:prstGeom>
          <a:noFill/>
          <a:ln/>
        </p:spPr>
        <p:txBody>
          <a:bodyPr wrap="square" lIns="0" tIns="0" rIns="0" bIns="0" rtlCol="0" anchor="t"/>
          <a:lstStyle/>
          <a:p>
            <a:pPr marL="0" indent="0">
              <a:buNone/>
            </a:pPr>
            <a:r>
              <a:rPr lang="en-US" sz="1700" b="1" dirty="0">
                <a:solidFill>
                  <a:schemeClr val="accent5"/>
                </a:solidFill>
              </a:rPr>
              <a:t>Potted plant: low confidence</a:t>
            </a:r>
            <a:endParaRPr lang="en-US" sz="1700" dirty="0"/>
          </a:p>
        </p:txBody>
      </p:sp>
      <p:sp>
        <p:nvSpPr>
          <p:cNvPr id="9" name="Text 4"/>
          <p:cNvSpPr txBox="1"/>
          <p:nvPr/>
        </p:nvSpPr>
        <p:spPr>
          <a:xfrm>
            <a:off x="4279392" y="5120640"/>
            <a:ext cx="3529584" cy="731520"/>
          </a:xfrm>
          <a:prstGeom prst="rect">
            <a:avLst/>
          </a:prstGeom>
          <a:noFill/>
          <a:ln/>
        </p:spPr>
        <p:txBody>
          <a:bodyPr wrap="square" lIns="0" tIns="0" rIns="0" bIns="0" rtlCol="0" anchor="t"/>
          <a:lstStyle/>
          <a:p>
            <a:pPr marL="0" indent="0">
              <a:buNone/>
            </a:pPr>
            <a:r>
              <a:rPr lang="en-US" sz="1450" dirty="0">
                <a:solidFill>
                  <a:schemeClr val="tx1"/>
                </a:solidFill>
              </a:rPr>
              <a:t>60 % coverage; “healthy corn” at 53.4 %, just above the 50 % threshold</a:t>
            </a:r>
            <a:endParaRPr lang="en-US" sz="1450" dirty="0"/>
          </a:p>
        </p:txBody>
      </p:sp>
      <p:pic>
        <p:nvPicPr>
          <p:cNvPr id="10" name="image-232" descr="diag_spots.jpg"/>
          <p:cNvPicPr>
            <a:picLocks noChangeAspect="1"/>
          </p:cNvPicPr>
          <p:nvPr/>
        </p:nvPicPr>
        <p:blipFill>
          <a:blip r:embed="rId5"/>
          <a:stretch>
            <a:fillRect/>
          </a:stretch>
        </p:blipFill>
        <p:spPr>
          <a:xfrm>
            <a:off x="8460048" y="1280160"/>
            <a:ext cx="2629777" cy="3291840"/>
          </a:xfrm>
          <a:prstGeom prst="rect">
            <a:avLst/>
          </a:prstGeom>
        </p:spPr>
      </p:pic>
      <p:sp>
        <p:nvSpPr>
          <p:cNvPr id="11" name="Text 5"/>
          <p:cNvSpPr txBox="1"/>
          <p:nvPr/>
        </p:nvSpPr>
        <p:spPr>
          <a:xfrm>
            <a:off x="8010144" y="4709160"/>
            <a:ext cx="3529584" cy="411480"/>
          </a:xfrm>
          <a:prstGeom prst="rect">
            <a:avLst/>
          </a:prstGeom>
          <a:noFill/>
          <a:ln/>
        </p:spPr>
        <p:txBody>
          <a:bodyPr wrap="square" lIns="0" tIns="0" rIns="0" bIns="0" rtlCol="0" anchor="t"/>
          <a:lstStyle/>
          <a:p>
            <a:pPr marL="0" indent="0">
              <a:buNone/>
            </a:pPr>
            <a:r>
              <a:rPr lang="en-US" sz="1700" b="1" dirty="0">
                <a:solidFill>
                  <a:schemeClr val="accent4"/>
                </a:solidFill>
              </a:rPr>
              <a:t>Spotted leaves: flagged</a:t>
            </a:r>
            <a:endParaRPr lang="en-US" sz="1700" dirty="0"/>
          </a:p>
        </p:txBody>
      </p:sp>
      <p:sp>
        <p:nvSpPr>
          <p:cNvPr id="12" name="Text 6"/>
          <p:cNvSpPr txBox="1"/>
          <p:nvPr/>
        </p:nvSpPr>
        <p:spPr>
          <a:xfrm>
            <a:off x="8010144" y="5120640"/>
            <a:ext cx="3529584" cy="731520"/>
          </a:xfrm>
          <a:prstGeom prst="rect">
            <a:avLst/>
          </a:prstGeom>
          <a:noFill/>
          <a:ln/>
        </p:spPr>
        <p:txBody>
          <a:bodyPr wrap="square" lIns="0" tIns="0" rIns="0" bIns="0" rtlCol="0" anchor="t"/>
          <a:lstStyle/>
          <a:p>
            <a:pPr marL="0" indent="0">
              <a:buNone/>
            </a:pPr>
            <a:r>
              <a:rPr lang="en-US" sz="1450" dirty="0">
                <a:solidFill>
                  <a:schemeClr val="tx1"/>
                </a:solidFill>
              </a:rPr>
              <a:t>26 % coverage; “grape black rot” at 80.5 %, readings saved with the image</a:t>
            </a:r>
            <a:endParaRPr lang="en-US" sz="1450" dirty="0"/>
          </a:p>
        </p:txBody>
      </p:sp>
      <p:sp>
        <p:nvSpPr>
          <p:cNvPr id="13" name="Text 7"/>
          <p:cNvSpPr txBox="1"/>
          <p:nvPr/>
        </p:nvSpPr>
        <p:spPr>
          <a:xfrm>
            <a:off x="548640" y="5897880"/>
            <a:ext cx="11064240" cy="320040"/>
          </a:xfrm>
          <a:prstGeom prst="rect">
            <a:avLst/>
          </a:prstGeom>
          <a:noFill/>
          <a:ln/>
        </p:spPr>
        <p:txBody>
          <a:bodyPr wrap="square" lIns="0" tIns="0" rIns="0" bIns="0" rtlCol="0" anchor="t"/>
          <a:lstStyle/>
          <a:p>
            <a:pPr marL="0" indent="0">
              <a:buNone/>
            </a:pPr>
            <a:r>
              <a:rPr lang="en-US" sz="1300" i="1" dirty="0">
                <a:solidFill>
                  <a:schemeClr val="accent6"/>
                </a:solidFill>
              </a:rPr>
              <a:t>Washed-out camera colours put some real foliage near the 12 % threshold; holding the leaf close fixes it.</a:t>
            </a:r>
            <a:endParaRPr lang="en-US" sz="13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Actuation Trials on the Physical Robot</a:t>
            </a:r>
            <a:endParaRPr lang="en-US" sz="3000" dirty="0"/>
          </a:p>
        </p:txBody>
      </p:sp>
      <p:pic>
        <p:nvPicPr>
          <p:cNvPr id="3" name="video-23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48640" y="1280160"/>
            <a:ext cx="5440680" cy="3060383"/>
          </a:xfrm>
          <a:prstGeom prst="rect">
            <a:avLst/>
          </a:prstGeom>
        </p:spPr>
      </p:pic>
      <p:pic>
        <p:nvPicPr>
          <p:cNvPr id="6" name="video-23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172200" y="1280160"/>
            <a:ext cx="5440680" cy="3060383"/>
          </a:xfrm>
          <a:prstGeom prst="rect">
            <a:avLst/>
          </a:prstGeom>
        </p:spPr>
      </p:pic>
      <p:sp>
        <p:nvSpPr>
          <p:cNvPr id="4" name="Text 1"/>
          <p:cNvSpPr txBox="1"/>
          <p:nvPr/>
        </p:nvSpPr>
        <p:spPr>
          <a:xfrm>
            <a:off x="548640" y="4413694"/>
            <a:ext cx="5440680" cy="274320"/>
          </a:xfrm>
          <a:prstGeom prst="rect">
            <a:avLst/>
          </a:prstGeom>
          <a:noFill/>
          <a:ln/>
        </p:spPr>
        <p:txBody>
          <a:bodyPr wrap="square" lIns="0" tIns="0" rIns="0" bIns="0" rtlCol="0" anchor="t"/>
          <a:lstStyle/>
          <a:p>
            <a:pPr marL="0" indent="0">
              <a:buNone/>
            </a:pPr>
            <a:r>
              <a:rPr lang="en-US" sz="1200" i="1" dirty="0">
                <a:solidFill>
                  <a:schemeClr val="accent6"/>
                </a:solidFill>
              </a:rPr>
              <a:t>On its back: all four legs follow their commanded angles</a:t>
            </a:r>
            <a:endParaRPr lang="en-US" sz="1200" dirty="0"/>
          </a:p>
        </p:txBody>
      </p:sp>
      <p:sp>
        <p:nvSpPr>
          <p:cNvPr id="7" name="Text 2"/>
          <p:cNvSpPr txBox="1"/>
          <p:nvPr/>
        </p:nvSpPr>
        <p:spPr>
          <a:xfrm>
            <a:off x="6172200" y="4413694"/>
            <a:ext cx="5440680" cy="274320"/>
          </a:xfrm>
          <a:prstGeom prst="rect">
            <a:avLst/>
          </a:prstGeom>
          <a:noFill/>
          <a:ln/>
        </p:spPr>
        <p:txBody>
          <a:bodyPr wrap="square" lIns="0" tIns="0" rIns="0" bIns="0" rtlCol="0" anchor="t"/>
          <a:lstStyle/>
          <a:p>
            <a:pPr marL="0" indent="0">
              <a:buNone/>
            </a:pPr>
            <a:r>
              <a:rPr lang="en-US" sz="1200" i="1" dirty="0">
                <a:solidFill>
                  <a:schemeClr val="accent6"/>
                </a:solidFill>
              </a:rPr>
              <a:t>Standing: supports its weight and shifts its legs, but weakly</a:t>
            </a:r>
            <a:endParaRPr lang="en-US" sz="1200" dirty="0"/>
          </a:p>
        </p:txBody>
      </p:sp>
      <p:sp>
        <p:nvSpPr>
          <p:cNvPr id="8" name="panel-235"/>
          <p:cNvSpPr/>
          <p:nvPr/>
        </p:nvSpPr>
        <p:spPr>
          <a:xfrm>
            <a:off x="548640" y="4846320"/>
            <a:ext cx="5440680" cy="1325880"/>
          </a:xfrm>
          <a:prstGeom prst="roundRect">
            <a:avLst>
              <a:gd name="adj" fmla="val 6897"/>
            </a:avLst>
          </a:prstGeom>
          <a:solidFill>
            <a:schemeClr val="bg2"/>
          </a:solidFill>
          <a:ln w="12700">
            <a:solidFill>
              <a:schemeClr val="bg2"/>
            </a:solidFill>
            <a:prstDash val="solid"/>
          </a:ln>
        </p:spPr>
      </p:sp>
      <p:sp>
        <p:nvSpPr>
          <p:cNvPr id="9" name="Text 4"/>
          <p:cNvSpPr txBox="1"/>
          <p:nvPr/>
        </p:nvSpPr>
        <p:spPr>
          <a:xfrm>
            <a:off x="777240" y="4937760"/>
            <a:ext cx="5029200" cy="1188720"/>
          </a:xfrm>
          <a:prstGeom prst="rect">
            <a:avLst/>
          </a:prstGeom>
          <a:noFill/>
          <a:ln/>
        </p:spPr>
        <p:txBody>
          <a:bodyPr wrap="square" lIns="0" tIns="0" rIns="0" bIns="0" rtlCol="0" anchor="t"/>
          <a:lstStyle/>
          <a:p>
            <a:pPr marL="0" indent="0">
              <a:buNone/>
            </a:pPr>
            <a:r>
              <a:rPr lang="en-US" sz="1450" b="1" dirty="0">
                <a:solidFill>
                  <a:schemeClr val="accent4"/>
                </a:solidFill>
              </a:rPr>
              <a:t>Why it is weak  </a:t>
            </a:r>
            <a:endParaRPr lang="en-US" sz="1450" dirty="0"/>
          </a:p>
          <a:p>
            <a:pPr marL="0" indent="0">
              <a:buNone/>
            </a:pPr>
            <a:r>
              <a:rPr lang="en-US" sz="1450" dirty="0">
                <a:solidFill>
                  <a:schemeClr val="tx1"/>
                </a:solidFill>
              </a:rPr>
              <a:t>Stance knee torque is 36–52 % of a genuine MG996R's rating and rises when a leg lifts; copies deliver less, and a sagging supply cuts torque further.</a:t>
            </a:r>
            <a:endParaRPr lang="en-US" sz="1450" dirty="0"/>
          </a:p>
        </p:txBody>
      </p:sp>
      <p:sp>
        <p:nvSpPr>
          <p:cNvPr id="10" name="panel-236"/>
          <p:cNvSpPr/>
          <p:nvPr/>
        </p:nvSpPr>
        <p:spPr>
          <a:xfrm>
            <a:off x="6172200" y="4846320"/>
            <a:ext cx="5440680" cy="1325880"/>
          </a:xfrm>
          <a:prstGeom prst="roundRect">
            <a:avLst>
              <a:gd name="adj" fmla="val 6897"/>
            </a:avLst>
          </a:prstGeom>
          <a:solidFill>
            <a:schemeClr val="tx2"/>
          </a:solidFill>
          <a:ln w="12700">
            <a:solidFill>
              <a:schemeClr val="tx2"/>
            </a:solidFill>
            <a:prstDash val="solid"/>
          </a:ln>
        </p:spPr>
      </p:sp>
      <p:sp>
        <p:nvSpPr>
          <p:cNvPr id="11" name="Text 6"/>
          <p:cNvSpPr txBox="1"/>
          <p:nvPr/>
        </p:nvSpPr>
        <p:spPr>
          <a:xfrm>
            <a:off x="6400800" y="4937760"/>
            <a:ext cx="5029200" cy="1188720"/>
          </a:xfrm>
          <a:prstGeom prst="rect">
            <a:avLst/>
          </a:prstGeom>
          <a:noFill/>
          <a:ln/>
        </p:spPr>
        <p:txBody>
          <a:bodyPr wrap="square" lIns="0" tIns="0" rIns="0" bIns="0" rtlCol="0" anchor="t"/>
          <a:lstStyle/>
          <a:p>
            <a:pPr marL="0" indent="0">
              <a:buNone/>
            </a:pPr>
            <a:r>
              <a:rPr lang="en-US" sz="1450" b="1" dirty="0">
                <a:solidFill>
                  <a:schemeClr val="accent2"/>
                </a:solidFill>
              </a:rPr>
              <a:t>Next step  </a:t>
            </a:r>
            <a:endParaRPr lang="en-US" sz="1450" dirty="0"/>
          </a:p>
          <a:p>
            <a:pPr marL="0" indent="0">
              <a:buNone/>
            </a:pPr>
            <a:r>
              <a:rPr lang="en-US" sz="1450" dirty="0">
                <a:solidFill>
                  <a:schemeClr val="bg1"/>
                </a:solidFill>
              </a:rPr>
              <a:t>Dedicated 6 V servo supply, CoM-centred footholds and straighter legs (a taller stance); stronger servos if the margin is still thin.</a:t>
            </a:r>
            <a:endParaRPr lang="en-US" sz="145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Simulated Autonomous Field Survey</a:t>
            </a:r>
            <a:endParaRPr lang="en-US" sz="3000" dirty="0"/>
          </a:p>
        </p:txBody>
      </p:sp>
      <p:pic>
        <p:nvPicPr>
          <p:cNvPr id="4" name="image-237" descr="survey_map.jpg"/>
          <p:cNvPicPr>
            <a:picLocks noChangeAspect="1"/>
          </p:cNvPicPr>
          <p:nvPr/>
        </p:nvPicPr>
        <p:blipFill>
          <a:blip r:embed="rId3"/>
          <a:stretch>
            <a:fillRect/>
          </a:stretch>
        </p:blipFill>
        <p:spPr>
          <a:xfrm>
            <a:off x="548640" y="1280160"/>
            <a:ext cx="7589520" cy="3491179"/>
          </a:xfrm>
          <a:prstGeom prst="rect">
            <a:avLst/>
          </a:prstGeom>
        </p:spPr>
      </p:pic>
      <p:sp>
        <p:nvSpPr>
          <p:cNvPr id="5" name="Text 1"/>
          <p:cNvSpPr txBox="1"/>
          <p:nvPr/>
        </p:nvSpPr>
        <p:spPr>
          <a:xfrm>
            <a:off x="548640" y="4844491"/>
            <a:ext cx="7589520" cy="502920"/>
          </a:xfrm>
          <a:prstGeom prst="rect">
            <a:avLst/>
          </a:prstGeom>
          <a:noFill/>
          <a:ln/>
        </p:spPr>
        <p:txBody>
          <a:bodyPr wrap="square" lIns="0" tIns="0" rIns="0" bIns="0" rtlCol="0" anchor="t"/>
          <a:lstStyle/>
          <a:p>
            <a:pPr marL="0" indent="0">
              <a:buNone/>
            </a:pPr>
            <a:r>
              <a:rPr lang="en-US" sz="1200" i="1" dirty="0">
                <a:solidFill>
                  <a:schemeClr val="accent6"/>
                </a:solidFill>
              </a:rPr>
              <a:t>Route coloured by measured TVOC over the modelled VOC field; squares mark row ends detected by the front ultrasonic sensor</a:t>
            </a:r>
            <a:endParaRPr lang="en-US" sz="1200" dirty="0"/>
          </a:p>
        </p:txBody>
      </p:sp>
      <p:sp>
        <p:nvSpPr>
          <p:cNvPr id="6" name="Text 2"/>
          <p:cNvSpPr txBox="1"/>
          <p:nvPr/>
        </p:nvSpPr>
        <p:spPr>
          <a:xfrm>
            <a:off x="8503920" y="1325880"/>
            <a:ext cx="3108960" cy="60960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16.7 m</a:t>
            </a:r>
            <a:endParaRPr lang="en-US" sz="4000" dirty="0"/>
          </a:p>
        </p:txBody>
      </p:sp>
      <p:sp>
        <p:nvSpPr>
          <p:cNvPr id="7" name="Text 3"/>
          <p:cNvSpPr txBox="1"/>
          <p:nvPr/>
        </p:nvSpPr>
        <p:spPr>
          <a:xfrm>
            <a:off x="8503920" y="1990344"/>
            <a:ext cx="3108960" cy="640080"/>
          </a:xfrm>
          <a:prstGeom prst="rect">
            <a:avLst/>
          </a:prstGeom>
          <a:noFill/>
          <a:ln/>
        </p:spPr>
        <p:txBody>
          <a:bodyPr wrap="square" lIns="0" tIns="0" rIns="0" bIns="0" rtlCol="0" anchor="t"/>
          <a:lstStyle/>
          <a:p>
            <a:pPr marL="0" indent="0">
              <a:buNone/>
            </a:pPr>
            <a:r>
              <a:rPr lang="en-US" sz="1400" dirty="0">
                <a:solidFill>
                  <a:schemeClr val="accent6"/>
                </a:solidFill>
              </a:rPr>
              <a:t>in 129 s: all three row gaps, no falls</a:t>
            </a:r>
            <a:endParaRPr lang="en-US" sz="1400" dirty="0"/>
          </a:p>
        </p:txBody>
      </p:sp>
      <p:sp>
        <p:nvSpPr>
          <p:cNvPr id="8" name="Text 4"/>
          <p:cNvSpPr txBox="1"/>
          <p:nvPr/>
        </p:nvSpPr>
        <p:spPr>
          <a:xfrm>
            <a:off x="8503920" y="2514600"/>
            <a:ext cx="3108960" cy="609600"/>
          </a:xfrm>
          <a:prstGeom prst="rect">
            <a:avLst/>
          </a:prstGeom>
          <a:noFill/>
          <a:ln/>
        </p:spPr>
        <p:txBody>
          <a:bodyPr wrap="square" lIns="0" tIns="0" rIns="0" bIns="0" rtlCol="0" anchor="b"/>
          <a:lstStyle/>
          <a:p>
            <a:pPr marL="0" indent="0">
              <a:buNone/>
            </a:pPr>
            <a:r>
              <a:rPr lang="en-US" sz="4000" b="1" dirty="0">
                <a:solidFill>
                  <a:schemeClr val="accent1"/>
                </a:solidFill>
                <a:latin typeface="Cambria" pitchFamily="34" charset="0"/>
                <a:ea typeface="Cambria" pitchFamily="34" charset="-122"/>
                <a:cs typeface="Cambria" pitchFamily="34" charset="-120"/>
              </a:rPr>
              <a:t>3 / 3</a:t>
            </a:r>
            <a:endParaRPr lang="en-US" sz="4000" dirty="0"/>
          </a:p>
        </p:txBody>
      </p:sp>
      <p:sp>
        <p:nvSpPr>
          <p:cNvPr id="9" name="Text 5"/>
          <p:cNvSpPr txBox="1"/>
          <p:nvPr/>
        </p:nvSpPr>
        <p:spPr>
          <a:xfrm>
            <a:off x="8503920" y="3179064"/>
            <a:ext cx="3108960" cy="640080"/>
          </a:xfrm>
          <a:prstGeom prst="rect">
            <a:avLst/>
          </a:prstGeom>
          <a:noFill/>
          <a:ln/>
        </p:spPr>
        <p:txBody>
          <a:bodyPr wrap="square" lIns="0" tIns="0" rIns="0" bIns="0" rtlCol="0" anchor="t"/>
          <a:lstStyle/>
          <a:p>
            <a:pPr marL="0" indent="0">
              <a:buNone/>
            </a:pPr>
            <a:r>
              <a:rPr lang="en-US" sz="1400" dirty="0">
                <a:solidFill>
                  <a:schemeClr val="accent6"/>
                </a:solidFill>
              </a:rPr>
              <a:t>row ends detected by the ultrasonic sensor</a:t>
            </a:r>
            <a:endParaRPr lang="en-US" sz="1400" dirty="0"/>
          </a:p>
        </p:txBody>
      </p:sp>
      <p:sp>
        <p:nvSpPr>
          <p:cNvPr id="10" name="Text 6"/>
          <p:cNvSpPr txBox="1"/>
          <p:nvPr/>
        </p:nvSpPr>
        <p:spPr>
          <a:xfrm>
            <a:off x="8503920" y="3703320"/>
            <a:ext cx="3108960" cy="609600"/>
          </a:xfrm>
          <a:prstGeom prst="rect">
            <a:avLst/>
          </a:prstGeom>
          <a:noFill/>
          <a:ln/>
        </p:spPr>
        <p:txBody>
          <a:bodyPr wrap="square" lIns="0" tIns="0" rIns="0" bIns="0" rtlCol="0" anchor="b"/>
          <a:lstStyle/>
          <a:p>
            <a:pPr marL="0" indent="0">
              <a:buNone/>
            </a:pPr>
            <a:r>
              <a:rPr lang="en-US" sz="4000" b="1" dirty="0">
                <a:solidFill>
                  <a:schemeClr val="accent5"/>
                </a:solidFill>
                <a:latin typeface="Cambria" pitchFamily="34" charset="0"/>
                <a:ea typeface="Cambria" pitchFamily="34" charset="-122"/>
                <a:cs typeface="Cambria" pitchFamily="34" charset="-120"/>
              </a:rPr>
              <a:t>≤ 2.7°</a:t>
            </a:r>
            <a:endParaRPr lang="en-US" sz="4000" dirty="0"/>
          </a:p>
        </p:txBody>
      </p:sp>
      <p:sp>
        <p:nvSpPr>
          <p:cNvPr id="11" name="Text 7"/>
          <p:cNvSpPr txBox="1"/>
          <p:nvPr/>
        </p:nvSpPr>
        <p:spPr>
          <a:xfrm>
            <a:off x="8503920" y="4367784"/>
            <a:ext cx="3108960" cy="640080"/>
          </a:xfrm>
          <a:prstGeom prst="rect">
            <a:avLst/>
          </a:prstGeom>
          <a:noFill/>
          <a:ln/>
        </p:spPr>
        <p:txBody>
          <a:bodyPr wrap="square" lIns="0" tIns="0" rIns="0" bIns="0" rtlCol="0" anchor="t"/>
          <a:lstStyle/>
          <a:p>
            <a:pPr marL="0" indent="0">
              <a:buNone/>
            </a:pPr>
            <a:r>
              <a:rPr lang="en-US" sz="1400" dirty="0">
                <a:solidFill>
                  <a:schemeClr val="accent6"/>
                </a:solidFill>
              </a:rPr>
              <a:t>body tilt; a servo at its limit 1.3 % of the time</a:t>
            </a:r>
            <a:endParaRPr lang="en-US" sz="1400" dirty="0"/>
          </a:p>
        </p:txBody>
      </p:sp>
      <p:sp>
        <p:nvSpPr>
          <p:cNvPr id="12" name="Text 8"/>
          <p:cNvSpPr txBox="1"/>
          <p:nvPr/>
        </p:nvSpPr>
        <p:spPr>
          <a:xfrm>
            <a:off x="8503920" y="4892040"/>
            <a:ext cx="3108960" cy="609600"/>
          </a:xfrm>
          <a:prstGeom prst="rect">
            <a:avLst/>
          </a:prstGeom>
          <a:noFill/>
          <a:ln/>
        </p:spPr>
        <p:txBody>
          <a:bodyPr wrap="square" lIns="0" tIns="0" rIns="0" bIns="0" rtlCol="0" anchor="b"/>
          <a:lstStyle/>
          <a:p>
            <a:pPr marL="0" indent="0">
              <a:buNone/>
            </a:pPr>
            <a:r>
              <a:rPr lang="en-US" sz="4000" b="1" dirty="0">
                <a:solidFill>
                  <a:schemeClr val="accent4"/>
                </a:solidFill>
                <a:latin typeface="Cambria" pitchFamily="34" charset="0"/>
                <a:ea typeface="Cambria" pitchFamily="34" charset="-122"/>
                <a:cs typeface="Cambria" pitchFamily="34" charset="-120"/>
              </a:rPr>
              <a:t>535 ppb</a:t>
            </a:r>
            <a:endParaRPr lang="en-US" sz="4000" dirty="0"/>
          </a:p>
        </p:txBody>
      </p:sp>
      <p:sp>
        <p:nvSpPr>
          <p:cNvPr id="13" name="Text 9"/>
          <p:cNvSpPr txBox="1"/>
          <p:nvPr/>
        </p:nvSpPr>
        <p:spPr>
          <a:xfrm>
            <a:off x="8503920" y="5556504"/>
            <a:ext cx="3108960" cy="640080"/>
          </a:xfrm>
          <a:prstGeom prst="rect">
            <a:avLst/>
          </a:prstGeom>
          <a:noFill/>
          <a:ln/>
        </p:spPr>
        <p:txBody>
          <a:bodyPr wrap="square" lIns="0" tIns="0" rIns="0" bIns="0" rtlCol="0" anchor="t"/>
          <a:lstStyle/>
          <a:p>
            <a:pPr marL="0" indent="0">
              <a:buNone/>
            </a:pPr>
            <a:r>
              <a:rPr lang="en-US" sz="1400" dirty="0">
                <a:solidFill>
                  <a:schemeClr val="accent6"/>
                </a:solidFill>
              </a:rPr>
              <a:t>TVOC peak, 0.2 m from the source (sensor lag)</a:t>
            </a:r>
            <a:endParaRPr lang="en-US" sz="14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Gait Stability and the Servo Speed Limit</a:t>
            </a:r>
            <a:endParaRPr lang="en-US" sz="3000" dirty="0"/>
          </a:p>
        </p:txBody>
      </p:sp>
      <p:graphicFrame>
        <p:nvGraphicFramePr>
          <p:cNvPr id="4" name="speed-chart"/>
          <p:cNvGraphicFramePr/>
          <p:nvPr/>
        </p:nvGraphicFramePr>
        <p:xfrm>
          <a:off x="548640" y="1280160"/>
          <a:ext cx="420624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saturation-chart"/>
          <p:cNvGraphicFramePr/>
          <p:nvPr/>
        </p:nvGraphicFramePr>
        <p:xfrm>
          <a:off x="4892040" y="1280160"/>
          <a:ext cx="42062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6" name="panel-238"/>
          <p:cNvSpPr/>
          <p:nvPr/>
        </p:nvSpPr>
        <p:spPr>
          <a:xfrm>
            <a:off x="9326880" y="1280160"/>
            <a:ext cx="2286000" cy="3566160"/>
          </a:xfrm>
          <a:prstGeom prst="roundRect">
            <a:avLst>
              <a:gd name="adj" fmla="val 4000"/>
            </a:avLst>
          </a:prstGeom>
          <a:solidFill>
            <a:schemeClr val="tx2"/>
          </a:solidFill>
          <a:ln w="12700">
            <a:solidFill>
              <a:schemeClr val="tx2"/>
            </a:solidFill>
            <a:prstDash val="solid"/>
          </a:ln>
        </p:spPr>
      </p:sp>
      <p:sp>
        <p:nvSpPr>
          <p:cNvPr id="7" name="Text 2"/>
          <p:cNvSpPr txBox="1"/>
          <p:nvPr/>
        </p:nvSpPr>
        <p:spPr>
          <a:xfrm>
            <a:off x="9509760" y="1463040"/>
            <a:ext cx="1965960" cy="3200400"/>
          </a:xfrm>
          <a:prstGeom prst="rect">
            <a:avLst/>
          </a:prstGeom>
          <a:noFill/>
          <a:ln/>
        </p:spPr>
        <p:txBody>
          <a:bodyPr wrap="square" lIns="0" tIns="0" rIns="0" bIns="0" rtlCol="0" anchor="t"/>
          <a:lstStyle/>
          <a:p>
            <a:pPr marL="0" indent="0">
              <a:buNone/>
            </a:pPr>
            <a:r>
              <a:rPr lang="en-US" sz="3000" b="1" dirty="0">
                <a:solidFill>
                  <a:schemeClr val="accent2"/>
                </a:solidFill>
              </a:rPr>
              <a:t>0.18 m/s</a:t>
            </a:r>
            <a:endParaRPr lang="en-US" sz="1600" dirty="0"/>
          </a:p>
          <a:p>
            <a:pPr marL="0" indent="0">
              <a:buNone/>
            </a:pPr>
            <a:r>
              <a:rPr lang="en-US" sz="1450" dirty="0">
                <a:solidFill>
                  <a:schemeClr val="bg1"/>
                </a:solidFill>
              </a:rPr>
              <a:t>usable ceiling with MG996R servos; tracks the command within 7 % from 0.08 m/s up</a:t>
            </a:r>
            <a:endParaRPr lang="en-US" sz="1600" dirty="0"/>
          </a:p>
        </p:txBody>
      </p:sp>
      <p:sp>
        <p:nvSpPr>
          <p:cNvPr id="8" name="panel-239"/>
          <p:cNvSpPr/>
          <p:nvPr/>
        </p:nvSpPr>
        <p:spPr>
          <a:xfrm>
            <a:off x="548640" y="5074920"/>
            <a:ext cx="11064240" cy="1097280"/>
          </a:xfrm>
          <a:prstGeom prst="roundRect">
            <a:avLst>
              <a:gd name="adj" fmla="val 8333"/>
            </a:avLst>
          </a:prstGeom>
          <a:solidFill>
            <a:schemeClr val="bg2"/>
          </a:solidFill>
          <a:ln w="12700">
            <a:solidFill>
              <a:schemeClr val="bg2"/>
            </a:solidFill>
            <a:prstDash val="solid"/>
          </a:ln>
        </p:spPr>
      </p:sp>
      <p:sp>
        <p:nvSpPr>
          <p:cNvPr id="9" name="Text 4"/>
          <p:cNvSpPr txBox="1"/>
          <p:nvPr/>
        </p:nvSpPr>
        <p:spPr>
          <a:xfrm>
            <a:off x="777240" y="5074920"/>
            <a:ext cx="10607040" cy="1097280"/>
          </a:xfrm>
          <a:prstGeom prst="rect">
            <a:avLst/>
          </a:prstGeom>
          <a:noFill/>
          <a:ln/>
        </p:spPr>
        <p:txBody>
          <a:bodyPr wrap="square" lIns="0" tIns="0" rIns="0" bIns="0" rtlCol="0" anchor="ctr"/>
          <a:lstStyle/>
          <a:p>
            <a:pPr marL="0" indent="0">
              <a:buNone/>
            </a:pPr>
            <a:r>
              <a:rPr lang="en-US" sz="1550" b="1" dirty="0">
                <a:solidFill>
                  <a:schemeClr val="tx2"/>
                </a:solidFill>
              </a:rPr>
              <a:t>Centre of mass 12 mm aft  </a:t>
            </a:r>
            <a:r>
              <a:rPr lang="en-US" sz="1550" dirty="0">
                <a:solidFill>
                  <a:schemeClr val="tx1"/>
                </a:solidFill>
              </a:rPr>
              <a:t>With footholds centred on the body, all 24 gait settings fell within 0.8–3.0 s. Centred on the measured centre of mass, the trot held tilt below 0.7°.</a:t>
            </a:r>
            <a:endParaRPr lang="en-US" sz="155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Outcome Against Review III Expectations</a:t>
            </a:r>
            <a:endParaRPr lang="en-US" sz="3000" dirty="0"/>
          </a:p>
        </p:txBody>
      </p:sp>
      <p:graphicFrame>
        <p:nvGraphicFramePr>
          <p:cNvPr id="34" name="table-24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343400"/>
        </p:xfrm>
        <a:graphic>
          <a:graphicData uri="http://schemas.openxmlformats.org/drawingml/2006/table">
            <a:tbl>
              <a:tblPr/>
              <a:tblGrid>
                <a:gridCol w="329184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57200">
                <a:tc>
                  <a:txBody>
                    <a:bodyPr/>
                    <a:lstStyle/>
                    <a:p>
                      <a:pPr marL="0" indent="0">
                        <a:buNone/>
                      </a:pPr>
                      <a:r>
                        <a:rPr lang="en-US" sz="1500" b="1" dirty="0">
                          <a:solidFill>
                            <a:schemeClr val="bg1"/>
                          </a:solidFill>
                        </a:rPr>
                        <a:t>Review III expectation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Outcome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Interpretation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500" dirty="0">
                          <a:solidFill>
                            <a:schemeClr val="tx1"/>
                          </a:solidFill>
                        </a:rPr>
                        <a:t>Onboard inference on a Jetson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Inference on a laptop over Wi-Fi</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Cheaper and safer; depends on the network link</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77240">
                <a:tc>
                  <a:txBody>
                    <a:bodyPr/>
                    <a:lstStyle/>
                    <a:p>
                      <a:pPr marL="0" indent="0">
                        <a:buNone/>
                      </a:pPr>
                      <a:r>
                        <a:rPr lang="en-US" sz="1500" dirty="0">
                          <a:solidFill>
                            <a:schemeClr val="tx1"/>
                          </a:solidFill>
                        </a:rPr>
                        <a:t>Above 90 % disease accuracy (literature figure)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Functional demonstration; field accuracy not measured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Lab-trained models are expected to drop on field images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77240">
                <a:tc>
                  <a:txBody>
                    <a:bodyPr/>
                    <a:lstStyle/>
                    <a:p>
                      <a:pPr marL="0" indent="0">
                        <a:buNone/>
                      </a:pPr>
                      <a:r>
                        <a:rPr lang="en-US" sz="1500" dirty="0">
                          <a:solidFill>
                            <a:schemeClr val="tx1"/>
                          </a:solidFill>
                        </a:rPr>
                        <a:t>Static torque margin is thin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Confirmed in simulation (0.18 m/s ceiling) and on hardware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Analysis, simulation and robot agree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77240">
                <a:tc>
                  <a:txBody>
                    <a:bodyPr/>
                    <a:lstStyle/>
                    <a:p>
                      <a:pPr marL="0" indent="0">
                        <a:buNone/>
                      </a:pPr>
                      <a:r>
                        <a:rPr lang="en-US" sz="1500" dirty="0">
                          <a:solidFill>
                            <a:schemeClr val="tx1"/>
                          </a:solidFill>
                        </a:rPr>
                        <a:t>Walking robot with sensing</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Robot stands and moves its legs; walking shown in simulation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Hardware walking is the next phase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77240">
                <a:tc>
                  <a:txBody>
                    <a:bodyPr/>
                    <a:lstStyle/>
                    <a:p>
                      <a:pPr marL="0" indent="0">
                        <a:buNone/>
                      </a:pPr>
                      <a:r>
                        <a:rPr lang="en-US" sz="1500" dirty="0">
                          <a:solidFill>
                            <a:schemeClr val="tx1"/>
                          </a:solidFill>
                        </a:rPr>
                        <a:t>Environmental sensing payload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Gas, dust, temperature live; ultrasonic firmware ready</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Sensing payload essentially complete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3657600" cy="1371600"/>
          </a:xfrm>
          <a:prstGeom prst="rect">
            <a:avLst/>
          </a:prstGeom>
          <a:noFill/>
          <a:ln/>
        </p:spPr>
        <p:txBody>
          <a:bodyPr wrap="square" lIns="0" tIns="0" rIns="0" bIns="0" rtlCol="0" anchor="b"/>
          <a:lstStyle/>
          <a:p>
            <a:pPr marL="0" indent="0" algn="l">
              <a:buNone/>
            </a:pPr>
            <a:r>
              <a:rPr lang="en-US" sz="8800" b="1" dirty="0">
                <a:solidFill>
                  <a:schemeClr val="accent2"/>
                </a:solidFill>
                <a:latin typeface="Cambria" pitchFamily="34" charset="0"/>
                <a:ea typeface="Cambria" pitchFamily="34" charset="-122"/>
                <a:cs typeface="Cambria" pitchFamily="34" charset="-120"/>
              </a:rPr>
              <a:t>05</a:t>
            </a:r>
            <a:endParaRPr lang="en-US" sz="8800" dirty="0"/>
          </a:p>
        </p:txBody>
      </p:sp>
      <p:sp>
        <p:nvSpPr>
          <p:cNvPr id="3" name="Text 0"/>
          <p:cNvSpPr>
            <a:spLocks noGrp="1"/>
          </p:cNvSpPr>
          <p:nvPr>
            <p:ph type="title" idx="101" hasCustomPrompt="1"/>
          </p:nvPr>
        </p:nvSpPr>
        <p:spPr>
          <a:xfrm>
            <a:off x="731520" y="2834640"/>
            <a:ext cx="7863840" cy="1097280"/>
          </a:xfrm>
          <a:prstGeom prst="rect">
            <a:avLst/>
          </a:prstGeom>
          <a:noFill/>
          <a:ln/>
        </p:spPr>
        <p:txBody>
          <a:bodyPr wrap="square" lIns="0" tIns="0" rIns="0" bIns="0" rtlCol="0" anchor="t"/>
          <a:lstStyle/>
          <a:p>
            <a:pPr marL="0" indent="0" algn="l">
              <a:buNone/>
            </a:pPr>
            <a:r>
              <a:rPr lang="en-US" sz="4400" b="1" dirty="0">
                <a:solidFill>
                  <a:schemeClr val="bg1"/>
                </a:solidFill>
              </a:rPr>
              <a:t>Innovation and Relevance</a:t>
            </a:r>
            <a:endParaRPr lang="en-US" sz="4400" dirty="0"/>
          </a:p>
        </p:txBody>
      </p:sp>
      <p:sp>
        <p:nvSpPr>
          <p:cNvPr id="4" name="Text 0"/>
          <p:cNvSpPr>
            <a:spLocks noGrp="1"/>
          </p:cNvSpPr>
          <p:nvPr>
            <p:ph type="body" idx="102" hasCustomPrompt="1"/>
          </p:nvPr>
        </p:nvSpPr>
        <p:spPr>
          <a:xfrm>
            <a:off x="731520" y="4069080"/>
            <a:ext cx="7680960" cy="1280160"/>
          </a:xfrm>
          <a:prstGeom prst="rect">
            <a:avLst/>
          </a:prstGeom>
          <a:noFill/>
          <a:ln/>
        </p:spPr>
        <p:txBody>
          <a:bodyPr wrap="square" lIns="0" tIns="0" rIns="0" bIns="0" rtlCol="0" anchor="t"/>
          <a:lstStyle/>
          <a:p>
            <a:pPr marL="0" indent="0" algn="l">
              <a:buNone/>
            </a:pPr>
            <a:r>
              <a:rPr lang="en-US" sz="1800" dirty="0">
                <a:solidFill>
                  <a:schemeClr val="bg2"/>
                </a:solidFill>
              </a:rPr>
              <a:t>What is new, whether it is feasible and affordable, how it is used responsibly, and where it goes next</a:t>
            </a:r>
            <a:endParaRPr lang="en-US" sz="1800" dirty="0"/>
          </a:p>
        </p:txBody>
      </p:sp>
      <p:pic>
        <p:nvPicPr>
          <p:cNvPr id="5" name="divider-icon-241" descr="preencoded.png"/>
          <p:cNvPicPr>
            <a:picLocks noChangeAspect="1"/>
          </p:cNvPicPr>
          <p:nvPr/>
        </p:nvPicPr>
        <p:blipFill>
          <a:blip r:embed="rId3">
            <a:alphaModFix amt="30000"/>
          </a:blip>
          <a:stretch>
            <a:fillRect/>
          </a:stretch>
        </p:blipFill>
        <p:spPr>
          <a:xfrm>
            <a:off x="8549640" y="1554480"/>
            <a:ext cx="3017520" cy="30175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Contributions</a:t>
            </a:r>
            <a:endParaRPr lang="en-US" sz="3000" dirty="0"/>
          </a:p>
        </p:txBody>
      </p:sp>
      <p:sp>
        <p:nvSpPr>
          <p:cNvPr id="4" name="panel-242"/>
          <p:cNvSpPr/>
          <p:nvPr/>
        </p:nvSpPr>
        <p:spPr>
          <a:xfrm>
            <a:off x="548640" y="1325880"/>
            <a:ext cx="5440680" cy="2286000"/>
          </a:xfrm>
          <a:prstGeom prst="roundRect">
            <a:avLst>
              <a:gd name="adj" fmla="val 4000"/>
            </a:avLst>
          </a:prstGeom>
          <a:solidFill>
            <a:schemeClr val="bg2"/>
          </a:solidFill>
          <a:ln w="12700">
            <a:solidFill>
              <a:schemeClr val="bg2"/>
            </a:solidFill>
            <a:prstDash val="solid"/>
          </a:ln>
        </p:spPr>
      </p:sp>
      <p:sp>
        <p:nvSpPr>
          <p:cNvPr id="5" name="icon-bg-243"/>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6" name="icon-244" descr="preencoded.png"/>
          <p:cNvPicPr>
            <a:picLocks noChangeAspect="1"/>
          </p:cNvPicPr>
          <p:nvPr/>
        </p:nvPicPr>
        <p:blipFill>
          <a:blip r:embed="rId3"/>
          <a:stretch>
            <a:fillRect/>
          </a:stretch>
        </p:blipFill>
        <p:spPr>
          <a:xfrm>
            <a:off x="908914" y="1686154"/>
            <a:ext cx="285293" cy="285293"/>
          </a:xfrm>
          <a:prstGeom prst="rect">
            <a:avLst/>
          </a:prstGeom>
        </p:spPr>
      </p:pic>
      <p:sp>
        <p:nvSpPr>
          <p:cNvPr id="7" name="Text 3"/>
          <p:cNvSpPr txBox="1"/>
          <p:nvPr/>
        </p:nvSpPr>
        <p:spPr>
          <a:xfrm>
            <a:off x="1463040" y="1554480"/>
            <a:ext cx="4343400" cy="548640"/>
          </a:xfrm>
          <a:prstGeom prst="rect">
            <a:avLst/>
          </a:prstGeom>
          <a:noFill/>
          <a:ln/>
        </p:spPr>
        <p:txBody>
          <a:bodyPr wrap="square" lIns="0" tIns="0" rIns="0" bIns="0" rtlCol="0" anchor="ctr"/>
          <a:lstStyle/>
          <a:p>
            <a:pPr marL="0" indent="0">
              <a:buNone/>
            </a:pPr>
            <a:r>
              <a:rPr lang="en-US" sz="1750" b="1" dirty="0">
                <a:solidFill>
                  <a:schemeClr val="tx2"/>
                </a:solidFill>
              </a:rPr>
              <a:t>Legged platform with a crop-sensing payload</a:t>
            </a:r>
            <a:endParaRPr lang="en-US" sz="1750" dirty="0"/>
          </a:p>
        </p:txBody>
      </p:sp>
      <p:sp>
        <p:nvSpPr>
          <p:cNvPr id="8" name="Text 4"/>
          <p:cNvSpPr txBox="1"/>
          <p:nvPr/>
        </p:nvSpPr>
        <p:spPr>
          <a:xfrm>
            <a:off x="777240" y="2240280"/>
            <a:ext cx="4983480" cy="1234440"/>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A printed 12-DOF quadruped carrying two Wi-Fi sensing nodes for gas, dust, temperature, range and video</a:t>
            </a:r>
            <a:endParaRPr lang="en-US" sz="1600" dirty="0"/>
          </a:p>
        </p:txBody>
      </p:sp>
      <p:sp>
        <p:nvSpPr>
          <p:cNvPr id="9" name="panel-245"/>
          <p:cNvSpPr/>
          <p:nvPr/>
        </p:nvSpPr>
        <p:spPr>
          <a:xfrm>
            <a:off x="6172200" y="1325880"/>
            <a:ext cx="5440680" cy="2286000"/>
          </a:xfrm>
          <a:prstGeom prst="roundRect">
            <a:avLst>
              <a:gd name="adj" fmla="val 4000"/>
            </a:avLst>
          </a:prstGeom>
          <a:solidFill>
            <a:schemeClr val="bg2"/>
          </a:solidFill>
          <a:ln w="12700">
            <a:solidFill>
              <a:schemeClr val="bg2"/>
            </a:solidFill>
            <a:prstDash val="solid"/>
          </a:ln>
        </p:spPr>
      </p:sp>
      <p:sp>
        <p:nvSpPr>
          <p:cNvPr id="10" name="icon-bg-246"/>
          <p:cNvSpPr/>
          <p:nvPr/>
        </p:nvSpPr>
        <p:spPr>
          <a:xfrm>
            <a:off x="6400800" y="1554480"/>
            <a:ext cx="548640" cy="548640"/>
          </a:xfrm>
          <a:prstGeom prst="ellipse">
            <a:avLst/>
          </a:prstGeom>
          <a:solidFill>
            <a:schemeClr val="accent1"/>
          </a:solidFill>
          <a:ln w="12700">
            <a:solidFill>
              <a:schemeClr val="accent1"/>
            </a:solidFill>
            <a:prstDash val="solid"/>
          </a:ln>
        </p:spPr>
      </p:sp>
      <p:pic>
        <p:nvPicPr>
          <p:cNvPr id="11" name="icon-247" descr="preencoded.png"/>
          <p:cNvPicPr>
            <a:picLocks noChangeAspect="1"/>
          </p:cNvPicPr>
          <p:nvPr/>
        </p:nvPicPr>
        <p:blipFill>
          <a:blip r:embed="rId4"/>
          <a:stretch>
            <a:fillRect/>
          </a:stretch>
        </p:blipFill>
        <p:spPr>
          <a:xfrm>
            <a:off x="6532474" y="1686154"/>
            <a:ext cx="285293" cy="285293"/>
          </a:xfrm>
          <a:prstGeom prst="rect">
            <a:avLst/>
          </a:prstGeom>
        </p:spPr>
      </p:pic>
      <p:sp>
        <p:nvSpPr>
          <p:cNvPr id="12" name="Text 7"/>
          <p:cNvSpPr txBox="1"/>
          <p:nvPr/>
        </p:nvSpPr>
        <p:spPr>
          <a:xfrm>
            <a:off x="7086600" y="1554480"/>
            <a:ext cx="4343400" cy="548640"/>
          </a:xfrm>
          <a:prstGeom prst="rect">
            <a:avLst/>
          </a:prstGeom>
          <a:noFill/>
          <a:ln/>
        </p:spPr>
        <p:txBody>
          <a:bodyPr wrap="square" lIns="0" tIns="0" rIns="0" bIns="0" rtlCol="0" anchor="ctr"/>
          <a:lstStyle/>
          <a:p>
            <a:pPr marL="0" indent="0">
              <a:buNone/>
            </a:pPr>
            <a:r>
              <a:rPr lang="en-US" sz="1750" b="1" dirty="0">
                <a:solidFill>
                  <a:schemeClr val="tx2"/>
                </a:solidFill>
              </a:rPr>
              <a:t>Vegetation gate for a closed-set classifier</a:t>
            </a:r>
            <a:endParaRPr lang="en-US" sz="1750" dirty="0"/>
          </a:p>
        </p:txBody>
      </p:sp>
      <p:sp>
        <p:nvSpPr>
          <p:cNvPr id="13" name="Text 8"/>
          <p:cNvSpPr txBox="1"/>
          <p:nvPr/>
        </p:nvSpPr>
        <p:spPr>
          <a:xfrm>
            <a:off x="6400800" y="2240280"/>
            <a:ext cx="4983480" cy="1234440"/>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A simple, explainable leaf check that stops confident disease reports for frames without a plant</a:t>
            </a:r>
            <a:endParaRPr lang="en-US" sz="1600" dirty="0"/>
          </a:p>
        </p:txBody>
      </p:sp>
      <p:sp>
        <p:nvSpPr>
          <p:cNvPr id="14" name="panel-248"/>
          <p:cNvSpPr/>
          <p:nvPr/>
        </p:nvSpPr>
        <p:spPr>
          <a:xfrm>
            <a:off x="548640" y="3794760"/>
            <a:ext cx="5440680" cy="2286000"/>
          </a:xfrm>
          <a:prstGeom prst="roundRect">
            <a:avLst>
              <a:gd name="adj" fmla="val 4000"/>
            </a:avLst>
          </a:prstGeom>
          <a:solidFill>
            <a:schemeClr val="bg2"/>
          </a:solidFill>
          <a:ln w="12700">
            <a:solidFill>
              <a:schemeClr val="bg2"/>
            </a:solidFill>
            <a:prstDash val="solid"/>
          </a:ln>
        </p:spPr>
      </p:sp>
      <p:sp>
        <p:nvSpPr>
          <p:cNvPr id="15" name="icon-bg-249"/>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16" name="icon-250" descr="preencoded.png"/>
          <p:cNvPicPr>
            <a:picLocks noChangeAspect="1"/>
          </p:cNvPicPr>
          <p:nvPr/>
        </p:nvPicPr>
        <p:blipFill>
          <a:blip r:embed="rId5"/>
          <a:stretch>
            <a:fillRect/>
          </a:stretch>
        </p:blipFill>
        <p:spPr>
          <a:xfrm>
            <a:off x="908914" y="4155034"/>
            <a:ext cx="285293" cy="285293"/>
          </a:xfrm>
          <a:prstGeom prst="rect">
            <a:avLst/>
          </a:prstGeom>
        </p:spPr>
      </p:pic>
      <p:sp>
        <p:nvSpPr>
          <p:cNvPr id="17" name="Text 11"/>
          <p:cNvSpPr txBox="1"/>
          <p:nvPr/>
        </p:nvSpPr>
        <p:spPr>
          <a:xfrm>
            <a:off x="1463040" y="4023360"/>
            <a:ext cx="4343400" cy="548640"/>
          </a:xfrm>
          <a:prstGeom prst="rect">
            <a:avLst/>
          </a:prstGeom>
          <a:noFill/>
          <a:ln/>
        </p:spPr>
        <p:txBody>
          <a:bodyPr wrap="square" lIns="0" tIns="0" rIns="0" bIns="0" rtlCol="0" anchor="ctr"/>
          <a:lstStyle/>
          <a:p>
            <a:pPr marL="0" indent="0">
              <a:buNone/>
            </a:pPr>
            <a:r>
              <a:rPr lang="en-US" sz="1750" b="1" dirty="0">
                <a:solidFill>
                  <a:schemeClr val="tx2"/>
                </a:solidFill>
              </a:rPr>
              <a:t>Locomotion validated with real servo limits</a:t>
            </a:r>
            <a:endParaRPr lang="en-US" sz="1750" dirty="0"/>
          </a:p>
        </p:txBody>
      </p:sp>
      <p:sp>
        <p:nvSpPr>
          <p:cNvPr id="18" name="Text 12"/>
          <p:cNvSpPr txBox="1"/>
          <p:nvPr/>
        </p:nvSpPr>
        <p:spPr>
          <a:xfrm>
            <a:off x="777240" y="4709160"/>
            <a:ext cx="4983480" cy="1234440"/>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A MuJoCo model from measured geometry, torque capped at MG996R stall, completing an autonomous row survey</a:t>
            </a:r>
            <a:endParaRPr lang="en-US" sz="1600" dirty="0"/>
          </a:p>
        </p:txBody>
      </p:sp>
      <p:sp>
        <p:nvSpPr>
          <p:cNvPr id="19" name="panel-251"/>
          <p:cNvSpPr/>
          <p:nvPr/>
        </p:nvSpPr>
        <p:spPr>
          <a:xfrm>
            <a:off x="6172200" y="3794760"/>
            <a:ext cx="5440680" cy="2286000"/>
          </a:xfrm>
          <a:prstGeom prst="roundRect">
            <a:avLst>
              <a:gd name="adj" fmla="val 4000"/>
            </a:avLst>
          </a:prstGeom>
          <a:solidFill>
            <a:schemeClr val="bg2"/>
          </a:solidFill>
          <a:ln w="12700">
            <a:solidFill>
              <a:schemeClr val="bg2"/>
            </a:solidFill>
            <a:prstDash val="solid"/>
          </a:ln>
        </p:spPr>
      </p:sp>
      <p:sp>
        <p:nvSpPr>
          <p:cNvPr id="20" name="icon-bg-252"/>
          <p:cNvSpPr/>
          <p:nvPr/>
        </p:nvSpPr>
        <p:spPr>
          <a:xfrm>
            <a:off x="6400800" y="4023360"/>
            <a:ext cx="548640" cy="548640"/>
          </a:xfrm>
          <a:prstGeom prst="ellipse">
            <a:avLst/>
          </a:prstGeom>
          <a:solidFill>
            <a:schemeClr val="accent1"/>
          </a:solidFill>
          <a:ln w="12700">
            <a:solidFill>
              <a:schemeClr val="accent1"/>
            </a:solidFill>
            <a:prstDash val="solid"/>
          </a:ln>
        </p:spPr>
      </p:sp>
      <p:pic>
        <p:nvPicPr>
          <p:cNvPr id="21" name="icon-253" descr="preencoded.png"/>
          <p:cNvPicPr>
            <a:picLocks noChangeAspect="1"/>
          </p:cNvPicPr>
          <p:nvPr/>
        </p:nvPicPr>
        <p:blipFill>
          <a:blip r:embed="rId6"/>
          <a:stretch>
            <a:fillRect/>
          </a:stretch>
        </p:blipFill>
        <p:spPr>
          <a:xfrm>
            <a:off x="6532474" y="4155034"/>
            <a:ext cx="285293" cy="285293"/>
          </a:xfrm>
          <a:prstGeom prst="rect">
            <a:avLst/>
          </a:prstGeom>
        </p:spPr>
      </p:pic>
      <p:sp>
        <p:nvSpPr>
          <p:cNvPr id="22" name="Text 15"/>
          <p:cNvSpPr txBox="1"/>
          <p:nvPr/>
        </p:nvSpPr>
        <p:spPr>
          <a:xfrm>
            <a:off x="7086600" y="4023360"/>
            <a:ext cx="4343400" cy="548640"/>
          </a:xfrm>
          <a:prstGeom prst="rect">
            <a:avLst/>
          </a:prstGeom>
          <a:noFill/>
          <a:ln/>
        </p:spPr>
        <p:txBody>
          <a:bodyPr wrap="square" lIns="0" tIns="0" rIns="0" bIns="0" rtlCol="0" anchor="ctr"/>
          <a:lstStyle/>
          <a:p>
            <a:pPr marL="0" indent="0">
              <a:buNone/>
            </a:pPr>
            <a:r>
              <a:rPr lang="en-US" sz="1750" b="1" dirty="0">
                <a:solidFill>
                  <a:schemeClr val="tx2"/>
                </a:solidFill>
              </a:rPr>
              <a:t>Design rules for printed quadrupeds</a:t>
            </a:r>
            <a:endParaRPr lang="en-US" sz="1750" dirty="0"/>
          </a:p>
        </p:txBody>
      </p:sp>
      <p:sp>
        <p:nvSpPr>
          <p:cNvPr id="23" name="Text 16"/>
          <p:cNvSpPr txBox="1"/>
          <p:nvPr/>
        </p:nvSpPr>
        <p:spPr>
          <a:xfrm>
            <a:off x="6400800" y="4709160"/>
            <a:ext cx="4983480" cy="1234440"/>
          </a:xfrm>
          <a:prstGeom prst="rect">
            <a:avLst/>
          </a:prstGeom>
          <a:noFill/>
          <a:ln/>
        </p:spPr>
        <p:txBody>
          <a:bodyPr wrap="square" lIns="0" tIns="0" rIns="0" bIns="0" rtlCol="0" anchor="t"/>
          <a:lstStyle/>
          <a:p>
            <a:pPr marL="0" indent="0">
              <a:spcAft>
                <a:spcPts val="400"/>
              </a:spcAft>
              <a:buNone/>
            </a:pPr>
            <a:r>
              <a:rPr lang="en-US" sz="1600" dirty="0">
                <a:solidFill>
                  <a:schemeClr val="tx1"/>
                </a:solidFill>
              </a:rPr>
              <a:t>Centre footholds on the measured centre of mass (12 mm aft); expect about 0.18 m/s from MG996R servos</a:t>
            </a:r>
            <a:endParaRPr lang="en-US" sz="16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Cost and Feasibility</a:t>
            </a:r>
            <a:endParaRPr lang="en-US" sz="3000" dirty="0"/>
          </a:p>
        </p:txBody>
      </p:sp>
      <p:graphicFrame>
        <p:nvGraphicFramePr>
          <p:cNvPr id="4" name="cost-chart"/>
          <p:cNvGraphicFramePr/>
          <p:nvPr/>
        </p:nvGraphicFramePr>
        <p:xfrm>
          <a:off x="548640" y="1280160"/>
          <a:ext cx="658368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5" name="panel-254"/>
          <p:cNvSpPr/>
          <p:nvPr/>
        </p:nvSpPr>
        <p:spPr>
          <a:xfrm>
            <a:off x="7406640" y="1280160"/>
            <a:ext cx="4206240" cy="1874520"/>
          </a:xfrm>
          <a:prstGeom prst="roundRect">
            <a:avLst>
              <a:gd name="adj" fmla="val 4878"/>
            </a:avLst>
          </a:prstGeom>
          <a:solidFill>
            <a:schemeClr val="tx2"/>
          </a:solidFill>
          <a:ln w="12700">
            <a:solidFill>
              <a:schemeClr val="tx2"/>
            </a:solidFill>
            <a:prstDash val="solid"/>
          </a:ln>
        </p:spPr>
      </p:sp>
      <p:sp>
        <p:nvSpPr>
          <p:cNvPr id="6" name="Text 2"/>
          <p:cNvSpPr txBox="1"/>
          <p:nvPr/>
        </p:nvSpPr>
        <p:spPr>
          <a:xfrm>
            <a:off x="7635240" y="1417320"/>
            <a:ext cx="3840480" cy="1645920"/>
          </a:xfrm>
          <a:prstGeom prst="rect">
            <a:avLst/>
          </a:prstGeom>
          <a:noFill/>
          <a:ln/>
        </p:spPr>
        <p:txBody>
          <a:bodyPr wrap="square" lIns="0" tIns="0" rIns="0" bIns="0" rtlCol="0" anchor="t"/>
          <a:lstStyle/>
          <a:p>
            <a:pPr marL="0" indent="0">
              <a:buNone/>
            </a:pPr>
            <a:r>
              <a:rPr lang="en-US" sz="4000" b="1" dirty="0">
                <a:solidFill>
                  <a:schemeClr val="accent2"/>
                </a:solidFill>
              </a:rPr>
              <a:t>≈ ₹10,250</a:t>
            </a:r>
            <a:endParaRPr lang="en-US" sz="1600" dirty="0"/>
          </a:p>
          <a:p>
            <a:pPr marL="0" indent="0">
              <a:buNone/>
            </a:pPr>
            <a:r>
              <a:rPr lang="en-US" sz="1500" dirty="0">
                <a:solidFill>
                  <a:schemeClr val="bg1"/>
                </a:solidFill>
              </a:rPr>
              <a:t>total purchased and listed cost of the platform</a:t>
            </a:r>
            <a:endParaRPr lang="en-US" sz="1600" dirty="0"/>
          </a:p>
        </p:txBody>
      </p:sp>
      <p:sp>
        <p:nvSpPr>
          <p:cNvPr id="7" name="Text 3"/>
          <p:cNvSpPr txBox="1"/>
          <p:nvPr/>
        </p:nvSpPr>
        <p:spPr>
          <a:xfrm>
            <a:off x="7406640" y="3383280"/>
            <a:ext cx="4206240" cy="365760"/>
          </a:xfrm>
          <a:prstGeom prst="rect">
            <a:avLst/>
          </a:prstGeom>
          <a:noFill/>
          <a:ln/>
        </p:spPr>
        <p:txBody>
          <a:bodyPr wrap="square" lIns="0" tIns="0" rIns="0" bIns="0" rtlCol="0" anchor="t"/>
          <a:lstStyle/>
          <a:p>
            <a:pPr marL="0" indent="0">
              <a:buNone/>
            </a:pPr>
            <a:r>
              <a:rPr lang="en-US" sz="1500" b="1" dirty="0">
                <a:solidFill>
                  <a:schemeClr val="tx2"/>
                </a:solidFill>
              </a:rPr>
              <a:t>Reported cost of research quadrupeds</a:t>
            </a:r>
            <a:endParaRPr lang="en-US" sz="1500" dirty="0"/>
          </a:p>
        </p:txBody>
      </p:sp>
      <p:graphicFrame>
        <p:nvGraphicFramePr>
          <p:cNvPr id="37" name="table-255"/>
          <p:cNvGraphicFramePr>
            <a:graphicFrameLocks noGrp="1"/>
          </p:cNvGraphicFramePr>
          <p:nvPr>
            <p:extLst>
              <p:ext uri="{D42A27DB-BD31-4B8C-83A1-F6EECF244321}">
                <p14:modId xmlns:p14="http://schemas.microsoft.com/office/powerpoint/2010/main" val="1579011935"/>
              </p:ext>
            </p:extLst>
          </p:nvPr>
        </p:nvGraphicFramePr>
        <p:xfrm>
          <a:off x="7406640" y="3794760"/>
          <a:ext cx="4206240"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84048">
                <a:tc>
                  <a:txBody>
                    <a:bodyPr/>
                    <a:lstStyle/>
                    <a:p>
                      <a:pPr marL="0" indent="0">
                        <a:buNone/>
                      </a:pPr>
                      <a:r>
                        <a:rPr lang="en-US" sz="1400" b="1" dirty="0">
                          <a:solidFill>
                            <a:schemeClr val="bg1"/>
                          </a:solidFill>
                        </a:rPr>
                        <a:t>Platform</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Reported cost</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Stanford Doggo [2]</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&lt; US$3,000</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MIT Cheetah 3 [1]</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~US$50,000+</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ANYmal [4]</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US$100,000+</a:t>
                      </a:r>
                      <a:endParaRPr lang="en-US" sz="14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bl>
          </a:graphicData>
        </a:graphic>
      </p:graphicFrame>
      <p:sp>
        <p:nvSpPr>
          <p:cNvPr id="9" name="Text 4"/>
          <p:cNvSpPr txBox="1"/>
          <p:nvPr/>
        </p:nvSpPr>
        <p:spPr>
          <a:xfrm>
            <a:off x="548640" y="5349240"/>
            <a:ext cx="6583680" cy="548640"/>
          </a:xfrm>
          <a:prstGeom prst="rect">
            <a:avLst/>
          </a:prstGeom>
          <a:noFill/>
          <a:ln/>
        </p:spPr>
        <p:txBody>
          <a:bodyPr wrap="square" lIns="0" tIns="0" rIns="0" bIns="0" rtlCol="0" anchor="t"/>
          <a:lstStyle/>
          <a:p>
            <a:pPr marL="0" indent="0">
              <a:buNone/>
            </a:pPr>
            <a:r>
              <a:rPr lang="en-US" sz="1300" i="1" dirty="0">
                <a:solidFill>
                  <a:schemeClr val="accent6"/>
                </a:solidFill>
              </a:rPr>
              <a:t>The XIAO, sensors, resistors and cables were already available to the team and are not costed.</a:t>
            </a:r>
            <a:endParaRPr lang="en-US" sz="13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Ethical and Responsible Use</a:t>
            </a:r>
            <a:endParaRPr lang="en-US" sz="3000" dirty="0"/>
          </a:p>
        </p:txBody>
      </p:sp>
      <p:sp>
        <p:nvSpPr>
          <p:cNvPr id="4" name="panel-256"/>
          <p:cNvSpPr/>
          <p:nvPr/>
        </p:nvSpPr>
        <p:spPr>
          <a:xfrm>
            <a:off x="548640" y="1325880"/>
            <a:ext cx="3529584" cy="2286000"/>
          </a:xfrm>
          <a:prstGeom prst="roundRect">
            <a:avLst>
              <a:gd name="adj" fmla="val 4000"/>
            </a:avLst>
          </a:prstGeom>
          <a:solidFill>
            <a:schemeClr val="bg2"/>
          </a:solidFill>
          <a:ln w="12700">
            <a:solidFill>
              <a:schemeClr val="bg2"/>
            </a:solidFill>
            <a:prstDash val="solid"/>
          </a:ln>
        </p:spPr>
      </p:sp>
      <p:sp>
        <p:nvSpPr>
          <p:cNvPr id="5" name="icon-bg-257"/>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6" name="icon-258" descr="preencoded.png"/>
          <p:cNvPicPr>
            <a:picLocks noChangeAspect="1"/>
          </p:cNvPicPr>
          <p:nvPr/>
        </p:nvPicPr>
        <p:blipFill>
          <a:blip r:embed="rId3"/>
          <a:stretch>
            <a:fillRect/>
          </a:stretch>
        </p:blipFill>
        <p:spPr>
          <a:xfrm>
            <a:off x="908914" y="1686154"/>
            <a:ext cx="285293" cy="285293"/>
          </a:xfrm>
          <a:prstGeom prst="rect">
            <a:avLst/>
          </a:prstGeom>
        </p:spPr>
      </p:pic>
      <p:sp>
        <p:nvSpPr>
          <p:cNvPr id="7" name="Text 3"/>
          <p:cNvSpPr txBox="1"/>
          <p:nvPr/>
        </p:nvSpPr>
        <p:spPr>
          <a:xfrm>
            <a:off x="1463040" y="155448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Data stays local</a:t>
            </a:r>
            <a:endParaRPr lang="en-US" sz="1700" dirty="0"/>
          </a:p>
        </p:txBody>
      </p:sp>
      <p:sp>
        <p:nvSpPr>
          <p:cNvPr id="8" name="Text 4"/>
          <p:cNvSpPr txBox="1"/>
          <p:nvPr/>
        </p:nvSpPr>
        <p:spPr>
          <a:xfrm>
            <a:off x="777240" y="224028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All readings and images stay on the laptop's own hotspot; no cloud service, no personal data, camera aimed at crops</a:t>
            </a:r>
            <a:endParaRPr lang="en-US" sz="1450" dirty="0"/>
          </a:p>
        </p:txBody>
      </p:sp>
      <p:sp>
        <p:nvSpPr>
          <p:cNvPr id="9" name="panel-259"/>
          <p:cNvSpPr/>
          <p:nvPr/>
        </p:nvSpPr>
        <p:spPr>
          <a:xfrm>
            <a:off x="4279392" y="1325880"/>
            <a:ext cx="3529584" cy="2286000"/>
          </a:xfrm>
          <a:prstGeom prst="roundRect">
            <a:avLst>
              <a:gd name="adj" fmla="val 4000"/>
            </a:avLst>
          </a:prstGeom>
          <a:solidFill>
            <a:schemeClr val="bg2"/>
          </a:solidFill>
          <a:ln w="12700">
            <a:solidFill>
              <a:schemeClr val="bg2"/>
            </a:solidFill>
            <a:prstDash val="solid"/>
          </a:ln>
        </p:spPr>
      </p:sp>
      <p:sp>
        <p:nvSpPr>
          <p:cNvPr id="10" name="icon-bg-260"/>
          <p:cNvSpPr/>
          <p:nvPr/>
        </p:nvSpPr>
        <p:spPr>
          <a:xfrm>
            <a:off x="4507992" y="1554480"/>
            <a:ext cx="548640" cy="548640"/>
          </a:xfrm>
          <a:prstGeom prst="ellipse">
            <a:avLst/>
          </a:prstGeom>
          <a:solidFill>
            <a:schemeClr val="accent1"/>
          </a:solidFill>
          <a:ln w="12700">
            <a:solidFill>
              <a:schemeClr val="accent1"/>
            </a:solidFill>
            <a:prstDash val="solid"/>
          </a:ln>
        </p:spPr>
      </p:sp>
      <p:pic>
        <p:nvPicPr>
          <p:cNvPr id="11" name="icon-261" descr="preencoded.png"/>
          <p:cNvPicPr>
            <a:picLocks noChangeAspect="1"/>
          </p:cNvPicPr>
          <p:nvPr/>
        </p:nvPicPr>
        <p:blipFill>
          <a:blip r:embed="rId4"/>
          <a:stretch>
            <a:fillRect/>
          </a:stretch>
        </p:blipFill>
        <p:spPr>
          <a:xfrm>
            <a:off x="4639666" y="1686154"/>
            <a:ext cx="285293" cy="285293"/>
          </a:xfrm>
          <a:prstGeom prst="rect">
            <a:avLst/>
          </a:prstGeom>
        </p:spPr>
      </p:pic>
      <p:sp>
        <p:nvSpPr>
          <p:cNvPr id="12" name="Text 7"/>
          <p:cNvSpPr txBox="1"/>
          <p:nvPr/>
        </p:nvSpPr>
        <p:spPr>
          <a:xfrm>
            <a:off x="5193792" y="155448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No false certainty</a:t>
            </a:r>
            <a:endParaRPr lang="en-US" sz="1700" dirty="0"/>
          </a:p>
        </p:txBody>
      </p:sp>
      <p:sp>
        <p:nvSpPr>
          <p:cNvPr id="13" name="Text 8"/>
          <p:cNvSpPr txBox="1"/>
          <p:nvPr/>
        </p:nvSpPr>
        <p:spPr>
          <a:xfrm>
            <a:off x="4507992" y="224028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Gate and 50 % threshold suppress unreliable labels; results are indications for an agronomist, not a spray decision</a:t>
            </a:r>
            <a:endParaRPr lang="en-US" sz="1450" dirty="0"/>
          </a:p>
        </p:txBody>
      </p:sp>
      <p:sp>
        <p:nvSpPr>
          <p:cNvPr id="14" name="panel-262"/>
          <p:cNvSpPr/>
          <p:nvPr/>
        </p:nvSpPr>
        <p:spPr>
          <a:xfrm>
            <a:off x="8010144" y="1325880"/>
            <a:ext cx="3529584" cy="2286000"/>
          </a:xfrm>
          <a:prstGeom prst="roundRect">
            <a:avLst>
              <a:gd name="adj" fmla="val 4000"/>
            </a:avLst>
          </a:prstGeom>
          <a:solidFill>
            <a:schemeClr val="bg2"/>
          </a:solidFill>
          <a:ln w="12700">
            <a:solidFill>
              <a:schemeClr val="bg2"/>
            </a:solidFill>
            <a:prstDash val="solid"/>
          </a:ln>
        </p:spPr>
      </p:sp>
      <p:sp>
        <p:nvSpPr>
          <p:cNvPr id="15" name="icon-bg-263"/>
          <p:cNvSpPr/>
          <p:nvPr/>
        </p:nvSpPr>
        <p:spPr>
          <a:xfrm>
            <a:off x="8238744" y="1554480"/>
            <a:ext cx="548640" cy="548640"/>
          </a:xfrm>
          <a:prstGeom prst="ellipse">
            <a:avLst/>
          </a:prstGeom>
          <a:solidFill>
            <a:schemeClr val="accent1"/>
          </a:solidFill>
          <a:ln w="12700">
            <a:solidFill>
              <a:schemeClr val="accent1"/>
            </a:solidFill>
            <a:prstDash val="solid"/>
          </a:ln>
        </p:spPr>
      </p:sp>
      <p:pic>
        <p:nvPicPr>
          <p:cNvPr id="16" name="icon-264" descr="preencoded.png"/>
          <p:cNvPicPr>
            <a:picLocks noChangeAspect="1"/>
          </p:cNvPicPr>
          <p:nvPr/>
        </p:nvPicPr>
        <p:blipFill>
          <a:blip r:embed="rId5"/>
          <a:stretch>
            <a:fillRect/>
          </a:stretch>
        </p:blipFill>
        <p:spPr>
          <a:xfrm>
            <a:off x="8370418" y="1686154"/>
            <a:ext cx="285293" cy="285293"/>
          </a:xfrm>
          <a:prstGeom prst="rect">
            <a:avLst/>
          </a:prstGeom>
        </p:spPr>
      </p:pic>
      <p:sp>
        <p:nvSpPr>
          <p:cNvPr id="17" name="Text 11"/>
          <p:cNvSpPr txBox="1"/>
          <p:nvPr/>
        </p:nvSpPr>
        <p:spPr>
          <a:xfrm>
            <a:off x="8924544" y="155448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Electrical and physical safety</a:t>
            </a:r>
            <a:endParaRPr lang="en-US" sz="1700" dirty="0"/>
          </a:p>
        </p:txBody>
      </p:sp>
      <p:sp>
        <p:nvSpPr>
          <p:cNvPr id="18" name="Text 12"/>
          <p:cNvSpPr txBox="1"/>
          <p:nvPr/>
        </p:nvSpPr>
        <p:spPr>
          <a:xfrm>
            <a:off x="8238744" y="224028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Low-voltage USB payload, no LiPo on board, slow-moving robot, separate servo supply</a:t>
            </a:r>
            <a:endParaRPr lang="en-US" sz="1450" dirty="0"/>
          </a:p>
        </p:txBody>
      </p:sp>
      <p:sp>
        <p:nvSpPr>
          <p:cNvPr id="19" name="panel-265"/>
          <p:cNvSpPr/>
          <p:nvPr/>
        </p:nvSpPr>
        <p:spPr>
          <a:xfrm>
            <a:off x="548640" y="3794760"/>
            <a:ext cx="3529584" cy="2286000"/>
          </a:xfrm>
          <a:prstGeom prst="roundRect">
            <a:avLst>
              <a:gd name="adj" fmla="val 4000"/>
            </a:avLst>
          </a:prstGeom>
          <a:solidFill>
            <a:schemeClr val="bg2"/>
          </a:solidFill>
          <a:ln w="12700">
            <a:solidFill>
              <a:schemeClr val="bg2"/>
            </a:solidFill>
            <a:prstDash val="solid"/>
          </a:ln>
        </p:spPr>
      </p:sp>
      <p:sp>
        <p:nvSpPr>
          <p:cNvPr id="20" name="icon-bg-266"/>
          <p:cNvSpPr/>
          <p:nvPr/>
        </p:nvSpPr>
        <p:spPr>
          <a:xfrm>
            <a:off x="777240" y="4023360"/>
            <a:ext cx="548640" cy="548640"/>
          </a:xfrm>
          <a:prstGeom prst="ellipse">
            <a:avLst/>
          </a:prstGeom>
          <a:solidFill>
            <a:schemeClr val="accent1"/>
          </a:solidFill>
          <a:ln w="12700">
            <a:solidFill>
              <a:schemeClr val="accent1"/>
            </a:solidFill>
            <a:prstDash val="solid"/>
          </a:ln>
        </p:spPr>
      </p:sp>
      <p:pic>
        <p:nvPicPr>
          <p:cNvPr id="21" name="icon-267" descr="preencoded.png"/>
          <p:cNvPicPr>
            <a:picLocks noChangeAspect="1"/>
          </p:cNvPicPr>
          <p:nvPr/>
        </p:nvPicPr>
        <p:blipFill>
          <a:blip r:embed="rId6"/>
          <a:stretch>
            <a:fillRect/>
          </a:stretch>
        </p:blipFill>
        <p:spPr>
          <a:xfrm>
            <a:off x="908914" y="4155034"/>
            <a:ext cx="285293" cy="285293"/>
          </a:xfrm>
          <a:prstGeom prst="rect">
            <a:avLst/>
          </a:prstGeom>
        </p:spPr>
      </p:pic>
      <p:sp>
        <p:nvSpPr>
          <p:cNvPr id="22" name="Text 15"/>
          <p:cNvSpPr txBox="1"/>
          <p:nvPr/>
        </p:nvSpPr>
        <p:spPr>
          <a:xfrm>
            <a:off x="1463040" y="402336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Honest sensor claims</a:t>
            </a:r>
            <a:endParaRPr lang="en-US" sz="1700" dirty="0"/>
          </a:p>
        </p:txBody>
      </p:sp>
      <p:sp>
        <p:nvSpPr>
          <p:cNvPr id="23" name="Text 16"/>
          <p:cNvSpPr txBox="1"/>
          <p:nvPr/>
        </p:nvSpPr>
        <p:spPr>
          <a:xfrm>
            <a:off x="777240" y="470916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eCO₂ is estimated and the dust sensor uncalibrated; used for trends and alerts, not regulatory values</a:t>
            </a:r>
            <a:endParaRPr lang="en-US" sz="1450" dirty="0"/>
          </a:p>
        </p:txBody>
      </p:sp>
      <p:sp>
        <p:nvSpPr>
          <p:cNvPr id="24" name="panel-268"/>
          <p:cNvSpPr/>
          <p:nvPr/>
        </p:nvSpPr>
        <p:spPr>
          <a:xfrm>
            <a:off x="4279392" y="3794760"/>
            <a:ext cx="3529584" cy="2286000"/>
          </a:xfrm>
          <a:prstGeom prst="roundRect">
            <a:avLst>
              <a:gd name="adj" fmla="val 4000"/>
            </a:avLst>
          </a:prstGeom>
          <a:solidFill>
            <a:schemeClr val="bg2"/>
          </a:solidFill>
          <a:ln w="12700">
            <a:solidFill>
              <a:schemeClr val="bg2"/>
            </a:solidFill>
            <a:prstDash val="solid"/>
          </a:ln>
        </p:spPr>
      </p:sp>
      <p:sp>
        <p:nvSpPr>
          <p:cNvPr id="25" name="icon-bg-269"/>
          <p:cNvSpPr/>
          <p:nvPr/>
        </p:nvSpPr>
        <p:spPr>
          <a:xfrm>
            <a:off x="4507992" y="4023360"/>
            <a:ext cx="548640" cy="548640"/>
          </a:xfrm>
          <a:prstGeom prst="ellipse">
            <a:avLst/>
          </a:prstGeom>
          <a:solidFill>
            <a:schemeClr val="accent1"/>
          </a:solidFill>
          <a:ln w="12700">
            <a:solidFill>
              <a:schemeClr val="accent1"/>
            </a:solidFill>
            <a:prstDash val="solid"/>
          </a:ln>
        </p:spPr>
      </p:sp>
      <p:pic>
        <p:nvPicPr>
          <p:cNvPr id="26" name="icon-270" descr="preencoded.png"/>
          <p:cNvPicPr>
            <a:picLocks noChangeAspect="1"/>
          </p:cNvPicPr>
          <p:nvPr/>
        </p:nvPicPr>
        <p:blipFill>
          <a:blip r:embed="rId7"/>
          <a:stretch>
            <a:fillRect/>
          </a:stretch>
        </p:blipFill>
        <p:spPr>
          <a:xfrm>
            <a:off x="4639666" y="4155034"/>
            <a:ext cx="285293" cy="285293"/>
          </a:xfrm>
          <a:prstGeom prst="rect">
            <a:avLst/>
          </a:prstGeom>
        </p:spPr>
      </p:pic>
      <p:sp>
        <p:nvSpPr>
          <p:cNvPr id="27" name="Text 19"/>
          <p:cNvSpPr txBox="1"/>
          <p:nvPr/>
        </p:nvSpPr>
        <p:spPr>
          <a:xfrm>
            <a:off x="5193792" y="402336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Open source and attribution</a:t>
            </a:r>
            <a:endParaRPr lang="en-US" sz="1700" dirty="0"/>
          </a:p>
        </p:txBody>
      </p:sp>
      <p:sp>
        <p:nvSpPr>
          <p:cNvPr id="28" name="Text 20"/>
          <p:cNvSpPr txBox="1"/>
          <p:nvPr/>
        </p:nvSpPr>
        <p:spPr>
          <a:xfrm>
            <a:off x="4507992" y="470916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SpotMicro design credited under CC-BY; our code and print files are public</a:t>
            </a:r>
            <a:endParaRPr lang="en-US" sz="1450" dirty="0"/>
          </a:p>
        </p:txBody>
      </p:sp>
      <p:sp>
        <p:nvSpPr>
          <p:cNvPr id="29" name="panel-271"/>
          <p:cNvSpPr/>
          <p:nvPr/>
        </p:nvSpPr>
        <p:spPr>
          <a:xfrm>
            <a:off x="8010144" y="3794760"/>
            <a:ext cx="3529584" cy="2286000"/>
          </a:xfrm>
          <a:prstGeom prst="roundRect">
            <a:avLst>
              <a:gd name="adj" fmla="val 4000"/>
            </a:avLst>
          </a:prstGeom>
          <a:solidFill>
            <a:schemeClr val="bg2"/>
          </a:solidFill>
          <a:ln w="12700">
            <a:solidFill>
              <a:schemeClr val="bg2"/>
            </a:solidFill>
            <a:prstDash val="solid"/>
          </a:ln>
        </p:spPr>
      </p:sp>
      <p:sp>
        <p:nvSpPr>
          <p:cNvPr id="30" name="icon-bg-272"/>
          <p:cNvSpPr/>
          <p:nvPr/>
        </p:nvSpPr>
        <p:spPr>
          <a:xfrm>
            <a:off x="8238744" y="4023360"/>
            <a:ext cx="548640" cy="548640"/>
          </a:xfrm>
          <a:prstGeom prst="ellipse">
            <a:avLst/>
          </a:prstGeom>
          <a:solidFill>
            <a:schemeClr val="accent1"/>
          </a:solidFill>
          <a:ln w="12700">
            <a:solidFill>
              <a:schemeClr val="accent1"/>
            </a:solidFill>
            <a:prstDash val="solid"/>
          </a:ln>
        </p:spPr>
      </p:sp>
      <p:pic>
        <p:nvPicPr>
          <p:cNvPr id="31" name="icon-273" descr="preencoded.png"/>
          <p:cNvPicPr>
            <a:picLocks noChangeAspect="1"/>
          </p:cNvPicPr>
          <p:nvPr/>
        </p:nvPicPr>
        <p:blipFill>
          <a:blip r:embed="rId8"/>
          <a:stretch>
            <a:fillRect/>
          </a:stretch>
        </p:blipFill>
        <p:spPr>
          <a:xfrm>
            <a:off x="8370418" y="4155034"/>
            <a:ext cx="285293" cy="285293"/>
          </a:xfrm>
          <a:prstGeom prst="rect">
            <a:avLst/>
          </a:prstGeom>
        </p:spPr>
      </p:pic>
      <p:sp>
        <p:nvSpPr>
          <p:cNvPr id="32" name="Text 23"/>
          <p:cNvSpPr txBox="1"/>
          <p:nvPr/>
        </p:nvSpPr>
        <p:spPr>
          <a:xfrm>
            <a:off x="8924544" y="4023360"/>
            <a:ext cx="2432304" cy="548640"/>
          </a:xfrm>
          <a:prstGeom prst="rect">
            <a:avLst/>
          </a:prstGeom>
          <a:noFill/>
          <a:ln/>
        </p:spPr>
        <p:txBody>
          <a:bodyPr wrap="square" lIns="0" tIns="0" rIns="0" bIns="0" rtlCol="0" anchor="ctr"/>
          <a:lstStyle/>
          <a:p>
            <a:pPr marL="0" indent="0">
              <a:buNone/>
            </a:pPr>
            <a:r>
              <a:rPr lang="en-US" sz="1700" b="1" dirty="0">
                <a:solidFill>
                  <a:schemeClr val="tx2"/>
                </a:solidFill>
              </a:rPr>
              <a:t>Built for small farms</a:t>
            </a:r>
            <a:endParaRPr lang="en-US" sz="1700" dirty="0"/>
          </a:p>
        </p:txBody>
      </p:sp>
      <p:sp>
        <p:nvSpPr>
          <p:cNvPr id="33" name="Text 24"/>
          <p:cNvSpPr txBox="1"/>
          <p:nvPr/>
        </p:nvSpPr>
        <p:spPr>
          <a:xfrm>
            <a:off x="8238744" y="4709160"/>
            <a:ext cx="3072384" cy="1234440"/>
          </a:xfrm>
          <a:prstGeom prst="rect">
            <a:avLst/>
          </a:prstGeom>
          <a:noFill/>
          <a:ln/>
        </p:spPr>
        <p:txBody>
          <a:bodyPr wrap="square" lIns="0" tIns="0" rIns="0" bIns="0" rtlCol="0" anchor="t"/>
          <a:lstStyle/>
          <a:p>
            <a:pPr marL="0" indent="0">
              <a:spcAft>
                <a:spcPts val="400"/>
              </a:spcAft>
              <a:buNone/>
            </a:pPr>
            <a:r>
              <a:rPr lang="en-US" sz="1450" dirty="0">
                <a:solidFill>
                  <a:schemeClr val="tx1"/>
                </a:solidFill>
              </a:rPr>
              <a:t>Low-cost parts and no internet needed, so the approach is within reach of smallholders</a:t>
            </a:r>
            <a:endParaRPr lang="en-US" sz="145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Practical Applicability</a:t>
            </a:r>
            <a:endParaRPr lang="en-US" sz="3000" dirty="0"/>
          </a:p>
        </p:txBody>
      </p:sp>
      <p:sp>
        <p:nvSpPr>
          <p:cNvPr id="4" name="icon-bg-274"/>
          <p:cNvSpPr/>
          <p:nvPr/>
        </p:nvSpPr>
        <p:spPr>
          <a:xfrm>
            <a:off x="548640" y="1325880"/>
            <a:ext cx="603504" cy="603504"/>
          </a:xfrm>
          <a:prstGeom prst="ellipse">
            <a:avLst/>
          </a:prstGeom>
          <a:solidFill>
            <a:schemeClr val="accent1"/>
          </a:solidFill>
          <a:ln w="12700">
            <a:solidFill>
              <a:schemeClr val="accent1"/>
            </a:solidFill>
            <a:prstDash val="solid"/>
          </a:ln>
        </p:spPr>
      </p:sp>
      <p:pic>
        <p:nvPicPr>
          <p:cNvPr id="5" name="icon-275" descr="preencoded.png"/>
          <p:cNvPicPr>
            <a:picLocks noChangeAspect="1"/>
          </p:cNvPicPr>
          <p:nvPr/>
        </p:nvPicPr>
        <p:blipFill>
          <a:blip r:embed="rId3"/>
          <a:stretch>
            <a:fillRect/>
          </a:stretch>
        </p:blipFill>
        <p:spPr>
          <a:xfrm>
            <a:off x="693481" y="1470721"/>
            <a:ext cx="313822" cy="313822"/>
          </a:xfrm>
          <a:prstGeom prst="rect">
            <a:avLst/>
          </a:prstGeom>
        </p:spPr>
      </p:pic>
      <p:sp>
        <p:nvSpPr>
          <p:cNvPr id="6" name="Text 2"/>
          <p:cNvSpPr txBox="1"/>
          <p:nvPr/>
        </p:nvSpPr>
        <p:spPr>
          <a:xfrm>
            <a:off x="1371600" y="1307592"/>
            <a:ext cx="5120640" cy="411480"/>
          </a:xfrm>
          <a:prstGeom prst="rect">
            <a:avLst/>
          </a:prstGeom>
          <a:noFill/>
          <a:ln/>
        </p:spPr>
        <p:txBody>
          <a:bodyPr wrap="square" lIns="0" tIns="0" rIns="0" bIns="0" rtlCol="0" anchor="t"/>
          <a:lstStyle/>
          <a:p>
            <a:pPr marL="0" indent="0">
              <a:buNone/>
            </a:pPr>
            <a:r>
              <a:rPr lang="en-US" sz="1800" b="1" dirty="0">
                <a:solidFill>
                  <a:schemeClr val="tx2"/>
                </a:solidFill>
              </a:rPr>
              <a:t>Row-by-row scouting</a:t>
            </a:r>
            <a:endParaRPr lang="en-US" sz="1800" dirty="0"/>
          </a:p>
        </p:txBody>
      </p:sp>
      <p:sp>
        <p:nvSpPr>
          <p:cNvPr id="7" name="Text 3"/>
          <p:cNvSpPr txBox="1"/>
          <p:nvPr/>
        </p:nvSpPr>
        <p:spPr>
          <a:xfrm>
            <a:off x="1371600" y="1737360"/>
            <a:ext cx="5120640" cy="685800"/>
          </a:xfrm>
          <a:prstGeom prst="rect">
            <a:avLst/>
          </a:prstGeom>
          <a:noFill/>
          <a:ln/>
        </p:spPr>
        <p:txBody>
          <a:bodyPr wrap="square" lIns="0" tIns="0" rIns="0" bIns="0" rtlCol="0" anchor="t"/>
          <a:lstStyle/>
          <a:p>
            <a:pPr marL="0" indent="0">
              <a:buNone/>
            </a:pPr>
            <a:r>
              <a:rPr lang="en-US" sz="1500" dirty="0">
                <a:solidFill>
                  <a:schemeClr val="tx1"/>
                </a:solidFill>
              </a:rPr>
              <a:t>Walk the rows, log gas, dust and temperature, and scan suspicious leaves on the way</a:t>
            </a:r>
            <a:endParaRPr lang="en-US" sz="1500" dirty="0"/>
          </a:p>
        </p:txBody>
      </p:sp>
      <p:sp>
        <p:nvSpPr>
          <p:cNvPr id="8" name="icon-bg-276"/>
          <p:cNvSpPr/>
          <p:nvPr/>
        </p:nvSpPr>
        <p:spPr>
          <a:xfrm>
            <a:off x="548640" y="2532888"/>
            <a:ext cx="603504" cy="603504"/>
          </a:xfrm>
          <a:prstGeom prst="ellipse">
            <a:avLst/>
          </a:prstGeom>
          <a:solidFill>
            <a:schemeClr val="accent1"/>
          </a:solidFill>
          <a:ln w="12700">
            <a:solidFill>
              <a:schemeClr val="accent1"/>
            </a:solidFill>
            <a:prstDash val="solid"/>
          </a:ln>
        </p:spPr>
      </p:sp>
      <p:pic>
        <p:nvPicPr>
          <p:cNvPr id="9" name="icon-277" descr="preencoded.png"/>
          <p:cNvPicPr>
            <a:picLocks noChangeAspect="1"/>
          </p:cNvPicPr>
          <p:nvPr/>
        </p:nvPicPr>
        <p:blipFill>
          <a:blip r:embed="rId4"/>
          <a:stretch>
            <a:fillRect/>
          </a:stretch>
        </p:blipFill>
        <p:spPr>
          <a:xfrm>
            <a:off x="693481" y="2677729"/>
            <a:ext cx="313822" cy="313822"/>
          </a:xfrm>
          <a:prstGeom prst="rect">
            <a:avLst/>
          </a:prstGeom>
        </p:spPr>
      </p:pic>
      <p:sp>
        <p:nvSpPr>
          <p:cNvPr id="10" name="Text 5"/>
          <p:cNvSpPr txBox="1"/>
          <p:nvPr/>
        </p:nvSpPr>
        <p:spPr>
          <a:xfrm>
            <a:off x="1371600" y="2514600"/>
            <a:ext cx="5120640" cy="411480"/>
          </a:xfrm>
          <a:prstGeom prst="rect">
            <a:avLst/>
          </a:prstGeom>
          <a:noFill/>
          <a:ln/>
        </p:spPr>
        <p:txBody>
          <a:bodyPr wrap="square" lIns="0" tIns="0" rIns="0" bIns="0" rtlCol="0" anchor="t"/>
          <a:lstStyle/>
          <a:p>
            <a:pPr marL="0" indent="0">
              <a:buNone/>
            </a:pPr>
            <a:r>
              <a:rPr lang="en-US" sz="1800" b="1" dirty="0">
                <a:solidFill>
                  <a:schemeClr val="tx2"/>
                </a:solidFill>
              </a:rPr>
              <a:t>Early-warning hotspots</a:t>
            </a:r>
            <a:endParaRPr lang="en-US" sz="1800" dirty="0"/>
          </a:p>
        </p:txBody>
      </p:sp>
      <p:sp>
        <p:nvSpPr>
          <p:cNvPr id="11" name="Text 6"/>
          <p:cNvSpPr txBox="1"/>
          <p:nvPr/>
        </p:nvSpPr>
        <p:spPr>
          <a:xfrm>
            <a:off x="1371600" y="2944368"/>
            <a:ext cx="5120640" cy="685800"/>
          </a:xfrm>
          <a:prstGeom prst="rect">
            <a:avLst/>
          </a:prstGeom>
          <a:noFill/>
          <a:ln/>
        </p:spPr>
        <p:txBody>
          <a:bodyPr wrap="square" lIns="0" tIns="0" rIns="0" bIns="0" rtlCol="0" anchor="t"/>
          <a:lstStyle/>
          <a:p>
            <a:pPr marL="0" indent="0">
              <a:buNone/>
            </a:pPr>
            <a:r>
              <a:rPr lang="en-US" sz="1500" dirty="0">
                <a:solidFill>
                  <a:schemeClr val="tx1"/>
                </a:solidFill>
              </a:rPr>
              <a:t>Rising VOC readings along a row point to stressed plants before symptoms spread</a:t>
            </a:r>
            <a:endParaRPr lang="en-US" sz="1500" dirty="0"/>
          </a:p>
        </p:txBody>
      </p:sp>
      <p:sp>
        <p:nvSpPr>
          <p:cNvPr id="12" name="icon-bg-278"/>
          <p:cNvSpPr/>
          <p:nvPr/>
        </p:nvSpPr>
        <p:spPr>
          <a:xfrm>
            <a:off x="548640" y="3739896"/>
            <a:ext cx="603504" cy="603504"/>
          </a:xfrm>
          <a:prstGeom prst="ellipse">
            <a:avLst/>
          </a:prstGeom>
          <a:solidFill>
            <a:schemeClr val="accent1"/>
          </a:solidFill>
          <a:ln w="12700">
            <a:solidFill>
              <a:schemeClr val="accent1"/>
            </a:solidFill>
            <a:prstDash val="solid"/>
          </a:ln>
        </p:spPr>
      </p:sp>
      <p:pic>
        <p:nvPicPr>
          <p:cNvPr id="13" name="icon-279" descr="preencoded.png"/>
          <p:cNvPicPr>
            <a:picLocks noChangeAspect="1"/>
          </p:cNvPicPr>
          <p:nvPr/>
        </p:nvPicPr>
        <p:blipFill>
          <a:blip r:embed="rId5"/>
          <a:stretch>
            <a:fillRect/>
          </a:stretch>
        </p:blipFill>
        <p:spPr>
          <a:xfrm>
            <a:off x="693481" y="3884737"/>
            <a:ext cx="313822" cy="313822"/>
          </a:xfrm>
          <a:prstGeom prst="rect">
            <a:avLst/>
          </a:prstGeom>
        </p:spPr>
      </p:pic>
      <p:sp>
        <p:nvSpPr>
          <p:cNvPr id="14" name="Text 8"/>
          <p:cNvSpPr txBox="1"/>
          <p:nvPr/>
        </p:nvSpPr>
        <p:spPr>
          <a:xfrm>
            <a:off x="1371600" y="3721608"/>
            <a:ext cx="5120640" cy="411480"/>
          </a:xfrm>
          <a:prstGeom prst="rect">
            <a:avLst/>
          </a:prstGeom>
          <a:noFill/>
          <a:ln/>
        </p:spPr>
        <p:txBody>
          <a:bodyPr wrap="square" lIns="0" tIns="0" rIns="0" bIns="0" rtlCol="0" anchor="t"/>
          <a:lstStyle/>
          <a:p>
            <a:pPr marL="0" indent="0">
              <a:buNone/>
            </a:pPr>
            <a:r>
              <a:rPr lang="en-US" sz="1800" b="1" dirty="0">
                <a:solidFill>
                  <a:schemeClr val="tx2"/>
                </a:solidFill>
              </a:rPr>
              <a:t>Nurseries and greenhouses</a:t>
            </a:r>
            <a:endParaRPr lang="en-US" sz="1800" dirty="0"/>
          </a:p>
        </p:txBody>
      </p:sp>
      <p:sp>
        <p:nvSpPr>
          <p:cNvPr id="15" name="Text 9"/>
          <p:cNvSpPr txBox="1"/>
          <p:nvPr/>
        </p:nvSpPr>
        <p:spPr>
          <a:xfrm>
            <a:off x="1371600" y="4151376"/>
            <a:ext cx="5120640" cy="685800"/>
          </a:xfrm>
          <a:prstGeom prst="rect">
            <a:avLst/>
          </a:prstGeom>
          <a:noFill/>
          <a:ln/>
        </p:spPr>
        <p:txBody>
          <a:bodyPr wrap="square" lIns="0" tIns="0" rIns="0" bIns="0" rtlCol="0" anchor="t"/>
          <a:lstStyle/>
          <a:p>
            <a:pPr marL="0" indent="0">
              <a:buNone/>
            </a:pPr>
            <a:r>
              <a:rPr lang="en-US" sz="1500" dirty="0">
                <a:solidFill>
                  <a:schemeClr val="tx1"/>
                </a:solidFill>
              </a:rPr>
              <a:t>Repeated inspection of seedlings in narrow aisles where wheels struggle</a:t>
            </a:r>
            <a:endParaRPr lang="en-US" sz="1500" dirty="0"/>
          </a:p>
        </p:txBody>
      </p:sp>
      <p:sp>
        <p:nvSpPr>
          <p:cNvPr id="16" name="icon-bg-280"/>
          <p:cNvSpPr/>
          <p:nvPr/>
        </p:nvSpPr>
        <p:spPr>
          <a:xfrm>
            <a:off x="548640" y="4946904"/>
            <a:ext cx="603504" cy="603504"/>
          </a:xfrm>
          <a:prstGeom prst="ellipse">
            <a:avLst/>
          </a:prstGeom>
          <a:solidFill>
            <a:schemeClr val="accent1"/>
          </a:solidFill>
          <a:ln w="12700">
            <a:solidFill>
              <a:schemeClr val="accent1"/>
            </a:solidFill>
            <a:prstDash val="solid"/>
          </a:ln>
        </p:spPr>
      </p:sp>
      <p:pic>
        <p:nvPicPr>
          <p:cNvPr id="17" name="icon-281" descr="preencoded.png"/>
          <p:cNvPicPr>
            <a:picLocks noChangeAspect="1"/>
          </p:cNvPicPr>
          <p:nvPr/>
        </p:nvPicPr>
        <p:blipFill>
          <a:blip r:embed="rId6"/>
          <a:stretch>
            <a:fillRect/>
          </a:stretch>
        </p:blipFill>
        <p:spPr>
          <a:xfrm>
            <a:off x="693481" y="5091745"/>
            <a:ext cx="313822" cy="313822"/>
          </a:xfrm>
          <a:prstGeom prst="rect">
            <a:avLst/>
          </a:prstGeom>
        </p:spPr>
      </p:pic>
      <p:sp>
        <p:nvSpPr>
          <p:cNvPr id="18" name="Text 11"/>
          <p:cNvSpPr txBox="1"/>
          <p:nvPr/>
        </p:nvSpPr>
        <p:spPr>
          <a:xfrm>
            <a:off x="1371600" y="4928616"/>
            <a:ext cx="5120640" cy="411480"/>
          </a:xfrm>
          <a:prstGeom prst="rect">
            <a:avLst/>
          </a:prstGeom>
          <a:noFill/>
          <a:ln/>
        </p:spPr>
        <p:txBody>
          <a:bodyPr wrap="square" lIns="0" tIns="0" rIns="0" bIns="0" rtlCol="0" anchor="t"/>
          <a:lstStyle/>
          <a:p>
            <a:pPr marL="0" indent="0">
              <a:buNone/>
            </a:pPr>
            <a:r>
              <a:rPr lang="en-US" sz="1800" b="1" dirty="0">
                <a:solidFill>
                  <a:schemeClr val="tx2"/>
                </a:solidFill>
              </a:rPr>
              <a:t>Records for agronomists</a:t>
            </a:r>
            <a:endParaRPr lang="en-US" sz="1800" dirty="0"/>
          </a:p>
        </p:txBody>
      </p:sp>
      <p:sp>
        <p:nvSpPr>
          <p:cNvPr id="19" name="Text 12"/>
          <p:cNvSpPr txBox="1"/>
          <p:nvPr/>
        </p:nvSpPr>
        <p:spPr>
          <a:xfrm>
            <a:off x="1371600" y="5358384"/>
            <a:ext cx="5120640" cy="685800"/>
          </a:xfrm>
          <a:prstGeom prst="rect">
            <a:avLst/>
          </a:prstGeom>
          <a:noFill/>
          <a:ln/>
        </p:spPr>
        <p:txBody>
          <a:bodyPr wrap="square" lIns="0" tIns="0" rIns="0" bIns="0" rtlCol="0" anchor="t"/>
          <a:lstStyle/>
          <a:p>
            <a:pPr marL="0" indent="0">
              <a:buNone/>
            </a:pPr>
            <a:r>
              <a:rPr lang="en-US" sz="1500" dirty="0">
                <a:solidFill>
                  <a:schemeClr val="tx1"/>
                </a:solidFill>
              </a:rPr>
              <a:t>Tagged images with the conditions at capture give an evidence trail for advice</a:t>
            </a:r>
            <a:endParaRPr lang="en-US" sz="1500" dirty="0"/>
          </a:p>
        </p:txBody>
      </p:sp>
      <p:sp>
        <p:nvSpPr>
          <p:cNvPr id="20" name="panel-282"/>
          <p:cNvSpPr/>
          <p:nvPr/>
        </p:nvSpPr>
        <p:spPr>
          <a:xfrm>
            <a:off x="6903720" y="1325880"/>
            <a:ext cx="4709160" cy="4846320"/>
          </a:xfrm>
          <a:prstGeom prst="roundRect">
            <a:avLst>
              <a:gd name="adj" fmla="val 1942"/>
            </a:avLst>
          </a:prstGeom>
          <a:solidFill>
            <a:schemeClr val="tx2"/>
          </a:solidFill>
          <a:ln w="12700">
            <a:solidFill>
              <a:schemeClr val="tx2"/>
            </a:solidFill>
            <a:prstDash val="solid"/>
          </a:ln>
        </p:spPr>
      </p:sp>
      <p:sp>
        <p:nvSpPr>
          <p:cNvPr id="21" name="Text 14"/>
          <p:cNvSpPr txBox="1"/>
          <p:nvPr/>
        </p:nvSpPr>
        <p:spPr>
          <a:xfrm>
            <a:off x="7178040" y="1554480"/>
            <a:ext cx="4206240" cy="457200"/>
          </a:xfrm>
          <a:prstGeom prst="rect">
            <a:avLst/>
          </a:prstGeom>
          <a:noFill/>
          <a:ln/>
        </p:spPr>
        <p:txBody>
          <a:bodyPr wrap="square" lIns="0" tIns="0" rIns="0" bIns="0" rtlCol="0" anchor="t"/>
          <a:lstStyle/>
          <a:p>
            <a:pPr marL="0" indent="0">
              <a:buNone/>
            </a:pPr>
            <a:r>
              <a:rPr lang="en-US" sz="1900" b="1" dirty="0">
                <a:solidFill>
                  <a:schemeClr val="accent2"/>
                </a:solidFill>
              </a:rPr>
              <a:t>What a farm needs to run it</a:t>
            </a:r>
            <a:endParaRPr lang="en-US" sz="1900" dirty="0"/>
          </a:p>
        </p:txBody>
      </p:sp>
      <p:sp>
        <p:nvSpPr>
          <p:cNvPr id="22" name="Text 15"/>
          <p:cNvSpPr txBox="1"/>
          <p:nvPr/>
        </p:nvSpPr>
        <p:spPr>
          <a:xfrm>
            <a:off x="7178040" y="2148840"/>
            <a:ext cx="4206240" cy="274320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bg1"/>
                </a:solidFill>
              </a:rPr>
              <a:t>A laptop with Wi-Fi hotspot</a:t>
            </a:r>
            <a:endParaRPr lang="en-US" sz="1700" dirty="0"/>
          </a:p>
          <a:p>
            <a:pPr marL="228600" indent="-228600">
              <a:spcAft>
                <a:spcPts val="1000"/>
              </a:spcAft>
              <a:buSzPct val="100000"/>
              <a:buChar char="•"/>
            </a:pPr>
            <a:r>
              <a:rPr lang="en-US" sz="1700" dirty="0">
                <a:solidFill>
                  <a:schemeClr val="bg1"/>
                </a:solidFill>
              </a:rPr>
              <a:t>The robot with its two nodes</a:t>
            </a:r>
            <a:endParaRPr lang="en-US" sz="1700" dirty="0"/>
          </a:p>
          <a:p>
            <a:pPr marL="228600" indent="-228600">
              <a:spcAft>
                <a:spcPts val="1000"/>
              </a:spcAft>
              <a:buSzPct val="100000"/>
              <a:buChar char="•"/>
            </a:pPr>
            <a:r>
              <a:rPr lang="en-US" sz="1700" dirty="0">
                <a:solidFill>
                  <a:schemeClr val="bg1"/>
                </a:solidFill>
              </a:rPr>
              <a:t>A USB power bank</a:t>
            </a:r>
            <a:endParaRPr lang="en-US" sz="1700" dirty="0"/>
          </a:p>
          <a:p>
            <a:pPr marL="228600" indent="-228600">
              <a:spcAft>
                <a:spcPts val="1000"/>
              </a:spcAft>
              <a:buSzPct val="100000"/>
              <a:buChar char="•"/>
            </a:pPr>
            <a:r>
              <a:rPr lang="en-US" sz="1700" dirty="0">
                <a:solidFill>
                  <a:schemeClr val="bg1"/>
                </a:solidFill>
              </a:rPr>
              <a:t>Any phone to view the dashboard</a:t>
            </a:r>
            <a:endParaRPr lang="en-US" sz="1700" dirty="0"/>
          </a:p>
          <a:p>
            <a:pPr marL="228600" indent="-228600">
              <a:spcAft>
                <a:spcPts val="1000"/>
              </a:spcAft>
              <a:buSzPct val="100000"/>
              <a:buChar char="•"/>
            </a:pPr>
            <a:r>
              <a:rPr lang="en-US" sz="1700" dirty="0">
                <a:solidFill>
                  <a:schemeClr val="bg1"/>
                </a:solidFill>
              </a:rPr>
              <a:t>No internet, no cloud account</a:t>
            </a:r>
            <a:endParaRPr lang="en-US" sz="1700" dirty="0"/>
          </a:p>
        </p:txBody>
      </p:sp>
      <p:sp>
        <p:nvSpPr>
          <p:cNvPr id="23" name="Text 16"/>
          <p:cNvSpPr txBox="1"/>
          <p:nvPr/>
        </p:nvSpPr>
        <p:spPr>
          <a:xfrm>
            <a:off x="7178040" y="5074920"/>
            <a:ext cx="4206240" cy="822960"/>
          </a:xfrm>
          <a:prstGeom prst="rect">
            <a:avLst/>
          </a:prstGeom>
          <a:noFill/>
          <a:ln/>
        </p:spPr>
        <p:txBody>
          <a:bodyPr wrap="square" lIns="0" tIns="0" rIns="0" bIns="0" rtlCol="0" anchor="t"/>
          <a:lstStyle/>
          <a:p>
            <a:pPr marL="0" indent="0">
              <a:buNone/>
            </a:pPr>
            <a:r>
              <a:rPr lang="en-US" sz="1600" b="1" dirty="0">
                <a:solidFill>
                  <a:schemeClr val="accent2"/>
                </a:solidFill>
              </a:rPr>
              <a:t>Dashboard address  </a:t>
            </a:r>
            <a:endParaRPr lang="en-US" sz="1600" dirty="0"/>
          </a:p>
          <a:p>
            <a:pPr marL="0" indent="0">
              <a:buNone/>
            </a:pPr>
            <a:r>
              <a:rPr lang="en-US" sz="1600" dirty="0">
                <a:solidFill>
                  <a:schemeClr val="bg1"/>
                </a:solidFill>
              </a:rPr>
              <a:t>http://192.168.137.1:5000</a:t>
            </a:r>
            <a:endParaRPr lang="en-US" sz="16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Limitations</a:t>
            </a:r>
            <a:endParaRPr lang="en-US" sz="3000" dirty="0"/>
          </a:p>
        </p:txBody>
      </p:sp>
      <p:graphicFrame>
        <p:nvGraphicFramePr>
          <p:cNvPr id="40" name="table-283"/>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343400"/>
        </p:xfrm>
        <a:graphic>
          <a:graphicData uri="http://schemas.openxmlformats.org/drawingml/2006/table">
            <a:tbl>
              <a:tblPr/>
              <a:tblGrid>
                <a:gridCol w="338328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57200">
                <a:tc>
                  <a:txBody>
                    <a:bodyPr/>
                    <a:lstStyle/>
                    <a:p>
                      <a:pPr marL="0" indent="0">
                        <a:buNone/>
                      </a:pPr>
                      <a:r>
                        <a:rPr lang="en-US" sz="1500" b="1" dirty="0">
                          <a:solidFill>
                            <a:schemeClr val="bg1"/>
                          </a:solidFill>
                        </a:rPr>
                        <a:t>Limitation</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Effect</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How it is handled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77240">
                <a:tc>
                  <a:txBody>
                    <a:bodyPr/>
                    <a:lstStyle/>
                    <a:p>
                      <a:pPr marL="0" indent="0">
                        <a:buNone/>
                      </a:pPr>
                      <a:r>
                        <a:rPr lang="en-US" sz="1500" dirty="0">
                          <a:solidFill>
                            <a:schemeClr val="tx1"/>
                          </a:solidFill>
                        </a:rPr>
                        <a:t>Real servos lack torque reserve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Robot stands and moves its legs but does not step</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Dedicated supply, CoM footholds, taller stance, stronger servos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77240">
                <a:tc>
                  <a:txBody>
                    <a:bodyPr/>
                    <a:lstStyle/>
                    <a:p>
                      <a:pPr marL="0" indent="0">
                        <a:buNone/>
                      </a:pPr>
                      <a:r>
                        <a:rPr lang="en-US" sz="1500" dirty="0">
                          <a:solidFill>
                            <a:schemeClr val="tx1"/>
                          </a:solidFill>
                        </a:rPr>
                        <a:t>Classifier trained on lab photos, 14 crops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Lower accuracy on field images; any plant passes the gate</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Gate and 50 % threshold; fine-tuning on field images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77240">
                <a:tc>
                  <a:txBody>
                    <a:bodyPr/>
                    <a:lstStyle/>
                    <a:p>
                      <a:pPr marL="0" indent="0">
                        <a:buNone/>
                      </a:pPr>
                      <a:r>
                        <a:rPr lang="en-US" sz="1500" dirty="0">
                          <a:solidFill>
                            <a:schemeClr val="tx1"/>
                          </a:solidFill>
                        </a:rPr>
                        <a:t>Washed-out ESP32-CAM colours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Some real foliage falls below the 12 % threshold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Hold the leaf close; tune the threshold to this camera</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77240">
                <a:tc>
                  <a:txBody>
                    <a:bodyPr/>
                    <a:lstStyle/>
                    <a:p>
                      <a:pPr marL="0" indent="0">
                        <a:buNone/>
                      </a:pPr>
                      <a:r>
                        <a:rPr lang="en-US" sz="1500" dirty="0">
                          <a:solidFill>
                            <a:schemeClr val="tx1"/>
                          </a:solidFill>
                        </a:rPr>
                        <a:t>eCO₂ estimated; PPD42 uncalibrated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Relative readings, not regulatory values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500" dirty="0">
                          <a:solidFill>
                            <a:schemeClr val="tx1"/>
                          </a:solidFill>
                        </a:rPr>
                        <a:t>Used for trends and alerts</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77240">
                <a:tc>
                  <a:txBody>
                    <a:bodyPr/>
                    <a:lstStyle/>
                    <a:p>
                      <a:pPr marL="0" indent="0">
                        <a:buNone/>
                      </a:pPr>
                      <a:r>
                        <a:rPr lang="en-US" sz="1500" dirty="0">
                          <a:solidFill>
                            <a:schemeClr val="tx1"/>
                          </a:solidFill>
                        </a:rPr>
                        <a:t>Simulated fields are modelled</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Simulation shows the method, not field data</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500" dirty="0">
                          <a:solidFill>
                            <a:schemeClr val="tx1"/>
                          </a:solidFill>
                        </a:rPr>
                        <a:t>Hardware sensors validated on the bench</a:t>
                      </a:r>
                      <a:endParaRPr lang="en-US" sz="1500" dirty="0"/>
                    </a:p>
                  </a:txBody>
                  <a:tcPr marL="101600" marR="101600" marT="50800" marB="50800" anchor="ctr">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Future Work</a:t>
            </a:r>
            <a:endParaRPr lang="en-US" sz="3000" dirty="0"/>
          </a:p>
        </p:txBody>
      </p:sp>
      <p:sp>
        <p:nvSpPr>
          <p:cNvPr id="4" name="panel-284"/>
          <p:cNvSpPr/>
          <p:nvPr/>
        </p:nvSpPr>
        <p:spPr>
          <a:xfrm>
            <a:off x="548640" y="1280160"/>
            <a:ext cx="11064240" cy="841248"/>
          </a:xfrm>
          <a:prstGeom prst="roundRect">
            <a:avLst>
              <a:gd name="adj" fmla="val 10870"/>
            </a:avLst>
          </a:prstGeom>
          <a:solidFill>
            <a:schemeClr val="bg2"/>
          </a:solidFill>
          <a:ln w="12700">
            <a:solidFill>
              <a:schemeClr val="bg2"/>
            </a:solidFill>
            <a:prstDash val="solid"/>
          </a:ln>
        </p:spPr>
      </p:sp>
      <p:sp>
        <p:nvSpPr>
          <p:cNvPr id="5" name="Text 2"/>
          <p:cNvSpPr txBox="1"/>
          <p:nvPr/>
        </p:nvSpPr>
        <p:spPr>
          <a:xfrm>
            <a:off x="777240" y="1280160"/>
            <a:ext cx="731520" cy="841248"/>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01</a:t>
            </a:r>
            <a:endParaRPr lang="en-US" sz="2600" dirty="0"/>
          </a:p>
        </p:txBody>
      </p:sp>
      <p:sp>
        <p:nvSpPr>
          <p:cNvPr id="6" name="icon-bg-285"/>
          <p:cNvSpPr/>
          <p:nvPr/>
        </p:nvSpPr>
        <p:spPr>
          <a:xfrm>
            <a:off x="1554480" y="1444752"/>
            <a:ext cx="512064" cy="512064"/>
          </a:xfrm>
          <a:prstGeom prst="ellipse">
            <a:avLst/>
          </a:prstGeom>
          <a:solidFill>
            <a:schemeClr val="accent1"/>
          </a:solidFill>
          <a:ln w="12700">
            <a:solidFill>
              <a:schemeClr val="accent1"/>
            </a:solidFill>
            <a:prstDash val="solid"/>
          </a:ln>
        </p:spPr>
      </p:sp>
      <p:pic>
        <p:nvPicPr>
          <p:cNvPr id="7" name="icon-286" descr="preencoded.png"/>
          <p:cNvPicPr>
            <a:picLocks noChangeAspect="1"/>
          </p:cNvPicPr>
          <p:nvPr/>
        </p:nvPicPr>
        <p:blipFill>
          <a:blip r:embed="rId3"/>
          <a:stretch>
            <a:fillRect/>
          </a:stretch>
        </p:blipFill>
        <p:spPr>
          <a:xfrm>
            <a:off x="1677375" y="1567647"/>
            <a:ext cx="266273" cy="266273"/>
          </a:xfrm>
          <a:prstGeom prst="rect">
            <a:avLst/>
          </a:prstGeom>
        </p:spPr>
      </p:pic>
      <p:sp>
        <p:nvSpPr>
          <p:cNvPr id="8" name="Text 4"/>
          <p:cNvSpPr txBox="1"/>
          <p:nvPr/>
        </p:nvSpPr>
        <p:spPr>
          <a:xfrm>
            <a:off x="2286000" y="1280160"/>
            <a:ext cx="3017520" cy="841248"/>
          </a:xfrm>
          <a:prstGeom prst="rect">
            <a:avLst/>
          </a:prstGeom>
          <a:noFill/>
          <a:ln/>
        </p:spPr>
        <p:txBody>
          <a:bodyPr wrap="square" lIns="0" tIns="0" rIns="0" bIns="0" rtlCol="0" anchor="ctr"/>
          <a:lstStyle/>
          <a:p>
            <a:pPr marL="0" indent="0">
              <a:buNone/>
            </a:pPr>
            <a:r>
              <a:rPr lang="en-US" sz="1800" b="1" dirty="0">
                <a:solidFill>
                  <a:schemeClr val="tx2"/>
                </a:solidFill>
              </a:rPr>
              <a:t>Walking on hardware</a:t>
            </a:r>
            <a:endParaRPr lang="en-US" sz="1800" dirty="0"/>
          </a:p>
        </p:txBody>
      </p:sp>
      <p:sp>
        <p:nvSpPr>
          <p:cNvPr id="9" name="Text 5"/>
          <p:cNvSpPr txBox="1"/>
          <p:nvPr/>
        </p:nvSpPr>
        <p:spPr>
          <a:xfrm>
            <a:off x="5349240" y="1280160"/>
            <a:ext cx="6126480" cy="841248"/>
          </a:xfrm>
          <a:prstGeom prst="rect">
            <a:avLst/>
          </a:prstGeom>
          <a:noFill/>
          <a:ln/>
        </p:spPr>
        <p:txBody>
          <a:bodyPr wrap="square" lIns="0" tIns="0" rIns="0" bIns="0" rtlCol="0" anchor="ctr"/>
          <a:lstStyle/>
          <a:p>
            <a:pPr marL="0" indent="0">
              <a:buNone/>
            </a:pPr>
            <a:r>
              <a:rPr lang="en-US" sz="1500" dirty="0">
                <a:solidFill>
                  <a:schemeClr val="tx1"/>
                </a:solidFill>
              </a:rPr>
              <a:t>Dedicated 6 V servo supply; measure torque and voltage under load; CoM footholds and a taller stance; step in place, then walk below 0.18 m/s</a:t>
            </a:r>
            <a:endParaRPr lang="en-US" sz="1500" dirty="0"/>
          </a:p>
        </p:txBody>
      </p:sp>
      <p:sp>
        <p:nvSpPr>
          <p:cNvPr id="10" name="panel-287"/>
          <p:cNvSpPr/>
          <p:nvPr/>
        </p:nvSpPr>
        <p:spPr>
          <a:xfrm>
            <a:off x="548640" y="2258568"/>
            <a:ext cx="11064240" cy="841248"/>
          </a:xfrm>
          <a:prstGeom prst="roundRect">
            <a:avLst>
              <a:gd name="adj" fmla="val 10870"/>
            </a:avLst>
          </a:prstGeom>
          <a:solidFill>
            <a:schemeClr val="bg1"/>
          </a:solidFill>
          <a:ln w="12700">
            <a:solidFill>
              <a:schemeClr val="bg1"/>
            </a:solidFill>
            <a:prstDash val="solid"/>
          </a:ln>
        </p:spPr>
      </p:sp>
      <p:sp>
        <p:nvSpPr>
          <p:cNvPr id="11" name="Text 7"/>
          <p:cNvSpPr txBox="1"/>
          <p:nvPr/>
        </p:nvSpPr>
        <p:spPr>
          <a:xfrm>
            <a:off x="777240" y="2258568"/>
            <a:ext cx="731520" cy="841248"/>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02</a:t>
            </a:r>
            <a:endParaRPr lang="en-US" sz="2600" dirty="0"/>
          </a:p>
        </p:txBody>
      </p:sp>
      <p:sp>
        <p:nvSpPr>
          <p:cNvPr id="12" name="icon-bg-288"/>
          <p:cNvSpPr/>
          <p:nvPr/>
        </p:nvSpPr>
        <p:spPr>
          <a:xfrm>
            <a:off x="1554480" y="2423160"/>
            <a:ext cx="512064" cy="512064"/>
          </a:xfrm>
          <a:prstGeom prst="ellipse">
            <a:avLst/>
          </a:prstGeom>
          <a:solidFill>
            <a:schemeClr val="accent1"/>
          </a:solidFill>
          <a:ln w="12700">
            <a:solidFill>
              <a:schemeClr val="accent1"/>
            </a:solidFill>
            <a:prstDash val="solid"/>
          </a:ln>
        </p:spPr>
      </p:sp>
      <p:pic>
        <p:nvPicPr>
          <p:cNvPr id="13" name="icon-289" descr="preencoded.png"/>
          <p:cNvPicPr>
            <a:picLocks noChangeAspect="1"/>
          </p:cNvPicPr>
          <p:nvPr/>
        </p:nvPicPr>
        <p:blipFill>
          <a:blip r:embed="rId4"/>
          <a:stretch>
            <a:fillRect/>
          </a:stretch>
        </p:blipFill>
        <p:spPr>
          <a:xfrm>
            <a:off x="1677375" y="2546055"/>
            <a:ext cx="266273" cy="266273"/>
          </a:xfrm>
          <a:prstGeom prst="rect">
            <a:avLst/>
          </a:prstGeom>
        </p:spPr>
      </p:pic>
      <p:sp>
        <p:nvSpPr>
          <p:cNvPr id="14" name="Text 9"/>
          <p:cNvSpPr txBox="1"/>
          <p:nvPr/>
        </p:nvSpPr>
        <p:spPr>
          <a:xfrm>
            <a:off x="2286000" y="2258568"/>
            <a:ext cx="3017520" cy="841248"/>
          </a:xfrm>
          <a:prstGeom prst="rect">
            <a:avLst/>
          </a:prstGeom>
          <a:noFill/>
          <a:ln/>
        </p:spPr>
        <p:txBody>
          <a:bodyPr wrap="square" lIns="0" tIns="0" rIns="0" bIns="0" rtlCol="0" anchor="ctr"/>
          <a:lstStyle/>
          <a:p>
            <a:pPr marL="0" indent="0">
              <a:buNone/>
            </a:pPr>
            <a:r>
              <a:rPr lang="en-US" sz="1800" b="1" dirty="0">
                <a:solidFill>
                  <a:schemeClr val="tx2"/>
                </a:solidFill>
              </a:rPr>
              <a:t>Complete the sensor set</a:t>
            </a:r>
            <a:endParaRPr lang="en-US" sz="1800" dirty="0"/>
          </a:p>
        </p:txBody>
      </p:sp>
      <p:sp>
        <p:nvSpPr>
          <p:cNvPr id="15" name="Text 10"/>
          <p:cNvSpPr txBox="1"/>
          <p:nvPr/>
        </p:nvSpPr>
        <p:spPr>
          <a:xfrm>
            <a:off x="5349240" y="2258568"/>
            <a:ext cx="6126480" cy="841248"/>
          </a:xfrm>
          <a:prstGeom prst="rect">
            <a:avLst/>
          </a:prstGeom>
          <a:noFill/>
          <a:ln/>
        </p:spPr>
        <p:txBody>
          <a:bodyPr wrap="square" lIns="0" tIns="0" rIns="0" bIns="0" rtlCol="0" anchor="ctr"/>
          <a:lstStyle/>
          <a:p>
            <a:pPr marL="0" indent="0">
              <a:buNone/>
            </a:pPr>
            <a:r>
              <a:rPr lang="en-US" sz="1500" dirty="0">
                <a:solidFill>
                  <a:schemeClr val="tx1"/>
                </a:solidFill>
              </a:rPr>
              <a:t>Wire both ultrasonic sensors; add a soil-moisture probe; calibrate gas and dust against reference instruments</a:t>
            </a:r>
            <a:endParaRPr lang="en-US" sz="1500" dirty="0"/>
          </a:p>
        </p:txBody>
      </p:sp>
      <p:sp>
        <p:nvSpPr>
          <p:cNvPr id="16" name="panel-290"/>
          <p:cNvSpPr/>
          <p:nvPr/>
        </p:nvSpPr>
        <p:spPr>
          <a:xfrm>
            <a:off x="548640" y="3236976"/>
            <a:ext cx="11064240" cy="841248"/>
          </a:xfrm>
          <a:prstGeom prst="roundRect">
            <a:avLst>
              <a:gd name="adj" fmla="val 10870"/>
            </a:avLst>
          </a:prstGeom>
          <a:solidFill>
            <a:schemeClr val="bg2"/>
          </a:solidFill>
          <a:ln w="12700">
            <a:solidFill>
              <a:schemeClr val="bg2"/>
            </a:solidFill>
            <a:prstDash val="solid"/>
          </a:ln>
        </p:spPr>
      </p:sp>
      <p:sp>
        <p:nvSpPr>
          <p:cNvPr id="17" name="Text 12"/>
          <p:cNvSpPr txBox="1"/>
          <p:nvPr/>
        </p:nvSpPr>
        <p:spPr>
          <a:xfrm>
            <a:off x="777240" y="3236976"/>
            <a:ext cx="731520" cy="841248"/>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03</a:t>
            </a:r>
            <a:endParaRPr lang="en-US" sz="2600" dirty="0"/>
          </a:p>
        </p:txBody>
      </p:sp>
      <p:sp>
        <p:nvSpPr>
          <p:cNvPr id="18" name="icon-bg-291"/>
          <p:cNvSpPr/>
          <p:nvPr/>
        </p:nvSpPr>
        <p:spPr>
          <a:xfrm>
            <a:off x="1554480" y="3401568"/>
            <a:ext cx="512064" cy="512064"/>
          </a:xfrm>
          <a:prstGeom prst="ellipse">
            <a:avLst/>
          </a:prstGeom>
          <a:solidFill>
            <a:schemeClr val="accent1"/>
          </a:solidFill>
          <a:ln w="12700">
            <a:solidFill>
              <a:schemeClr val="accent1"/>
            </a:solidFill>
            <a:prstDash val="solid"/>
          </a:ln>
        </p:spPr>
      </p:sp>
      <p:pic>
        <p:nvPicPr>
          <p:cNvPr id="19" name="icon-292" descr="preencoded.png"/>
          <p:cNvPicPr>
            <a:picLocks noChangeAspect="1"/>
          </p:cNvPicPr>
          <p:nvPr/>
        </p:nvPicPr>
        <p:blipFill>
          <a:blip r:embed="rId5"/>
          <a:stretch>
            <a:fillRect/>
          </a:stretch>
        </p:blipFill>
        <p:spPr>
          <a:xfrm>
            <a:off x="1677375" y="3524463"/>
            <a:ext cx="266273" cy="266273"/>
          </a:xfrm>
          <a:prstGeom prst="rect">
            <a:avLst/>
          </a:prstGeom>
        </p:spPr>
      </p:pic>
      <p:sp>
        <p:nvSpPr>
          <p:cNvPr id="20" name="Text 14"/>
          <p:cNvSpPr txBox="1"/>
          <p:nvPr/>
        </p:nvSpPr>
        <p:spPr>
          <a:xfrm>
            <a:off x="2286000" y="3236976"/>
            <a:ext cx="3017520" cy="841248"/>
          </a:xfrm>
          <a:prstGeom prst="rect">
            <a:avLst/>
          </a:prstGeom>
          <a:noFill/>
          <a:ln/>
        </p:spPr>
        <p:txBody>
          <a:bodyPr wrap="square" lIns="0" tIns="0" rIns="0" bIns="0" rtlCol="0" anchor="ctr"/>
          <a:lstStyle/>
          <a:p>
            <a:pPr marL="0" indent="0">
              <a:buNone/>
            </a:pPr>
            <a:r>
              <a:rPr lang="en-US" sz="1800" b="1" dirty="0">
                <a:solidFill>
                  <a:schemeClr val="tx2"/>
                </a:solidFill>
              </a:rPr>
              <a:t>Act on measurements</a:t>
            </a:r>
            <a:endParaRPr lang="en-US" sz="1800" dirty="0"/>
          </a:p>
        </p:txBody>
      </p:sp>
      <p:sp>
        <p:nvSpPr>
          <p:cNvPr id="21" name="Text 15"/>
          <p:cNvSpPr txBox="1"/>
          <p:nvPr/>
        </p:nvSpPr>
        <p:spPr>
          <a:xfrm>
            <a:off x="5349240" y="3236976"/>
            <a:ext cx="6126480" cy="841248"/>
          </a:xfrm>
          <a:prstGeom prst="rect">
            <a:avLst/>
          </a:prstGeom>
          <a:noFill/>
          <a:ln/>
        </p:spPr>
        <p:txBody>
          <a:bodyPr wrap="square" lIns="0" tIns="0" rIns="0" bIns="0" rtlCol="0" anchor="ctr"/>
          <a:lstStyle/>
          <a:p>
            <a:pPr marL="0" indent="0">
              <a:buNone/>
            </a:pPr>
            <a:r>
              <a:rPr lang="en-US" sz="1500" dirty="0">
                <a:solidFill>
                  <a:schemeClr val="tx1"/>
                </a:solidFill>
              </a:rPr>
              <a:t>Grove relay to switch an irrigation pump or raise a gas alarm from the dashboard</a:t>
            </a:r>
            <a:endParaRPr lang="en-US" sz="1500" dirty="0"/>
          </a:p>
        </p:txBody>
      </p:sp>
      <p:sp>
        <p:nvSpPr>
          <p:cNvPr id="22" name="panel-293"/>
          <p:cNvSpPr/>
          <p:nvPr/>
        </p:nvSpPr>
        <p:spPr>
          <a:xfrm>
            <a:off x="548640" y="4215384"/>
            <a:ext cx="11064240" cy="841248"/>
          </a:xfrm>
          <a:prstGeom prst="roundRect">
            <a:avLst>
              <a:gd name="adj" fmla="val 10870"/>
            </a:avLst>
          </a:prstGeom>
          <a:solidFill>
            <a:schemeClr val="bg1"/>
          </a:solidFill>
          <a:ln w="12700">
            <a:solidFill>
              <a:schemeClr val="bg1"/>
            </a:solidFill>
            <a:prstDash val="solid"/>
          </a:ln>
        </p:spPr>
      </p:sp>
      <p:sp>
        <p:nvSpPr>
          <p:cNvPr id="23" name="Text 17"/>
          <p:cNvSpPr txBox="1"/>
          <p:nvPr/>
        </p:nvSpPr>
        <p:spPr>
          <a:xfrm>
            <a:off x="777240" y="4215384"/>
            <a:ext cx="731520" cy="841248"/>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04</a:t>
            </a:r>
            <a:endParaRPr lang="en-US" sz="2600" dirty="0"/>
          </a:p>
        </p:txBody>
      </p:sp>
      <p:sp>
        <p:nvSpPr>
          <p:cNvPr id="24" name="icon-bg-294"/>
          <p:cNvSpPr/>
          <p:nvPr/>
        </p:nvSpPr>
        <p:spPr>
          <a:xfrm>
            <a:off x="1554480" y="4379976"/>
            <a:ext cx="512064" cy="512064"/>
          </a:xfrm>
          <a:prstGeom prst="ellipse">
            <a:avLst/>
          </a:prstGeom>
          <a:solidFill>
            <a:schemeClr val="accent1"/>
          </a:solidFill>
          <a:ln w="12700">
            <a:solidFill>
              <a:schemeClr val="accent1"/>
            </a:solidFill>
            <a:prstDash val="solid"/>
          </a:ln>
        </p:spPr>
      </p:sp>
      <p:pic>
        <p:nvPicPr>
          <p:cNvPr id="25" name="icon-295" descr="preencoded.png"/>
          <p:cNvPicPr>
            <a:picLocks noChangeAspect="1"/>
          </p:cNvPicPr>
          <p:nvPr/>
        </p:nvPicPr>
        <p:blipFill>
          <a:blip r:embed="rId6"/>
          <a:stretch>
            <a:fillRect/>
          </a:stretch>
        </p:blipFill>
        <p:spPr>
          <a:xfrm>
            <a:off x="1677375" y="4502871"/>
            <a:ext cx="266273" cy="266273"/>
          </a:xfrm>
          <a:prstGeom prst="rect">
            <a:avLst/>
          </a:prstGeom>
        </p:spPr>
      </p:pic>
      <p:sp>
        <p:nvSpPr>
          <p:cNvPr id="26" name="Text 19"/>
          <p:cNvSpPr txBox="1"/>
          <p:nvPr/>
        </p:nvSpPr>
        <p:spPr>
          <a:xfrm>
            <a:off x="2286000" y="4215384"/>
            <a:ext cx="3017520" cy="841248"/>
          </a:xfrm>
          <a:prstGeom prst="rect">
            <a:avLst/>
          </a:prstGeom>
          <a:noFill/>
          <a:ln/>
        </p:spPr>
        <p:txBody>
          <a:bodyPr wrap="square" lIns="0" tIns="0" rIns="0" bIns="0" rtlCol="0" anchor="ctr"/>
          <a:lstStyle/>
          <a:p>
            <a:pPr marL="0" indent="0">
              <a:buNone/>
            </a:pPr>
            <a:r>
              <a:rPr lang="en-US" sz="1800" b="1" dirty="0">
                <a:solidFill>
                  <a:schemeClr val="tx2"/>
                </a:solidFill>
              </a:rPr>
              <a:t>Field-ready classification</a:t>
            </a:r>
            <a:endParaRPr lang="en-US" sz="1800" dirty="0"/>
          </a:p>
        </p:txBody>
      </p:sp>
      <p:sp>
        <p:nvSpPr>
          <p:cNvPr id="27" name="Text 20"/>
          <p:cNvSpPr txBox="1"/>
          <p:nvPr/>
        </p:nvSpPr>
        <p:spPr>
          <a:xfrm>
            <a:off x="5349240" y="4215384"/>
            <a:ext cx="6126480" cy="841248"/>
          </a:xfrm>
          <a:prstGeom prst="rect">
            <a:avLst/>
          </a:prstGeom>
          <a:noFill/>
          <a:ln/>
        </p:spPr>
        <p:txBody>
          <a:bodyPr wrap="square" lIns="0" tIns="0" rIns="0" bIns="0" rtlCol="0" anchor="ctr"/>
          <a:lstStyle/>
          <a:p>
            <a:pPr marL="0" indent="0">
              <a:buNone/>
            </a:pPr>
            <a:r>
              <a:rPr lang="en-US" sz="1500" dirty="0">
                <a:solidFill>
                  <a:schemeClr val="tx1"/>
                </a:solidFill>
              </a:rPr>
              <a:t>Fine-tune on images from the robot's camera; replace the colour gate with a learned open-set detector</a:t>
            </a:r>
            <a:endParaRPr lang="en-US" sz="1500" dirty="0"/>
          </a:p>
        </p:txBody>
      </p:sp>
      <p:sp>
        <p:nvSpPr>
          <p:cNvPr id="28" name="panel-296"/>
          <p:cNvSpPr/>
          <p:nvPr/>
        </p:nvSpPr>
        <p:spPr>
          <a:xfrm>
            <a:off x="548640" y="5193792"/>
            <a:ext cx="11064240" cy="841248"/>
          </a:xfrm>
          <a:prstGeom prst="roundRect">
            <a:avLst>
              <a:gd name="adj" fmla="val 10870"/>
            </a:avLst>
          </a:prstGeom>
          <a:solidFill>
            <a:schemeClr val="bg2"/>
          </a:solidFill>
          <a:ln w="12700">
            <a:solidFill>
              <a:schemeClr val="bg2"/>
            </a:solidFill>
            <a:prstDash val="solid"/>
          </a:ln>
        </p:spPr>
      </p:sp>
      <p:sp>
        <p:nvSpPr>
          <p:cNvPr id="29" name="Text 22"/>
          <p:cNvSpPr txBox="1"/>
          <p:nvPr/>
        </p:nvSpPr>
        <p:spPr>
          <a:xfrm>
            <a:off x="777240" y="5193792"/>
            <a:ext cx="731520" cy="841248"/>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05</a:t>
            </a:r>
            <a:endParaRPr lang="en-US" sz="2600" dirty="0"/>
          </a:p>
        </p:txBody>
      </p:sp>
      <p:sp>
        <p:nvSpPr>
          <p:cNvPr id="30" name="icon-bg-297"/>
          <p:cNvSpPr/>
          <p:nvPr/>
        </p:nvSpPr>
        <p:spPr>
          <a:xfrm>
            <a:off x="1554480" y="5358384"/>
            <a:ext cx="512064" cy="512064"/>
          </a:xfrm>
          <a:prstGeom prst="ellipse">
            <a:avLst/>
          </a:prstGeom>
          <a:solidFill>
            <a:schemeClr val="accent1"/>
          </a:solidFill>
          <a:ln w="12700">
            <a:solidFill>
              <a:schemeClr val="accent1"/>
            </a:solidFill>
            <a:prstDash val="solid"/>
          </a:ln>
        </p:spPr>
      </p:sp>
      <p:pic>
        <p:nvPicPr>
          <p:cNvPr id="31" name="icon-298" descr="preencoded.png"/>
          <p:cNvPicPr>
            <a:picLocks noChangeAspect="1"/>
          </p:cNvPicPr>
          <p:nvPr/>
        </p:nvPicPr>
        <p:blipFill>
          <a:blip r:embed="rId7"/>
          <a:stretch>
            <a:fillRect/>
          </a:stretch>
        </p:blipFill>
        <p:spPr>
          <a:xfrm>
            <a:off x="1677375" y="5481279"/>
            <a:ext cx="266273" cy="266273"/>
          </a:xfrm>
          <a:prstGeom prst="rect">
            <a:avLst/>
          </a:prstGeom>
        </p:spPr>
      </p:pic>
      <p:sp>
        <p:nvSpPr>
          <p:cNvPr id="32" name="Text 24"/>
          <p:cNvSpPr txBox="1"/>
          <p:nvPr/>
        </p:nvSpPr>
        <p:spPr>
          <a:xfrm>
            <a:off x="2286000" y="5193792"/>
            <a:ext cx="3017520" cy="841248"/>
          </a:xfrm>
          <a:prstGeom prst="rect">
            <a:avLst/>
          </a:prstGeom>
          <a:noFill/>
          <a:ln/>
        </p:spPr>
        <p:txBody>
          <a:bodyPr wrap="square" lIns="0" tIns="0" rIns="0" bIns="0" rtlCol="0" anchor="ctr"/>
          <a:lstStyle/>
          <a:p>
            <a:pPr marL="0" indent="0">
              <a:buNone/>
            </a:pPr>
            <a:r>
              <a:rPr lang="en-US" sz="1800" b="1" dirty="0">
                <a:solidFill>
                  <a:schemeClr val="tx2"/>
                </a:solidFill>
              </a:rPr>
              <a:t>Mapping and autonomy</a:t>
            </a:r>
            <a:endParaRPr lang="en-US" sz="1800" dirty="0"/>
          </a:p>
        </p:txBody>
      </p:sp>
      <p:sp>
        <p:nvSpPr>
          <p:cNvPr id="33" name="Text 25"/>
          <p:cNvSpPr txBox="1"/>
          <p:nvPr/>
        </p:nvSpPr>
        <p:spPr>
          <a:xfrm>
            <a:off x="5349240" y="5193792"/>
            <a:ext cx="6126480" cy="841248"/>
          </a:xfrm>
          <a:prstGeom prst="rect">
            <a:avLst/>
          </a:prstGeom>
          <a:noFill/>
          <a:ln/>
        </p:spPr>
        <p:txBody>
          <a:bodyPr wrap="square" lIns="0" tIns="0" rIns="0" bIns="0" rtlCol="0" anchor="ctr"/>
          <a:lstStyle/>
          <a:p>
            <a:pPr marL="0" indent="0">
              <a:buNone/>
            </a:pPr>
            <a:r>
              <a:rPr lang="en-US" sz="1500" dirty="0">
                <a:solidFill>
                  <a:schemeClr val="tx1"/>
                </a:solidFill>
              </a:rPr>
              <a:t>Compensate for the SGP30's lag; log positions to build field maps; battery for untethered runs</a:t>
            </a:r>
            <a:endParaRPr lang="en-US" sz="1500" dirty="0"/>
          </a:p>
        </p:txBody>
      </p:sp>
      <p:sp>
        <p:nvSpPr>
          <p:cNvPr id="3"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Conclusion</a:t>
            </a:r>
            <a:endParaRPr lang="en-US" sz="3000" dirty="0"/>
          </a:p>
        </p:txBody>
      </p:sp>
      <p:sp>
        <p:nvSpPr>
          <p:cNvPr id="4" name="icon-bg-299"/>
          <p:cNvSpPr/>
          <p:nvPr/>
        </p:nvSpPr>
        <p:spPr>
          <a:xfrm>
            <a:off x="548640" y="1325880"/>
            <a:ext cx="603504" cy="603504"/>
          </a:xfrm>
          <a:prstGeom prst="ellipse">
            <a:avLst/>
          </a:prstGeom>
          <a:solidFill>
            <a:schemeClr val="accent1"/>
          </a:solidFill>
          <a:ln w="12700">
            <a:solidFill>
              <a:schemeClr val="accent1"/>
            </a:solidFill>
            <a:prstDash val="solid"/>
          </a:ln>
        </p:spPr>
      </p:sp>
      <p:pic>
        <p:nvPicPr>
          <p:cNvPr id="5" name="icon-300" descr="preencoded.png"/>
          <p:cNvPicPr>
            <a:picLocks noChangeAspect="1"/>
          </p:cNvPicPr>
          <p:nvPr/>
        </p:nvPicPr>
        <p:blipFill>
          <a:blip r:embed="rId3"/>
          <a:stretch>
            <a:fillRect/>
          </a:stretch>
        </p:blipFill>
        <p:spPr>
          <a:xfrm>
            <a:off x="693481" y="1470721"/>
            <a:ext cx="313822" cy="313822"/>
          </a:xfrm>
          <a:prstGeom prst="rect">
            <a:avLst/>
          </a:prstGeom>
        </p:spPr>
      </p:pic>
      <p:sp>
        <p:nvSpPr>
          <p:cNvPr id="6" name="Text 2"/>
          <p:cNvSpPr txBox="1"/>
          <p:nvPr/>
        </p:nvSpPr>
        <p:spPr>
          <a:xfrm>
            <a:off x="1371600" y="1307592"/>
            <a:ext cx="10058400" cy="411480"/>
          </a:xfrm>
          <a:prstGeom prst="rect">
            <a:avLst/>
          </a:prstGeom>
          <a:noFill/>
          <a:ln/>
        </p:spPr>
        <p:txBody>
          <a:bodyPr wrap="square" lIns="0" tIns="0" rIns="0" bIns="0" rtlCol="0" anchor="t"/>
          <a:lstStyle/>
          <a:p>
            <a:pPr marL="0" indent="0">
              <a:buNone/>
            </a:pPr>
            <a:r>
              <a:rPr lang="en-US" sz="1900" b="1" dirty="0">
                <a:solidFill>
                  <a:schemeClr val="tx2"/>
                </a:solidFill>
              </a:rPr>
              <a:t>Sensing works end to end</a:t>
            </a:r>
            <a:endParaRPr lang="en-US" sz="1900" dirty="0"/>
          </a:p>
        </p:txBody>
      </p:sp>
      <p:sp>
        <p:nvSpPr>
          <p:cNvPr id="7" name="Text 3"/>
          <p:cNvSpPr txBox="1"/>
          <p:nvPr/>
        </p:nvSpPr>
        <p:spPr>
          <a:xfrm>
            <a:off x="1371600" y="1737360"/>
            <a:ext cx="10058400" cy="548640"/>
          </a:xfrm>
          <a:prstGeom prst="rect">
            <a:avLst/>
          </a:prstGeom>
          <a:noFill/>
          <a:ln/>
        </p:spPr>
        <p:txBody>
          <a:bodyPr wrap="square" lIns="0" tIns="0" rIns="0" bIns="0" rtlCol="0" anchor="t"/>
          <a:lstStyle/>
          <a:p>
            <a:pPr marL="0" indent="0">
              <a:buNone/>
            </a:pPr>
            <a:r>
              <a:rPr lang="en-US" sz="1600" dirty="0">
                <a:solidFill>
                  <a:schemeClr val="tx1"/>
                </a:solidFill>
              </a:rPr>
              <a:t>Two wireless nodes, a live dashboard with logging, and leaf-disease classification that refuses to guess without a leaf</a:t>
            </a:r>
            <a:endParaRPr lang="en-US" sz="1600" dirty="0"/>
          </a:p>
        </p:txBody>
      </p:sp>
      <p:sp>
        <p:nvSpPr>
          <p:cNvPr id="8" name="icon-bg-301"/>
          <p:cNvSpPr/>
          <p:nvPr/>
        </p:nvSpPr>
        <p:spPr>
          <a:xfrm>
            <a:off x="548640" y="2404872"/>
            <a:ext cx="603504" cy="603504"/>
          </a:xfrm>
          <a:prstGeom prst="ellipse">
            <a:avLst/>
          </a:prstGeom>
          <a:solidFill>
            <a:schemeClr val="accent1"/>
          </a:solidFill>
          <a:ln w="12700">
            <a:solidFill>
              <a:schemeClr val="accent1"/>
            </a:solidFill>
            <a:prstDash val="solid"/>
          </a:ln>
        </p:spPr>
      </p:sp>
      <p:pic>
        <p:nvPicPr>
          <p:cNvPr id="9" name="icon-302" descr="preencoded.png"/>
          <p:cNvPicPr>
            <a:picLocks noChangeAspect="1"/>
          </p:cNvPicPr>
          <p:nvPr/>
        </p:nvPicPr>
        <p:blipFill>
          <a:blip r:embed="rId4"/>
          <a:stretch>
            <a:fillRect/>
          </a:stretch>
        </p:blipFill>
        <p:spPr>
          <a:xfrm>
            <a:off x="693481" y="2549713"/>
            <a:ext cx="313822" cy="313822"/>
          </a:xfrm>
          <a:prstGeom prst="rect">
            <a:avLst/>
          </a:prstGeom>
        </p:spPr>
      </p:pic>
      <p:sp>
        <p:nvSpPr>
          <p:cNvPr id="10" name="Text 5"/>
          <p:cNvSpPr txBox="1"/>
          <p:nvPr/>
        </p:nvSpPr>
        <p:spPr>
          <a:xfrm>
            <a:off x="1371600" y="2386584"/>
            <a:ext cx="10058400" cy="411480"/>
          </a:xfrm>
          <a:prstGeom prst="rect">
            <a:avLst/>
          </a:prstGeom>
          <a:noFill/>
          <a:ln/>
        </p:spPr>
        <p:txBody>
          <a:bodyPr wrap="square" lIns="0" tIns="0" rIns="0" bIns="0" rtlCol="0" anchor="t"/>
          <a:lstStyle/>
          <a:p>
            <a:pPr marL="0" indent="0">
              <a:buNone/>
            </a:pPr>
            <a:r>
              <a:rPr lang="en-US" sz="1900" b="1" dirty="0">
                <a:solidFill>
                  <a:schemeClr val="tx2"/>
                </a:solidFill>
              </a:rPr>
              <a:t>Locomotion validated in physics</a:t>
            </a:r>
            <a:endParaRPr lang="en-US" sz="1900" dirty="0"/>
          </a:p>
        </p:txBody>
      </p:sp>
      <p:sp>
        <p:nvSpPr>
          <p:cNvPr id="11" name="Text 6"/>
          <p:cNvSpPr txBox="1"/>
          <p:nvPr/>
        </p:nvSpPr>
        <p:spPr>
          <a:xfrm>
            <a:off x="1371600" y="2816352"/>
            <a:ext cx="10058400" cy="548640"/>
          </a:xfrm>
          <a:prstGeom prst="rect">
            <a:avLst/>
          </a:prstGeom>
          <a:noFill/>
          <a:ln/>
        </p:spPr>
        <p:txBody>
          <a:bodyPr wrap="square" lIns="0" tIns="0" rIns="0" bIns="0" rtlCol="0" anchor="t"/>
          <a:lstStyle/>
          <a:p>
            <a:pPr marL="0" indent="0">
              <a:buNone/>
            </a:pPr>
            <a:r>
              <a:rPr lang="en-US" sz="1600" dirty="0">
                <a:solidFill>
                  <a:schemeClr val="tx1"/>
                </a:solidFill>
              </a:rPr>
              <a:t>A full autonomous row survey without a fall, with servos capped at their real torque</a:t>
            </a:r>
            <a:endParaRPr lang="en-US" sz="1600" dirty="0"/>
          </a:p>
        </p:txBody>
      </p:sp>
      <p:sp>
        <p:nvSpPr>
          <p:cNvPr id="12" name="icon-bg-303"/>
          <p:cNvSpPr/>
          <p:nvPr/>
        </p:nvSpPr>
        <p:spPr>
          <a:xfrm>
            <a:off x="548640" y="3483864"/>
            <a:ext cx="603504" cy="603504"/>
          </a:xfrm>
          <a:prstGeom prst="ellipse">
            <a:avLst/>
          </a:prstGeom>
          <a:solidFill>
            <a:schemeClr val="accent1"/>
          </a:solidFill>
          <a:ln w="12700">
            <a:solidFill>
              <a:schemeClr val="accent1"/>
            </a:solidFill>
            <a:prstDash val="solid"/>
          </a:ln>
        </p:spPr>
      </p:sp>
      <p:pic>
        <p:nvPicPr>
          <p:cNvPr id="13" name="icon-304" descr="preencoded.png"/>
          <p:cNvPicPr>
            <a:picLocks noChangeAspect="1"/>
          </p:cNvPicPr>
          <p:nvPr/>
        </p:nvPicPr>
        <p:blipFill>
          <a:blip r:embed="rId5"/>
          <a:stretch>
            <a:fillRect/>
          </a:stretch>
        </p:blipFill>
        <p:spPr>
          <a:xfrm>
            <a:off x="693481" y="3628705"/>
            <a:ext cx="313822" cy="313822"/>
          </a:xfrm>
          <a:prstGeom prst="rect">
            <a:avLst/>
          </a:prstGeom>
        </p:spPr>
      </p:pic>
      <p:sp>
        <p:nvSpPr>
          <p:cNvPr id="14" name="Text 8"/>
          <p:cNvSpPr txBox="1"/>
          <p:nvPr/>
        </p:nvSpPr>
        <p:spPr>
          <a:xfrm>
            <a:off x="1371600" y="3465576"/>
            <a:ext cx="10058400" cy="411480"/>
          </a:xfrm>
          <a:prstGeom prst="rect">
            <a:avLst/>
          </a:prstGeom>
          <a:noFill/>
          <a:ln/>
        </p:spPr>
        <p:txBody>
          <a:bodyPr wrap="square" lIns="0" tIns="0" rIns="0" bIns="0" rtlCol="0" anchor="t"/>
          <a:lstStyle/>
          <a:p>
            <a:pPr marL="0" indent="0">
              <a:buNone/>
            </a:pPr>
            <a:r>
              <a:rPr lang="en-US" sz="1900" b="1" dirty="0">
                <a:solidFill>
                  <a:schemeClr val="tx2"/>
                </a:solidFill>
              </a:rPr>
              <a:t>The printed robot moves</a:t>
            </a:r>
            <a:endParaRPr lang="en-US" sz="1900" dirty="0"/>
          </a:p>
        </p:txBody>
      </p:sp>
      <p:sp>
        <p:nvSpPr>
          <p:cNvPr id="15" name="Text 9"/>
          <p:cNvSpPr txBox="1"/>
          <p:nvPr/>
        </p:nvSpPr>
        <p:spPr>
          <a:xfrm>
            <a:off x="1371600" y="3895344"/>
            <a:ext cx="10058400" cy="548640"/>
          </a:xfrm>
          <a:prstGeom prst="rect">
            <a:avLst/>
          </a:prstGeom>
          <a:noFill/>
          <a:ln/>
        </p:spPr>
        <p:txBody>
          <a:bodyPr wrap="square" lIns="0" tIns="0" rIns="0" bIns="0" rtlCol="0" anchor="t"/>
          <a:lstStyle/>
          <a:p>
            <a:pPr marL="0" indent="0">
              <a:buNone/>
            </a:pPr>
            <a:r>
              <a:rPr lang="en-US" sz="1600" dirty="0">
                <a:solidFill>
                  <a:schemeClr val="tx1"/>
                </a:solidFill>
              </a:rPr>
              <a:t>All twelve servos drive the legs and it stands, with too little torque reserve to step, as predicted</a:t>
            </a:r>
            <a:endParaRPr lang="en-US" sz="1600" dirty="0"/>
          </a:p>
        </p:txBody>
      </p:sp>
      <p:sp>
        <p:nvSpPr>
          <p:cNvPr id="16" name="icon-bg-305"/>
          <p:cNvSpPr/>
          <p:nvPr/>
        </p:nvSpPr>
        <p:spPr>
          <a:xfrm>
            <a:off x="548640" y="4562856"/>
            <a:ext cx="603504" cy="603504"/>
          </a:xfrm>
          <a:prstGeom prst="ellipse">
            <a:avLst/>
          </a:prstGeom>
          <a:solidFill>
            <a:schemeClr val="accent1"/>
          </a:solidFill>
          <a:ln w="12700">
            <a:solidFill>
              <a:schemeClr val="accent1"/>
            </a:solidFill>
            <a:prstDash val="solid"/>
          </a:ln>
        </p:spPr>
      </p:sp>
      <p:pic>
        <p:nvPicPr>
          <p:cNvPr id="17" name="icon-306" descr="preencoded.png"/>
          <p:cNvPicPr>
            <a:picLocks noChangeAspect="1"/>
          </p:cNvPicPr>
          <p:nvPr/>
        </p:nvPicPr>
        <p:blipFill>
          <a:blip r:embed="rId6"/>
          <a:stretch>
            <a:fillRect/>
          </a:stretch>
        </p:blipFill>
        <p:spPr>
          <a:xfrm>
            <a:off x="693481" y="4707697"/>
            <a:ext cx="313822" cy="313822"/>
          </a:xfrm>
          <a:prstGeom prst="rect">
            <a:avLst/>
          </a:prstGeom>
        </p:spPr>
      </p:pic>
      <p:sp>
        <p:nvSpPr>
          <p:cNvPr id="18" name="Text 11"/>
          <p:cNvSpPr txBox="1"/>
          <p:nvPr/>
        </p:nvSpPr>
        <p:spPr>
          <a:xfrm>
            <a:off x="1371600" y="4544568"/>
            <a:ext cx="10058400" cy="411480"/>
          </a:xfrm>
          <a:prstGeom prst="rect">
            <a:avLst/>
          </a:prstGeom>
          <a:noFill/>
          <a:ln/>
        </p:spPr>
        <p:txBody>
          <a:bodyPr wrap="square" lIns="0" tIns="0" rIns="0" bIns="0" rtlCol="0" anchor="t"/>
          <a:lstStyle/>
          <a:p>
            <a:pPr marL="0" indent="0">
              <a:buNone/>
            </a:pPr>
            <a:r>
              <a:rPr lang="en-US" sz="1900" b="1" dirty="0">
                <a:solidFill>
                  <a:schemeClr val="tx2"/>
                </a:solidFill>
              </a:rPr>
              <a:t>Design rules for the next build</a:t>
            </a:r>
            <a:endParaRPr lang="en-US" sz="1900" dirty="0"/>
          </a:p>
        </p:txBody>
      </p:sp>
      <p:sp>
        <p:nvSpPr>
          <p:cNvPr id="19" name="Text 12"/>
          <p:cNvSpPr txBox="1"/>
          <p:nvPr/>
        </p:nvSpPr>
        <p:spPr>
          <a:xfrm>
            <a:off x="1371600" y="4974336"/>
            <a:ext cx="10058400" cy="548640"/>
          </a:xfrm>
          <a:prstGeom prst="rect">
            <a:avLst/>
          </a:prstGeom>
          <a:noFill/>
          <a:ln/>
        </p:spPr>
        <p:txBody>
          <a:bodyPr wrap="square" lIns="0" tIns="0" rIns="0" bIns="0" rtlCol="0" anchor="t"/>
          <a:lstStyle/>
          <a:p>
            <a:pPr marL="0" indent="0">
              <a:buNone/>
            </a:pPr>
            <a:r>
              <a:rPr lang="en-US" sz="1600" dirty="0">
                <a:solidFill>
                  <a:schemeClr val="tx1"/>
                </a:solidFill>
              </a:rPr>
              <a:t>Centre footholds on the centre of mass; expect about 0.18 m/s from MG996R servos</a:t>
            </a:r>
            <a:endParaRPr lang="en-US" sz="1600" dirty="0"/>
          </a:p>
        </p:txBody>
      </p:sp>
      <p:sp>
        <p:nvSpPr>
          <p:cNvPr id="20" name="panel-307"/>
          <p:cNvSpPr/>
          <p:nvPr/>
        </p:nvSpPr>
        <p:spPr>
          <a:xfrm>
            <a:off x="548640" y="5577840"/>
            <a:ext cx="11064240" cy="658368"/>
          </a:xfrm>
          <a:prstGeom prst="roundRect">
            <a:avLst>
              <a:gd name="adj" fmla="val 13889"/>
            </a:avLst>
          </a:prstGeom>
          <a:solidFill>
            <a:schemeClr val="bg2"/>
          </a:solidFill>
          <a:ln w="12700">
            <a:solidFill>
              <a:schemeClr val="bg2"/>
            </a:solidFill>
            <a:prstDash val="solid"/>
          </a:ln>
        </p:spPr>
      </p:sp>
      <p:sp>
        <p:nvSpPr>
          <p:cNvPr id="21" name="Text 14"/>
          <p:cNvSpPr txBox="1"/>
          <p:nvPr/>
        </p:nvSpPr>
        <p:spPr>
          <a:xfrm>
            <a:off x="777240" y="5577840"/>
            <a:ext cx="10607040" cy="658368"/>
          </a:xfrm>
          <a:prstGeom prst="rect">
            <a:avLst/>
          </a:prstGeom>
          <a:noFill/>
          <a:ln/>
        </p:spPr>
        <p:txBody>
          <a:bodyPr wrap="square" lIns="0" tIns="0" rIns="0" bIns="0" rtlCol="0" anchor="ctr"/>
          <a:lstStyle/>
          <a:p>
            <a:pPr marL="0" indent="0">
              <a:buNone/>
            </a:pPr>
            <a:r>
              <a:rPr lang="en-US" sz="1600" b="1" dirty="0">
                <a:solidFill>
                  <a:schemeClr val="tx2"/>
                </a:solidFill>
              </a:rPr>
              <a:t>Repository  </a:t>
            </a:r>
            <a:r>
              <a:rPr lang="en-US" sz="1600" dirty="0">
                <a:solidFill>
                  <a:schemeClr val="accent5"/>
                </a:solidFill>
              </a:rPr>
              <a:t>github.com/AdithyaSM31/Precision-Agriculture-Monitoring-Quadruped-Robot-Dog</a:t>
            </a:r>
            <a:endParaRPr lang="en-US" sz="160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References</a:t>
            </a:r>
            <a:endParaRPr lang="en-US" sz="3000" dirty="0"/>
          </a:p>
        </p:txBody>
      </p:sp>
      <p:sp>
        <p:nvSpPr>
          <p:cNvPr id="4" name="Text 1"/>
          <p:cNvSpPr txBox="1"/>
          <p:nvPr/>
        </p:nvSpPr>
        <p:spPr>
          <a:xfrm>
            <a:off x="548640" y="1188720"/>
            <a:ext cx="5440680" cy="5120640"/>
          </a:xfrm>
          <a:prstGeom prst="rect">
            <a:avLst/>
          </a:prstGeom>
          <a:noFill/>
          <a:ln/>
        </p:spPr>
        <p:txBody>
          <a:bodyPr wrap="square" lIns="0" tIns="0" rIns="0" bIns="0" rtlCol="0" anchor="t"/>
          <a:lstStyle/>
          <a:p>
            <a:pPr marL="0" indent="0">
              <a:spcAft>
                <a:spcPts val="400"/>
              </a:spcAft>
              <a:buNone/>
            </a:pPr>
            <a:r>
              <a:rPr lang="en-US" sz="1050" dirty="0">
                <a:solidFill>
                  <a:schemeClr val="tx1"/>
                </a:solidFill>
              </a:rPr>
              <a:t>[1] Bledt, G., et al. (2018). MIT Cheetah 3: Design and Control of a Robust, Dynamic Quadruped Robot. IEEE/RSJ IROS. DOI: 10.1109/IROS.2018.8593885</a:t>
            </a:r>
            <a:endParaRPr lang="en-US" sz="1050" dirty="0"/>
          </a:p>
          <a:p>
            <a:pPr marL="0" indent="0">
              <a:spcAft>
                <a:spcPts val="400"/>
              </a:spcAft>
              <a:buNone/>
            </a:pPr>
            <a:r>
              <a:rPr lang="en-US" sz="1050" dirty="0">
                <a:solidFill>
                  <a:schemeClr val="tx1"/>
                </a:solidFill>
              </a:rPr>
              <a:t>[2] Kau, N., et al. (2019). Stanford Doggo: An Open-Source, Quasi-Direct-Drive Quadruped. IEEE ICRA. DOI: 10.1109/ICRA.2019.8794436</a:t>
            </a:r>
            <a:endParaRPr lang="en-US" sz="1050" dirty="0"/>
          </a:p>
          <a:p>
            <a:pPr marL="0" indent="0">
              <a:spcAft>
                <a:spcPts val="400"/>
              </a:spcAft>
              <a:buNone/>
            </a:pPr>
            <a:r>
              <a:rPr lang="en-US" sz="1050" dirty="0">
                <a:solidFill>
                  <a:schemeClr val="tx1"/>
                </a:solidFill>
              </a:rPr>
              <a:t>[3] Katz, B., et al. (2019). Mini Cheetah: A Hardware Design for Extremity Locomotion. IEEE ICRA. DOI: 10.1109/ICRA.2019.8793865</a:t>
            </a:r>
            <a:endParaRPr lang="en-US" sz="1050" dirty="0"/>
          </a:p>
          <a:p>
            <a:pPr marL="0" indent="0">
              <a:spcAft>
                <a:spcPts val="400"/>
              </a:spcAft>
              <a:buNone/>
            </a:pPr>
            <a:r>
              <a:rPr lang="en-US" sz="1050" dirty="0">
                <a:solidFill>
                  <a:schemeClr val="tx1"/>
                </a:solidFill>
              </a:rPr>
              <a:t>[4] Hutter, M., et al. (2016). ANYmal — A Unique Quadruped Robot for Autonomous Operation. IEEE/RSJ IROS. DOI: 10.1109/IROS.2016.7758092</a:t>
            </a:r>
            <a:endParaRPr lang="en-US" sz="1050" dirty="0"/>
          </a:p>
          <a:p>
            <a:pPr marL="0" indent="0">
              <a:spcAft>
                <a:spcPts val="400"/>
              </a:spcAft>
              <a:buNone/>
            </a:pPr>
            <a:r>
              <a:rPr lang="en-US" sz="1050" dirty="0">
                <a:solidFill>
                  <a:schemeClr val="tx1"/>
                </a:solidFill>
              </a:rPr>
              <a:t>[5] Ding, Z., et al. (2021). Learning to Walk on Uneven Terrain for Quadrupedal Robots using RL. IEEE Transactions on Robotics, 37(4), 1120–1134.</a:t>
            </a:r>
            <a:endParaRPr lang="en-US" sz="1050" dirty="0"/>
          </a:p>
          <a:p>
            <a:pPr marL="0" indent="0">
              <a:spcAft>
                <a:spcPts val="400"/>
              </a:spcAft>
              <a:buNone/>
            </a:pPr>
            <a:r>
              <a:rPr lang="en-US" sz="1050" dirty="0">
                <a:solidFill>
                  <a:schemeClr val="tx1"/>
                </a:solidFill>
              </a:rPr>
              <a:t>[6] Bellicoso, C. D., et al. (2018). Dynamic Locomotion Through Online Nonlinear MPC for Quadrupedal Robots. IEEE Robotics and Automation Letters, 3(4). DOI: 10.1109/LRA.2018.2848303</a:t>
            </a:r>
            <a:endParaRPr lang="en-US" sz="1050" dirty="0"/>
          </a:p>
          <a:p>
            <a:pPr marL="0" indent="0">
              <a:spcAft>
                <a:spcPts val="400"/>
              </a:spcAft>
              <a:buNone/>
            </a:pPr>
            <a:r>
              <a:rPr lang="en-US" sz="1050" dirty="0">
                <a:solidFill>
                  <a:schemeClr val="tx1"/>
                </a:solidFill>
              </a:rPr>
              <a:t>[7] Fehlmann, S., et al. (2023). Precision Agriculture Using Autonomous Ground Robots: A Review. Springer Precision Agriculture, 24(2), 520–549.</a:t>
            </a:r>
            <a:endParaRPr lang="en-US" sz="1050" dirty="0"/>
          </a:p>
          <a:p>
            <a:pPr marL="0" indent="0">
              <a:spcAft>
                <a:spcPts val="400"/>
              </a:spcAft>
              <a:buNone/>
            </a:pPr>
            <a:r>
              <a:rPr lang="en-US" sz="1050" dirty="0">
                <a:solidFill>
                  <a:schemeClr val="tx1"/>
                </a:solidFill>
              </a:rPr>
              <a:t>[8] Roldán, J. J., et al. (2018). Robots in Agriculture: State of the Art and Future Directions. Computers and Electronics in Agriculture, 146, 76–89.</a:t>
            </a:r>
            <a:endParaRPr lang="en-US" sz="1050" dirty="0"/>
          </a:p>
          <a:p>
            <a:pPr marL="0" indent="0">
              <a:spcAft>
                <a:spcPts val="400"/>
              </a:spcAft>
              <a:buNone/>
            </a:pPr>
            <a:r>
              <a:rPr lang="en-US" sz="1050" dirty="0">
                <a:solidFill>
                  <a:schemeClr val="tx1"/>
                </a:solidFill>
              </a:rPr>
              <a:t>[9] Bogue, R. (2016). Robots in Agriculture: State of the Art and Future Directions. Industrial Robot, 43(1), 1–6.</a:t>
            </a:r>
            <a:endParaRPr lang="en-US" sz="1050" dirty="0"/>
          </a:p>
          <a:p>
            <a:pPr marL="0" indent="0">
              <a:spcAft>
                <a:spcPts val="400"/>
              </a:spcAft>
              <a:buNone/>
            </a:pPr>
            <a:r>
              <a:rPr lang="en-US" sz="1050" dirty="0">
                <a:solidFill>
                  <a:schemeClr val="tx1"/>
                </a:solidFill>
              </a:rPr>
              <a:t>[10] Vasconez, J. P., et al. (2020). Human–Robot Interaction in Agriculture: A Survey and Review. Computers and Electronics in Agriculture, 175, 105500.</a:t>
            </a:r>
            <a:endParaRPr lang="en-US" sz="1050" dirty="0"/>
          </a:p>
          <a:p>
            <a:pPr marL="0" indent="0">
              <a:spcAft>
                <a:spcPts val="400"/>
              </a:spcAft>
              <a:buNone/>
            </a:pPr>
            <a:r>
              <a:rPr lang="en-US" sz="1050" dirty="0">
                <a:solidFill>
                  <a:schemeClr val="tx1"/>
                </a:solidFill>
              </a:rPr>
              <a:t>[11] Mohanty, S. P., et al. (2016). Using Deep Learning for Image-Based Plant Disease Detection. Frontiers in Plant Science, 7, 1419. DOI: 10.3389/fpls.2016.01419</a:t>
            </a:r>
            <a:endParaRPr lang="en-US" sz="1050" dirty="0"/>
          </a:p>
          <a:p>
            <a:pPr marL="0" indent="0">
              <a:spcAft>
                <a:spcPts val="400"/>
              </a:spcAft>
              <a:buNone/>
            </a:pPr>
            <a:r>
              <a:rPr lang="en-US" sz="1050" dirty="0">
                <a:solidFill>
                  <a:schemeClr val="tx1"/>
                </a:solidFill>
              </a:rPr>
              <a:t>[12] Ferentinos, K. P. (2018). Deep Learning Models for Plant Disease Detection and Diagnosis. Computers and Electronics in Agriculture, 145, 311–318.</a:t>
            </a:r>
            <a:endParaRPr lang="en-US" sz="1050" dirty="0"/>
          </a:p>
        </p:txBody>
      </p:sp>
      <p:sp>
        <p:nvSpPr>
          <p:cNvPr id="5" name="Text 2"/>
          <p:cNvSpPr txBox="1"/>
          <p:nvPr/>
        </p:nvSpPr>
        <p:spPr>
          <a:xfrm>
            <a:off x="6172200" y="1188720"/>
            <a:ext cx="5440680" cy="5120640"/>
          </a:xfrm>
          <a:prstGeom prst="rect">
            <a:avLst/>
          </a:prstGeom>
          <a:noFill/>
          <a:ln/>
        </p:spPr>
        <p:txBody>
          <a:bodyPr wrap="square" lIns="0" tIns="0" rIns="0" bIns="0" rtlCol="0" anchor="t"/>
          <a:lstStyle/>
          <a:p>
            <a:pPr marL="0" indent="0">
              <a:spcAft>
                <a:spcPts val="400"/>
              </a:spcAft>
              <a:buNone/>
            </a:pPr>
            <a:r>
              <a:rPr lang="en-US" sz="1050" dirty="0">
                <a:solidFill>
                  <a:schemeClr val="tx1"/>
                </a:solidFill>
              </a:rPr>
              <a:t>[13] Too, E. C., et al. (2019). A Comparative Study of Fine-Tuning Deep Learning Architectures for Plant Disease Identification. Computers and Electronics in Agriculture, 161, 272–279.</a:t>
            </a:r>
            <a:endParaRPr lang="en-US" sz="1050" dirty="0"/>
          </a:p>
          <a:p>
            <a:pPr marL="0" indent="0">
              <a:spcAft>
                <a:spcPts val="400"/>
              </a:spcAft>
              <a:buNone/>
            </a:pPr>
            <a:r>
              <a:rPr lang="en-US" sz="1050" dirty="0">
                <a:solidFill>
                  <a:schemeClr val="tx1"/>
                </a:solidFill>
              </a:rPr>
              <a:t>[14] Chen, J., et al. (2020). Using Deep Transfer Learning for Image-Based Plant Disease Identification on Embedded Devices. Computers and Electronics in Agriculture, 176, 105653.</a:t>
            </a:r>
            <a:endParaRPr lang="en-US" sz="1050" dirty="0"/>
          </a:p>
          <a:p>
            <a:pPr marL="0" indent="0">
              <a:spcAft>
                <a:spcPts val="400"/>
              </a:spcAft>
              <a:buNone/>
            </a:pPr>
            <a:r>
              <a:rPr lang="en-US" sz="1050" dirty="0">
                <a:solidFill>
                  <a:schemeClr val="tx1"/>
                </a:solidFill>
              </a:rPr>
              <a:t>[15] Saleem, M. H., et al. (2019). Plant Disease Detection and Classification by Deep Learning: A Review. Computers and Electronics in Agriculture, 164, 104902.</a:t>
            </a:r>
            <a:endParaRPr lang="en-US" sz="1050" dirty="0"/>
          </a:p>
          <a:p>
            <a:pPr marL="0" indent="0">
              <a:spcAft>
                <a:spcPts val="400"/>
              </a:spcAft>
              <a:buNone/>
            </a:pPr>
            <a:r>
              <a:rPr lang="en-US" sz="1050" dirty="0">
                <a:solidFill>
                  <a:schemeClr val="tx1"/>
                </a:solidFill>
              </a:rPr>
              <a:t>[16] Ray, P. P. (2017). Internet of Things for Smart Agriculture: Technologies, Practices and Future Direction. Journal of Ambient Intelligence and Smart Environments, 9(4), 395–420.</a:t>
            </a:r>
            <a:endParaRPr lang="en-US" sz="1050" dirty="0"/>
          </a:p>
          <a:p>
            <a:pPr marL="0" indent="0">
              <a:spcAft>
                <a:spcPts val="400"/>
              </a:spcAft>
              <a:buNone/>
            </a:pPr>
            <a:r>
              <a:rPr lang="en-US" sz="1050" dirty="0">
                <a:solidFill>
                  <a:schemeClr val="tx1"/>
                </a:solidFill>
              </a:rPr>
              <a:t>[17] Elijah, O., et al. (2018). An Overview of Internet of Things (IoT) and Data Analytics in Smart Agriculture. IEEE Internet of Things Journal, 5(5), 3758–3773.</a:t>
            </a:r>
            <a:endParaRPr lang="en-US" sz="1050" dirty="0"/>
          </a:p>
          <a:p>
            <a:pPr marL="0" indent="0">
              <a:spcAft>
                <a:spcPts val="400"/>
              </a:spcAft>
              <a:buNone/>
            </a:pPr>
            <a:r>
              <a:rPr lang="en-US" sz="1050" dirty="0">
                <a:solidFill>
                  <a:schemeClr val="tx1"/>
                </a:solidFill>
              </a:rPr>
              <a:t>[18] Bacco, M., et al. (2019). Smart Farming: Technologies, Applications and Challenges. Computers and Electronics in Agriculture, 164, 104908.</a:t>
            </a:r>
            <a:endParaRPr lang="en-US" sz="1050" dirty="0"/>
          </a:p>
          <a:p>
            <a:pPr marL="0" indent="0">
              <a:spcAft>
                <a:spcPts val="400"/>
              </a:spcAft>
              <a:buNone/>
            </a:pPr>
            <a:r>
              <a:rPr lang="en-US" sz="1050" dirty="0">
                <a:solidFill>
                  <a:schemeClr val="tx1"/>
                </a:solidFill>
              </a:rPr>
              <a:t>[19] S. Savary et al. (2019). The global burden of pathogens and pests on major food crops. Nature Ecology &amp; Evolution, 3(3), 430–439.</a:t>
            </a:r>
            <a:endParaRPr lang="en-US" sz="1050" dirty="0"/>
          </a:p>
          <a:p>
            <a:pPr marL="0" indent="0">
              <a:spcAft>
                <a:spcPts val="400"/>
              </a:spcAft>
              <a:buNone/>
            </a:pPr>
            <a:r>
              <a:rPr lang="en-US" sz="1050" dirty="0">
                <a:solidFill>
                  <a:schemeClr val="tx1"/>
                </a:solidFill>
              </a:rPr>
              <a:t>[20] D. P. Hughes and M. Salathé (2015). An open access repository of images on plant health to enable the development of mobile disease diagnostics. arXiv:1511.08060.</a:t>
            </a:r>
            <a:endParaRPr lang="en-US" sz="1050" dirty="0"/>
          </a:p>
          <a:p>
            <a:pPr marL="0" indent="0">
              <a:spcAft>
                <a:spcPts val="400"/>
              </a:spcAft>
              <a:buNone/>
            </a:pPr>
            <a:r>
              <a:rPr lang="en-US" sz="1050" dirty="0">
                <a:solidFill>
                  <a:schemeClr val="tx1"/>
                </a:solidFill>
              </a:rPr>
              <a:t>[21] M. Sandler et al. (2018). MobileNetV2: Inverted residuals and linear bottlenecks. Proc. IEEE/CVF CVPR, 4510–4520.</a:t>
            </a:r>
            <a:endParaRPr lang="en-US" sz="1050" dirty="0"/>
          </a:p>
          <a:p>
            <a:pPr marL="0" indent="0">
              <a:spcAft>
                <a:spcPts val="400"/>
              </a:spcAft>
              <a:buNone/>
            </a:pPr>
            <a:r>
              <a:rPr lang="en-US" sz="1050" dirty="0">
                <a:solidFill>
                  <a:schemeClr val="tx1"/>
                </a:solidFill>
              </a:rPr>
              <a:t>[22] E. Todorov, T. Erez and Y. Tassa (2012). MuJoCo: A physics engine for model-based control. Proc. IEEE/RSJ IROS, 5026–5033.</a:t>
            </a:r>
            <a:endParaRPr lang="en-US" sz="1050" dirty="0"/>
          </a:p>
          <a:p>
            <a:pPr marL="0" indent="0">
              <a:spcAft>
                <a:spcPts val="400"/>
              </a:spcAft>
              <a:buNone/>
            </a:pPr>
            <a:r>
              <a:rPr lang="en-US" sz="1050" dirty="0">
                <a:solidFill>
                  <a:schemeClr val="tx1"/>
                </a:solidFill>
              </a:rPr>
              <a:t>[23] D. M. Woebbecke et al. (1995). Color indices for weed identification under various soil, residue, and lighting conditions. Trans. ASAE, 38(1), 259–269.</a:t>
            </a:r>
            <a:endParaRPr lang="en-US" sz="1050" dirty="0"/>
          </a:p>
          <a:p>
            <a:pPr marL="0" indent="0">
              <a:spcAft>
                <a:spcPts val="400"/>
              </a:spcAft>
              <a:buNone/>
            </a:pPr>
            <a:r>
              <a:rPr lang="en-US" sz="1050" dirty="0">
                <a:solidFill>
                  <a:schemeClr val="tx1"/>
                </a:solidFill>
              </a:rPr>
              <a:t>[24] KDY0523 (2018). SpotMicro – robot dog. Thingiverse 3445283, CC-BY.</a:t>
            </a:r>
            <a:endParaRPr lang="en-US" sz="1050" dirty="0"/>
          </a:p>
        </p:txBody>
      </p:sp>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closing-photo" descr="The assembled robot"/>
          <p:cNvPicPr>
            <a:picLocks noChangeAspect="1"/>
          </p:cNvPicPr>
          <p:nvPr/>
        </p:nvPicPr>
        <p:blipFill>
          <a:blip r:embed="rId3"/>
          <a:srcRect/>
          <a:stretch/>
        </p:blipFill>
        <p:spPr>
          <a:xfrm>
            <a:off x="6269903" y="1535065"/>
            <a:ext cx="5470855" cy="397075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 0"/>
          <p:cNvSpPr txBox="1"/>
          <p:nvPr/>
        </p:nvSpPr>
        <p:spPr>
          <a:xfrm>
            <a:off x="640080" y="2011680"/>
            <a:ext cx="5852160" cy="1188720"/>
          </a:xfrm>
          <a:prstGeom prst="rect">
            <a:avLst/>
          </a:prstGeom>
          <a:noFill/>
          <a:ln/>
        </p:spPr>
        <p:txBody>
          <a:bodyPr wrap="square" lIns="0" tIns="0" rIns="0" bIns="0" rtlCol="0" anchor="t"/>
          <a:lstStyle/>
          <a:p>
            <a:pPr marL="0" indent="0">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4" name="Text 1"/>
          <p:cNvSpPr txBox="1"/>
          <p:nvPr/>
        </p:nvSpPr>
        <p:spPr>
          <a:xfrm>
            <a:off x="640080" y="3246120"/>
            <a:ext cx="5852160" cy="548640"/>
          </a:xfrm>
          <a:prstGeom prst="rect">
            <a:avLst/>
          </a:prstGeom>
          <a:noFill/>
          <a:ln/>
        </p:spPr>
        <p:txBody>
          <a:bodyPr wrap="square" lIns="0" tIns="0" rIns="0" bIns="0" rtlCol="0" anchor="t"/>
          <a:lstStyle/>
          <a:p>
            <a:pPr marL="0" indent="0">
              <a:buNone/>
            </a:pPr>
            <a:r>
              <a:rPr lang="en-US" sz="2200" dirty="0">
                <a:solidFill>
                  <a:schemeClr val="accent2"/>
                </a:solidFill>
              </a:rPr>
              <a:t>Questions and live demonstration</a:t>
            </a:r>
            <a:endParaRPr lang="en-US" sz="2200" dirty="0"/>
          </a:p>
        </p:txBody>
      </p:sp>
      <p:sp>
        <p:nvSpPr>
          <p:cNvPr id="5" name="Text 2"/>
          <p:cNvSpPr txBox="1"/>
          <p:nvPr/>
        </p:nvSpPr>
        <p:spPr>
          <a:xfrm>
            <a:off x="640080" y="4937760"/>
            <a:ext cx="5852160" cy="822960"/>
          </a:xfrm>
          <a:prstGeom prst="rect">
            <a:avLst/>
          </a:prstGeom>
          <a:noFill/>
          <a:ln/>
        </p:spPr>
        <p:txBody>
          <a:bodyPr wrap="square" lIns="0" tIns="0" rIns="0" bIns="0" rtlCol="0" anchor="t"/>
          <a:lstStyle/>
          <a:p>
            <a:pPr marL="0" indent="0">
              <a:lnSpc>
                <a:spcPct val="120000"/>
              </a:lnSpc>
              <a:buNone/>
            </a:pPr>
            <a:r>
              <a:rPr lang="en-US" sz="1500" dirty="0">
                <a:solidFill>
                  <a:schemeClr val="bg2"/>
                </a:solidFill>
              </a:rPr>
              <a:t>Adithya Sankar Menon  ·  Siddhesh Pushkraj Shinde  ·  Rachit Gupta</a:t>
            </a:r>
            <a:endParaRPr lang="en-US" sz="1500" dirty="0"/>
          </a:p>
          <a:p>
            <a:pPr marL="0" indent="0">
              <a:lnSpc>
                <a:spcPct val="120000"/>
              </a:lnSpc>
              <a:buNone/>
            </a:pPr>
            <a:r>
              <a:rPr lang="en-US" sz="1500" dirty="0">
                <a:solidFill>
                  <a:schemeClr val="bg2"/>
                </a:solidFill>
              </a:rPr>
              <a:t>Guide: Dr. Lakshmanan K</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Literature Review, Papers 1–6</a:t>
            </a:r>
            <a:endParaRPr lang="en-US" sz="3000" dirty="0"/>
          </a:p>
        </p:txBody>
      </p:sp>
      <p:graphicFrame>
        <p:nvGraphicFramePr>
          <p:cNvPr id="45" name="table-308"/>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956048"/>
        </p:xfrm>
        <a:graphic>
          <a:graphicData uri="http://schemas.openxmlformats.org/drawingml/2006/table">
            <a:tbl>
              <a:tblPr/>
              <a:tblGrid>
                <a:gridCol w="4114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347472">
                <a:tc>
                  <a:txBody>
                    <a:bodyPr/>
                    <a:lstStyle/>
                    <a:p>
                      <a:pPr marL="0" indent="0">
                        <a:buNone/>
                      </a:pPr>
                      <a:r>
                        <a:rPr lang="en-US" sz="1100" b="1" dirty="0">
                          <a:solidFill>
                            <a:schemeClr val="bg1"/>
                          </a:solidFill>
                        </a:rPr>
                        <a:t>#</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Authors and year</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Title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Key contribution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Research gap</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68096">
                <a:tc>
                  <a:txBody>
                    <a:bodyPr/>
                    <a:lstStyle/>
                    <a:p>
                      <a:pPr marL="0" indent="0">
                        <a:buNone/>
                      </a:pPr>
                      <a:r>
                        <a:rPr lang="en-US" sz="1100" dirty="0">
                          <a:solidFill>
                            <a:schemeClr val="tx1"/>
                          </a:solidFill>
                        </a:rPr>
                        <a:t>1</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Bledt et al. (2018)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MIT Cheetah 3: Design and Control of a Robust, Dynamic Quadruped Robot</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Designed high-torque density proprioceptive actuators and Model Predictive Control (MPC) for dynamic walking over rough terrain without vision.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High cost (~$50k+), complex custom planetary gearing, no environmental/agricultural sensing payload.</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68096">
                <a:tc>
                  <a:txBody>
                    <a:bodyPr/>
                    <a:lstStyle/>
                    <a:p>
                      <a:pPr marL="0" indent="0">
                        <a:buNone/>
                      </a:pPr>
                      <a:r>
                        <a:rPr lang="en-US" sz="1100" dirty="0">
                          <a:solidFill>
                            <a:schemeClr val="tx1"/>
                          </a:solidFill>
                        </a:rPr>
                        <a:t>2</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Kau et al. (2019)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Stanford Doggo: An Open-Source, Quasi-Direct-Drive Quadruped</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Developed an open-source 3D-printed quadruped platform using quasi-direct drive brushless motors for dynamic bounding.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Optimized purely for acrobatic jumps/speed; lacks on-board compute for perception and has &lt;10 min battery life.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68096">
                <a:tc>
                  <a:txBody>
                    <a:bodyPr/>
                    <a:lstStyle/>
                    <a:p>
                      <a:pPr marL="0" indent="0">
                        <a:buNone/>
                      </a:pPr>
                      <a:r>
                        <a:rPr lang="en-US" sz="1100" dirty="0">
                          <a:solidFill>
                            <a:schemeClr val="tx1"/>
                          </a:solidFill>
                        </a:rPr>
                        <a:t>3</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Katz et al. (2019)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Mini Cheetah: A Hardware Design for Extremity Locomotion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Modular 3-DOF leg design using low-cost backdrivable BLDC motors enabling agile omnidirectional gaits.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Focuses strictly on mechanical agility in laboratory environments; no autonomous navigation or edge AI pipeline.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68096">
                <a:tc>
                  <a:txBody>
                    <a:bodyPr/>
                    <a:lstStyle/>
                    <a:p>
                      <a:pPr marL="0" indent="0">
                        <a:buNone/>
                      </a:pPr>
                      <a:r>
                        <a:rPr lang="en-US" sz="1100" dirty="0">
                          <a:solidFill>
                            <a:schemeClr val="tx1"/>
                          </a:solidFill>
                        </a:rPr>
                        <a:t>4</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Hutter et al. (2016)</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ANYmal - A Unique Quadruped Robot for Autonomous Operation in Harsh Environments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Industrial-grade quadruped with series elastic actuators (SEAs) and IP67 ruggedized body for outdoor inspection.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Prohibitively expensive ($100k+), heavy industrial form-factor unsuitable for smallholder precision farming.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68096">
                <a:tc>
                  <a:txBody>
                    <a:bodyPr/>
                    <a:lstStyle/>
                    <a:p>
                      <a:pPr marL="0" indent="0">
                        <a:buNone/>
                      </a:pPr>
                      <a:r>
                        <a:rPr lang="en-US" sz="1100" dirty="0">
                          <a:solidFill>
                            <a:schemeClr val="tx1"/>
                          </a:solidFill>
                        </a:rPr>
                        <a:t>5</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Ding et al. (2021)</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Learning to Walk on Uneven Terrain for Quadrupedal Robots using Reinforcement Learning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Trained neural network locomotion policies in simulation (Isaac Gym) with robust sim-to-real transfer over rugged slopes.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High computational training overhead; policy does not integrate multi-sensor agronomic payloads or path tracking.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768096">
                <a:tc>
                  <a:txBody>
                    <a:bodyPr/>
                    <a:lstStyle/>
                    <a:p>
                      <a:pPr marL="0" indent="0">
                        <a:buNone/>
                      </a:pPr>
                      <a:r>
                        <a:rPr lang="en-US" sz="1100" dirty="0">
                          <a:solidFill>
                            <a:schemeClr val="tx1"/>
                          </a:solidFill>
                        </a:rPr>
                        <a:t>6</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Bellicoso et al. (2018)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Dynamic Locomotion Through Online Nonlinear Model Predictive Control for Quadrupedal Robots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Real-time ZMP and CoM trajectory optimization enabling adaptive crawl and trot gaits over unmodeled obstacles.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Requires high-end x86 computer boards; difficult to run concurrently with edge vision models on low-power platforms.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Literature Review, Papers 7–12</a:t>
            </a:r>
            <a:endParaRPr lang="en-US" sz="3000" dirty="0"/>
          </a:p>
        </p:txBody>
      </p:sp>
      <p:graphicFrame>
        <p:nvGraphicFramePr>
          <p:cNvPr id="46" name="table-309"/>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956048"/>
        </p:xfrm>
        <a:graphic>
          <a:graphicData uri="http://schemas.openxmlformats.org/drawingml/2006/table">
            <a:tbl>
              <a:tblPr/>
              <a:tblGrid>
                <a:gridCol w="4114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347472">
                <a:tc>
                  <a:txBody>
                    <a:bodyPr/>
                    <a:lstStyle/>
                    <a:p>
                      <a:pPr marL="0" indent="0">
                        <a:buNone/>
                      </a:pPr>
                      <a:r>
                        <a:rPr lang="en-US" sz="1100" b="1" dirty="0">
                          <a:solidFill>
                            <a:schemeClr val="bg1"/>
                          </a:solidFill>
                        </a:rPr>
                        <a:t>#</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Authors and year</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Title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Key contribution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Research gap</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68096">
                <a:tc>
                  <a:txBody>
                    <a:bodyPr/>
                    <a:lstStyle/>
                    <a:p>
                      <a:pPr marL="0" indent="0">
                        <a:buNone/>
                      </a:pPr>
                      <a:r>
                        <a:rPr lang="en-US" sz="1100" dirty="0">
                          <a:solidFill>
                            <a:schemeClr val="tx1"/>
                          </a:solidFill>
                        </a:rPr>
                        <a:t>7</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Fehlmann et al. (2023)</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Precision Agriculture Using Autonomous Ground Robots: A Review</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Systematic review of wheeled and tracked agricultural rovers for weed control, phenotyping, and soil sampling.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Identifies severe mobility failure of wheeled rovers in wet mud, soft soil, and high-crop canopy furrows.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68096">
                <a:tc>
                  <a:txBody>
                    <a:bodyPr/>
                    <a:lstStyle/>
                    <a:p>
                      <a:pPr marL="0" indent="0">
                        <a:buNone/>
                      </a:pPr>
                      <a:r>
                        <a:rPr lang="en-US" sz="1100" dirty="0">
                          <a:solidFill>
                            <a:schemeClr val="tx1"/>
                          </a:solidFill>
                        </a:rPr>
                        <a:t>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Roldán et al. (2018)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Mini-UAVs and Mobile Robots for Precision Agriculture: A Review of Multi-Robot Systems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Analyzed complementary roles of aerial drones (macro-surveys) and ground robots (micro-inspection).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Highlighted drone limitations: 20-min flight time, inability to inspect leaf undersides, and blind spots beneath crop canopies.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68096">
                <a:tc>
                  <a:txBody>
                    <a:bodyPr/>
                    <a:lstStyle/>
                    <a:p>
                      <a:pPr marL="0" indent="0">
                        <a:buNone/>
                      </a:pPr>
                      <a:r>
                        <a:rPr lang="en-US" sz="1100" dirty="0">
                          <a:solidFill>
                            <a:schemeClr val="tx1"/>
                          </a:solidFill>
                        </a:rPr>
                        <a:t>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Bogue, R. (2016)</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Robots in Agriculture: State of the Art and Future Directions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Surveyed commercial adoption of agricultural robotics, highlighting high ROI in crop health monitoring.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Commercial units are bulky, heavy, cause soil compaction, and require flat structured greenhouse tracks.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68096">
                <a:tc>
                  <a:txBody>
                    <a:bodyPr/>
                    <a:lstStyle/>
                    <a:p>
                      <a:pPr marL="0" indent="0">
                        <a:buNone/>
                      </a:pPr>
                      <a:r>
                        <a:rPr lang="en-US" sz="1100" dirty="0">
                          <a:solidFill>
                            <a:schemeClr val="tx1"/>
                          </a:solidFill>
                        </a:rPr>
                        <a:t>10</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Vasconez et al. (2020)</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Human–Robot Interaction in Agriculture: A Survey and Review</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Investigated telemetry, UX dashboards, and safety mechanisms for farmer-robot interfaces in open fields.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Found most agricultural robotic interfaces are academic prototypes lacking real-time edge telemetry and alert maps.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68096">
                <a:tc>
                  <a:txBody>
                    <a:bodyPr/>
                    <a:lstStyle/>
                    <a:p>
                      <a:pPr marL="0" indent="0">
                        <a:buNone/>
                      </a:pPr>
                      <a:r>
                        <a:rPr lang="en-US" sz="1100" dirty="0">
                          <a:solidFill>
                            <a:schemeClr val="tx1"/>
                          </a:solidFill>
                        </a:rPr>
                        <a:t>11</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Mohanty et al. (2016)</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Using Deep Learning for Image-Based Plant Disease Detection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Trained AlexNet and GoogLeNet on 54,306 images across 26 diseases with 99.35% classification accuracy.</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Tested only on static laboratory-controlled leaf images with uniform backgrounds; lacks edge device deployment.</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768096">
                <a:tc>
                  <a:txBody>
                    <a:bodyPr/>
                    <a:lstStyle/>
                    <a:p>
                      <a:pPr marL="0" indent="0">
                        <a:buNone/>
                      </a:pPr>
                      <a:r>
                        <a:rPr lang="en-US" sz="1100" dirty="0">
                          <a:solidFill>
                            <a:schemeClr val="tx1"/>
                          </a:solidFill>
                        </a:rPr>
                        <a:t>12</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Ferentinos, K. P. (2018)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Deep Learning Models for Plant Disease Detection and Diagnosis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Evaluated VGG, ResNet, and AlexNet on 87,848 leaf images with real-world noise variations (99.5% accuracy).</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High parameter count (VGG/ResNet) causes severe latency and memory bottlenecks on embedded single-board computers.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292608"/>
            <a:ext cx="9784080" cy="731520"/>
          </a:xfrm>
          <a:prstGeom prst="rect">
            <a:avLst/>
          </a:prstGeom>
          <a:noFill/>
          <a:ln/>
        </p:spPr>
        <p:txBody>
          <a:bodyPr wrap="square" lIns="0" tIns="0" rIns="0" bIns="0" rtlCol="0" anchor="ctr"/>
          <a:lstStyle/>
          <a:p>
            <a:pPr marL="0" indent="0" algn="l">
              <a:buNone/>
            </a:pPr>
            <a:r>
              <a:rPr lang="en-US" sz="3000" b="1" dirty="0">
                <a:solidFill>
                  <a:schemeClr val="tx2"/>
                </a:solidFill>
              </a:rPr>
              <a:t>Literature Review, Papers 13–18</a:t>
            </a:r>
            <a:endParaRPr lang="en-US" sz="3000" dirty="0"/>
          </a:p>
        </p:txBody>
      </p:sp>
      <p:graphicFrame>
        <p:nvGraphicFramePr>
          <p:cNvPr id="47" name="table-31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4956048"/>
        </p:xfrm>
        <a:graphic>
          <a:graphicData uri="http://schemas.openxmlformats.org/drawingml/2006/table">
            <a:tbl>
              <a:tblPr/>
              <a:tblGrid>
                <a:gridCol w="4114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tblGrid>
              <a:tr h="347472">
                <a:tc>
                  <a:txBody>
                    <a:bodyPr/>
                    <a:lstStyle/>
                    <a:p>
                      <a:pPr marL="0" indent="0">
                        <a:buNone/>
                      </a:pPr>
                      <a:r>
                        <a:rPr lang="en-US" sz="1100" b="1" dirty="0">
                          <a:solidFill>
                            <a:schemeClr val="bg1"/>
                          </a:solidFill>
                        </a:rPr>
                        <a:t>#</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Authors and year</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Title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Key contribution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tc>
                  <a:txBody>
                    <a:bodyPr/>
                    <a:lstStyle/>
                    <a:p>
                      <a:pPr marL="0" indent="0">
                        <a:buNone/>
                      </a:pPr>
                      <a:r>
                        <a:rPr lang="en-US" sz="1100" b="1" dirty="0">
                          <a:solidFill>
                            <a:schemeClr val="bg1"/>
                          </a:solidFill>
                        </a:rPr>
                        <a:t>Research gap</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768096">
                <a:tc>
                  <a:txBody>
                    <a:bodyPr/>
                    <a:lstStyle/>
                    <a:p>
                      <a:pPr marL="0" indent="0">
                        <a:buNone/>
                      </a:pPr>
                      <a:r>
                        <a:rPr lang="en-US" sz="1100" dirty="0">
                          <a:solidFill>
                            <a:schemeClr val="tx1"/>
                          </a:solidFill>
                        </a:rPr>
                        <a:t>13</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Too et al. (2019)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A Comparative Study of Fine-Tuning Deep Learning Architectures for Plant Disease Identification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Benchmarked MobileNetV2, DenseNet-121, and InceptionV3; proved MobileNetV2 achieves 97.4% accuracy with 10× fewer FLOPs.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Did not perform hardware-specific quantization (TensorRT / ONNX) or test real-time video stream ingestion.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768096">
                <a:tc>
                  <a:txBody>
                    <a:bodyPr/>
                    <a:lstStyle/>
                    <a:p>
                      <a:pPr marL="0" indent="0">
                        <a:buNone/>
                      </a:pPr>
                      <a:r>
                        <a:rPr lang="en-US" sz="1100" dirty="0">
                          <a:solidFill>
                            <a:schemeClr val="tx1"/>
                          </a:solidFill>
                        </a:rPr>
                        <a:t>14</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Chen et al. (2020)</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Using Deep Transfer Learning for Image-Based Plant Disease Identification on Embedded Devices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Deployed lightweight CNN on Raspberry Pi 3B+ using INT8 quantization, achieving 12 FPS at 92.1% accuracy.</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Insufficient FPS for continuous mobile robot navigation; no integration with robotic gait or sensor fusion.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68096">
                <a:tc>
                  <a:txBody>
                    <a:bodyPr/>
                    <a:lstStyle/>
                    <a:p>
                      <a:pPr marL="0" indent="0">
                        <a:buNone/>
                      </a:pPr>
                      <a:r>
                        <a:rPr lang="en-US" sz="1100" dirty="0">
                          <a:solidFill>
                            <a:schemeClr val="tx1"/>
                          </a:solidFill>
                        </a:rPr>
                        <a:t>15</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Saleem et al. (2019)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Plant Disease Detection and Classification by Deep Learning: A Review</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Comprehensive meta-analysis of deep learning architectures, dataset biases, and real-time field challenges.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Concluded that field-ready solutions require mobile ground robots that bring cameras within 0.5m of plant leaves.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768096">
                <a:tc>
                  <a:txBody>
                    <a:bodyPr/>
                    <a:lstStyle/>
                    <a:p>
                      <a:pPr marL="0" indent="0">
                        <a:buNone/>
                      </a:pPr>
                      <a:r>
                        <a:rPr lang="en-US" sz="1100" dirty="0">
                          <a:solidFill>
                            <a:schemeClr val="tx1"/>
                          </a:solidFill>
                        </a:rPr>
                        <a:t>16</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Ray, P. P. (2017)</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Internet of Things for Smart Agriculture: Technologies, Practices and Future Direction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Proposed layered IoT architecture for soil moisture, microclimate, and particulate monitoring in precision farming.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Relied exclusively on stationary sensor nodes (motes), creating spatial coverage gaps across large farm tracts.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768096">
                <a:tc>
                  <a:txBody>
                    <a:bodyPr/>
                    <a:lstStyle/>
                    <a:p>
                      <a:pPr marL="0" indent="0">
                        <a:buNone/>
                      </a:pPr>
                      <a:r>
                        <a:rPr lang="en-US" sz="1100" dirty="0">
                          <a:solidFill>
                            <a:schemeClr val="tx1"/>
                          </a:solidFill>
                        </a:rPr>
                        <a:t>17</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Elijah et al. (2018)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An Overview of Internet of Things (IoT) and Data Analytics in Smart Agriculture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Investigated wireless sensor networks (WSNs) and cloud data pipelines for environmental anomaly detection.</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tc>
                  <a:txBody>
                    <a:bodyPr/>
                    <a:lstStyle/>
                    <a:p>
                      <a:pPr marL="0" indent="0">
                        <a:buNone/>
                      </a:pPr>
                      <a:r>
                        <a:rPr lang="en-US" sz="1100" dirty="0">
                          <a:solidFill>
                            <a:schemeClr val="tx1"/>
                          </a:solidFill>
                        </a:rPr>
                        <a:t>High infrastructure cost of deploying hundreds of stationary nodes; vulnerable to field vandalism and weather damage.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768096">
                <a:tc>
                  <a:txBody>
                    <a:bodyPr/>
                    <a:lstStyle/>
                    <a:p>
                      <a:pPr marL="0" indent="0">
                        <a:buNone/>
                      </a:pPr>
                      <a:r>
                        <a:rPr lang="en-US" sz="1100" dirty="0">
                          <a:solidFill>
                            <a:schemeClr val="tx1"/>
                          </a:solidFill>
                        </a:rPr>
                        <a:t>18</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Bacco et al. (2019)</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Smart Farming: Technologies, Applications and Challenges in Precision Agriculture</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Explored multi-sensor data fusion (temperature, humidity, organic gases, optical imagery) for soil health profiling.</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tc>
                  <a:txBody>
                    <a:bodyPr/>
                    <a:lstStyle/>
                    <a:p>
                      <a:pPr marL="0" indent="0">
                        <a:buNone/>
                      </a:pPr>
                      <a:r>
                        <a:rPr lang="en-US" sz="1100" dirty="0">
                          <a:solidFill>
                            <a:schemeClr val="tx1"/>
                          </a:solidFill>
                        </a:rPr>
                        <a:t>Lacked mobile autonomous platforms to transport multi-sensor payloads dynamically throughout crop rows.</a:t>
                      </a:r>
                      <a:endParaRPr lang="en-US" sz="1100" dirty="0"/>
                    </a:p>
                  </a:txBody>
                  <a:tcPr marL="76200" marR="76200" marT="50800" marB="50800">
                    <a:lnL w="9525" cap="flat" cmpd="sng" algn="ctr">
                      <a:solidFill>
                        <a:srgbClr val="D3DED0"/>
                      </a:solidFill>
                      <a:prstDash val="solid"/>
                      <a:round/>
                      <a:headEnd type="none" w="med" len="med"/>
                      <a:tailEnd type="none" w="med" len="med"/>
                    </a:lnL>
                    <a:lnR w="9525" cap="flat" cmpd="sng" algn="ctr">
                      <a:solidFill>
                        <a:srgbClr val="D3DED0"/>
                      </a:solidFill>
                      <a:prstDash val="solid"/>
                      <a:round/>
                      <a:headEnd type="none" w="med" len="med"/>
                      <a:tailEnd type="none" w="med" len="med"/>
                    </a:lnR>
                    <a:lnT w="9525" cap="flat" cmpd="sng" algn="ctr">
                      <a:solidFill>
                        <a:srgbClr val="D3DED0"/>
                      </a:solidFill>
                      <a:prstDash val="solid"/>
                      <a:round/>
                      <a:headEnd type="none" w="med" len="med"/>
                      <a:tailEnd type="none" w="med" len="med"/>
                    </a:lnT>
                    <a:lnB w="9525" cap="flat" cmpd="sng" algn="ctr">
                      <a:solidFill>
                        <a:srgbClr val="D3DED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201400" y="6419088"/>
            <a:ext cx="594360" cy="256032"/>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46</a:t>
            </a:fld>
            <a:endParaRPr lang="en-US"/>
          </a:p>
        </p:txBody>
      </p:sp>
    </p:spTree>
  </p:cSld>
  <p:clrMapOvr>
    <a:masterClrMapping/>
  </p:clrMapOvr>
</p:sld>
</file>

<file path=ppt/theme/theme1.xml><?xml version="1.0" encoding="utf-8"?>
<a:theme xmlns:a="http://schemas.openxmlformats.org/drawingml/2006/main" name="AgriBot Field">
  <a:themeElements>
    <a:clrScheme name="AgriBot Field">
      <a:dk1>
        <a:srgbClr val="1B2620"/>
      </a:dk1>
      <a:lt1>
        <a:srgbClr val="FFFFFF"/>
      </a:lt1>
      <a:dk2>
        <a:srgbClr val="173F2A"/>
      </a:dk2>
      <a:lt2>
        <a:srgbClr val="EEF4EC"/>
      </a:lt2>
      <a:accent1>
        <a:srgbClr val="2F7D46"/>
      </a:accent1>
      <a:accent2>
        <a:srgbClr val="8DC63F"/>
      </a:accent2>
      <a:accent3>
        <a:srgbClr val="C98A0B"/>
      </a:accent3>
      <a:accent4>
        <a:srgbClr val="B3261E"/>
      </a:accent4>
      <a:accent5>
        <a:srgbClr val="2B6F8E"/>
      </a:accent5>
      <a:accent6>
        <a:srgbClr val="6B7768"/>
      </a:accent6>
      <a:hlink>
        <a:srgbClr val="2B6F8E"/>
      </a:hlink>
      <a:folHlink>
        <a:srgbClr val="6B7768"/>
      </a:folHlink>
    </a:clrScheme>
    <a:fontScheme name="AgriBot Fie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12629</Words>
  <Application>Microsoft Office PowerPoint</Application>
  <PresentationFormat>Widescreen</PresentationFormat>
  <Paragraphs>817</Paragraphs>
  <Slides>46</Slides>
  <Notes>46</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Cambria</vt:lpstr>
      <vt:lpstr>AgriBot Field</vt:lpstr>
      <vt:lpstr>PowerPoint Presentation</vt:lpstr>
      <vt:lpstr>How This Review Is Organised</vt:lpstr>
      <vt:lpstr>Domain and Problem</vt:lpstr>
      <vt:lpstr>Crop Disease Is Costly, and Often Seen Too Late</vt:lpstr>
      <vt:lpstr>Which Platform Can Monitor Between Crop Rows?</vt:lpstr>
      <vt:lpstr>What 18 Papers Tell Us</vt:lpstr>
      <vt:lpstr>Research Gaps and How This Project Answers Them</vt:lpstr>
      <vt:lpstr>Objectives and Scope</vt:lpstr>
      <vt:lpstr>Methodology and Design</vt:lpstr>
      <vt:lpstr>Methodology: Analyse, Revise, Build, Validate</vt:lpstr>
      <vt:lpstr>Key Technical Decisions Since Review III</vt:lpstr>
      <vt:lpstr>System Architecture</vt:lpstr>
      <vt:lpstr>Data Flow: From Sensor to Tagged Diagnosis</vt:lpstr>
      <vt:lpstr>Sensor Node Hardware</vt:lpstr>
      <vt:lpstr>Firmware Algorithms</vt:lpstr>
      <vt:lpstr>Gated Leaf-Disease Classification</vt:lpstr>
      <vt:lpstr>Locomotion Design: Kinematics, Gait, Centre of Mass</vt:lpstr>
      <vt:lpstr>Simulation Model in MuJoCo</vt:lpstr>
      <vt:lpstr>Technology Stack</vt:lpstr>
      <vt:lpstr>Completion and Integration</vt:lpstr>
      <vt:lpstr>Scope Delivered</vt:lpstr>
      <vt:lpstr>The Assembled Robot</vt:lpstr>
      <vt:lpstr>Integrated Dashboard</vt:lpstr>
      <vt:lpstr>Stable Operation over Wi-Fi</vt:lpstr>
      <vt:lpstr>Live Demonstration</vt:lpstr>
      <vt:lpstr>Testing and Results</vt:lpstr>
      <vt:lpstr>Bench Validation of the Hardware</vt:lpstr>
      <vt:lpstr>Classifier Validation: The Gate Prevents False Diagnoses</vt:lpstr>
      <vt:lpstr>Live Scans Outdoors with the Robot's Camera</vt:lpstr>
      <vt:lpstr>Actuation Trials on the Physical Robot</vt:lpstr>
      <vt:lpstr>Simulated Autonomous Field Survey</vt:lpstr>
      <vt:lpstr>Gait Stability and the Servo Speed Limit</vt:lpstr>
      <vt:lpstr>Outcome Against Review III Expectations</vt:lpstr>
      <vt:lpstr>Innovation and Relevance</vt:lpstr>
      <vt:lpstr>Contributions</vt:lpstr>
      <vt:lpstr>Cost and Feasibility</vt:lpstr>
      <vt:lpstr>Ethical and Responsible Use</vt:lpstr>
      <vt:lpstr>Practical Applicability</vt:lpstr>
      <vt:lpstr>Limitations</vt:lpstr>
      <vt:lpstr>Future Work</vt:lpstr>
      <vt:lpstr>Conclusion</vt:lpstr>
      <vt:lpstr>References</vt:lpstr>
      <vt:lpstr>PowerPoint Presentation</vt:lpstr>
      <vt:lpstr>Literature Review, Papers 1–6</vt:lpstr>
      <vt:lpstr>Literature Review, Papers 7–12</vt:lpstr>
      <vt:lpstr>Literature Review, Papers 13–18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Precision Agriculture Monitoring Quadruped Robot Dog - Final Review</dc:title>
  <dc:subject>PptxGenJS Presentation</dc:subject>
  <dc:creator>Adithya Sankar Menon</dc:creator>
  <cp:lastModifiedBy>Adithya SM</cp:lastModifiedBy>
  <cp:revision>9</cp:revision>
  <dcterms:created xsi:type="dcterms:W3CDTF">2026-10-21T04:32:02Z</dcterms:created>
  <dcterms:modified xsi:type="dcterms:W3CDTF">2026-10-21T04:48:16Z</dcterms:modified>
</cp:coreProperties>
</file>