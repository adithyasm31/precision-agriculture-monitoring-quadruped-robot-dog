
<file path=[Content_Types].xml><?xml version="1.0" encoding="utf-8"?>
<Types xmlns="http://schemas.openxmlformats.org/package/2006/content-types">
  <Default Extension="jpg" ContentType="image/jp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rts/chart4.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C1B429-6726-02C6-E168-0AC51AFCC598}">
          <p14:sldIdLst>
            <p14:sldId id="256"/>
            <p14:sldId id="257"/>
          </p14:sldIdLst>
        </p14:section>
        <p14:section name="01 Domain and Problem" id="{77D3805A-5653-6E5E-D08C-BCD15DFCC686}">
          <p14:sldIdLst>
            <p14:sldId id="258"/>
            <p14:sldId id="259"/>
            <p14:sldId id="260"/>
            <p14:sldId id="261"/>
            <p14:sldId id="262"/>
            <p14:sldId id="263"/>
          </p14:sldIdLst>
        </p14:section>
        <p14:section name="02 Methodology and Design" id="{D32A7791-8727-9810-DB12-2292757FAF3B}">
          <p14:sldIdLst>
            <p14:sldId id="264"/>
            <p14:sldId id="265"/>
            <p14:sldId id="266"/>
            <p14:sldId id="267"/>
            <p14:sldId id="268"/>
            <p14:sldId id="269"/>
            <p14:sldId id="270"/>
            <p14:sldId id="271"/>
            <p14:sldId id="272"/>
            <p14:sldId id="273"/>
            <p14:sldId id="274"/>
          </p14:sldIdLst>
        </p14:section>
        <p14:section name="03 Completion and Integration" id="{74FCFA12-F5F1-883F-12FF-9D4E2714E742}">
          <p14:sldIdLst>
            <p14:sldId id="275"/>
            <p14:sldId id="276"/>
            <p14:sldId id="277"/>
            <p14:sldId id="278"/>
            <p14:sldId id="279"/>
            <p14:sldId id="280"/>
          </p14:sldIdLst>
        </p14:section>
        <p14:section name="04 Testing and Results" id="{C9FDE9AA-94E6-DDB5-9541-1EFC4FEBA2B0}">
          <p14:sldIdLst>
            <p14:sldId id="281"/>
            <p14:sldId id="282"/>
            <p14:sldId id="283"/>
            <p14:sldId id="284"/>
            <p14:sldId id="285"/>
            <p14:sldId id="286"/>
            <p14:sldId id="287"/>
            <p14:sldId id="288"/>
          </p14:sldIdLst>
        </p14:section>
        <p14:section name="05 Innovation and Relevance" id="{99813B16-650D-4002-284C-1879FE1D5CC7}">
          <p14:sldIdLst>
            <p14:sldId id="289"/>
            <p14:sldId id="290"/>
            <p14:sldId id="291"/>
            <p14:sldId id="292"/>
            <p14:sldId id="293"/>
            <p14:sldId id="294"/>
            <p14:sldId id="295"/>
          </p14:sldIdLst>
        </p14:section>
        <p14:section name="06 Conclusion" id="{E250A953-6555-950E-53E4-07281F19EA72}">
          <p14:sldIdLst>
            <p14:sldId id="296"/>
            <p14:sldId id="297"/>
            <p14:sldId id="298"/>
          </p14:sldIdLst>
        </p14:section>
        <p14:section name="Backup" id="{5AE7B1C5-888B-1A47-E6D9-880203BF0319}">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2" d="100"/>
          <a:sy n="102" d="100"/>
        </p:scale>
        <p:origin x="36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500" b="0" i="0" u="none" strike="noStrike">
                <a:solidFill>
                  <a:srgbClr val="173F2A"/>
                </a:solidFill>
                <a:latin typeface="+mn-lt"/>
              </a:defRPr>
            </a:pPr>
            <a:r>
              <a:rPr lang="en-US" sz="1500" b="0" i="0" u="none" strike="noStrike">
                <a:solidFill>
                  <a:srgbClr val="173F2A"/>
                </a:solidFill>
                <a:latin typeface="+mn-lt"/>
              </a:rPr>
              <a:t>TVOC logged from the sensor node, 14 October 2026</a:t>
            </a:r>
          </a:p>
        </c:rich>
      </c:tx>
      <c:overlay val="0"/>
    </c:title>
    <c:autoTitleDeleted val="0"/>
    <c:plotArea>
      <c:layout/>
      <c:lineChart>
        <c:grouping val="standard"/>
        <c:varyColors val="0"/>
        <c:ser>
          <c:idx val="0"/>
          <c:order val="0"/>
          <c:tx>
            <c:strRef>
              <c:f>Sheet1!$B$1</c:f>
              <c:strCache>
                <c:ptCount val="1"/>
                <c:pt idx="0">
                  <c:v>TVOC (ppb)</c:v>
                </c:pt>
              </c:strCache>
            </c:strRef>
          </c:tx>
          <c:spPr>
            <a:ln w="25400" cap="flat">
              <a:solidFill>
                <a:srgbClr val="2F7D46"/>
              </a:solidFill>
              <a:prstDash val="solid"/>
              <a:round/>
            </a:ln>
            <a:effectLst/>
          </c:spPr>
          <c:marker>
            <c:symbol val="none"/>
          </c:marker>
          <c:cat>
            <c:strRef>
              <c:f>Sheet1!$A$2:$A$200</c:f>
              <c:strCache>
                <c:ptCount val="199"/>
                <c:pt idx="0">
                  <c:v>0.0</c:v>
                </c:pt>
                <c:pt idx="1">
                  <c:v>0.1</c:v>
                </c:pt>
                <c:pt idx="2">
                  <c:v>0.2</c:v>
                </c:pt>
                <c:pt idx="3">
                  <c:v>0.3</c:v>
                </c:pt>
                <c:pt idx="4">
                  <c:v>0.3</c:v>
                </c:pt>
                <c:pt idx="5">
                  <c:v>0.4</c:v>
                </c:pt>
                <c:pt idx="6">
                  <c:v>0.5</c:v>
                </c:pt>
                <c:pt idx="7">
                  <c:v>0.6</c:v>
                </c:pt>
                <c:pt idx="8">
                  <c:v>0.7</c:v>
                </c:pt>
                <c:pt idx="9">
                  <c:v>0.8</c:v>
                </c:pt>
                <c:pt idx="10">
                  <c:v>0.8</c:v>
                </c:pt>
                <c:pt idx="11">
                  <c:v>0.9</c:v>
                </c:pt>
                <c:pt idx="12">
                  <c:v>1.0</c:v>
                </c:pt>
                <c:pt idx="13">
                  <c:v>1.1</c:v>
                </c:pt>
                <c:pt idx="14">
                  <c:v>1.2</c:v>
                </c:pt>
                <c:pt idx="15">
                  <c:v>1.3</c:v>
                </c:pt>
                <c:pt idx="16">
                  <c:v>1.3</c:v>
                </c:pt>
                <c:pt idx="17">
                  <c:v>1.4</c:v>
                </c:pt>
                <c:pt idx="18">
                  <c:v>1.5</c:v>
                </c:pt>
                <c:pt idx="19">
                  <c:v>1.6</c:v>
                </c:pt>
                <c:pt idx="20">
                  <c:v>1.7</c:v>
                </c:pt>
                <c:pt idx="21">
                  <c:v>1.8</c:v>
                </c:pt>
                <c:pt idx="22">
                  <c:v>1.8</c:v>
                </c:pt>
                <c:pt idx="23">
                  <c:v>1.9</c:v>
                </c:pt>
                <c:pt idx="24">
                  <c:v>2.0</c:v>
                </c:pt>
                <c:pt idx="25">
                  <c:v>2.1</c:v>
                </c:pt>
                <c:pt idx="26">
                  <c:v>2.2</c:v>
                </c:pt>
                <c:pt idx="27">
                  <c:v>2.3</c:v>
                </c:pt>
                <c:pt idx="28">
                  <c:v>2.3</c:v>
                </c:pt>
                <c:pt idx="29">
                  <c:v>2.4</c:v>
                </c:pt>
                <c:pt idx="30">
                  <c:v>2.5</c:v>
                </c:pt>
                <c:pt idx="31">
                  <c:v>2.6</c:v>
                </c:pt>
                <c:pt idx="32">
                  <c:v>2.7</c:v>
                </c:pt>
                <c:pt idx="33">
                  <c:v>2.8</c:v>
                </c:pt>
                <c:pt idx="34">
                  <c:v>2.8</c:v>
                </c:pt>
                <c:pt idx="35">
                  <c:v>2.9</c:v>
                </c:pt>
                <c:pt idx="36">
                  <c:v>3.0</c:v>
                </c:pt>
                <c:pt idx="37">
                  <c:v>3.1</c:v>
                </c:pt>
                <c:pt idx="38">
                  <c:v>3.2</c:v>
                </c:pt>
                <c:pt idx="39">
                  <c:v>3.3</c:v>
                </c:pt>
                <c:pt idx="40">
                  <c:v>3.3</c:v>
                </c:pt>
                <c:pt idx="41">
                  <c:v>3.4</c:v>
                </c:pt>
                <c:pt idx="42">
                  <c:v>3.5</c:v>
                </c:pt>
                <c:pt idx="43">
                  <c:v>3.6</c:v>
                </c:pt>
                <c:pt idx="44">
                  <c:v>3.7</c:v>
                </c:pt>
                <c:pt idx="45">
                  <c:v>3.8</c:v>
                </c:pt>
                <c:pt idx="46">
                  <c:v>3.8</c:v>
                </c:pt>
                <c:pt idx="47">
                  <c:v>3.9</c:v>
                </c:pt>
                <c:pt idx="48">
                  <c:v>4.0</c:v>
                </c:pt>
                <c:pt idx="49">
                  <c:v>4.1</c:v>
                </c:pt>
                <c:pt idx="50">
                  <c:v>4.2</c:v>
                </c:pt>
                <c:pt idx="51">
                  <c:v>4.3</c:v>
                </c:pt>
                <c:pt idx="52">
                  <c:v>4.3</c:v>
                </c:pt>
                <c:pt idx="53">
                  <c:v>4.4</c:v>
                </c:pt>
                <c:pt idx="54">
                  <c:v>4.5</c:v>
                </c:pt>
                <c:pt idx="55">
                  <c:v>4.6</c:v>
                </c:pt>
                <c:pt idx="56">
                  <c:v>4.7</c:v>
                </c:pt>
                <c:pt idx="57">
                  <c:v>4.8</c:v>
                </c:pt>
                <c:pt idx="58">
                  <c:v>4.8</c:v>
                </c:pt>
                <c:pt idx="59">
                  <c:v>4.9</c:v>
                </c:pt>
                <c:pt idx="60">
                  <c:v>5.0</c:v>
                </c:pt>
                <c:pt idx="61">
                  <c:v>5.1</c:v>
                </c:pt>
                <c:pt idx="62">
                  <c:v>5.4</c:v>
                </c:pt>
                <c:pt idx="63">
                  <c:v>5.5</c:v>
                </c:pt>
                <c:pt idx="64">
                  <c:v>5.6</c:v>
                </c:pt>
                <c:pt idx="65">
                  <c:v>5.7</c:v>
                </c:pt>
                <c:pt idx="66">
                  <c:v>5.8</c:v>
                </c:pt>
                <c:pt idx="67">
                  <c:v>5.8</c:v>
                </c:pt>
                <c:pt idx="68">
                  <c:v>5.9</c:v>
                </c:pt>
                <c:pt idx="69">
                  <c:v>6.0</c:v>
                </c:pt>
                <c:pt idx="70">
                  <c:v>6.1</c:v>
                </c:pt>
                <c:pt idx="71">
                  <c:v>6.2</c:v>
                </c:pt>
                <c:pt idx="72">
                  <c:v>6.3</c:v>
                </c:pt>
                <c:pt idx="73">
                  <c:v>6.3</c:v>
                </c:pt>
                <c:pt idx="74">
                  <c:v>6.4</c:v>
                </c:pt>
                <c:pt idx="75">
                  <c:v>6.5</c:v>
                </c:pt>
                <c:pt idx="76">
                  <c:v>6.6</c:v>
                </c:pt>
                <c:pt idx="77">
                  <c:v>6.7</c:v>
                </c:pt>
                <c:pt idx="78">
                  <c:v>6.8</c:v>
                </c:pt>
                <c:pt idx="79">
                  <c:v>6.8</c:v>
                </c:pt>
                <c:pt idx="80">
                  <c:v>6.9</c:v>
                </c:pt>
                <c:pt idx="81">
                  <c:v>7.0</c:v>
                </c:pt>
                <c:pt idx="82">
                  <c:v>7.1</c:v>
                </c:pt>
                <c:pt idx="83">
                  <c:v>7.2</c:v>
                </c:pt>
                <c:pt idx="84">
                  <c:v>7.3</c:v>
                </c:pt>
                <c:pt idx="85">
                  <c:v>7.3</c:v>
                </c:pt>
                <c:pt idx="86">
                  <c:v>7.4</c:v>
                </c:pt>
                <c:pt idx="87">
                  <c:v>7.5</c:v>
                </c:pt>
                <c:pt idx="88">
                  <c:v>7.6</c:v>
                </c:pt>
                <c:pt idx="89">
                  <c:v>7.7</c:v>
                </c:pt>
                <c:pt idx="90">
                  <c:v>7.8</c:v>
                </c:pt>
                <c:pt idx="91">
                  <c:v>7.8</c:v>
                </c:pt>
                <c:pt idx="92">
                  <c:v>7.9</c:v>
                </c:pt>
                <c:pt idx="93">
                  <c:v>8.0</c:v>
                </c:pt>
                <c:pt idx="94">
                  <c:v>8.1</c:v>
                </c:pt>
                <c:pt idx="95">
                  <c:v>8.2</c:v>
                </c:pt>
                <c:pt idx="96">
                  <c:v>8.3</c:v>
                </c:pt>
                <c:pt idx="97">
                  <c:v>8.3</c:v>
                </c:pt>
                <c:pt idx="98">
                  <c:v>8.4</c:v>
                </c:pt>
                <c:pt idx="99">
                  <c:v>8.5</c:v>
                </c:pt>
                <c:pt idx="100">
                  <c:v>8.6</c:v>
                </c:pt>
                <c:pt idx="101">
                  <c:v>8.7</c:v>
                </c:pt>
                <c:pt idx="102">
                  <c:v>8.8</c:v>
                </c:pt>
                <c:pt idx="103">
                  <c:v>8.8</c:v>
                </c:pt>
                <c:pt idx="104">
                  <c:v>8.9</c:v>
                </c:pt>
                <c:pt idx="105">
                  <c:v>9.0</c:v>
                </c:pt>
                <c:pt idx="106">
                  <c:v>9.1</c:v>
                </c:pt>
                <c:pt idx="107">
                  <c:v>9.2</c:v>
                </c:pt>
                <c:pt idx="108">
                  <c:v>9.3</c:v>
                </c:pt>
                <c:pt idx="109">
                  <c:v>9.3</c:v>
                </c:pt>
                <c:pt idx="110">
                  <c:v>9.4</c:v>
                </c:pt>
                <c:pt idx="111">
                  <c:v>9.5</c:v>
                </c:pt>
                <c:pt idx="112">
                  <c:v>9.6</c:v>
                </c:pt>
                <c:pt idx="113">
                  <c:v>9.7</c:v>
                </c:pt>
                <c:pt idx="114">
                  <c:v>9.8</c:v>
                </c:pt>
                <c:pt idx="115">
                  <c:v>9.8</c:v>
                </c:pt>
                <c:pt idx="116">
                  <c:v>9.9</c:v>
                </c:pt>
                <c:pt idx="117">
                  <c:v>10.0</c:v>
                </c:pt>
                <c:pt idx="118">
                  <c:v>10.1</c:v>
                </c:pt>
                <c:pt idx="119">
                  <c:v>10.2</c:v>
                </c:pt>
                <c:pt idx="120">
                  <c:v>10.3</c:v>
                </c:pt>
                <c:pt idx="121">
                  <c:v>10.3</c:v>
                </c:pt>
                <c:pt idx="122">
                  <c:v>10.4</c:v>
                </c:pt>
                <c:pt idx="123">
                  <c:v>10.5</c:v>
                </c:pt>
                <c:pt idx="124">
                  <c:v>10.6</c:v>
                </c:pt>
                <c:pt idx="125">
                  <c:v>10.7</c:v>
                </c:pt>
                <c:pt idx="126">
                  <c:v>10.8</c:v>
                </c:pt>
                <c:pt idx="127">
                  <c:v>10.8</c:v>
                </c:pt>
                <c:pt idx="128">
                  <c:v>10.9</c:v>
                </c:pt>
                <c:pt idx="129">
                  <c:v>11.0</c:v>
                </c:pt>
                <c:pt idx="130">
                  <c:v>11.1</c:v>
                </c:pt>
                <c:pt idx="131">
                  <c:v>11.2</c:v>
                </c:pt>
                <c:pt idx="132">
                  <c:v>11.3</c:v>
                </c:pt>
                <c:pt idx="133">
                  <c:v>11.3</c:v>
                </c:pt>
                <c:pt idx="134">
                  <c:v>11.4</c:v>
                </c:pt>
                <c:pt idx="135">
                  <c:v>11.5</c:v>
                </c:pt>
                <c:pt idx="136">
                  <c:v>11.6</c:v>
                </c:pt>
                <c:pt idx="137">
                  <c:v>11.7</c:v>
                </c:pt>
                <c:pt idx="138">
                  <c:v>11.8</c:v>
                </c:pt>
                <c:pt idx="139">
                  <c:v>11.8</c:v>
                </c:pt>
                <c:pt idx="140">
                  <c:v>11.9</c:v>
                </c:pt>
                <c:pt idx="141">
                  <c:v>12.0</c:v>
                </c:pt>
                <c:pt idx="142">
                  <c:v>12.1</c:v>
                </c:pt>
                <c:pt idx="143">
                  <c:v>12.2</c:v>
                </c:pt>
                <c:pt idx="144">
                  <c:v>12.3</c:v>
                </c:pt>
                <c:pt idx="145">
                  <c:v>12.3</c:v>
                </c:pt>
                <c:pt idx="146">
                  <c:v>12.4</c:v>
                </c:pt>
                <c:pt idx="147">
                  <c:v>12.5</c:v>
                </c:pt>
                <c:pt idx="148">
                  <c:v>12.6</c:v>
                </c:pt>
                <c:pt idx="149">
                  <c:v>12.7</c:v>
                </c:pt>
                <c:pt idx="150">
                  <c:v>12.8</c:v>
                </c:pt>
                <c:pt idx="151">
                  <c:v>12.8</c:v>
                </c:pt>
                <c:pt idx="152">
                  <c:v>12.9</c:v>
                </c:pt>
                <c:pt idx="153">
                  <c:v>13.0</c:v>
                </c:pt>
                <c:pt idx="154">
                  <c:v>13.1</c:v>
                </c:pt>
                <c:pt idx="155">
                  <c:v>13.2</c:v>
                </c:pt>
                <c:pt idx="156">
                  <c:v>13.3</c:v>
                </c:pt>
                <c:pt idx="157">
                  <c:v>13.3</c:v>
                </c:pt>
                <c:pt idx="158">
                  <c:v>13.4</c:v>
                </c:pt>
                <c:pt idx="159">
                  <c:v>13.5</c:v>
                </c:pt>
                <c:pt idx="160">
                  <c:v>13.6</c:v>
                </c:pt>
                <c:pt idx="161">
                  <c:v>13.7</c:v>
                </c:pt>
                <c:pt idx="162">
                  <c:v>13.8</c:v>
                </c:pt>
                <c:pt idx="163">
                  <c:v>13.8</c:v>
                </c:pt>
                <c:pt idx="164">
                  <c:v>13.9</c:v>
                </c:pt>
                <c:pt idx="165">
                  <c:v>14.0</c:v>
                </c:pt>
                <c:pt idx="166">
                  <c:v>14.1</c:v>
                </c:pt>
                <c:pt idx="167">
                  <c:v>14.2</c:v>
                </c:pt>
                <c:pt idx="168">
                  <c:v>14.3</c:v>
                </c:pt>
                <c:pt idx="169">
                  <c:v>14.3</c:v>
                </c:pt>
                <c:pt idx="170">
                  <c:v>14.4</c:v>
                </c:pt>
                <c:pt idx="171">
                  <c:v>14.5</c:v>
                </c:pt>
                <c:pt idx="172">
                  <c:v>14.6</c:v>
                </c:pt>
                <c:pt idx="173">
                  <c:v>14.7</c:v>
                </c:pt>
                <c:pt idx="174">
                  <c:v>14.8</c:v>
                </c:pt>
                <c:pt idx="175">
                  <c:v>14.8</c:v>
                </c:pt>
                <c:pt idx="176">
                  <c:v>14.9</c:v>
                </c:pt>
                <c:pt idx="177">
                  <c:v>15.0</c:v>
                </c:pt>
                <c:pt idx="178">
                  <c:v>15.1</c:v>
                </c:pt>
                <c:pt idx="179">
                  <c:v>15.2</c:v>
                </c:pt>
                <c:pt idx="180">
                  <c:v>15.3</c:v>
                </c:pt>
                <c:pt idx="181">
                  <c:v>15.3</c:v>
                </c:pt>
                <c:pt idx="182">
                  <c:v>15.4</c:v>
                </c:pt>
                <c:pt idx="183">
                  <c:v>15.5</c:v>
                </c:pt>
                <c:pt idx="184">
                  <c:v>15.6</c:v>
                </c:pt>
                <c:pt idx="185">
                  <c:v>15.7</c:v>
                </c:pt>
                <c:pt idx="186">
                  <c:v>15.8</c:v>
                </c:pt>
                <c:pt idx="187">
                  <c:v>15.8</c:v>
                </c:pt>
                <c:pt idx="188">
                  <c:v>15.9</c:v>
                </c:pt>
                <c:pt idx="189">
                  <c:v>16.0</c:v>
                </c:pt>
                <c:pt idx="190">
                  <c:v>16.1</c:v>
                </c:pt>
                <c:pt idx="191">
                  <c:v>16.2</c:v>
                </c:pt>
                <c:pt idx="192">
                  <c:v>16.3</c:v>
                </c:pt>
                <c:pt idx="193">
                  <c:v>16.4</c:v>
                </c:pt>
                <c:pt idx="194">
                  <c:v>16.4</c:v>
                </c:pt>
                <c:pt idx="195">
                  <c:v>16.5</c:v>
                </c:pt>
                <c:pt idx="196">
                  <c:v>16.6</c:v>
                </c:pt>
                <c:pt idx="197">
                  <c:v>16.7</c:v>
                </c:pt>
                <c:pt idx="198">
                  <c:v>16.8</c:v>
                </c:pt>
              </c:strCache>
            </c:strRef>
          </c:cat>
          <c:val>
            <c:numRef>
              <c:f>Sheet1!$B$2:$B$200</c:f>
              <c:numCache>
                <c:formatCode>General</c:formatCode>
                <c:ptCount val="199"/>
                <c:pt idx="0">
                  <c:v>131</c:v>
                </c:pt>
                <c:pt idx="1">
                  <c:v>41</c:v>
                </c:pt>
                <c:pt idx="2">
                  <c:v>0</c:v>
                </c:pt>
                <c:pt idx="3">
                  <c:v>5</c:v>
                </c:pt>
                <c:pt idx="4">
                  <c:v>0</c:v>
                </c:pt>
                <c:pt idx="5">
                  <c:v>0</c:v>
                </c:pt>
                <c:pt idx="6">
                  <c:v>84</c:v>
                </c:pt>
                <c:pt idx="7">
                  <c:v>30</c:v>
                </c:pt>
                <c:pt idx="8">
                  <c:v>6</c:v>
                </c:pt>
                <c:pt idx="9">
                  <c:v>10</c:v>
                </c:pt>
                <c:pt idx="10">
                  <c:v>54</c:v>
                </c:pt>
                <c:pt idx="11">
                  <c:v>91</c:v>
                </c:pt>
                <c:pt idx="12">
                  <c:v>41</c:v>
                </c:pt>
                <c:pt idx="13">
                  <c:v>0</c:v>
                </c:pt>
                <c:pt idx="14">
                  <c:v>178</c:v>
                </c:pt>
                <c:pt idx="15">
                  <c:v>236</c:v>
                </c:pt>
                <c:pt idx="16">
                  <c:v>539</c:v>
                </c:pt>
                <c:pt idx="17">
                  <c:v>670</c:v>
                </c:pt>
                <c:pt idx="18">
                  <c:v>631</c:v>
                </c:pt>
                <c:pt idx="19">
                  <c:v>678</c:v>
                </c:pt>
                <c:pt idx="20">
                  <c:v>674</c:v>
                </c:pt>
                <c:pt idx="21">
                  <c:v>564</c:v>
                </c:pt>
                <c:pt idx="22">
                  <c:v>579</c:v>
                </c:pt>
                <c:pt idx="23">
                  <c:v>585</c:v>
                </c:pt>
                <c:pt idx="24">
                  <c:v>397</c:v>
                </c:pt>
                <c:pt idx="25">
                  <c:v>143</c:v>
                </c:pt>
                <c:pt idx="26">
                  <c:v>52</c:v>
                </c:pt>
                <c:pt idx="27">
                  <c:v>29</c:v>
                </c:pt>
                <c:pt idx="28">
                  <c:v>137</c:v>
                </c:pt>
                <c:pt idx="29">
                  <c:v>243</c:v>
                </c:pt>
                <c:pt idx="30">
                  <c:v>233</c:v>
                </c:pt>
                <c:pt idx="31">
                  <c:v>78</c:v>
                </c:pt>
                <c:pt idx="32">
                  <c:v>0</c:v>
                </c:pt>
                <c:pt idx="33">
                  <c:v>61</c:v>
                </c:pt>
                <c:pt idx="34">
                  <c:v>168</c:v>
                </c:pt>
                <c:pt idx="35">
                  <c:v>12</c:v>
                </c:pt>
                <c:pt idx="36">
                  <c:v>0</c:v>
                </c:pt>
                <c:pt idx="37">
                  <c:v>0</c:v>
                </c:pt>
                <c:pt idx="38">
                  <c:v>0</c:v>
                </c:pt>
                <c:pt idx="39">
                  <c:v>0</c:v>
                </c:pt>
                <c:pt idx="40">
                  <c:v>0</c:v>
                </c:pt>
                <c:pt idx="41">
                  <c:v>0</c:v>
                </c:pt>
                <c:pt idx="42">
                  <c:v>0</c:v>
                </c:pt>
                <c:pt idx="43">
                  <c:v>0</c:v>
                </c:pt>
                <c:pt idx="44">
                  <c:v>0</c:v>
                </c:pt>
                <c:pt idx="45">
                  <c:v>139</c:v>
                </c:pt>
                <c:pt idx="46">
                  <c:v>300</c:v>
                </c:pt>
                <c:pt idx="47">
                  <c:v>125</c:v>
                </c:pt>
                <c:pt idx="48">
                  <c:v>6</c:v>
                </c:pt>
                <c:pt idx="49">
                  <c:v>0</c:v>
                </c:pt>
                <c:pt idx="50">
                  <c:v>0</c:v>
                </c:pt>
                <c:pt idx="51">
                  <c:v>0</c:v>
                </c:pt>
                <c:pt idx="52">
                  <c:v>0</c:v>
                </c:pt>
                <c:pt idx="53">
                  <c:v>137</c:v>
                </c:pt>
                <c:pt idx="54">
                  <c:v>58</c:v>
                </c:pt>
                <c:pt idx="55">
                  <c:v>7</c:v>
                </c:pt>
                <c:pt idx="56">
                  <c:v>0</c:v>
                </c:pt>
                <c:pt idx="57">
                  <c:v>0</c:v>
                </c:pt>
                <c:pt idx="58">
                  <c:v>0</c:v>
                </c:pt>
                <c:pt idx="59">
                  <c:v>10</c:v>
                </c:pt>
                <c:pt idx="60">
                  <c:v>0</c:v>
                </c:pt>
                <c:pt idx="61">
                  <c:v>49</c:v>
                </c:pt>
                <c:pt idx="62">
                  <c:v>21</c:v>
                </c:pt>
                <c:pt idx="63">
                  <c:v>37</c:v>
                </c:pt>
                <c:pt idx="64">
                  <c:v>157</c:v>
                </c:pt>
                <c:pt idx="65">
                  <c:v>195</c:v>
                </c:pt>
                <c:pt idx="66">
                  <c:v>182</c:v>
                </c:pt>
                <c:pt idx="67">
                  <c:v>248</c:v>
                </c:pt>
                <c:pt idx="68">
                  <c:v>251</c:v>
                </c:pt>
                <c:pt idx="69">
                  <c:v>188</c:v>
                </c:pt>
                <c:pt idx="70">
                  <c:v>191</c:v>
                </c:pt>
                <c:pt idx="71">
                  <c:v>118</c:v>
                </c:pt>
                <c:pt idx="72">
                  <c:v>86</c:v>
                </c:pt>
                <c:pt idx="73">
                  <c:v>78</c:v>
                </c:pt>
                <c:pt idx="74">
                  <c:v>68</c:v>
                </c:pt>
                <c:pt idx="75">
                  <c:v>115</c:v>
                </c:pt>
                <c:pt idx="76">
                  <c:v>334</c:v>
                </c:pt>
                <c:pt idx="77">
                  <c:v>415</c:v>
                </c:pt>
                <c:pt idx="78">
                  <c:v>811</c:v>
                </c:pt>
                <c:pt idx="79">
                  <c:v>639</c:v>
                </c:pt>
                <c:pt idx="80">
                  <c:v>811</c:v>
                </c:pt>
                <c:pt idx="81">
                  <c:v>844</c:v>
                </c:pt>
                <c:pt idx="82">
                  <c:v>511</c:v>
                </c:pt>
                <c:pt idx="83">
                  <c:v>302</c:v>
                </c:pt>
                <c:pt idx="84">
                  <c:v>1386</c:v>
                </c:pt>
                <c:pt idx="85">
                  <c:v>1679</c:v>
                </c:pt>
                <c:pt idx="86">
                  <c:v>761</c:v>
                </c:pt>
                <c:pt idx="87">
                  <c:v>506</c:v>
                </c:pt>
                <c:pt idx="88">
                  <c:v>581</c:v>
                </c:pt>
                <c:pt idx="89">
                  <c:v>1213</c:v>
                </c:pt>
                <c:pt idx="90">
                  <c:v>516</c:v>
                </c:pt>
                <c:pt idx="91">
                  <c:v>492</c:v>
                </c:pt>
                <c:pt idx="92">
                  <c:v>322</c:v>
                </c:pt>
                <c:pt idx="93">
                  <c:v>312</c:v>
                </c:pt>
                <c:pt idx="94">
                  <c:v>386</c:v>
                </c:pt>
                <c:pt idx="95">
                  <c:v>518</c:v>
                </c:pt>
                <c:pt idx="96">
                  <c:v>539</c:v>
                </c:pt>
                <c:pt idx="97">
                  <c:v>234</c:v>
                </c:pt>
                <c:pt idx="98">
                  <c:v>238</c:v>
                </c:pt>
                <c:pt idx="99">
                  <c:v>263</c:v>
                </c:pt>
                <c:pt idx="100">
                  <c:v>190</c:v>
                </c:pt>
                <c:pt idx="101">
                  <c:v>72</c:v>
                </c:pt>
                <c:pt idx="102">
                  <c:v>250</c:v>
                </c:pt>
                <c:pt idx="103">
                  <c:v>230</c:v>
                </c:pt>
                <c:pt idx="104">
                  <c:v>397</c:v>
                </c:pt>
                <c:pt idx="105">
                  <c:v>409</c:v>
                </c:pt>
                <c:pt idx="106">
                  <c:v>1071</c:v>
                </c:pt>
                <c:pt idx="107">
                  <c:v>570</c:v>
                </c:pt>
                <c:pt idx="108">
                  <c:v>345</c:v>
                </c:pt>
                <c:pt idx="109">
                  <c:v>1331</c:v>
                </c:pt>
                <c:pt idx="110">
                  <c:v>1261</c:v>
                </c:pt>
                <c:pt idx="111">
                  <c:v>620</c:v>
                </c:pt>
                <c:pt idx="112">
                  <c:v>719</c:v>
                </c:pt>
                <c:pt idx="113">
                  <c:v>870</c:v>
                </c:pt>
                <c:pt idx="114">
                  <c:v>724</c:v>
                </c:pt>
                <c:pt idx="115">
                  <c:v>450</c:v>
                </c:pt>
                <c:pt idx="116">
                  <c:v>559</c:v>
                </c:pt>
                <c:pt idx="117">
                  <c:v>457</c:v>
                </c:pt>
                <c:pt idx="118">
                  <c:v>1764</c:v>
                </c:pt>
                <c:pt idx="119">
                  <c:v>762</c:v>
                </c:pt>
                <c:pt idx="120">
                  <c:v>401</c:v>
                </c:pt>
                <c:pt idx="121">
                  <c:v>1188</c:v>
                </c:pt>
                <c:pt idx="122">
                  <c:v>389</c:v>
                </c:pt>
                <c:pt idx="123">
                  <c:v>190</c:v>
                </c:pt>
                <c:pt idx="124">
                  <c:v>203</c:v>
                </c:pt>
                <c:pt idx="125">
                  <c:v>158</c:v>
                </c:pt>
                <c:pt idx="126">
                  <c:v>112</c:v>
                </c:pt>
                <c:pt idx="127">
                  <c:v>508</c:v>
                </c:pt>
                <c:pt idx="128">
                  <c:v>390</c:v>
                </c:pt>
                <c:pt idx="129">
                  <c:v>123</c:v>
                </c:pt>
                <c:pt idx="130">
                  <c:v>43</c:v>
                </c:pt>
                <c:pt idx="131">
                  <c:v>207</c:v>
                </c:pt>
                <c:pt idx="132">
                  <c:v>266</c:v>
                </c:pt>
                <c:pt idx="133">
                  <c:v>783</c:v>
                </c:pt>
                <c:pt idx="134">
                  <c:v>855</c:v>
                </c:pt>
                <c:pt idx="135">
                  <c:v>299</c:v>
                </c:pt>
                <c:pt idx="136">
                  <c:v>167</c:v>
                </c:pt>
                <c:pt idx="137">
                  <c:v>330</c:v>
                </c:pt>
                <c:pt idx="138">
                  <c:v>99</c:v>
                </c:pt>
                <c:pt idx="139">
                  <c:v>144</c:v>
                </c:pt>
                <c:pt idx="140">
                  <c:v>798</c:v>
                </c:pt>
                <c:pt idx="141">
                  <c:v>373</c:v>
                </c:pt>
                <c:pt idx="142">
                  <c:v>1024</c:v>
                </c:pt>
                <c:pt idx="143">
                  <c:v>359</c:v>
                </c:pt>
                <c:pt idx="144">
                  <c:v>132</c:v>
                </c:pt>
                <c:pt idx="145">
                  <c:v>214</c:v>
                </c:pt>
                <c:pt idx="146">
                  <c:v>81</c:v>
                </c:pt>
                <c:pt idx="147">
                  <c:v>539</c:v>
                </c:pt>
                <c:pt idx="148">
                  <c:v>1012</c:v>
                </c:pt>
                <c:pt idx="149">
                  <c:v>983</c:v>
                </c:pt>
                <c:pt idx="150">
                  <c:v>931</c:v>
                </c:pt>
                <c:pt idx="151">
                  <c:v>828</c:v>
                </c:pt>
                <c:pt idx="152">
                  <c:v>385</c:v>
                </c:pt>
                <c:pt idx="153">
                  <c:v>229</c:v>
                </c:pt>
                <c:pt idx="154">
                  <c:v>85</c:v>
                </c:pt>
                <c:pt idx="155">
                  <c:v>276</c:v>
                </c:pt>
                <c:pt idx="156">
                  <c:v>113</c:v>
                </c:pt>
                <c:pt idx="157">
                  <c:v>427</c:v>
                </c:pt>
                <c:pt idx="158">
                  <c:v>905</c:v>
                </c:pt>
                <c:pt idx="159">
                  <c:v>364</c:v>
                </c:pt>
                <c:pt idx="160">
                  <c:v>106</c:v>
                </c:pt>
                <c:pt idx="161">
                  <c:v>86</c:v>
                </c:pt>
                <c:pt idx="162">
                  <c:v>337</c:v>
                </c:pt>
                <c:pt idx="163">
                  <c:v>130</c:v>
                </c:pt>
                <c:pt idx="164">
                  <c:v>493</c:v>
                </c:pt>
                <c:pt idx="165">
                  <c:v>130</c:v>
                </c:pt>
                <c:pt idx="166">
                  <c:v>0</c:v>
                </c:pt>
                <c:pt idx="167">
                  <c:v>0</c:v>
                </c:pt>
                <c:pt idx="168">
                  <c:v>0</c:v>
                </c:pt>
                <c:pt idx="169">
                  <c:v>241</c:v>
                </c:pt>
                <c:pt idx="170">
                  <c:v>63</c:v>
                </c:pt>
                <c:pt idx="171">
                  <c:v>100</c:v>
                </c:pt>
                <c:pt idx="172">
                  <c:v>344</c:v>
                </c:pt>
                <c:pt idx="173">
                  <c:v>413</c:v>
                </c:pt>
                <c:pt idx="174">
                  <c:v>637</c:v>
                </c:pt>
                <c:pt idx="175">
                  <c:v>329</c:v>
                </c:pt>
                <c:pt idx="176">
                  <c:v>117</c:v>
                </c:pt>
                <c:pt idx="177">
                  <c:v>67</c:v>
                </c:pt>
                <c:pt idx="178">
                  <c:v>335</c:v>
                </c:pt>
                <c:pt idx="179">
                  <c:v>496</c:v>
                </c:pt>
                <c:pt idx="180">
                  <c:v>485</c:v>
                </c:pt>
                <c:pt idx="181">
                  <c:v>261</c:v>
                </c:pt>
                <c:pt idx="182">
                  <c:v>317</c:v>
                </c:pt>
                <c:pt idx="183">
                  <c:v>221</c:v>
                </c:pt>
                <c:pt idx="184">
                  <c:v>291</c:v>
                </c:pt>
                <c:pt idx="185">
                  <c:v>483</c:v>
                </c:pt>
                <c:pt idx="186">
                  <c:v>736</c:v>
                </c:pt>
                <c:pt idx="187">
                  <c:v>244</c:v>
                </c:pt>
                <c:pt idx="188">
                  <c:v>451</c:v>
                </c:pt>
                <c:pt idx="189">
                  <c:v>546</c:v>
                </c:pt>
                <c:pt idx="190">
                  <c:v>226</c:v>
                </c:pt>
                <c:pt idx="191">
                  <c:v>387</c:v>
                </c:pt>
                <c:pt idx="192">
                  <c:v>299</c:v>
                </c:pt>
                <c:pt idx="193">
                  <c:v>234</c:v>
                </c:pt>
                <c:pt idx="194">
                  <c:v>387</c:v>
                </c:pt>
                <c:pt idx="195">
                  <c:v>513</c:v>
                </c:pt>
                <c:pt idx="196">
                  <c:v>568</c:v>
                </c:pt>
                <c:pt idx="197">
                  <c:v>187</c:v>
                </c:pt>
                <c:pt idx="198">
                  <c:v>82</c:v>
                </c:pt>
              </c:numCache>
            </c:numRef>
          </c:val>
          <c:smooth val="0"/>
          <c:extLst>
            <c:ext xmlns:c16="http://schemas.microsoft.com/office/drawing/2014/chart" uri="{C3380CC4-5D6E-409C-BE32-E72D297353CC}">
              <c16:uniqueId val="{00000000-E1B7-4154-AB13-00C85ED6B9BC}"/>
            </c:ext>
          </c:extLst>
        </c:ser>
        <c:ser>
          <c:idx val="1"/>
          <c:order val="1"/>
          <c:tx>
            <c:strRef>
              <c:f>Sheet1!$C$1</c:f>
              <c:strCache>
                <c:ptCount val="1"/>
                <c:pt idx="0">
                  <c:v>High band (660 ppb)</c:v>
                </c:pt>
              </c:strCache>
            </c:strRef>
          </c:tx>
          <c:spPr>
            <a:ln w="25400" cap="flat">
              <a:solidFill>
                <a:srgbClr val="B3261E"/>
              </a:solidFill>
              <a:prstDash val="solid"/>
              <a:round/>
            </a:ln>
            <a:effectLst/>
          </c:spPr>
          <c:marker>
            <c:symbol val="none"/>
          </c:marker>
          <c:cat>
            <c:strRef>
              <c:f>Sheet1!$A$2:$A$200</c:f>
              <c:strCache>
                <c:ptCount val="199"/>
                <c:pt idx="0">
                  <c:v>0.0</c:v>
                </c:pt>
                <c:pt idx="1">
                  <c:v>0.1</c:v>
                </c:pt>
                <c:pt idx="2">
                  <c:v>0.2</c:v>
                </c:pt>
                <c:pt idx="3">
                  <c:v>0.3</c:v>
                </c:pt>
                <c:pt idx="4">
                  <c:v>0.3</c:v>
                </c:pt>
                <c:pt idx="5">
                  <c:v>0.4</c:v>
                </c:pt>
                <c:pt idx="6">
                  <c:v>0.5</c:v>
                </c:pt>
                <c:pt idx="7">
                  <c:v>0.6</c:v>
                </c:pt>
                <c:pt idx="8">
                  <c:v>0.7</c:v>
                </c:pt>
                <c:pt idx="9">
                  <c:v>0.8</c:v>
                </c:pt>
                <c:pt idx="10">
                  <c:v>0.8</c:v>
                </c:pt>
                <c:pt idx="11">
                  <c:v>0.9</c:v>
                </c:pt>
                <c:pt idx="12">
                  <c:v>1.0</c:v>
                </c:pt>
                <c:pt idx="13">
                  <c:v>1.1</c:v>
                </c:pt>
                <c:pt idx="14">
                  <c:v>1.2</c:v>
                </c:pt>
                <c:pt idx="15">
                  <c:v>1.3</c:v>
                </c:pt>
                <c:pt idx="16">
                  <c:v>1.3</c:v>
                </c:pt>
                <c:pt idx="17">
                  <c:v>1.4</c:v>
                </c:pt>
                <c:pt idx="18">
                  <c:v>1.5</c:v>
                </c:pt>
                <c:pt idx="19">
                  <c:v>1.6</c:v>
                </c:pt>
                <c:pt idx="20">
                  <c:v>1.7</c:v>
                </c:pt>
                <c:pt idx="21">
                  <c:v>1.8</c:v>
                </c:pt>
                <c:pt idx="22">
                  <c:v>1.8</c:v>
                </c:pt>
                <c:pt idx="23">
                  <c:v>1.9</c:v>
                </c:pt>
                <c:pt idx="24">
                  <c:v>2.0</c:v>
                </c:pt>
                <c:pt idx="25">
                  <c:v>2.1</c:v>
                </c:pt>
                <c:pt idx="26">
                  <c:v>2.2</c:v>
                </c:pt>
                <c:pt idx="27">
                  <c:v>2.3</c:v>
                </c:pt>
                <c:pt idx="28">
                  <c:v>2.3</c:v>
                </c:pt>
                <c:pt idx="29">
                  <c:v>2.4</c:v>
                </c:pt>
                <c:pt idx="30">
                  <c:v>2.5</c:v>
                </c:pt>
                <c:pt idx="31">
                  <c:v>2.6</c:v>
                </c:pt>
                <c:pt idx="32">
                  <c:v>2.7</c:v>
                </c:pt>
                <c:pt idx="33">
                  <c:v>2.8</c:v>
                </c:pt>
                <c:pt idx="34">
                  <c:v>2.8</c:v>
                </c:pt>
                <c:pt idx="35">
                  <c:v>2.9</c:v>
                </c:pt>
                <c:pt idx="36">
                  <c:v>3.0</c:v>
                </c:pt>
                <c:pt idx="37">
                  <c:v>3.1</c:v>
                </c:pt>
                <c:pt idx="38">
                  <c:v>3.2</c:v>
                </c:pt>
                <c:pt idx="39">
                  <c:v>3.3</c:v>
                </c:pt>
                <c:pt idx="40">
                  <c:v>3.3</c:v>
                </c:pt>
                <c:pt idx="41">
                  <c:v>3.4</c:v>
                </c:pt>
                <c:pt idx="42">
                  <c:v>3.5</c:v>
                </c:pt>
                <c:pt idx="43">
                  <c:v>3.6</c:v>
                </c:pt>
                <c:pt idx="44">
                  <c:v>3.7</c:v>
                </c:pt>
                <c:pt idx="45">
                  <c:v>3.8</c:v>
                </c:pt>
                <c:pt idx="46">
                  <c:v>3.8</c:v>
                </c:pt>
                <c:pt idx="47">
                  <c:v>3.9</c:v>
                </c:pt>
                <c:pt idx="48">
                  <c:v>4.0</c:v>
                </c:pt>
                <c:pt idx="49">
                  <c:v>4.1</c:v>
                </c:pt>
                <c:pt idx="50">
                  <c:v>4.2</c:v>
                </c:pt>
                <c:pt idx="51">
                  <c:v>4.3</c:v>
                </c:pt>
                <c:pt idx="52">
                  <c:v>4.3</c:v>
                </c:pt>
                <c:pt idx="53">
                  <c:v>4.4</c:v>
                </c:pt>
                <c:pt idx="54">
                  <c:v>4.5</c:v>
                </c:pt>
                <c:pt idx="55">
                  <c:v>4.6</c:v>
                </c:pt>
                <c:pt idx="56">
                  <c:v>4.7</c:v>
                </c:pt>
                <c:pt idx="57">
                  <c:v>4.8</c:v>
                </c:pt>
                <c:pt idx="58">
                  <c:v>4.8</c:v>
                </c:pt>
                <c:pt idx="59">
                  <c:v>4.9</c:v>
                </c:pt>
                <c:pt idx="60">
                  <c:v>5.0</c:v>
                </c:pt>
                <c:pt idx="61">
                  <c:v>5.1</c:v>
                </c:pt>
                <c:pt idx="62">
                  <c:v>5.4</c:v>
                </c:pt>
                <c:pt idx="63">
                  <c:v>5.5</c:v>
                </c:pt>
                <c:pt idx="64">
                  <c:v>5.6</c:v>
                </c:pt>
                <c:pt idx="65">
                  <c:v>5.7</c:v>
                </c:pt>
                <c:pt idx="66">
                  <c:v>5.8</c:v>
                </c:pt>
                <c:pt idx="67">
                  <c:v>5.8</c:v>
                </c:pt>
                <c:pt idx="68">
                  <c:v>5.9</c:v>
                </c:pt>
                <c:pt idx="69">
                  <c:v>6.0</c:v>
                </c:pt>
                <c:pt idx="70">
                  <c:v>6.1</c:v>
                </c:pt>
                <c:pt idx="71">
                  <c:v>6.2</c:v>
                </c:pt>
                <c:pt idx="72">
                  <c:v>6.3</c:v>
                </c:pt>
                <c:pt idx="73">
                  <c:v>6.3</c:v>
                </c:pt>
                <c:pt idx="74">
                  <c:v>6.4</c:v>
                </c:pt>
                <c:pt idx="75">
                  <c:v>6.5</c:v>
                </c:pt>
                <c:pt idx="76">
                  <c:v>6.6</c:v>
                </c:pt>
                <c:pt idx="77">
                  <c:v>6.7</c:v>
                </c:pt>
                <c:pt idx="78">
                  <c:v>6.8</c:v>
                </c:pt>
                <c:pt idx="79">
                  <c:v>6.8</c:v>
                </c:pt>
                <c:pt idx="80">
                  <c:v>6.9</c:v>
                </c:pt>
                <c:pt idx="81">
                  <c:v>7.0</c:v>
                </c:pt>
                <c:pt idx="82">
                  <c:v>7.1</c:v>
                </c:pt>
                <c:pt idx="83">
                  <c:v>7.2</c:v>
                </c:pt>
                <c:pt idx="84">
                  <c:v>7.3</c:v>
                </c:pt>
                <c:pt idx="85">
                  <c:v>7.3</c:v>
                </c:pt>
                <c:pt idx="86">
                  <c:v>7.4</c:v>
                </c:pt>
                <c:pt idx="87">
                  <c:v>7.5</c:v>
                </c:pt>
                <c:pt idx="88">
                  <c:v>7.6</c:v>
                </c:pt>
                <c:pt idx="89">
                  <c:v>7.7</c:v>
                </c:pt>
                <c:pt idx="90">
                  <c:v>7.8</c:v>
                </c:pt>
                <c:pt idx="91">
                  <c:v>7.8</c:v>
                </c:pt>
                <c:pt idx="92">
                  <c:v>7.9</c:v>
                </c:pt>
                <c:pt idx="93">
                  <c:v>8.0</c:v>
                </c:pt>
                <c:pt idx="94">
                  <c:v>8.1</c:v>
                </c:pt>
                <c:pt idx="95">
                  <c:v>8.2</c:v>
                </c:pt>
                <c:pt idx="96">
                  <c:v>8.3</c:v>
                </c:pt>
                <c:pt idx="97">
                  <c:v>8.3</c:v>
                </c:pt>
                <c:pt idx="98">
                  <c:v>8.4</c:v>
                </c:pt>
                <c:pt idx="99">
                  <c:v>8.5</c:v>
                </c:pt>
                <c:pt idx="100">
                  <c:v>8.6</c:v>
                </c:pt>
                <c:pt idx="101">
                  <c:v>8.7</c:v>
                </c:pt>
                <c:pt idx="102">
                  <c:v>8.8</c:v>
                </c:pt>
                <c:pt idx="103">
                  <c:v>8.8</c:v>
                </c:pt>
                <c:pt idx="104">
                  <c:v>8.9</c:v>
                </c:pt>
                <c:pt idx="105">
                  <c:v>9.0</c:v>
                </c:pt>
                <c:pt idx="106">
                  <c:v>9.1</c:v>
                </c:pt>
                <c:pt idx="107">
                  <c:v>9.2</c:v>
                </c:pt>
                <c:pt idx="108">
                  <c:v>9.3</c:v>
                </c:pt>
                <c:pt idx="109">
                  <c:v>9.3</c:v>
                </c:pt>
                <c:pt idx="110">
                  <c:v>9.4</c:v>
                </c:pt>
                <c:pt idx="111">
                  <c:v>9.5</c:v>
                </c:pt>
                <c:pt idx="112">
                  <c:v>9.6</c:v>
                </c:pt>
                <c:pt idx="113">
                  <c:v>9.7</c:v>
                </c:pt>
                <c:pt idx="114">
                  <c:v>9.8</c:v>
                </c:pt>
                <c:pt idx="115">
                  <c:v>9.8</c:v>
                </c:pt>
                <c:pt idx="116">
                  <c:v>9.9</c:v>
                </c:pt>
                <c:pt idx="117">
                  <c:v>10.0</c:v>
                </c:pt>
                <c:pt idx="118">
                  <c:v>10.1</c:v>
                </c:pt>
                <c:pt idx="119">
                  <c:v>10.2</c:v>
                </c:pt>
                <c:pt idx="120">
                  <c:v>10.3</c:v>
                </c:pt>
                <c:pt idx="121">
                  <c:v>10.3</c:v>
                </c:pt>
                <c:pt idx="122">
                  <c:v>10.4</c:v>
                </c:pt>
                <c:pt idx="123">
                  <c:v>10.5</c:v>
                </c:pt>
                <c:pt idx="124">
                  <c:v>10.6</c:v>
                </c:pt>
                <c:pt idx="125">
                  <c:v>10.7</c:v>
                </c:pt>
                <c:pt idx="126">
                  <c:v>10.8</c:v>
                </c:pt>
                <c:pt idx="127">
                  <c:v>10.8</c:v>
                </c:pt>
                <c:pt idx="128">
                  <c:v>10.9</c:v>
                </c:pt>
                <c:pt idx="129">
                  <c:v>11.0</c:v>
                </c:pt>
                <c:pt idx="130">
                  <c:v>11.1</c:v>
                </c:pt>
                <c:pt idx="131">
                  <c:v>11.2</c:v>
                </c:pt>
                <c:pt idx="132">
                  <c:v>11.3</c:v>
                </c:pt>
                <c:pt idx="133">
                  <c:v>11.3</c:v>
                </c:pt>
                <c:pt idx="134">
                  <c:v>11.4</c:v>
                </c:pt>
                <c:pt idx="135">
                  <c:v>11.5</c:v>
                </c:pt>
                <c:pt idx="136">
                  <c:v>11.6</c:v>
                </c:pt>
                <c:pt idx="137">
                  <c:v>11.7</c:v>
                </c:pt>
                <c:pt idx="138">
                  <c:v>11.8</c:v>
                </c:pt>
                <c:pt idx="139">
                  <c:v>11.8</c:v>
                </c:pt>
                <c:pt idx="140">
                  <c:v>11.9</c:v>
                </c:pt>
                <c:pt idx="141">
                  <c:v>12.0</c:v>
                </c:pt>
                <c:pt idx="142">
                  <c:v>12.1</c:v>
                </c:pt>
                <c:pt idx="143">
                  <c:v>12.2</c:v>
                </c:pt>
                <c:pt idx="144">
                  <c:v>12.3</c:v>
                </c:pt>
                <c:pt idx="145">
                  <c:v>12.3</c:v>
                </c:pt>
                <c:pt idx="146">
                  <c:v>12.4</c:v>
                </c:pt>
                <c:pt idx="147">
                  <c:v>12.5</c:v>
                </c:pt>
                <c:pt idx="148">
                  <c:v>12.6</c:v>
                </c:pt>
                <c:pt idx="149">
                  <c:v>12.7</c:v>
                </c:pt>
                <c:pt idx="150">
                  <c:v>12.8</c:v>
                </c:pt>
                <c:pt idx="151">
                  <c:v>12.8</c:v>
                </c:pt>
                <c:pt idx="152">
                  <c:v>12.9</c:v>
                </c:pt>
                <c:pt idx="153">
                  <c:v>13.0</c:v>
                </c:pt>
                <c:pt idx="154">
                  <c:v>13.1</c:v>
                </c:pt>
                <c:pt idx="155">
                  <c:v>13.2</c:v>
                </c:pt>
                <c:pt idx="156">
                  <c:v>13.3</c:v>
                </c:pt>
                <c:pt idx="157">
                  <c:v>13.3</c:v>
                </c:pt>
                <c:pt idx="158">
                  <c:v>13.4</c:v>
                </c:pt>
                <c:pt idx="159">
                  <c:v>13.5</c:v>
                </c:pt>
                <c:pt idx="160">
                  <c:v>13.6</c:v>
                </c:pt>
                <c:pt idx="161">
                  <c:v>13.7</c:v>
                </c:pt>
                <c:pt idx="162">
                  <c:v>13.8</c:v>
                </c:pt>
                <c:pt idx="163">
                  <c:v>13.8</c:v>
                </c:pt>
                <c:pt idx="164">
                  <c:v>13.9</c:v>
                </c:pt>
                <c:pt idx="165">
                  <c:v>14.0</c:v>
                </c:pt>
                <c:pt idx="166">
                  <c:v>14.1</c:v>
                </c:pt>
                <c:pt idx="167">
                  <c:v>14.2</c:v>
                </c:pt>
                <c:pt idx="168">
                  <c:v>14.3</c:v>
                </c:pt>
                <c:pt idx="169">
                  <c:v>14.3</c:v>
                </c:pt>
                <c:pt idx="170">
                  <c:v>14.4</c:v>
                </c:pt>
                <c:pt idx="171">
                  <c:v>14.5</c:v>
                </c:pt>
                <c:pt idx="172">
                  <c:v>14.6</c:v>
                </c:pt>
                <c:pt idx="173">
                  <c:v>14.7</c:v>
                </c:pt>
                <c:pt idx="174">
                  <c:v>14.8</c:v>
                </c:pt>
                <c:pt idx="175">
                  <c:v>14.8</c:v>
                </c:pt>
                <c:pt idx="176">
                  <c:v>14.9</c:v>
                </c:pt>
                <c:pt idx="177">
                  <c:v>15.0</c:v>
                </c:pt>
                <c:pt idx="178">
                  <c:v>15.1</c:v>
                </c:pt>
                <c:pt idx="179">
                  <c:v>15.2</c:v>
                </c:pt>
                <c:pt idx="180">
                  <c:v>15.3</c:v>
                </c:pt>
                <c:pt idx="181">
                  <c:v>15.3</c:v>
                </c:pt>
                <c:pt idx="182">
                  <c:v>15.4</c:v>
                </c:pt>
                <c:pt idx="183">
                  <c:v>15.5</c:v>
                </c:pt>
                <c:pt idx="184">
                  <c:v>15.6</c:v>
                </c:pt>
                <c:pt idx="185">
                  <c:v>15.7</c:v>
                </c:pt>
                <c:pt idx="186">
                  <c:v>15.8</c:v>
                </c:pt>
                <c:pt idx="187">
                  <c:v>15.8</c:v>
                </c:pt>
                <c:pt idx="188">
                  <c:v>15.9</c:v>
                </c:pt>
                <c:pt idx="189">
                  <c:v>16.0</c:v>
                </c:pt>
                <c:pt idx="190">
                  <c:v>16.1</c:v>
                </c:pt>
                <c:pt idx="191">
                  <c:v>16.2</c:v>
                </c:pt>
                <c:pt idx="192">
                  <c:v>16.3</c:v>
                </c:pt>
                <c:pt idx="193">
                  <c:v>16.4</c:v>
                </c:pt>
                <c:pt idx="194">
                  <c:v>16.4</c:v>
                </c:pt>
                <c:pt idx="195">
                  <c:v>16.5</c:v>
                </c:pt>
                <c:pt idx="196">
                  <c:v>16.6</c:v>
                </c:pt>
                <c:pt idx="197">
                  <c:v>16.7</c:v>
                </c:pt>
                <c:pt idx="198">
                  <c:v>16.8</c:v>
                </c:pt>
              </c:strCache>
            </c:strRef>
          </c:cat>
          <c:val>
            <c:numRef>
              <c:f>Sheet1!$C$2:$C$200</c:f>
              <c:numCache>
                <c:formatCode>General</c:formatCode>
                <c:ptCount val="199"/>
                <c:pt idx="0">
                  <c:v>660</c:v>
                </c:pt>
                <c:pt idx="1">
                  <c:v>660</c:v>
                </c:pt>
                <c:pt idx="2">
                  <c:v>660</c:v>
                </c:pt>
                <c:pt idx="3">
                  <c:v>660</c:v>
                </c:pt>
                <c:pt idx="4">
                  <c:v>660</c:v>
                </c:pt>
                <c:pt idx="5">
                  <c:v>660</c:v>
                </c:pt>
                <c:pt idx="6">
                  <c:v>660</c:v>
                </c:pt>
                <c:pt idx="7">
                  <c:v>660</c:v>
                </c:pt>
                <c:pt idx="8">
                  <c:v>660</c:v>
                </c:pt>
                <c:pt idx="9">
                  <c:v>660</c:v>
                </c:pt>
                <c:pt idx="10">
                  <c:v>660</c:v>
                </c:pt>
                <c:pt idx="11">
                  <c:v>660</c:v>
                </c:pt>
                <c:pt idx="12">
                  <c:v>660</c:v>
                </c:pt>
                <c:pt idx="13">
                  <c:v>660</c:v>
                </c:pt>
                <c:pt idx="14">
                  <c:v>660</c:v>
                </c:pt>
                <c:pt idx="15">
                  <c:v>660</c:v>
                </c:pt>
                <c:pt idx="16">
                  <c:v>660</c:v>
                </c:pt>
                <c:pt idx="17">
                  <c:v>660</c:v>
                </c:pt>
                <c:pt idx="18">
                  <c:v>660</c:v>
                </c:pt>
                <c:pt idx="19">
                  <c:v>660</c:v>
                </c:pt>
                <c:pt idx="20">
                  <c:v>660</c:v>
                </c:pt>
                <c:pt idx="21">
                  <c:v>660</c:v>
                </c:pt>
                <c:pt idx="22">
                  <c:v>660</c:v>
                </c:pt>
                <c:pt idx="23">
                  <c:v>660</c:v>
                </c:pt>
                <c:pt idx="24">
                  <c:v>660</c:v>
                </c:pt>
                <c:pt idx="25">
                  <c:v>660</c:v>
                </c:pt>
                <c:pt idx="26">
                  <c:v>660</c:v>
                </c:pt>
                <c:pt idx="27">
                  <c:v>660</c:v>
                </c:pt>
                <c:pt idx="28">
                  <c:v>660</c:v>
                </c:pt>
                <c:pt idx="29">
                  <c:v>660</c:v>
                </c:pt>
                <c:pt idx="30">
                  <c:v>660</c:v>
                </c:pt>
                <c:pt idx="31">
                  <c:v>660</c:v>
                </c:pt>
                <c:pt idx="32">
                  <c:v>660</c:v>
                </c:pt>
                <c:pt idx="33">
                  <c:v>660</c:v>
                </c:pt>
                <c:pt idx="34">
                  <c:v>660</c:v>
                </c:pt>
                <c:pt idx="35">
                  <c:v>660</c:v>
                </c:pt>
                <c:pt idx="36">
                  <c:v>660</c:v>
                </c:pt>
                <c:pt idx="37">
                  <c:v>660</c:v>
                </c:pt>
                <c:pt idx="38">
                  <c:v>660</c:v>
                </c:pt>
                <c:pt idx="39">
                  <c:v>660</c:v>
                </c:pt>
                <c:pt idx="40">
                  <c:v>660</c:v>
                </c:pt>
                <c:pt idx="41">
                  <c:v>660</c:v>
                </c:pt>
                <c:pt idx="42">
                  <c:v>660</c:v>
                </c:pt>
                <c:pt idx="43">
                  <c:v>660</c:v>
                </c:pt>
                <c:pt idx="44">
                  <c:v>660</c:v>
                </c:pt>
                <c:pt idx="45">
                  <c:v>660</c:v>
                </c:pt>
                <c:pt idx="46">
                  <c:v>660</c:v>
                </c:pt>
                <c:pt idx="47">
                  <c:v>660</c:v>
                </c:pt>
                <c:pt idx="48">
                  <c:v>660</c:v>
                </c:pt>
                <c:pt idx="49">
                  <c:v>660</c:v>
                </c:pt>
                <c:pt idx="50">
                  <c:v>660</c:v>
                </c:pt>
                <c:pt idx="51">
                  <c:v>660</c:v>
                </c:pt>
                <c:pt idx="52">
                  <c:v>660</c:v>
                </c:pt>
                <c:pt idx="53">
                  <c:v>660</c:v>
                </c:pt>
                <c:pt idx="54">
                  <c:v>660</c:v>
                </c:pt>
                <c:pt idx="55">
                  <c:v>660</c:v>
                </c:pt>
                <c:pt idx="56">
                  <c:v>660</c:v>
                </c:pt>
                <c:pt idx="57">
                  <c:v>660</c:v>
                </c:pt>
                <c:pt idx="58">
                  <c:v>660</c:v>
                </c:pt>
                <c:pt idx="59">
                  <c:v>660</c:v>
                </c:pt>
                <c:pt idx="60">
                  <c:v>660</c:v>
                </c:pt>
                <c:pt idx="61">
                  <c:v>660</c:v>
                </c:pt>
                <c:pt idx="62">
                  <c:v>660</c:v>
                </c:pt>
                <c:pt idx="63">
                  <c:v>660</c:v>
                </c:pt>
                <c:pt idx="64">
                  <c:v>660</c:v>
                </c:pt>
                <c:pt idx="65">
                  <c:v>660</c:v>
                </c:pt>
                <c:pt idx="66">
                  <c:v>660</c:v>
                </c:pt>
                <c:pt idx="67">
                  <c:v>660</c:v>
                </c:pt>
                <c:pt idx="68">
                  <c:v>660</c:v>
                </c:pt>
                <c:pt idx="69">
                  <c:v>660</c:v>
                </c:pt>
                <c:pt idx="70">
                  <c:v>660</c:v>
                </c:pt>
                <c:pt idx="71">
                  <c:v>660</c:v>
                </c:pt>
                <c:pt idx="72">
                  <c:v>660</c:v>
                </c:pt>
                <c:pt idx="73">
                  <c:v>660</c:v>
                </c:pt>
                <c:pt idx="74">
                  <c:v>660</c:v>
                </c:pt>
                <c:pt idx="75">
                  <c:v>660</c:v>
                </c:pt>
                <c:pt idx="76">
                  <c:v>660</c:v>
                </c:pt>
                <c:pt idx="77">
                  <c:v>660</c:v>
                </c:pt>
                <c:pt idx="78">
                  <c:v>660</c:v>
                </c:pt>
                <c:pt idx="79">
                  <c:v>660</c:v>
                </c:pt>
                <c:pt idx="80">
                  <c:v>660</c:v>
                </c:pt>
                <c:pt idx="81">
                  <c:v>660</c:v>
                </c:pt>
                <c:pt idx="82">
                  <c:v>660</c:v>
                </c:pt>
                <c:pt idx="83">
                  <c:v>660</c:v>
                </c:pt>
                <c:pt idx="84">
                  <c:v>660</c:v>
                </c:pt>
                <c:pt idx="85">
                  <c:v>660</c:v>
                </c:pt>
                <c:pt idx="86">
                  <c:v>660</c:v>
                </c:pt>
                <c:pt idx="87">
                  <c:v>660</c:v>
                </c:pt>
                <c:pt idx="88">
                  <c:v>660</c:v>
                </c:pt>
                <c:pt idx="89">
                  <c:v>660</c:v>
                </c:pt>
                <c:pt idx="90">
                  <c:v>660</c:v>
                </c:pt>
                <c:pt idx="91">
                  <c:v>660</c:v>
                </c:pt>
                <c:pt idx="92">
                  <c:v>660</c:v>
                </c:pt>
                <c:pt idx="93">
                  <c:v>660</c:v>
                </c:pt>
                <c:pt idx="94">
                  <c:v>660</c:v>
                </c:pt>
                <c:pt idx="95">
                  <c:v>660</c:v>
                </c:pt>
                <c:pt idx="96">
                  <c:v>660</c:v>
                </c:pt>
                <c:pt idx="97">
                  <c:v>660</c:v>
                </c:pt>
                <c:pt idx="98">
                  <c:v>660</c:v>
                </c:pt>
                <c:pt idx="99">
                  <c:v>660</c:v>
                </c:pt>
                <c:pt idx="100">
                  <c:v>660</c:v>
                </c:pt>
                <c:pt idx="101">
                  <c:v>660</c:v>
                </c:pt>
                <c:pt idx="102">
                  <c:v>660</c:v>
                </c:pt>
                <c:pt idx="103">
                  <c:v>660</c:v>
                </c:pt>
                <c:pt idx="104">
                  <c:v>660</c:v>
                </c:pt>
                <c:pt idx="105">
                  <c:v>660</c:v>
                </c:pt>
                <c:pt idx="106">
                  <c:v>660</c:v>
                </c:pt>
                <c:pt idx="107">
                  <c:v>660</c:v>
                </c:pt>
                <c:pt idx="108">
                  <c:v>660</c:v>
                </c:pt>
                <c:pt idx="109">
                  <c:v>660</c:v>
                </c:pt>
                <c:pt idx="110">
                  <c:v>660</c:v>
                </c:pt>
                <c:pt idx="111">
                  <c:v>660</c:v>
                </c:pt>
                <c:pt idx="112">
                  <c:v>660</c:v>
                </c:pt>
                <c:pt idx="113">
                  <c:v>660</c:v>
                </c:pt>
                <c:pt idx="114">
                  <c:v>660</c:v>
                </c:pt>
                <c:pt idx="115">
                  <c:v>660</c:v>
                </c:pt>
                <c:pt idx="116">
                  <c:v>660</c:v>
                </c:pt>
                <c:pt idx="117">
                  <c:v>660</c:v>
                </c:pt>
                <c:pt idx="118">
                  <c:v>660</c:v>
                </c:pt>
                <c:pt idx="119">
                  <c:v>660</c:v>
                </c:pt>
                <c:pt idx="120">
                  <c:v>660</c:v>
                </c:pt>
                <c:pt idx="121">
                  <c:v>660</c:v>
                </c:pt>
                <c:pt idx="122">
                  <c:v>660</c:v>
                </c:pt>
                <c:pt idx="123">
                  <c:v>660</c:v>
                </c:pt>
                <c:pt idx="124">
                  <c:v>660</c:v>
                </c:pt>
                <c:pt idx="125">
                  <c:v>660</c:v>
                </c:pt>
                <c:pt idx="126">
                  <c:v>660</c:v>
                </c:pt>
                <c:pt idx="127">
                  <c:v>660</c:v>
                </c:pt>
                <c:pt idx="128">
                  <c:v>660</c:v>
                </c:pt>
                <c:pt idx="129">
                  <c:v>660</c:v>
                </c:pt>
                <c:pt idx="130">
                  <c:v>660</c:v>
                </c:pt>
                <c:pt idx="131">
                  <c:v>660</c:v>
                </c:pt>
                <c:pt idx="132">
                  <c:v>660</c:v>
                </c:pt>
                <c:pt idx="133">
                  <c:v>660</c:v>
                </c:pt>
                <c:pt idx="134">
                  <c:v>660</c:v>
                </c:pt>
                <c:pt idx="135">
                  <c:v>660</c:v>
                </c:pt>
                <c:pt idx="136">
                  <c:v>660</c:v>
                </c:pt>
                <c:pt idx="137">
                  <c:v>660</c:v>
                </c:pt>
                <c:pt idx="138">
                  <c:v>660</c:v>
                </c:pt>
                <c:pt idx="139">
                  <c:v>660</c:v>
                </c:pt>
                <c:pt idx="140">
                  <c:v>660</c:v>
                </c:pt>
                <c:pt idx="141">
                  <c:v>660</c:v>
                </c:pt>
                <c:pt idx="142">
                  <c:v>660</c:v>
                </c:pt>
                <c:pt idx="143">
                  <c:v>660</c:v>
                </c:pt>
                <c:pt idx="144">
                  <c:v>660</c:v>
                </c:pt>
                <c:pt idx="145">
                  <c:v>660</c:v>
                </c:pt>
                <c:pt idx="146">
                  <c:v>660</c:v>
                </c:pt>
                <c:pt idx="147">
                  <c:v>660</c:v>
                </c:pt>
                <c:pt idx="148">
                  <c:v>660</c:v>
                </c:pt>
                <c:pt idx="149">
                  <c:v>660</c:v>
                </c:pt>
                <c:pt idx="150">
                  <c:v>660</c:v>
                </c:pt>
                <c:pt idx="151">
                  <c:v>660</c:v>
                </c:pt>
                <c:pt idx="152">
                  <c:v>660</c:v>
                </c:pt>
                <c:pt idx="153">
                  <c:v>660</c:v>
                </c:pt>
                <c:pt idx="154">
                  <c:v>660</c:v>
                </c:pt>
                <c:pt idx="155">
                  <c:v>660</c:v>
                </c:pt>
                <c:pt idx="156">
                  <c:v>660</c:v>
                </c:pt>
                <c:pt idx="157">
                  <c:v>660</c:v>
                </c:pt>
                <c:pt idx="158">
                  <c:v>660</c:v>
                </c:pt>
                <c:pt idx="159">
                  <c:v>660</c:v>
                </c:pt>
                <c:pt idx="160">
                  <c:v>660</c:v>
                </c:pt>
                <c:pt idx="161">
                  <c:v>660</c:v>
                </c:pt>
                <c:pt idx="162">
                  <c:v>660</c:v>
                </c:pt>
                <c:pt idx="163">
                  <c:v>660</c:v>
                </c:pt>
                <c:pt idx="164">
                  <c:v>660</c:v>
                </c:pt>
                <c:pt idx="165">
                  <c:v>660</c:v>
                </c:pt>
                <c:pt idx="166">
                  <c:v>660</c:v>
                </c:pt>
                <c:pt idx="167">
                  <c:v>660</c:v>
                </c:pt>
                <c:pt idx="168">
                  <c:v>660</c:v>
                </c:pt>
                <c:pt idx="169">
                  <c:v>660</c:v>
                </c:pt>
                <c:pt idx="170">
                  <c:v>660</c:v>
                </c:pt>
                <c:pt idx="171">
                  <c:v>660</c:v>
                </c:pt>
                <c:pt idx="172">
                  <c:v>660</c:v>
                </c:pt>
                <c:pt idx="173">
                  <c:v>660</c:v>
                </c:pt>
                <c:pt idx="174">
                  <c:v>660</c:v>
                </c:pt>
                <c:pt idx="175">
                  <c:v>660</c:v>
                </c:pt>
                <c:pt idx="176">
                  <c:v>660</c:v>
                </c:pt>
                <c:pt idx="177">
                  <c:v>660</c:v>
                </c:pt>
                <c:pt idx="178">
                  <c:v>660</c:v>
                </c:pt>
                <c:pt idx="179">
                  <c:v>660</c:v>
                </c:pt>
                <c:pt idx="180">
                  <c:v>660</c:v>
                </c:pt>
                <c:pt idx="181">
                  <c:v>660</c:v>
                </c:pt>
                <c:pt idx="182">
                  <c:v>660</c:v>
                </c:pt>
                <c:pt idx="183">
                  <c:v>660</c:v>
                </c:pt>
                <c:pt idx="184">
                  <c:v>660</c:v>
                </c:pt>
                <c:pt idx="185">
                  <c:v>660</c:v>
                </c:pt>
                <c:pt idx="186">
                  <c:v>660</c:v>
                </c:pt>
                <c:pt idx="187">
                  <c:v>660</c:v>
                </c:pt>
                <c:pt idx="188">
                  <c:v>660</c:v>
                </c:pt>
                <c:pt idx="189">
                  <c:v>660</c:v>
                </c:pt>
                <c:pt idx="190">
                  <c:v>660</c:v>
                </c:pt>
                <c:pt idx="191">
                  <c:v>660</c:v>
                </c:pt>
                <c:pt idx="192">
                  <c:v>660</c:v>
                </c:pt>
                <c:pt idx="193">
                  <c:v>660</c:v>
                </c:pt>
                <c:pt idx="194">
                  <c:v>660</c:v>
                </c:pt>
                <c:pt idx="195">
                  <c:v>660</c:v>
                </c:pt>
                <c:pt idx="196">
                  <c:v>660</c:v>
                </c:pt>
                <c:pt idx="197">
                  <c:v>660</c:v>
                </c:pt>
                <c:pt idx="198">
                  <c:v>660</c:v>
                </c:pt>
              </c:numCache>
            </c:numRef>
          </c:val>
          <c:smooth val="0"/>
          <c:extLst>
            <c:ext xmlns:c16="http://schemas.microsoft.com/office/drawing/2014/chart" uri="{C3380CC4-5D6E-409C-BE32-E72D297353CC}">
              <c16:uniqueId val="{00000001-E1B7-4154-AB13-00C85ED6B9BC}"/>
            </c:ext>
          </c:extLst>
        </c:ser>
        <c:ser>
          <c:idx val="2"/>
          <c:order val="2"/>
          <c:tx>
            <c:strRef>
              <c:f>Sheet1!$D$1</c:f>
              <c:strCache>
                <c:ptCount val="1"/>
                <c:pt idx="0">
                  <c:v>Moderate band (220 ppb)</c:v>
                </c:pt>
              </c:strCache>
            </c:strRef>
          </c:tx>
          <c:spPr>
            <a:ln w="25400" cap="flat">
              <a:solidFill>
                <a:srgbClr val="C98A0B"/>
              </a:solidFill>
              <a:prstDash val="solid"/>
              <a:round/>
            </a:ln>
            <a:effectLst/>
          </c:spPr>
          <c:marker>
            <c:symbol val="none"/>
          </c:marker>
          <c:cat>
            <c:strRef>
              <c:f>Sheet1!$A$2:$A$200</c:f>
              <c:strCache>
                <c:ptCount val="199"/>
                <c:pt idx="0">
                  <c:v>0.0</c:v>
                </c:pt>
                <c:pt idx="1">
                  <c:v>0.1</c:v>
                </c:pt>
                <c:pt idx="2">
                  <c:v>0.2</c:v>
                </c:pt>
                <c:pt idx="3">
                  <c:v>0.3</c:v>
                </c:pt>
                <c:pt idx="4">
                  <c:v>0.3</c:v>
                </c:pt>
                <c:pt idx="5">
                  <c:v>0.4</c:v>
                </c:pt>
                <c:pt idx="6">
                  <c:v>0.5</c:v>
                </c:pt>
                <c:pt idx="7">
                  <c:v>0.6</c:v>
                </c:pt>
                <c:pt idx="8">
                  <c:v>0.7</c:v>
                </c:pt>
                <c:pt idx="9">
                  <c:v>0.8</c:v>
                </c:pt>
                <c:pt idx="10">
                  <c:v>0.8</c:v>
                </c:pt>
                <c:pt idx="11">
                  <c:v>0.9</c:v>
                </c:pt>
                <c:pt idx="12">
                  <c:v>1.0</c:v>
                </c:pt>
                <c:pt idx="13">
                  <c:v>1.1</c:v>
                </c:pt>
                <c:pt idx="14">
                  <c:v>1.2</c:v>
                </c:pt>
                <c:pt idx="15">
                  <c:v>1.3</c:v>
                </c:pt>
                <c:pt idx="16">
                  <c:v>1.3</c:v>
                </c:pt>
                <c:pt idx="17">
                  <c:v>1.4</c:v>
                </c:pt>
                <c:pt idx="18">
                  <c:v>1.5</c:v>
                </c:pt>
                <c:pt idx="19">
                  <c:v>1.6</c:v>
                </c:pt>
                <c:pt idx="20">
                  <c:v>1.7</c:v>
                </c:pt>
                <c:pt idx="21">
                  <c:v>1.8</c:v>
                </c:pt>
                <c:pt idx="22">
                  <c:v>1.8</c:v>
                </c:pt>
                <c:pt idx="23">
                  <c:v>1.9</c:v>
                </c:pt>
                <c:pt idx="24">
                  <c:v>2.0</c:v>
                </c:pt>
                <c:pt idx="25">
                  <c:v>2.1</c:v>
                </c:pt>
                <c:pt idx="26">
                  <c:v>2.2</c:v>
                </c:pt>
                <c:pt idx="27">
                  <c:v>2.3</c:v>
                </c:pt>
                <c:pt idx="28">
                  <c:v>2.3</c:v>
                </c:pt>
                <c:pt idx="29">
                  <c:v>2.4</c:v>
                </c:pt>
                <c:pt idx="30">
                  <c:v>2.5</c:v>
                </c:pt>
                <c:pt idx="31">
                  <c:v>2.6</c:v>
                </c:pt>
                <c:pt idx="32">
                  <c:v>2.7</c:v>
                </c:pt>
                <c:pt idx="33">
                  <c:v>2.8</c:v>
                </c:pt>
                <c:pt idx="34">
                  <c:v>2.8</c:v>
                </c:pt>
                <c:pt idx="35">
                  <c:v>2.9</c:v>
                </c:pt>
                <c:pt idx="36">
                  <c:v>3.0</c:v>
                </c:pt>
                <c:pt idx="37">
                  <c:v>3.1</c:v>
                </c:pt>
                <c:pt idx="38">
                  <c:v>3.2</c:v>
                </c:pt>
                <c:pt idx="39">
                  <c:v>3.3</c:v>
                </c:pt>
                <c:pt idx="40">
                  <c:v>3.3</c:v>
                </c:pt>
                <c:pt idx="41">
                  <c:v>3.4</c:v>
                </c:pt>
                <c:pt idx="42">
                  <c:v>3.5</c:v>
                </c:pt>
                <c:pt idx="43">
                  <c:v>3.6</c:v>
                </c:pt>
                <c:pt idx="44">
                  <c:v>3.7</c:v>
                </c:pt>
                <c:pt idx="45">
                  <c:v>3.8</c:v>
                </c:pt>
                <c:pt idx="46">
                  <c:v>3.8</c:v>
                </c:pt>
                <c:pt idx="47">
                  <c:v>3.9</c:v>
                </c:pt>
                <c:pt idx="48">
                  <c:v>4.0</c:v>
                </c:pt>
                <c:pt idx="49">
                  <c:v>4.1</c:v>
                </c:pt>
                <c:pt idx="50">
                  <c:v>4.2</c:v>
                </c:pt>
                <c:pt idx="51">
                  <c:v>4.3</c:v>
                </c:pt>
                <c:pt idx="52">
                  <c:v>4.3</c:v>
                </c:pt>
                <c:pt idx="53">
                  <c:v>4.4</c:v>
                </c:pt>
                <c:pt idx="54">
                  <c:v>4.5</c:v>
                </c:pt>
                <c:pt idx="55">
                  <c:v>4.6</c:v>
                </c:pt>
                <c:pt idx="56">
                  <c:v>4.7</c:v>
                </c:pt>
                <c:pt idx="57">
                  <c:v>4.8</c:v>
                </c:pt>
                <c:pt idx="58">
                  <c:v>4.8</c:v>
                </c:pt>
                <c:pt idx="59">
                  <c:v>4.9</c:v>
                </c:pt>
                <c:pt idx="60">
                  <c:v>5.0</c:v>
                </c:pt>
                <c:pt idx="61">
                  <c:v>5.1</c:v>
                </c:pt>
                <c:pt idx="62">
                  <c:v>5.4</c:v>
                </c:pt>
                <c:pt idx="63">
                  <c:v>5.5</c:v>
                </c:pt>
                <c:pt idx="64">
                  <c:v>5.6</c:v>
                </c:pt>
                <c:pt idx="65">
                  <c:v>5.7</c:v>
                </c:pt>
                <c:pt idx="66">
                  <c:v>5.8</c:v>
                </c:pt>
                <c:pt idx="67">
                  <c:v>5.8</c:v>
                </c:pt>
                <c:pt idx="68">
                  <c:v>5.9</c:v>
                </c:pt>
                <c:pt idx="69">
                  <c:v>6.0</c:v>
                </c:pt>
                <c:pt idx="70">
                  <c:v>6.1</c:v>
                </c:pt>
                <c:pt idx="71">
                  <c:v>6.2</c:v>
                </c:pt>
                <c:pt idx="72">
                  <c:v>6.3</c:v>
                </c:pt>
                <c:pt idx="73">
                  <c:v>6.3</c:v>
                </c:pt>
                <c:pt idx="74">
                  <c:v>6.4</c:v>
                </c:pt>
                <c:pt idx="75">
                  <c:v>6.5</c:v>
                </c:pt>
                <c:pt idx="76">
                  <c:v>6.6</c:v>
                </c:pt>
                <c:pt idx="77">
                  <c:v>6.7</c:v>
                </c:pt>
                <c:pt idx="78">
                  <c:v>6.8</c:v>
                </c:pt>
                <c:pt idx="79">
                  <c:v>6.8</c:v>
                </c:pt>
                <c:pt idx="80">
                  <c:v>6.9</c:v>
                </c:pt>
                <c:pt idx="81">
                  <c:v>7.0</c:v>
                </c:pt>
                <c:pt idx="82">
                  <c:v>7.1</c:v>
                </c:pt>
                <c:pt idx="83">
                  <c:v>7.2</c:v>
                </c:pt>
                <c:pt idx="84">
                  <c:v>7.3</c:v>
                </c:pt>
                <c:pt idx="85">
                  <c:v>7.3</c:v>
                </c:pt>
                <c:pt idx="86">
                  <c:v>7.4</c:v>
                </c:pt>
                <c:pt idx="87">
                  <c:v>7.5</c:v>
                </c:pt>
                <c:pt idx="88">
                  <c:v>7.6</c:v>
                </c:pt>
                <c:pt idx="89">
                  <c:v>7.7</c:v>
                </c:pt>
                <c:pt idx="90">
                  <c:v>7.8</c:v>
                </c:pt>
                <c:pt idx="91">
                  <c:v>7.8</c:v>
                </c:pt>
                <c:pt idx="92">
                  <c:v>7.9</c:v>
                </c:pt>
                <c:pt idx="93">
                  <c:v>8.0</c:v>
                </c:pt>
                <c:pt idx="94">
                  <c:v>8.1</c:v>
                </c:pt>
                <c:pt idx="95">
                  <c:v>8.2</c:v>
                </c:pt>
                <c:pt idx="96">
                  <c:v>8.3</c:v>
                </c:pt>
                <c:pt idx="97">
                  <c:v>8.3</c:v>
                </c:pt>
                <c:pt idx="98">
                  <c:v>8.4</c:v>
                </c:pt>
                <c:pt idx="99">
                  <c:v>8.5</c:v>
                </c:pt>
                <c:pt idx="100">
                  <c:v>8.6</c:v>
                </c:pt>
                <c:pt idx="101">
                  <c:v>8.7</c:v>
                </c:pt>
                <c:pt idx="102">
                  <c:v>8.8</c:v>
                </c:pt>
                <c:pt idx="103">
                  <c:v>8.8</c:v>
                </c:pt>
                <c:pt idx="104">
                  <c:v>8.9</c:v>
                </c:pt>
                <c:pt idx="105">
                  <c:v>9.0</c:v>
                </c:pt>
                <c:pt idx="106">
                  <c:v>9.1</c:v>
                </c:pt>
                <c:pt idx="107">
                  <c:v>9.2</c:v>
                </c:pt>
                <c:pt idx="108">
                  <c:v>9.3</c:v>
                </c:pt>
                <c:pt idx="109">
                  <c:v>9.3</c:v>
                </c:pt>
                <c:pt idx="110">
                  <c:v>9.4</c:v>
                </c:pt>
                <c:pt idx="111">
                  <c:v>9.5</c:v>
                </c:pt>
                <c:pt idx="112">
                  <c:v>9.6</c:v>
                </c:pt>
                <c:pt idx="113">
                  <c:v>9.7</c:v>
                </c:pt>
                <c:pt idx="114">
                  <c:v>9.8</c:v>
                </c:pt>
                <c:pt idx="115">
                  <c:v>9.8</c:v>
                </c:pt>
                <c:pt idx="116">
                  <c:v>9.9</c:v>
                </c:pt>
                <c:pt idx="117">
                  <c:v>10.0</c:v>
                </c:pt>
                <c:pt idx="118">
                  <c:v>10.1</c:v>
                </c:pt>
                <c:pt idx="119">
                  <c:v>10.2</c:v>
                </c:pt>
                <c:pt idx="120">
                  <c:v>10.3</c:v>
                </c:pt>
                <c:pt idx="121">
                  <c:v>10.3</c:v>
                </c:pt>
                <c:pt idx="122">
                  <c:v>10.4</c:v>
                </c:pt>
                <c:pt idx="123">
                  <c:v>10.5</c:v>
                </c:pt>
                <c:pt idx="124">
                  <c:v>10.6</c:v>
                </c:pt>
                <c:pt idx="125">
                  <c:v>10.7</c:v>
                </c:pt>
                <c:pt idx="126">
                  <c:v>10.8</c:v>
                </c:pt>
                <c:pt idx="127">
                  <c:v>10.8</c:v>
                </c:pt>
                <c:pt idx="128">
                  <c:v>10.9</c:v>
                </c:pt>
                <c:pt idx="129">
                  <c:v>11.0</c:v>
                </c:pt>
                <c:pt idx="130">
                  <c:v>11.1</c:v>
                </c:pt>
                <c:pt idx="131">
                  <c:v>11.2</c:v>
                </c:pt>
                <c:pt idx="132">
                  <c:v>11.3</c:v>
                </c:pt>
                <c:pt idx="133">
                  <c:v>11.3</c:v>
                </c:pt>
                <c:pt idx="134">
                  <c:v>11.4</c:v>
                </c:pt>
                <c:pt idx="135">
                  <c:v>11.5</c:v>
                </c:pt>
                <c:pt idx="136">
                  <c:v>11.6</c:v>
                </c:pt>
                <c:pt idx="137">
                  <c:v>11.7</c:v>
                </c:pt>
                <c:pt idx="138">
                  <c:v>11.8</c:v>
                </c:pt>
                <c:pt idx="139">
                  <c:v>11.8</c:v>
                </c:pt>
                <c:pt idx="140">
                  <c:v>11.9</c:v>
                </c:pt>
                <c:pt idx="141">
                  <c:v>12.0</c:v>
                </c:pt>
                <c:pt idx="142">
                  <c:v>12.1</c:v>
                </c:pt>
                <c:pt idx="143">
                  <c:v>12.2</c:v>
                </c:pt>
                <c:pt idx="144">
                  <c:v>12.3</c:v>
                </c:pt>
                <c:pt idx="145">
                  <c:v>12.3</c:v>
                </c:pt>
                <c:pt idx="146">
                  <c:v>12.4</c:v>
                </c:pt>
                <c:pt idx="147">
                  <c:v>12.5</c:v>
                </c:pt>
                <c:pt idx="148">
                  <c:v>12.6</c:v>
                </c:pt>
                <c:pt idx="149">
                  <c:v>12.7</c:v>
                </c:pt>
                <c:pt idx="150">
                  <c:v>12.8</c:v>
                </c:pt>
                <c:pt idx="151">
                  <c:v>12.8</c:v>
                </c:pt>
                <c:pt idx="152">
                  <c:v>12.9</c:v>
                </c:pt>
                <c:pt idx="153">
                  <c:v>13.0</c:v>
                </c:pt>
                <c:pt idx="154">
                  <c:v>13.1</c:v>
                </c:pt>
                <c:pt idx="155">
                  <c:v>13.2</c:v>
                </c:pt>
                <c:pt idx="156">
                  <c:v>13.3</c:v>
                </c:pt>
                <c:pt idx="157">
                  <c:v>13.3</c:v>
                </c:pt>
                <c:pt idx="158">
                  <c:v>13.4</c:v>
                </c:pt>
                <c:pt idx="159">
                  <c:v>13.5</c:v>
                </c:pt>
                <c:pt idx="160">
                  <c:v>13.6</c:v>
                </c:pt>
                <c:pt idx="161">
                  <c:v>13.7</c:v>
                </c:pt>
                <c:pt idx="162">
                  <c:v>13.8</c:v>
                </c:pt>
                <c:pt idx="163">
                  <c:v>13.8</c:v>
                </c:pt>
                <c:pt idx="164">
                  <c:v>13.9</c:v>
                </c:pt>
                <c:pt idx="165">
                  <c:v>14.0</c:v>
                </c:pt>
                <c:pt idx="166">
                  <c:v>14.1</c:v>
                </c:pt>
                <c:pt idx="167">
                  <c:v>14.2</c:v>
                </c:pt>
                <c:pt idx="168">
                  <c:v>14.3</c:v>
                </c:pt>
                <c:pt idx="169">
                  <c:v>14.3</c:v>
                </c:pt>
                <c:pt idx="170">
                  <c:v>14.4</c:v>
                </c:pt>
                <c:pt idx="171">
                  <c:v>14.5</c:v>
                </c:pt>
                <c:pt idx="172">
                  <c:v>14.6</c:v>
                </c:pt>
                <c:pt idx="173">
                  <c:v>14.7</c:v>
                </c:pt>
                <c:pt idx="174">
                  <c:v>14.8</c:v>
                </c:pt>
                <c:pt idx="175">
                  <c:v>14.8</c:v>
                </c:pt>
                <c:pt idx="176">
                  <c:v>14.9</c:v>
                </c:pt>
                <c:pt idx="177">
                  <c:v>15.0</c:v>
                </c:pt>
                <c:pt idx="178">
                  <c:v>15.1</c:v>
                </c:pt>
                <c:pt idx="179">
                  <c:v>15.2</c:v>
                </c:pt>
                <c:pt idx="180">
                  <c:v>15.3</c:v>
                </c:pt>
                <c:pt idx="181">
                  <c:v>15.3</c:v>
                </c:pt>
                <c:pt idx="182">
                  <c:v>15.4</c:v>
                </c:pt>
                <c:pt idx="183">
                  <c:v>15.5</c:v>
                </c:pt>
                <c:pt idx="184">
                  <c:v>15.6</c:v>
                </c:pt>
                <c:pt idx="185">
                  <c:v>15.7</c:v>
                </c:pt>
                <c:pt idx="186">
                  <c:v>15.8</c:v>
                </c:pt>
                <c:pt idx="187">
                  <c:v>15.8</c:v>
                </c:pt>
                <c:pt idx="188">
                  <c:v>15.9</c:v>
                </c:pt>
                <c:pt idx="189">
                  <c:v>16.0</c:v>
                </c:pt>
                <c:pt idx="190">
                  <c:v>16.1</c:v>
                </c:pt>
                <c:pt idx="191">
                  <c:v>16.2</c:v>
                </c:pt>
                <c:pt idx="192">
                  <c:v>16.3</c:v>
                </c:pt>
                <c:pt idx="193">
                  <c:v>16.4</c:v>
                </c:pt>
                <c:pt idx="194">
                  <c:v>16.4</c:v>
                </c:pt>
                <c:pt idx="195">
                  <c:v>16.5</c:v>
                </c:pt>
                <c:pt idx="196">
                  <c:v>16.6</c:v>
                </c:pt>
                <c:pt idx="197">
                  <c:v>16.7</c:v>
                </c:pt>
                <c:pt idx="198">
                  <c:v>16.8</c:v>
                </c:pt>
              </c:strCache>
            </c:strRef>
          </c:cat>
          <c:val>
            <c:numRef>
              <c:f>Sheet1!$D$2:$D$200</c:f>
              <c:numCache>
                <c:formatCode>General</c:formatCode>
                <c:ptCount val="199"/>
                <c:pt idx="0">
                  <c:v>220</c:v>
                </c:pt>
                <c:pt idx="1">
                  <c:v>220</c:v>
                </c:pt>
                <c:pt idx="2">
                  <c:v>220</c:v>
                </c:pt>
                <c:pt idx="3">
                  <c:v>220</c:v>
                </c:pt>
                <c:pt idx="4">
                  <c:v>220</c:v>
                </c:pt>
                <c:pt idx="5">
                  <c:v>220</c:v>
                </c:pt>
                <c:pt idx="6">
                  <c:v>220</c:v>
                </c:pt>
                <c:pt idx="7">
                  <c:v>220</c:v>
                </c:pt>
                <c:pt idx="8">
                  <c:v>220</c:v>
                </c:pt>
                <c:pt idx="9">
                  <c:v>220</c:v>
                </c:pt>
                <c:pt idx="10">
                  <c:v>220</c:v>
                </c:pt>
                <c:pt idx="11">
                  <c:v>220</c:v>
                </c:pt>
                <c:pt idx="12">
                  <c:v>220</c:v>
                </c:pt>
                <c:pt idx="13">
                  <c:v>220</c:v>
                </c:pt>
                <c:pt idx="14">
                  <c:v>220</c:v>
                </c:pt>
                <c:pt idx="15">
                  <c:v>220</c:v>
                </c:pt>
                <c:pt idx="16">
                  <c:v>220</c:v>
                </c:pt>
                <c:pt idx="17">
                  <c:v>220</c:v>
                </c:pt>
                <c:pt idx="18">
                  <c:v>220</c:v>
                </c:pt>
                <c:pt idx="19">
                  <c:v>220</c:v>
                </c:pt>
                <c:pt idx="20">
                  <c:v>220</c:v>
                </c:pt>
                <c:pt idx="21">
                  <c:v>220</c:v>
                </c:pt>
                <c:pt idx="22">
                  <c:v>220</c:v>
                </c:pt>
                <c:pt idx="23">
                  <c:v>220</c:v>
                </c:pt>
                <c:pt idx="24">
                  <c:v>220</c:v>
                </c:pt>
                <c:pt idx="25">
                  <c:v>220</c:v>
                </c:pt>
                <c:pt idx="26">
                  <c:v>220</c:v>
                </c:pt>
                <c:pt idx="27">
                  <c:v>220</c:v>
                </c:pt>
                <c:pt idx="28">
                  <c:v>220</c:v>
                </c:pt>
                <c:pt idx="29">
                  <c:v>220</c:v>
                </c:pt>
                <c:pt idx="30">
                  <c:v>220</c:v>
                </c:pt>
                <c:pt idx="31">
                  <c:v>220</c:v>
                </c:pt>
                <c:pt idx="32">
                  <c:v>220</c:v>
                </c:pt>
                <c:pt idx="33">
                  <c:v>220</c:v>
                </c:pt>
                <c:pt idx="34">
                  <c:v>220</c:v>
                </c:pt>
                <c:pt idx="35">
                  <c:v>220</c:v>
                </c:pt>
                <c:pt idx="36">
                  <c:v>220</c:v>
                </c:pt>
                <c:pt idx="37">
                  <c:v>220</c:v>
                </c:pt>
                <c:pt idx="38">
                  <c:v>220</c:v>
                </c:pt>
                <c:pt idx="39">
                  <c:v>220</c:v>
                </c:pt>
                <c:pt idx="40">
                  <c:v>220</c:v>
                </c:pt>
                <c:pt idx="41">
                  <c:v>220</c:v>
                </c:pt>
                <c:pt idx="42">
                  <c:v>220</c:v>
                </c:pt>
                <c:pt idx="43">
                  <c:v>220</c:v>
                </c:pt>
                <c:pt idx="44">
                  <c:v>220</c:v>
                </c:pt>
                <c:pt idx="45">
                  <c:v>220</c:v>
                </c:pt>
                <c:pt idx="46">
                  <c:v>220</c:v>
                </c:pt>
                <c:pt idx="47">
                  <c:v>220</c:v>
                </c:pt>
                <c:pt idx="48">
                  <c:v>220</c:v>
                </c:pt>
                <c:pt idx="49">
                  <c:v>220</c:v>
                </c:pt>
                <c:pt idx="50">
                  <c:v>220</c:v>
                </c:pt>
                <c:pt idx="51">
                  <c:v>220</c:v>
                </c:pt>
                <c:pt idx="52">
                  <c:v>220</c:v>
                </c:pt>
                <c:pt idx="53">
                  <c:v>220</c:v>
                </c:pt>
                <c:pt idx="54">
                  <c:v>220</c:v>
                </c:pt>
                <c:pt idx="55">
                  <c:v>220</c:v>
                </c:pt>
                <c:pt idx="56">
                  <c:v>220</c:v>
                </c:pt>
                <c:pt idx="57">
                  <c:v>220</c:v>
                </c:pt>
                <c:pt idx="58">
                  <c:v>220</c:v>
                </c:pt>
                <c:pt idx="59">
                  <c:v>220</c:v>
                </c:pt>
                <c:pt idx="60">
                  <c:v>220</c:v>
                </c:pt>
                <c:pt idx="61">
                  <c:v>220</c:v>
                </c:pt>
                <c:pt idx="62">
                  <c:v>220</c:v>
                </c:pt>
                <c:pt idx="63">
                  <c:v>220</c:v>
                </c:pt>
                <c:pt idx="64">
                  <c:v>220</c:v>
                </c:pt>
                <c:pt idx="65">
                  <c:v>220</c:v>
                </c:pt>
                <c:pt idx="66">
                  <c:v>220</c:v>
                </c:pt>
                <c:pt idx="67">
                  <c:v>220</c:v>
                </c:pt>
                <c:pt idx="68">
                  <c:v>220</c:v>
                </c:pt>
                <c:pt idx="69">
                  <c:v>220</c:v>
                </c:pt>
                <c:pt idx="70">
                  <c:v>220</c:v>
                </c:pt>
                <c:pt idx="71">
                  <c:v>220</c:v>
                </c:pt>
                <c:pt idx="72">
                  <c:v>220</c:v>
                </c:pt>
                <c:pt idx="73">
                  <c:v>220</c:v>
                </c:pt>
                <c:pt idx="74">
                  <c:v>220</c:v>
                </c:pt>
                <c:pt idx="75">
                  <c:v>220</c:v>
                </c:pt>
                <c:pt idx="76">
                  <c:v>220</c:v>
                </c:pt>
                <c:pt idx="77">
                  <c:v>220</c:v>
                </c:pt>
                <c:pt idx="78">
                  <c:v>220</c:v>
                </c:pt>
                <c:pt idx="79">
                  <c:v>220</c:v>
                </c:pt>
                <c:pt idx="80">
                  <c:v>220</c:v>
                </c:pt>
                <c:pt idx="81">
                  <c:v>220</c:v>
                </c:pt>
                <c:pt idx="82">
                  <c:v>220</c:v>
                </c:pt>
                <c:pt idx="83">
                  <c:v>220</c:v>
                </c:pt>
                <c:pt idx="84">
                  <c:v>220</c:v>
                </c:pt>
                <c:pt idx="85">
                  <c:v>220</c:v>
                </c:pt>
                <c:pt idx="86">
                  <c:v>220</c:v>
                </c:pt>
                <c:pt idx="87">
                  <c:v>220</c:v>
                </c:pt>
                <c:pt idx="88">
                  <c:v>220</c:v>
                </c:pt>
                <c:pt idx="89">
                  <c:v>220</c:v>
                </c:pt>
                <c:pt idx="90">
                  <c:v>220</c:v>
                </c:pt>
                <c:pt idx="91">
                  <c:v>220</c:v>
                </c:pt>
                <c:pt idx="92">
                  <c:v>220</c:v>
                </c:pt>
                <c:pt idx="93">
                  <c:v>220</c:v>
                </c:pt>
                <c:pt idx="94">
                  <c:v>220</c:v>
                </c:pt>
                <c:pt idx="95">
                  <c:v>220</c:v>
                </c:pt>
                <c:pt idx="96">
                  <c:v>220</c:v>
                </c:pt>
                <c:pt idx="97">
                  <c:v>220</c:v>
                </c:pt>
                <c:pt idx="98">
                  <c:v>220</c:v>
                </c:pt>
                <c:pt idx="99">
                  <c:v>220</c:v>
                </c:pt>
                <c:pt idx="100">
                  <c:v>220</c:v>
                </c:pt>
                <c:pt idx="101">
                  <c:v>220</c:v>
                </c:pt>
                <c:pt idx="102">
                  <c:v>220</c:v>
                </c:pt>
                <c:pt idx="103">
                  <c:v>220</c:v>
                </c:pt>
                <c:pt idx="104">
                  <c:v>220</c:v>
                </c:pt>
                <c:pt idx="105">
                  <c:v>220</c:v>
                </c:pt>
                <c:pt idx="106">
                  <c:v>220</c:v>
                </c:pt>
                <c:pt idx="107">
                  <c:v>220</c:v>
                </c:pt>
                <c:pt idx="108">
                  <c:v>220</c:v>
                </c:pt>
                <c:pt idx="109">
                  <c:v>220</c:v>
                </c:pt>
                <c:pt idx="110">
                  <c:v>220</c:v>
                </c:pt>
                <c:pt idx="111">
                  <c:v>220</c:v>
                </c:pt>
                <c:pt idx="112">
                  <c:v>220</c:v>
                </c:pt>
                <c:pt idx="113">
                  <c:v>220</c:v>
                </c:pt>
                <c:pt idx="114">
                  <c:v>220</c:v>
                </c:pt>
                <c:pt idx="115">
                  <c:v>220</c:v>
                </c:pt>
                <c:pt idx="116">
                  <c:v>220</c:v>
                </c:pt>
                <c:pt idx="117">
                  <c:v>220</c:v>
                </c:pt>
                <c:pt idx="118">
                  <c:v>220</c:v>
                </c:pt>
                <c:pt idx="119">
                  <c:v>220</c:v>
                </c:pt>
                <c:pt idx="120">
                  <c:v>220</c:v>
                </c:pt>
                <c:pt idx="121">
                  <c:v>220</c:v>
                </c:pt>
                <c:pt idx="122">
                  <c:v>220</c:v>
                </c:pt>
                <c:pt idx="123">
                  <c:v>220</c:v>
                </c:pt>
                <c:pt idx="124">
                  <c:v>220</c:v>
                </c:pt>
                <c:pt idx="125">
                  <c:v>220</c:v>
                </c:pt>
                <c:pt idx="126">
                  <c:v>220</c:v>
                </c:pt>
                <c:pt idx="127">
                  <c:v>220</c:v>
                </c:pt>
                <c:pt idx="128">
                  <c:v>220</c:v>
                </c:pt>
                <c:pt idx="129">
                  <c:v>220</c:v>
                </c:pt>
                <c:pt idx="130">
                  <c:v>220</c:v>
                </c:pt>
                <c:pt idx="131">
                  <c:v>220</c:v>
                </c:pt>
                <c:pt idx="132">
                  <c:v>220</c:v>
                </c:pt>
                <c:pt idx="133">
                  <c:v>220</c:v>
                </c:pt>
                <c:pt idx="134">
                  <c:v>220</c:v>
                </c:pt>
                <c:pt idx="135">
                  <c:v>220</c:v>
                </c:pt>
                <c:pt idx="136">
                  <c:v>220</c:v>
                </c:pt>
                <c:pt idx="137">
                  <c:v>220</c:v>
                </c:pt>
                <c:pt idx="138">
                  <c:v>220</c:v>
                </c:pt>
                <c:pt idx="139">
                  <c:v>220</c:v>
                </c:pt>
                <c:pt idx="140">
                  <c:v>220</c:v>
                </c:pt>
                <c:pt idx="141">
                  <c:v>220</c:v>
                </c:pt>
                <c:pt idx="142">
                  <c:v>220</c:v>
                </c:pt>
                <c:pt idx="143">
                  <c:v>220</c:v>
                </c:pt>
                <c:pt idx="144">
                  <c:v>220</c:v>
                </c:pt>
                <c:pt idx="145">
                  <c:v>220</c:v>
                </c:pt>
                <c:pt idx="146">
                  <c:v>220</c:v>
                </c:pt>
                <c:pt idx="147">
                  <c:v>220</c:v>
                </c:pt>
                <c:pt idx="148">
                  <c:v>220</c:v>
                </c:pt>
                <c:pt idx="149">
                  <c:v>220</c:v>
                </c:pt>
                <c:pt idx="150">
                  <c:v>220</c:v>
                </c:pt>
                <c:pt idx="151">
                  <c:v>220</c:v>
                </c:pt>
                <c:pt idx="152">
                  <c:v>220</c:v>
                </c:pt>
                <c:pt idx="153">
                  <c:v>220</c:v>
                </c:pt>
                <c:pt idx="154">
                  <c:v>220</c:v>
                </c:pt>
                <c:pt idx="155">
                  <c:v>220</c:v>
                </c:pt>
                <c:pt idx="156">
                  <c:v>220</c:v>
                </c:pt>
                <c:pt idx="157">
                  <c:v>220</c:v>
                </c:pt>
                <c:pt idx="158">
                  <c:v>220</c:v>
                </c:pt>
                <c:pt idx="159">
                  <c:v>220</c:v>
                </c:pt>
                <c:pt idx="160">
                  <c:v>220</c:v>
                </c:pt>
                <c:pt idx="161">
                  <c:v>220</c:v>
                </c:pt>
                <c:pt idx="162">
                  <c:v>220</c:v>
                </c:pt>
                <c:pt idx="163">
                  <c:v>220</c:v>
                </c:pt>
                <c:pt idx="164">
                  <c:v>220</c:v>
                </c:pt>
                <c:pt idx="165">
                  <c:v>220</c:v>
                </c:pt>
                <c:pt idx="166">
                  <c:v>220</c:v>
                </c:pt>
                <c:pt idx="167">
                  <c:v>220</c:v>
                </c:pt>
                <c:pt idx="168">
                  <c:v>220</c:v>
                </c:pt>
                <c:pt idx="169">
                  <c:v>220</c:v>
                </c:pt>
                <c:pt idx="170">
                  <c:v>220</c:v>
                </c:pt>
                <c:pt idx="171">
                  <c:v>220</c:v>
                </c:pt>
                <c:pt idx="172">
                  <c:v>220</c:v>
                </c:pt>
                <c:pt idx="173">
                  <c:v>220</c:v>
                </c:pt>
                <c:pt idx="174">
                  <c:v>220</c:v>
                </c:pt>
                <c:pt idx="175">
                  <c:v>220</c:v>
                </c:pt>
                <c:pt idx="176">
                  <c:v>220</c:v>
                </c:pt>
                <c:pt idx="177">
                  <c:v>220</c:v>
                </c:pt>
                <c:pt idx="178">
                  <c:v>220</c:v>
                </c:pt>
                <c:pt idx="179">
                  <c:v>220</c:v>
                </c:pt>
                <c:pt idx="180">
                  <c:v>220</c:v>
                </c:pt>
                <c:pt idx="181">
                  <c:v>220</c:v>
                </c:pt>
                <c:pt idx="182">
                  <c:v>220</c:v>
                </c:pt>
                <c:pt idx="183">
                  <c:v>220</c:v>
                </c:pt>
                <c:pt idx="184">
                  <c:v>220</c:v>
                </c:pt>
                <c:pt idx="185">
                  <c:v>220</c:v>
                </c:pt>
                <c:pt idx="186">
                  <c:v>220</c:v>
                </c:pt>
                <c:pt idx="187">
                  <c:v>220</c:v>
                </c:pt>
                <c:pt idx="188">
                  <c:v>220</c:v>
                </c:pt>
                <c:pt idx="189">
                  <c:v>220</c:v>
                </c:pt>
                <c:pt idx="190">
                  <c:v>220</c:v>
                </c:pt>
                <c:pt idx="191">
                  <c:v>220</c:v>
                </c:pt>
                <c:pt idx="192">
                  <c:v>220</c:v>
                </c:pt>
                <c:pt idx="193">
                  <c:v>220</c:v>
                </c:pt>
                <c:pt idx="194">
                  <c:v>220</c:v>
                </c:pt>
                <c:pt idx="195">
                  <c:v>220</c:v>
                </c:pt>
                <c:pt idx="196">
                  <c:v>220</c:v>
                </c:pt>
                <c:pt idx="197">
                  <c:v>220</c:v>
                </c:pt>
                <c:pt idx="198">
                  <c:v>220</c:v>
                </c:pt>
              </c:numCache>
            </c:numRef>
          </c:val>
          <c:smooth val="0"/>
          <c:extLst>
            <c:ext xmlns:c16="http://schemas.microsoft.com/office/drawing/2014/chart" uri="{C3380CC4-5D6E-409C-BE32-E72D297353CC}">
              <c16:uniqueId val="{00000002-E1B7-4154-AB13-00C85ED6B9B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200" b="0" i="0" u="none" strike="noStrike">
                    <a:solidFill>
                      <a:srgbClr val="6B7768"/>
                    </a:solidFill>
                    <a:latin typeface="+mn-lt"/>
                  </a:defRPr>
                </a:pPr>
                <a:r>
                  <a:rPr lang="en-US" sz="1200" b="0" i="0" u="none" strike="noStrike">
                    <a:solidFill>
                      <a:srgbClr val="6B7768"/>
                    </a:solidFill>
                    <a:latin typeface="+mn-lt"/>
                  </a:rPr>
                  <a:t>minutes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768"/>
                </a:solidFill>
                <a:latin typeface="+mn-lt"/>
              </a:defRPr>
            </a:pPr>
            <a:endParaRPr lang="en-US"/>
          </a:p>
        </c:txPr>
        <c:crossAx val="2094734552"/>
        <c:crosses val="autoZero"/>
        <c:auto val="1"/>
        <c:lblAlgn val="ctr"/>
        <c:lblOffset val="100"/>
        <c:tickLblSkip val="24"/>
        <c:noMultiLvlLbl val="1"/>
      </c:catAx>
      <c:valAx>
        <c:axId val="2094734552"/>
        <c:scaling>
          <c:orientation val="minMax"/>
          <c:max val="2000"/>
        </c:scaling>
        <c:delete val="0"/>
        <c:axPos val="l"/>
        <c:majorGridlines>
          <c:spPr>
            <a:ln w="9525" cap="flat">
              <a:solidFill>
                <a:srgbClr val="D3DED0"/>
              </a:solidFill>
              <a:prstDash val="solid"/>
              <a:round/>
            </a:ln>
          </c:spPr>
        </c:majorGridlines>
        <c:title>
          <c:tx>
            <c:rich>
              <a:bodyPr/>
              <a:lstStyle/>
              <a:p>
                <a:pPr>
                  <a:defRPr sz="1200" b="0" i="0" u="none" strike="noStrike">
                    <a:solidFill>
                      <a:srgbClr val="6B7768"/>
                    </a:solidFill>
                    <a:latin typeface="+mn-lt"/>
                  </a:defRPr>
                </a:pPr>
                <a:r>
                  <a:rPr lang="en-US" sz="1200" b="0" i="0" u="none" strike="noStrike">
                    <a:solidFill>
                      <a:srgbClr val="6B7768"/>
                    </a:solidFill>
                    <a:latin typeface="+mn-lt"/>
                  </a:rPr>
                  <a:t>ppb</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7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62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500" b="0" i="0" u="none" strike="noStrike">
                <a:solidFill>
                  <a:srgbClr val="173F2A"/>
                </a:solidFill>
                <a:latin typeface="+mn-lt"/>
              </a:defRPr>
            </a:pPr>
            <a:r>
              <a:rPr lang="en-US" sz="1500" b="0" i="0" u="none" strike="noStrike">
                <a:solidFill>
                  <a:srgbClr val="173F2A"/>
                </a:solidFill>
                <a:latin typeface="+mn-lt"/>
              </a:rPr>
              <a:t>Trot speed (m/s)</a:t>
            </a:r>
          </a:p>
        </c:rich>
      </c:tx>
      <c:overlay val="0"/>
    </c:title>
    <c:autoTitleDeleted val="0"/>
    <c:plotArea>
      <c:layout/>
      <c:lineChart>
        <c:grouping val="standard"/>
        <c:varyColors val="0"/>
        <c:ser>
          <c:idx val="0"/>
          <c:order val="0"/>
          <c:tx>
            <c:strRef>
              <c:f>Sheet1!$B$1</c:f>
              <c:strCache>
                <c:ptCount val="1"/>
                <c:pt idx="0">
                  <c:v>Commanded</c:v>
                </c:pt>
              </c:strCache>
            </c:strRef>
          </c:tx>
          <c:spPr>
            <a:ln w="31750" cap="flat">
              <a:solidFill>
                <a:srgbClr val="6B7768"/>
              </a:solidFill>
              <a:prstDash val="solid"/>
              <a:round/>
            </a:ln>
            <a:effectLst/>
          </c:spPr>
          <c:marker>
            <c:symbol val="circle"/>
            <c:size val="6"/>
            <c:spPr>
              <a:solidFill>
                <a:srgbClr val="6B7768"/>
              </a:solidFill>
              <a:ln w="9525" cap="flat">
                <a:solidFill>
                  <a:srgbClr val="6B7768"/>
                </a:solidFill>
                <a:prstDash val="solid"/>
                <a:round/>
              </a:ln>
              <a:effectLst/>
            </c:spPr>
          </c:marker>
          <c:cat>
            <c:strRef>
              <c:f>Sheet1!$A$2:$A$11</c:f>
              <c:strCache>
                <c:ptCount val="10"/>
                <c:pt idx="0">
                  <c:v>0.06</c:v>
                </c:pt>
                <c:pt idx="1">
                  <c:v>0.08</c:v>
                </c:pt>
                <c:pt idx="2">
                  <c:v>0.10</c:v>
                </c:pt>
                <c:pt idx="3">
                  <c:v>0.12</c:v>
                </c:pt>
                <c:pt idx="4">
                  <c:v>0.14</c:v>
                </c:pt>
                <c:pt idx="5">
                  <c:v>0.16</c:v>
                </c:pt>
                <c:pt idx="6">
                  <c:v>0.18</c:v>
                </c:pt>
                <c:pt idx="7">
                  <c:v>0.20</c:v>
                </c:pt>
                <c:pt idx="8">
                  <c:v>0.22</c:v>
                </c:pt>
                <c:pt idx="9">
                  <c:v>0.24</c:v>
                </c:pt>
              </c:strCache>
            </c:strRef>
          </c:cat>
          <c:val>
            <c:numRef>
              <c:f>Sheet1!$B$2:$B$11</c:f>
              <c:numCache>
                <c:formatCode>General</c:formatCode>
                <c:ptCount val="10"/>
                <c:pt idx="0">
                  <c:v>0.06</c:v>
                </c:pt>
                <c:pt idx="1">
                  <c:v>0.08</c:v>
                </c:pt>
                <c:pt idx="2">
                  <c:v>0.1</c:v>
                </c:pt>
                <c:pt idx="3">
                  <c:v>0.12</c:v>
                </c:pt>
                <c:pt idx="4">
                  <c:v>0.14000000000000001</c:v>
                </c:pt>
                <c:pt idx="5">
                  <c:v>0.16</c:v>
                </c:pt>
                <c:pt idx="6">
                  <c:v>0.18</c:v>
                </c:pt>
                <c:pt idx="7">
                  <c:v>0.2</c:v>
                </c:pt>
                <c:pt idx="8">
                  <c:v>0.22</c:v>
                </c:pt>
                <c:pt idx="9">
                  <c:v>0.24</c:v>
                </c:pt>
              </c:numCache>
            </c:numRef>
          </c:val>
          <c:smooth val="0"/>
          <c:extLst>
            <c:ext xmlns:c16="http://schemas.microsoft.com/office/drawing/2014/chart" uri="{C3380CC4-5D6E-409C-BE32-E72D297353CC}">
              <c16:uniqueId val="{00000000-7B7E-47D6-881B-33F10058CCDA}"/>
            </c:ext>
          </c:extLst>
        </c:ser>
        <c:ser>
          <c:idx val="1"/>
          <c:order val="1"/>
          <c:tx>
            <c:strRef>
              <c:f>Sheet1!$C$1</c:f>
              <c:strCache>
                <c:ptCount val="1"/>
                <c:pt idx="0">
                  <c:v>Achieved</c:v>
                </c:pt>
              </c:strCache>
            </c:strRef>
          </c:tx>
          <c:spPr>
            <a:ln w="31750" cap="flat">
              <a:solidFill>
                <a:srgbClr val="2F7D46"/>
              </a:solidFill>
              <a:prstDash val="solid"/>
              <a:round/>
            </a:ln>
            <a:effectLst/>
          </c:spPr>
          <c:marker>
            <c:symbol val="circle"/>
            <c:size val="6"/>
            <c:spPr>
              <a:solidFill>
                <a:srgbClr val="2F7D46"/>
              </a:solidFill>
              <a:ln w="9525" cap="flat">
                <a:solidFill>
                  <a:srgbClr val="2F7D46"/>
                </a:solidFill>
                <a:prstDash val="solid"/>
                <a:round/>
              </a:ln>
              <a:effectLst/>
            </c:spPr>
          </c:marker>
          <c:cat>
            <c:strRef>
              <c:f>Sheet1!$A$2:$A$11</c:f>
              <c:strCache>
                <c:ptCount val="10"/>
                <c:pt idx="0">
                  <c:v>0.06</c:v>
                </c:pt>
                <c:pt idx="1">
                  <c:v>0.08</c:v>
                </c:pt>
                <c:pt idx="2">
                  <c:v>0.10</c:v>
                </c:pt>
                <c:pt idx="3">
                  <c:v>0.12</c:v>
                </c:pt>
                <c:pt idx="4">
                  <c:v>0.14</c:v>
                </c:pt>
                <c:pt idx="5">
                  <c:v>0.16</c:v>
                </c:pt>
                <c:pt idx="6">
                  <c:v>0.18</c:v>
                </c:pt>
                <c:pt idx="7">
                  <c:v>0.20</c:v>
                </c:pt>
                <c:pt idx="8">
                  <c:v>0.22</c:v>
                </c:pt>
                <c:pt idx="9">
                  <c:v>0.24</c:v>
                </c:pt>
              </c:strCache>
            </c:strRef>
          </c:cat>
          <c:val>
            <c:numRef>
              <c:f>Sheet1!$C$2:$C$11</c:f>
              <c:numCache>
                <c:formatCode>General</c:formatCode>
                <c:ptCount val="10"/>
                <c:pt idx="0">
                  <c:v>5.2999999999999999E-2</c:v>
                </c:pt>
                <c:pt idx="1">
                  <c:v>7.4999999999999997E-2</c:v>
                </c:pt>
                <c:pt idx="2">
                  <c:v>9.6000000000000002E-2</c:v>
                </c:pt>
                <c:pt idx="3">
                  <c:v>0.115</c:v>
                </c:pt>
                <c:pt idx="4">
                  <c:v>0.13400000000000001</c:v>
                </c:pt>
                <c:pt idx="5">
                  <c:v>0.151</c:v>
                </c:pt>
                <c:pt idx="6">
                  <c:v>0.16800000000000001</c:v>
                </c:pt>
                <c:pt idx="7">
                  <c:v>0.14699999999999999</c:v>
                </c:pt>
                <c:pt idx="8">
                  <c:v>0.10199999999999999</c:v>
                </c:pt>
                <c:pt idx="9">
                  <c:v>0.16600000000000001</c:v>
                </c:pt>
              </c:numCache>
            </c:numRef>
          </c:val>
          <c:smooth val="0"/>
          <c:extLst>
            <c:ext xmlns:c16="http://schemas.microsoft.com/office/drawing/2014/chart" uri="{C3380CC4-5D6E-409C-BE32-E72D297353CC}">
              <c16:uniqueId val="{00000001-7B7E-47D6-881B-33F10058CCD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200" b="0" i="0" u="none" strike="noStrike">
                    <a:solidFill>
                      <a:srgbClr val="6B7768"/>
                    </a:solidFill>
                    <a:latin typeface="+mn-lt"/>
                  </a:defRPr>
                </a:pPr>
                <a:r>
                  <a:rPr lang="en-US" sz="1200" b="0" i="0" u="none" strike="noStrike">
                    <a:solidFill>
                      <a:srgbClr val="6B7768"/>
                    </a:solidFill>
                    <a:latin typeface="+mn-lt"/>
                  </a:rPr>
                  <a:t>commanded speed (m/s)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768"/>
                </a:solidFill>
                <a:latin typeface="+mn-lt"/>
              </a:defRPr>
            </a:pPr>
            <a:endParaRPr lang="en-US"/>
          </a:p>
        </c:txPr>
        <c:crossAx val="2094734552"/>
        <c:crosses val="autoZero"/>
        <c:auto val="1"/>
        <c:lblAlgn val="ctr"/>
        <c:lblOffset val="100"/>
        <c:noMultiLvlLbl val="1"/>
      </c:catAx>
      <c:valAx>
        <c:axId val="2094734552"/>
        <c:scaling>
          <c:orientation val="minMax"/>
          <c:max val="0.25"/>
          <c:min val="0"/>
        </c:scaling>
        <c:delete val="0"/>
        <c:axPos val="l"/>
        <c:majorGridlines>
          <c:spPr>
            <a:ln w="9525" cap="flat">
              <a:solidFill>
                <a:srgbClr val="D3DE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768"/>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B262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500" b="0" i="0" u="none" strike="noStrike">
                <a:solidFill>
                  <a:srgbClr val="173F2A"/>
                </a:solidFill>
                <a:latin typeface="+mn-lt"/>
              </a:defRPr>
            </a:pPr>
            <a:r>
              <a:rPr lang="en-US" sz="1500" b="0" i="0" u="none" strike="noStrike">
                <a:solidFill>
                  <a:srgbClr val="173F2A"/>
                </a:solidFill>
                <a:latin typeface="+mn-lt"/>
              </a:rPr>
              <a:t>Time a servo is at its torque limit (%)</a:t>
            </a:r>
          </a:p>
        </c:rich>
      </c:tx>
      <c:overlay val="0"/>
    </c:title>
    <c:autoTitleDeleted val="0"/>
    <c:plotArea>
      <c:layout/>
      <c:barChart>
        <c:barDir val="col"/>
        <c:grouping val="clustered"/>
        <c:varyColors val="0"/>
        <c:ser>
          <c:idx val="0"/>
          <c:order val="0"/>
          <c:tx>
            <c:strRef>
              <c:f>Sheet1!$B$1</c:f>
              <c:strCache>
                <c:ptCount val="1"/>
                <c:pt idx="0">
                  <c:v>Time at torque limit</c:v>
                </c:pt>
              </c:strCache>
            </c:strRef>
          </c:tx>
          <c:spPr>
            <a:solidFill>
              <a:srgbClr val="2F7D46"/>
            </a:solidFill>
            <a:effectLst/>
          </c:spPr>
          <c:invertIfNegative val="0"/>
          <c:dPt>
            <c:idx val="0"/>
            <c:invertIfNegative val="0"/>
            <c:bubble3D val="0"/>
            <c:extLst>
              <c:ext xmlns:c16="http://schemas.microsoft.com/office/drawing/2014/chart" uri="{C3380CC4-5D6E-409C-BE32-E72D297353CC}">
                <c16:uniqueId val="{00000001-EB9A-4C5A-9CEA-BE1AEEE1145B}"/>
              </c:ext>
            </c:extLst>
          </c:dPt>
          <c:dPt>
            <c:idx val="1"/>
            <c:invertIfNegative val="0"/>
            <c:bubble3D val="0"/>
            <c:extLst>
              <c:ext xmlns:c16="http://schemas.microsoft.com/office/drawing/2014/chart" uri="{C3380CC4-5D6E-409C-BE32-E72D297353CC}">
                <c16:uniqueId val="{00000003-EB9A-4C5A-9CEA-BE1AEEE1145B}"/>
              </c:ext>
            </c:extLst>
          </c:dPt>
          <c:dPt>
            <c:idx val="2"/>
            <c:invertIfNegative val="0"/>
            <c:bubble3D val="0"/>
            <c:extLst>
              <c:ext xmlns:c16="http://schemas.microsoft.com/office/drawing/2014/chart" uri="{C3380CC4-5D6E-409C-BE32-E72D297353CC}">
                <c16:uniqueId val="{00000005-EB9A-4C5A-9CEA-BE1AEEE1145B}"/>
              </c:ext>
            </c:extLst>
          </c:dPt>
          <c:dPt>
            <c:idx val="3"/>
            <c:invertIfNegative val="0"/>
            <c:bubble3D val="0"/>
            <c:extLst>
              <c:ext xmlns:c16="http://schemas.microsoft.com/office/drawing/2014/chart" uri="{C3380CC4-5D6E-409C-BE32-E72D297353CC}">
                <c16:uniqueId val="{00000007-EB9A-4C5A-9CEA-BE1AEEE1145B}"/>
              </c:ext>
            </c:extLst>
          </c:dPt>
          <c:dPt>
            <c:idx val="4"/>
            <c:invertIfNegative val="0"/>
            <c:bubble3D val="0"/>
            <c:extLst>
              <c:ext xmlns:c16="http://schemas.microsoft.com/office/drawing/2014/chart" uri="{C3380CC4-5D6E-409C-BE32-E72D297353CC}">
                <c16:uniqueId val="{00000009-EB9A-4C5A-9CEA-BE1AEEE1145B}"/>
              </c:ext>
            </c:extLst>
          </c:dPt>
          <c:dPt>
            <c:idx val="5"/>
            <c:invertIfNegative val="0"/>
            <c:bubble3D val="0"/>
            <c:extLst>
              <c:ext xmlns:c16="http://schemas.microsoft.com/office/drawing/2014/chart" uri="{C3380CC4-5D6E-409C-BE32-E72D297353CC}">
                <c16:uniqueId val="{0000000B-EB9A-4C5A-9CEA-BE1AEEE1145B}"/>
              </c:ext>
            </c:extLst>
          </c:dPt>
          <c:dPt>
            <c:idx val="6"/>
            <c:invertIfNegative val="0"/>
            <c:bubble3D val="0"/>
            <c:extLst>
              <c:ext xmlns:c16="http://schemas.microsoft.com/office/drawing/2014/chart" uri="{C3380CC4-5D6E-409C-BE32-E72D297353CC}">
                <c16:uniqueId val="{0000000D-EB9A-4C5A-9CEA-BE1AEEE1145B}"/>
              </c:ext>
            </c:extLst>
          </c:dPt>
          <c:dPt>
            <c:idx val="7"/>
            <c:invertIfNegative val="0"/>
            <c:bubble3D val="0"/>
            <c:spPr>
              <a:solidFill>
                <a:srgbClr val="C98A0B"/>
              </a:solidFill>
              <a:effectLst/>
            </c:spPr>
            <c:extLst>
              <c:ext xmlns:c16="http://schemas.microsoft.com/office/drawing/2014/chart" uri="{C3380CC4-5D6E-409C-BE32-E72D297353CC}">
                <c16:uniqueId val="{0000000F-EB9A-4C5A-9CEA-BE1AEEE1145B}"/>
              </c:ext>
            </c:extLst>
          </c:dPt>
          <c:dPt>
            <c:idx val="8"/>
            <c:invertIfNegative val="0"/>
            <c:bubble3D val="0"/>
            <c:spPr>
              <a:solidFill>
                <a:srgbClr val="B3261E"/>
              </a:solidFill>
              <a:effectLst/>
            </c:spPr>
            <c:extLst>
              <c:ext xmlns:c16="http://schemas.microsoft.com/office/drawing/2014/chart" uri="{C3380CC4-5D6E-409C-BE32-E72D297353CC}">
                <c16:uniqueId val="{00000011-EB9A-4C5A-9CEA-BE1AEEE1145B}"/>
              </c:ext>
            </c:extLst>
          </c:dPt>
          <c:dPt>
            <c:idx val="9"/>
            <c:invertIfNegative val="0"/>
            <c:bubble3D val="0"/>
            <c:spPr>
              <a:solidFill>
                <a:srgbClr val="C98A0B"/>
              </a:solidFill>
              <a:effectLst/>
            </c:spPr>
            <c:extLst>
              <c:ext xmlns:c16="http://schemas.microsoft.com/office/drawing/2014/chart" uri="{C3380CC4-5D6E-409C-BE32-E72D297353CC}">
                <c16:uniqueId val="{00000013-EB9A-4C5A-9CEA-BE1AEEE1145B}"/>
              </c:ext>
            </c:extLst>
          </c:dPt>
          <c:dLbls>
            <c:numFmt formatCode="#,##0" sourceLinked="0"/>
            <c:spPr>
              <a:noFill/>
              <a:ln>
                <a:noFill/>
              </a:ln>
              <a:effectLst/>
            </c:spPr>
            <c:txPr>
              <a:bodyPr/>
              <a:lstStyle/>
              <a:p>
                <a:pPr>
                  <a:defRPr sz="1100" b="0" i="0" u="none" strike="noStrike">
                    <a:solidFill>
                      <a:srgbClr val="1B262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0.06</c:v>
                </c:pt>
                <c:pt idx="1">
                  <c:v>0.08</c:v>
                </c:pt>
                <c:pt idx="2">
                  <c:v>0.10</c:v>
                </c:pt>
                <c:pt idx="3">
                  <c:v>0.12</c:v>
                </c:pt>
                <c:pt idx="4">
                  <c:v>0.14</c:v>
                </c:pt>
                <c:pt idx="5">
                  <c:v>0.16</c:v>
                </c:pt>
                <c:pt idx="6">
                  <c:v>0.18</c:v>
                </c:pt>
                <c:pt idx="7">
                  <c:v>0.20</c:v>
                </c:pt>
                <c:pt idx="8">
                  <c:v>0.22</c:v>
                </c:pt>
                <c:pt idx="9">
                  <c:v>0.24</c:v>
                </c:pt>
              </c:strCache>
            </c:strRef>
          </c:cat>
          <c:val>
            <c:numRef>
              <c:f>Sheet1!$B$2:$B$11</c:f>
              <c:numCache>
                <c:formatCode>General</c:formatCode>
                <c:ptCount val="10"/>
                <c:pt idx="0">
                  <c:v>8</c:v>
                </c:pt>
                <c:pt idx="1">
                  <c:v>8</c:v>
                </c:pt>
                <c:pt idx="2">
                  <c:v>8</c:v>
                </c:pt>
                <c:pt idx="3">
                  <c:v>8</c:v>
                </c:pt>
                <c:pt idx="4">
                  <c:v>15</c:v>
                </c:pt>
                <c:pt idx="5">
                  <c:v>22</c:v>
                </c:pt>
                <c:pt idx="6">
                  <c:v>34</c:v>
                </c:pt>
                <c:pt idx="7">
                  <c:v>68</c:v>
                </c:pt>
                <c:pt idx="8">
                  <c:v>78</c:v>
                </c:pt>
                <c:pt idx="9">
                  <c:v>77</c:v>
                </c:pt>
              </c:numCache>
            </c:numRef>
          </c:val>
          <c:extLst>
            <c:ext xmlns:c16="http://schemas.microsoft.com/office/drawing/2014/chart" uri="{C3380CC4-5D6E-409C-BE32-E72D297353CC}">
              <c16:uniqueId val="{00000014-EB9A-4C5A-9CEA-BE1AEEE1145B}"/>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title>
          <c:tx>
            <c:rich>
              <a:bodyPr/>
              <a:lstStyle/>
              <a:p>
                <a:pPr>
                  <a:defRPr sz="1200" b="0" i="0" u="none" strike="noStrike">
                    <a:solidFill>
                      <a:srgbClr val="6B7768"/>
                    </a:solidFill>
                    <a:latin typeface="+mn-lt"/>
                  </a:defRPr>
                </a:pPr>
                <a:r>
                  <a:rPr lang="en-US" sz="1200" b="0" i="0" u="none" strike="noStrike">
                    <a:solidFill>
                      <a:srgbClr val="6B7768"/>
                    </a:solidFill>
                    <a:latin typeface="+mn-lt"/>
                  </a:rPr>
                  <a:t>commanded speed (m/s)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768"/>
                </a:solidFill>
                <a:latin typeface="+mn-lt"/>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D3DE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7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500" b="0" i="0" u="none" strike="noStrike">
                <a:solidFill>
                  <a:srgbClr val="173F2A"/>
                </a:solidFill>
                <a:latin typeface="+mn-lt"/>
              </a:defRPr>
            </a:pPr>
            <a:r>
              <a:rPr lang="en-US" sz="1500" b="0" i="0" u="none" strike="noStrike">
                <a:solidFill>
                  <a:srgbClr val="173F2A"/>
                </a:solidFill>
                <a:latin typeface="+mn-lt"/>
              </a:rPr>
              <a:t>Purchased and listed component costs (₹)</a:t>
            </a:r>
          </a:p>
        </c:rich>
      </c:tx>
      <c:overlay val="0"/>
    </c:title>
    <c:autoTitleDeleted val="0"/>
    <c:plotArea>
      <c:layout/>
      <c:barChart>
        <c:barDir val="bar"/>
        <c:grouping val="clustered"/>
        <c:varyColors val="0"/>
        <c:ser>
          <c:idx val="0"/>
          <c:order val="0"/>
          <c:tx>
            <c:strRef>
              <c:f>Sheet1!$B$1</c:f>
              <c:strCache>
                <c:ptCount val="1"/>
                <c:pt idx="0">
                  <c:v>Cost (₹)</c:v>
                </c:pt>
              </c:strCache>
            </c:strRef>
          </c:tx>
          <c:spPr>
            <a:solidFill>
              <a:srgbClr val="2F7D46"/>
            </a:solidFill>
            <a:effectLst/>
          </c:spPr>
          <c:invertIfNegative val="0"/>
          <c:dLbls>
            <c:numFmt formatCode="#,##0" sourceLinked="0"/>
            <c:spPr>
              <a:noFill/>
              <a:ln>
                <a:noFill/>
              </a:ln>
              <a:effectLst/>
            </c:spPr>
            <c:txPr>
              <a:bodyPr/>
              <a:lstStyle/>
              <a:p>
                <a:pPr>
                  <a:defRPr sz="1200" b="0" i="0" u="none" strike="noStrike">
                    <a:solidFill>
                      <a:srgbClr val="1B262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Printed chassis, 35 parts</c:v>
                </c:pt>
                <c:pt idx="1">
                  <c:v>12 × MG996R servos (listed)</c:v>
                </c:pt>
                <c:pt idx="2">
                  <c:v>ESP32-CAM (OV3660)</c:v>
                </c:pt>
                <c:pt idx="3">
                  <c:v>PCA9685 servo driver (listed)</c:v>
                </c:pt>
                <c:pt idx="4">
                  <c:v>ESP32-CAM-MB adapter</c:v>
                </c:pt>
              </c:strCache>
            </c:strRef>
          </c:cat>
          <c:val>
            <c:numRef>
              <c:f>Sheet1!$B$2:$B$6</c:f>
              <c:numCache>
                <c:formatCode>General</c:formatCode>
                <c:ptCount val="5"/>
                <c:pt idx="0">
                  <c:v>5200</c:v>
                </c:pt>
                <c:pt idx="1">
                  <c:v>3996</c:v>
                </c:pt>
                <c:pt idx="2">
                  <c:v>689</c:v>
                </c:pt>
                <c:pt idx="3">
                  <c:v>249</c:v>
                </c:pt>
                <c:pt idx="4">
                  <c:v>119</c:v>
                </c:pt>
              </c:numCache>
            </c:numRef>
          </c:val>
          <c:extLst>
            <c:ext xmlns:c16="http://schemas.microsoft.com/office/drawing/2014/chart" uri="{C3380CC4-5D6E-409C-BE32-E72D297353CC}">
              <c16:uniqueId val="{00000000-248C-4150-95A7-7620092114DF}"/>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6B7768"/>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7611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summary: a printed quadruped that carries a working sensing payload, a dashboard that classifies leaf disease, locomotion validated in physics simulation, and legs that now move on the real robot. Say that the talk follows the six criteria of the panel rubric.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the panel rubric, one section per criterion, so the panel can find the evidence for each mark. The live demo sits in section 03.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Criterion 1: domain knowledge and problem understanding.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scale of the problem. Savary et al. surveyed five staple crops in 67 countries. Early detection needs close, frequent observation at canopy height, which is what the platforms on the right struggle to provide.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qualitative comparison drawn from the literature survey. The legged robot is the only platform that combines close-range sensing with mobility on soft ground; the open question this project tackles is whether it can be done at hobby-servo cost.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survey by theme rather than paper by paper; the full 18-paper table is in the backup slides at the end. Each theme ends with the gap this project addresses.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gap on the left maps to a part of the build on the right.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each with evidence later in the deck. Be clear about what is in and out of scope.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Criterion 2: methodology, architecture and technical design.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moved from analysis to a revised design, then built and validated each layer. Simulation came before powering the servos, so the gait could be developed without risking the hardware.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changes and the reason for each.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on one Wi-Fi hotspot hosted by the laptop. The robot carries only inexpensive microcontrollers; all computation is on the laptop.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streams meet in the dashboard. Every leaf image is stored together with the air readings at the moment of capture, which is what links plant health to the environment.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XIAO ESP32-S3 on its expansion board. Gas, temperature and dust are live; the ultrasonic firmware is complete and the sensors are not yet wired. Point out the voltage-divider rule.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is an algorithm or a fix that came from testing. The dust formula is the manufacturer's calibration curve; the speed-of-sound correction keeps range accurate on hot days.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classifier alone has no 'not a leaf' answer: pointed at a room it said citrus greening at 82–90 %. The gate runs first and asks a simpler question: is enough of the frame leaf-coloured? Walk through the four frames.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Closed-form inverse kinematics from the measured leg geometry, a diagonal trot, and the key finding: footholds must be centred on the centre of mass, which sits 12 mm behind the body centre.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MuJoCo after Gazebo would not hold a stance. Because the servos are capped at MG996R stall torque, a gait that works here is not relying on unrealistic motors. Play the clip.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in the public GitHub repository with run instructions.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Criterion 3: completion, functionality and integration.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of six objectives are fully achieved. Sensing is complete except the ultrasonic wiring; walking on hardware is partly achieved: the legs move and the robot stands, but it cannot yet step.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assembly: sensor node and antenna on the printed top cover, the camera in the head, the payload on a USB power bank.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live after this slide. Four sensor cards with bands, live video, one-click scanning, and every reading logged.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17-minute session on 14 October with the gas sensor repeatedly exposed to VOC sources. Readings arrived every 5 s with no gaps, and recovered to baseline after each exposure.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 in this order. Keep the uploaded-image route ready in case the camera network fails.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Criterion 4: testing, validation and analysis of results.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test applies a known change and checks the response. These are measured on the physical hardware, not modelled.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comparison is the classifier with and without the gate. Without it, an empty room was diagnosed as citrus greening at up to 90 %. The PlantVillage checks show the pipeline working; they are not a field-accuracy figure.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outdoor scans. Left: a hedge from a metre away is turned away; too little of the frame is leaf. Middle: a plant outside the training set gets a low-confidence label. Right: a photo of spotted leaves is flagged as diseased. Read labels as indications, not diagnoses.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both clips. Left: on its back the legs move freely, which proves wiring, joint directions and control. Right: standing, it holds its own weight and shifts, but slowly and with strain, and does not step. This matches the torque analysis.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survey ran without a fall. The TVOC peak sits 0.2 m from the true source because the SGP30 takes about 2.5 s to respond while the robot keeps walking: a real effect worth discussing.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for the physical build. Without the centre-of-mass correction all 24 gait settings fell; with it, the trot is stable. Above 0.18 m/s the servos saturate and the robot falls at 0.22 m/s.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honestly with what was promised at Review III.</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Criterion 5: innovation, technical merit and practical relevance.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contributions, each backed by results shown earlier.</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Purchased and listed costs only; the XIAO, sensors and wiring were already available to the team. Research quadrupeds cost one to two orders of magnitude more, as reported in the surveyed papers.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rubric asks for ethical responsibility. These are the concrete design choices that address it.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would use it and how. The system needs only a laptop and its hotspot, so it works in a field with no internet.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these before the panel asks.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by what unlocks the most: walking on hardware first, then a complete sensor set, then acting on readings.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was demonstrated, then move to questions.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If time allows, run the parts of the demo not yet shown.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the full 18-paper survey from Review III, for questions on prior work.</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73F2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73F2A"/>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417320"/>
            <a:ext cx="3657600" cy="1371600"/>
          </a:xfrm>
          <a:prstGeom prst="rect">
            <a:avLst/>
          </a:prstGeom>
          <a:noFill/>
          <a:ln/>
        </p:spPr>
        <p:txBody>
          <a:bodyPr wrap="square" rtlCol="0"/>
          <a:lstStyle>
            <a:lvl1pPr marL="0" indent="0" algn="l">
              <a:buNone/>
              <a:defRPr lang="en-US" sz="8800" b="1" dirty="0">
                <a:solidFill>
                  <a:schemeClr val="accent2"/>
                </a:solidFill>
                <a:latin typeface="Cambria" pitchFamily="34" charset="0"/>
                <a:ea typeface="Cambria" pitchFamily="34" charset="-122"/>
                <a:cs typeface="Cambria" pitchFamily="34" charset="-120"/>
              </a:defRPr>
            </a:lvl1pPr>
          </a:lstStyle>
          <a:p>
            <a:pPr marL="0" indent="0" algn="l">
              <a:buNone/>
            </a:pPr>
            <a:endParaRPr lang="en-US" sz="8800" dirty="0"/>
          </a:p>
        </p:txBody>
      </p:sp>
      <p:sp>
        <p:nvSpPr>
          <p:cNvPr id="3" name="Text 0"/>
          <p:cNvSpPr>
            <a:spLocks noGrp="1"/>
          </p:cNvSpPr>
          <p:nvPr>
            <p:ph type="title" idx="101" hasCustomPrompt="1"/>
          </p:nvPr>
        </p:nvSpPr>
        <p:spPr>
          <a:xfrm>
            <a:off x="731520" y="2834640"/>
            <a:ext cx="786384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4" name="Text 0"/>
          <p:cNvSpPr>
            <a:spLocks noGrp="1"/>
          </p:cNvSpPr>
          <p:nvPr>
            <p:ph type="body" idx="102" hasCustomPrompt="1"/>
          </p:nvPr>
        </p:nvSpPr>
        <p:spPr>
          <a:xfrm>
            <a:off x="731520" y="4069080"/>
            <a:ext cx="7680960" cy="1280160"/>
          </a:xfrm>
          <a:prstGeom prst="rect">
            <a:avLst/>
          </a:prstGeom>
          <a:noFill/>
          <a:ln/>
        </p:spPr>
        <p:txBody>
          <a:bodyPr wrap="square" rtlCol="0"/>
          <a:lstStyle>
            <a:lvl1pPr marL="0" indent="0" algn="l">
              <a:buNone/>
              <a:defRPr lang="en-US" sz="1800" dirty="0">
                <a:solidFill>
                  <a:schemeClr val="bg2"/>
                </a:solidFill>
              </a:defRPr>
            </a:lvl1pPr>
          </a:lstStyle>
          <a:p>
            <a:pPr marL="0" indent="0" algn="l">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C:\Users\adith\Downloads\Final Year Proj New\presentation\img\vit_logo.jpg"/>
          <p:cNvPicPr>
            <a:picLocks noChangeAspect="1"/>
          </p:cNvPicPr>
          <p:nvPr/>
        </p:nvPicPr>
        <p:blipFill>
          <a:blip r:embed="rId2"/>
          <a:stretch>
            <a:fillRect/>
          </a:stretch>
        </p:blipFill>
        <p:spPr>
          <a:xfrm>
            <a:off x="10561320" y="329184"/>
            <a:ext cx="1234440" cy="408737"/>
          </a:xfrm>
          <a:prstGeom prst="rect">
            <a:avLst/>
          </a:prstGeom>
        </p:spPr>
      </p:pic>
      <p:sp>
        <p:nvSpPr>
          <p:cNvPr id="3" name="Text 0"/>
          <p:cNvSpPr>
            <a:spLocks noGrp="1"/>
          </p:cNvSpPr>
          <p:nvPr>
            <p:ph type="title" idx="101" hasCustomPrompt="1"/>
          </p:nvPr>
        </p:nvSpPr>
        <p:spPr>
          <a:xfrm>
            <a:off x="548640" y="292608"/>
            <a:ext cx="9784080" cy="73152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marL="0" indent="0">
              <a:buNone/>
            </a:pPr>
            <a:r>
              <a:rPr lang="en-US" sz="1000" dirty="0">
                <a:solidFill>
                  <a:schemeClr val="accent6"/>
                </a:solidFill>
              </a:rPr>
              <a:t>Final Review  ·  Precision Agriculture Monitoring Quadruped Robot Dog</a:t>
            </a:r>
            <a:endParaRPr lang="en-US" sz="10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5.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35.png"/><Relationship Id="rId7"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27.png"/><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6.png"/><Relationship Id="rId7"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44.pn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slideLayout" Target="../slideLayouts/slideLayout4.xml"/><Relationship Id="rId7" Type="http://schemas.openxmlformats.org/officeDocument/2006/relationships/image" Target="../media/image4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4.png"/><Relationship Id="rId5" Type="http://schemas.openxmlformats.org/officeDocument/2006/relationships/image" Target="../media/image46.png"/><Relationship Id="rId4" Type="http://schemas.openxmlformats.org/officeDocument/2006/relationships/notesSlide" Target="../notesSlides/notesSlide18.xml"/><Relationship Id="rId9" Type="http://schemas.openxmlformats.org/officeDocument/2006/relationships/image" Target="../media/image49.png"/></Relationships>
</file>

<file path=ppt/slides/_rels/slide19.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21.png"/><Relationship Id="rId7"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38.png"/><Relationship Id="rId4" Type="http://schemas.openxmlformats.org/officeDocument/2006/relationships/image" Target="../media/image50.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54.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21.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4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27.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9.xml"/><Relationship Id="rId1" Type="http://schemas.openxmlformats.org/officeDocument/2006/relationships/slideLayout" Target="../slideLayouts/slideLayout4.xml"/><Relationship Id="rId5" Type="http://schemas.openxmlformats.org/officeDocument/2006/relationships/image" Target="../media/image59.jpg"/><Relationship Id="rId4" Type="http://schemas.openxmlformats.org/officeDocument/2006/relationships/image" Target="../media/image58.jpg"/></Relationships>
</file>

<file path=ppt/slides/_rels/slide30.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media" Target="../media/media3.mp4"/><Relationship Id="rId7" Type="http://schemas.openxmlformats.org/officeDocument/2006/relationships/image" Target="../media/image60.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notesSlide" Target="../notesSlides/notesSlide30.xml"/><Relationship Id="rId5" Type="http://schemas.openxmlformats.org/officeDocument/2006/relationships/slideLayout" Target="../slideLayouts/slideLayout4.xml"/><Relationship Id="rId4" Type="http://schemas.openxmlformats.org/officeDocument/2006/relationships/video" Target="../media/media3.mp4"/></Relationships>
</file>

<file path=ppt/slides/_rels/slide31.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4.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3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40.png"/><Relationship Id="rId5" Type="http://schemas.openxmlformats.org/officeDocument/2006/relationships/image" Target="../media/image71.png"/><Relationship Id="rId4" Type="http://schemas.openxmlformats.org/officeDocument/2006/relationships/image" Target="../media/image48.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48.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38.png"/><Relationship Id="rId5" Type="http://schemas.openxmlformats.org/officeDocument/2006/relationships/image" Target="../media/image54.png"/><Relationship Id="rId4" Type="http://schemas.openxmlformats.org/officeDocument/2006/relationships/image" Target="../media/image17.png"/></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6.png"/><Relationship Id="rId4" Type="http://schemas.openxmlformats.org/officeDocument/2006/relationships/image" Target="../media/image23.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photo" descr="The assembled robot standing outdoors"/>
          <p:cNvPicPr>
            <a:picLocks noChangeAspect="1"/>
          </p:cNvPicPr>
          <p:nvPr/>
        </p:nvPicPr>
        <p:blipFill>
          <a:blip r:embed="rId3"/>
          <a:srcRect/>
          <a:stretch/>
        </p:blipFill>
        <p:spPr>
          <a:xfrm>
            <a:off x="6444641" y="1600200"/>
            <a:ext cx="5496985" cy="3811044"/>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3" name="logo-chip"/>
          <p:cNvSpPr/>
          <p:nvPr/>
        </p:nvSpPr>
        <p:spPr>
          <a:xfrm>
            <a:off x="640080" y="502920"/>
            <a:ext cx="1874520" cy="713232"/>
          </a:xfrm>
          <a:prstGeom prst="roundRect">
            <a:avLst>
              <a:gd name="adj" fmla="val 10256"/>
            </a:avLst>
          </a:prstGeom>
          <a:solidFill>
            <a:schemeClr val="bg1"/>
          </a:solidFill>
          <a:ln w="12700">
            <a:solidFill>
              <a:schemeClr val="bg1"/>
            </a:solidFill>
            <a:prstDash val="solid"/>
          </a:ln>
        </p:spPr>
      </p:sp>
      <p:pic>
        <p:nvPicPr>
          <p:cNvPr id="4" name="logo" descr="C:\Users\adith\Downloads\Final Year Proj New\presentation\img\vit_logo.jpg"/>
          <p:cNvPicPr>
            <a:picLocks noChangeAspect="1"/>
          </p:cNvPicPr>
          <p:nvPr/>
        </p:nvPicPr>
        <p:blipFill>
          <a:blip r:embed="rId4"/>
          <a:stretch>
            <a:fillRect/>
          </a:stretch>
        </p:blipFill>
        <p:spPr>
          <a:xfrm>
            <a:off x="777240" y="576072"/>
            <a:ext cx="1600200" cy="529844"/>
          </a:xfrm>
          <a:prstGeom prst="rect">
            <a:avLst/>
          </a:prstGeom>
        </p:spPr>
      </p:pic>
      <p:sp>
        <p:nvSpPr>
          <p:cNvPr id="5" name="Text 1"/>
          <p:cNvSpPr txBox="1"/>
          <p:nvPr/>
        </p:nvSpPr>
        <p:spPr>
          <a:xfrm>
            <a:off x="640080" y="1600200"/>
            <a:ext cx="5760720" cy="365760"/>
          </a:xfrm>
          <a:prstGeom prst="rect">
            <a:avLst/>
          </a:prstGeom>
          <a:noFill/>
          <a:ln/>
        </p:spPr>
        <p:txBody>
          <a:bodyPr wrap="square" lIns="0" tIns="0" rIns="0" bIns="0" rtlCol="0" anchor="t"/>
          <a:lstStyle/>
          <a:p>
            <a:pPr marL="0" indent="0">
              <a:buNone/>
            </a:pPr>
            <a:r>
              <a:rPr lang="en-US" sz="1500" b="1" kern="0" spc="200" dirty="0">
                <a:solidFill>
                  <a:schemeClr val="accent2"/>
                </a:solidFill>
              </a:rPr>
              <a:t>CAPSTONE PROJECT  ·  FINAL REVIEW</a:t>
            </a:r>
            <a:endParaRPr lang="en-US" sz="1500" dirty="0"/>
          </a:p>
        </p:txBody>
      </p:sp>
      <p:sp>
        <p:nvSpPr>
          <p:cNvPr id="6" name="Text 2"/>
          <p:cNvSpPr txBox="1"/>
          <p:nvPr/>
        </p:nvSpPr>
        <p:spPr>
          <a:xfrm>
            <a:off x="640080" y="2011680"/>
            <a:ext cx="5852160" cy="1828800"/>
          </a:xfrm>
          <a:prstGeom prst="rect">
            <a:avLst/>
          </a:prstGeom>
          <a:noFill/>
          <a:ln/>
        </p:spPr>
        <p:txBody>
          <a:bodyPr wrap="square" lIns="0" tIns="0" rIns="0" bIns="0" rtlCol="0" anchor="t"/>
          <a:lstStyle/>
          <a:p>
            <a:pPr marL="0" indent="0">
              <a:buNone/>
            </a:pPr>
            <a:r>
              <a:rPr lang="en-US" sz="3800" b="1" dirty="0">
                <a:solidFill>
                  <a:schemeClr val="bg1"/>
                </a:solidFill>
                <a:latin typeface="Cambria" pitchFamily="34" charset="0"/>
                <a:ea typeface="Cambria" pitchFamily="34" charset="-122"/>
                <a:cs typeface="Cambria" pitchFamily="34" charset="-120"/>
              </a:rPr>
              <a:t>Precision Agriculture Monitoring Quadruped Robot Dog</a:t>
            </a:r>
            <a:endParaRPr lang="en-US" sz="3800" dirty="0"/>
          </a:p>
        </p:txBody>
      </p:sp>
      <p:sp>
        <p:nvSpPr>
          <p:cNvPr id="7" name="Text 3"/>
          <p:cNvSpPr txBox="1"/>
          <p:nvPr/>
        </p:nvSpPr>
        <p:spPr>
          <a:xfrm>
            <a:off x="640080" y="3840480"/>
            <a:ext cx="5760720" cy="868680"/>
          </a:xfrm>
          <a:prstGeom prst="rect">
            <a:avLst/>
          </a:prstGeom>
          <a:noFill/>
          <a:ln/>
        </p:spPr>
        <p:txBody>
          <a:bodyPr wrap="square" lIns="0" tIns="0" rIns="0" bIns="0" rtlCol="0" anchor="t"/>
          <a:lstStyle/>
          <a:p>
            <a:pPr marL="0" indent="0">
              <a:buNone/>
            </a:pPr>
            <a:r>
              <a:rPr lang="en-US" sz="1700" dirty="0">
                <a:solidFill>
                  <a:schemeClr val="bg2"/>
                </a:solidFill>
              </a:rPr>
              <a:t>A 3D-printed quadruped carrying wireless crop-health sensing, with leaf-disease classification and physics-validated locomotion</a:t>
            </a:r>
            <a:endParaRPr lang="en-US" sz="1700" dirty="0"/>
          </a:p>
        </p:txBody>
      </p:sp>
      <p:sp>
        <p:nvSpPr>
          <p:cNvPr id="8" name="Text 4"/>
          <p:cNvSpPr txBox="1"/>
          <p:nvPr/>
        </p:nvSpPr>
        <p:spPr>
          <a:xfrm>
            <a:off x="640080" y="4892040"/>
            <a:ext cx="5760720" cy="1463040"/>
          </a:xfrm>
          <a:prstGeom prst="rect">
            <a:avLst/>
          </a:prstGeom>
          <a:noFill/>
          <a:ln/>
        </p:spPr>
        <p:txBody>
          <a:bodyPr wrap="square" lIns="0" tIns="0" rIns="0" bIns="0" rtlCol="0" anchor="t"/>
          <a:lstStyle/>
          <a:p>
            <a:pPr marL="0" indent="0">
              <a:lnSpc>
                <a:spcPct val="115000"/>
              </a:lnSpc>
              <a:buNone/>
            </a:pPr>
            <a:r>
              <a:rPr lang="en-US" sz="1500" dirty="0">
                <a:solidFill>
                  <a:schemeClr val="bg1"/>
                </a:solidFill>
              </a:rPr>
              <a:t>Adithya Sankar Menon  ·  23BRS1079</a:t>
            </a:r>
            <a:endParaRPr lang="en-US" sz="1500" dirty="0"/>
          </a:p>
          <a:p>
            <a:pPr marL="0" indent="0">
              <a:lnSpc>
                <a:spcPct val="115000"/>
              </a:lnSpc>
              <a:buNone/>
            </a:pPr>
            <a:r>
              <a:rPr lang="en-US" sz="1500" dirty="0">
                <a:solidFill>
                  <a:schemeClr val="bg1"/>
                </a:solidFill>
              </a:rPr>
              <a:t>Siddhesh Pushkraj Shinde  ·  23BCE5048</a:t>
            </a:r>
            <a:endParaRPr lang="en-US" sz="1500" dirty="0"/>
          </a:p>
          <a:p>
            <a:pPr marL="0" indent="0">
              <a:lnSpc>
                <a:spcPct val="115000"/>
              </a:lnSpc>
              <a:buNone/>
            </a:pPr>
            <a:r>
              <a:rPr lang="en-US" sz="1500" dirty="0">
                <a:solidFill>
                  <a:schemeClr val="bg1"/>
                </a:solidFill>
              </a:rPr>
              <a:t>Rachit Gupta  ·  23BCE1658</a:t>
            </a:r>
            <a:endParaRPr lang="en-US" sz="1500" dirty="0"/>
          </a:p>
          <a:p>
            <a:pPr marL="0" indent="0">
              <a:lnSpc>
                <a:spcPct val="115000"/>
              </a:lnSpc>
              <a:buNone/>
            </a:pPr>
            <a:r>
              <a:rPr lang="en-US" sz="1500" b="1" dirty="0">
                <a:solidFill>
                  <a:schemeClr val="accent2"/>
                </a:solidFill>
              </a:rPr>
              <a:t>Guide: Dr. Lakshmanan K  ·  54758</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How This Review Is Organised</a:t>
            </a:r>
            <a:endParaRPr lang="en-US" sz="3000" dirty="0"/>
          </a:p>
        </p:txBody>
      </p:sp>
      <p:sp>
        <p:nvSpPr>
          <p:cNvPr id="4" name="panel-311"/>
          <p:cNvSpPr/>
          <p:nvPr/>
        </p:nvSpPr>
        <p:spPr>
          <a:xfrm>
            <a:off x="548640" y="1280160"/>
            <a:ext cx="11064240" cy="713232"/>
          </a:xfrm>
          <a:prstGeom prst="roundRect">
            <a:avLst>
              <a:gd name="adj" fmla="val 12821"/>
            </a:avLst>
          </a:prstGeom>
          <a:solidFill>
            <a:schemeClr val="bg2"/>
          </a:solidFill>
          <a:ln w="12700">
            <a:solidFill>
              <a:schemeClr val="bg2"/>
            </a:solidFill>
            <a:prstDash val="solid"/>
          </a:ln>
        </p:spPr>
      </p:sp>
      <p:sp>
        <p:nvSpPr>
          <p:cNvPr id="5" name="Text 2"/>
          <p:cNvSpPr txBox="1"/>
          <p:nvPr/>
        </p:nvSpPr>
        <p:spPr>
          <a:xfrm>
            <a:off x="731520" y="1280160"/>
            <a:ext cx="640080" cy="713232"/>
          </a:xfrm>
          <a:prstGeom prst="rect">
            <a:avLst/>
          </a:prstGeom>
          <a:noFill/>
          <a:ln/>
        </p:spPr>
        <p:txBody>
          <a:bodyPr wrap="square" lIns="0" tIns="0" rIns="0" bIns="0" rtlCol="0" anchor="ctr"/>
          <a:lstStyle/>
          <a:p>
            <a:pPr marL="0" indent="0">
              <a:buNone/>
            </a:pPr>
            <a:r>
              <a:rPr lang="en-US" sz="2400" b="1" dirty="0">
                <a:solidFill>
                  <a:schemeClr val="accent2"/>
                </a:solidFill>
                <a:latin typeface="Cambria" pitchFamily="34" charset="0"/>
                <a:ea typeface="Cambria" pitchFamily="34" charset="-122"/>
                <a:cs typeface="Cambria" pitchFamily="34" charset="-120"/>
              </a:rPr>
              <a:t>01</a:t>
            </a:r>
            <a:endParaRPr lang="en-US" sz="2400" dirty="0"/>
          </a:p>
        </p:txBody>
      </p:sp>
      <p:sp>
        <p:nvSpPr>
          <p:cNvPr id="6" name="icon-bg-312"/>
          <p:cNvSpPr/>
          <p:nvPr/>
        </p:nvSpPr>
        <p:spPr>
          <a:xfrm>
            <a:off x="1417320" y="1389888"/>
            <a:ext cx="493776" cy="493776"/>
          </a:xfrm>
          <a:prstGeom prst="ellipse">
            <a:avLst/>
          </a:prstGeom>
          <a:solidFill>
            <a:schemeClr val="accent1"/>
          </a:solidFill>
          <a:ln w="12700">
            <a:solidFill>
              <a:schemeClr val="accent1"/>
            </a:solidFill>
            <a:prstDash val="solid"/>
          </a:ln>
        </p:spPr>
      </p:sp>
      <p:pic>
        <p:nvPicPr>
          <p:cNvPr id="7" name="icon-313" descr="preencoded.png"/>
          <p:cNvPicPr>
            <a:picLocks noChangeAspect="1"/>
          </p:cNvPicPr>
          <p:nvPr/>
        </p:nvPicPr>
        <p:blipFill>
          <a:blip r:embed="rId3"/>
          <a:stretch>
            <a:fillRect/>
          </a:stretch>
        </p:blipFill>
        <p:spPr>
          <a:xfrm>
            <a:off x="1535826" y="1508394"/>
            <a:ext cx="256764" cy="256764"/>
          </a:xfrm>
          <a:prstGeom prst="rect">
            <a:avLst/>
          </a:prstGeom>
        </p:spPr>
      </p:pic>
      <p:sp>
        <p:nvSpPr>
          <p:cNvPr id="8" name="Text 4"/>
          <p:cNvSpPr txBox="1"/>
          <p:nvPr/>
        </p:nvSpPr>
        <p:spPr>
          <a:xfrm>
            <a:off x="2103120" y="1280160"/>
            <a:ext cx="3291840" cy="713232"/>
          </a:xfrm>
          <a:prstGeom prst="rect">
            <a:avLst/>
          </a:prstGeom>
          <a:noFill/>
          <a:ln/>
        </p:spPr>
        <p:txBody>
          <a:bodyPr wrap="square" lIns="0" tIns="0" rIns="0" bIns="0" rtlCol="0" anchor="ctr"/>
          <a:lstStyle/>
          <a:p>
            <a:pPr marL="0" indent="0">
              <a:buNone/>
            </a:pPr>
            <a:r>
              <a:rPr lang="en-US" sz="1800" b="1" dirty="0">
                <a:solidFill>
                  <a:schemeClr val="tx2"/>
                </a:solidFill>
              </a:rPr>
              <a:t>Domain and Problem</a:t>
            </a:r>
            <a:endParaRPr lang="en-US" sz="1800" dirty="0"/>
          </a:p>
        </p:txBody>
      </p:sp>
      <p:sp>
        <p:nvSpPr>
          <p:cNvPr id="9" name="Text 5"/>
          <p:cNvSpPr txBox="1"/>
          <p:nvPr/>
        </p:nvSpPr>
        <p:spPr>
          <a:xfrm>
            <a:off x="5440680" y="1280160"/>
            <a:ext cx="4937760" cy="713232"/>
          </a:xfrm>
          <a:prstGeom prst="rect">
            <a:avLst/>
          </a:prstGeom>
          <a:noFill/>
          <a:ln/>
        </p:spPr>
        <p:txBody>
          <a:bodyPr wrap="square" lIns="0" tIns="0" rIns="0" bIns="0" rtlCol="0" anchor="ctr"/>
          <a:lstStyle/>
          <a:p>
            <a:pPr marL="0" indent="0">
              <a:buNone/>
            </a:pPr>
            <a:r>
              <a:rPr lang="en-US" sz="1450" dirty="0">
                <a:solidFill>
                  <a:schemeClr val="tx1"/>
                </a:solidFill>
              </a:rPr>
              <a:t>Crop-loss context, monitoring platforms, 18-paper survey, research gaps, objectives</a:t>
            </a:r>
            <a:endParaRPr lang="en-US" sz="1450" dirty="0"/>
          </a:p>
        </p:txBody>
      </p:sp>
      <p:sp>
        <p:nvSpPr>
          <p:cNvPr id="10" name="Text 6"/>
          <p:cNvSpPr txBox="1"/>
          <p:nvPr/>
        </p:nvSpPr>
        <p:spPr>
          <a:xfrm>
            <a:off x="10332720" y="1280160"/>
            <a:ext cx="1143000" cy="713232"/>
          </a:xfrm>
          <a:prstGeom prst="rect">
            <a:avLst/>
          </a:prstGeom>
          <a:noFill/>
          <a:ln/>
        </p:spPr>
        <p:txBody>
          <a:bodyPr wrap="square" lIns="0" tIns="0" rIns="0" bIns="0" rtlCol="0" anchor="ctr"/>
          <a:lstStyle/>
          <a:p>
            <a:pPr marL="0" indent="0" algn="r">
              <a:buNone/>
            </a:pPr>
            <a:r>
              <a:rPr lang="en-US" sz="1300" dirty="0">
                <a:solidFill>
                  <a:schemeClr val="accent6"/>
                </a:solidFill>
              </a:rPr>
              <a:t>Slides 3–8</a:t>
            </a:r>
            <a:endParaRPr lang="en-US" sz="1300" dirty="0"/>
          </a:p>
        </p:txBody>
      </p:sp>
      <p:sp>
        <p:nvSpPr>
          <p:cNvPr id="11" name="panel-314"/>
          <p:cNvSpPr/>
          <p:nvPr/>
        </p:nvSpPr>
        <p:spPr>
          <a:xfrm>
            <a:off x="548640" y="2103120"/>
            <a:ext cx="11064240" cy="713232"/>
          </a:xfrm>
          <a:prstGeom prst="roundRect">
            <a:avLst>
              <a:gd name="adj" fmla="val 12821"/>
            </a:avLst>
          </a:prstGeom>
          <a:solidFill>
            <a:schemeClr val="bg1"/>
          </a:solidFill>
          <a:ln w="12700">
            <a:solidFill>
              <a:schemeClr val="bg1"/>
            </a:solidFill>
            <a:prstDash val="solid"/>
          </a:ln>
        </p:spPr>
      </p:sp>
      <p:sp>
        <p:nvSpPr>
          <p:cNvPr id="12" name="Text 8"/>
          <p:cNvSpPr txBox="1"/>
          <p:nvPr/>
        </p:nvSpPr>
        <p:spPr>
          <a:xfrm>
            <a:off x="731520" y="2103120"/>
            <a:ext cx="640080" cy="713232"/>
          </a:xfrm>
          <a:prstGeom prst="rect">
            <a:avLst/>
          </a:prstGeom>
          <a:noFill/>
          <a:ln/>
        </p:spPr>
        <p:txBody>
          <a:bodyPr wrap="square" lIns="0" tIns="0" rIns="0" bIns="0" rtlCol="0" anchor="ctr"/>
          <a:lstStyle/>
          <a:p>
            <a:pPr marL="0" indent="0">
              <a:buNone/>
            </a:pPr>
            <a:r>
              <a:rPr lang="en-US" sz="2400" b="1" dirty="0">
                <a:solidFill>
                  <a:schemeClr val="accent2"/>
                </a:solidFill>
                <a:latin typeface="Cambria" pitchFamily="34" charset="0"/>
                <a:ea typeface="Cambria" pitchFamily="34" charset="-122"/>
                <a:cs typeface="Cambria" pitchFamily="34" charset="-120"/>
              </a:rPr>
              <a:t>02</a:t>
            </a:r>
            <a:endParaRPr lang="en-US" sz="2400" dirty="0"/>
          </a:p>
        </p:txBody>
      </p:sp>
      <p:sp>
        <p:nvSpPr>
          <p:cNvPr id="13" name="icon-bg-315"/>
          <p:cNvSpPr/>
          <p:nvPr/>
        </p:nvSpPr>
        <p:spPr>
          <a:xfrm>
            <a:off x="1417320" y="2212848"/>
            <a:ext cx="493776" cy="493776"/>
          </a:xfrm>
          <a:prstGeom prst="ellipse">
            <a:avLst/>
          </a:prstGeom>
          <a:solidFill>
            <a:schemeClr val="accent1"/>
          </a:solidFill>
          <a:ln w="12700">
            <a:solidFill>
              <a:schemeClr val="accent1"/>
            </a:solidFill>
            <a:prstDash val="solid"/>
          </a:ln>
        </p:spPr>
      </p:sp>
      <p:pic>
        <p:nvPicPr>
          <p:cNvPr id="14" name="icon-316" descr="preencoded.png"/>
          <p:cNvPicPr>
            <a:picLocks noChangeAspect="1"/>
          </p:cNvPicPr>
          <p:nvPr/>
        </p:nvPicPr>
        <p:blipFill>
          <a:blip r:embed="rId4"/>
          <a:stretch>
            <a:fillRect/>
          </a:stretch>
        </p:blipFill>
        <p:spPr>
          <a:xfrm>
            <a:off x="1535826" y="2331354"/>
            <a:ext cx="256764" cy="256764"/>
          </a:xfrm>
          <a:prstGeom prst="rect">
            <a:avLst/>
          </a:prstGeom>
        </p:spPr>
      </p:pic>
      <p:sp>
        <p:nvSpPr>
          <p:cNvPr id="15" name="Text 10"/>
          <p:cNvSpPr txBox="1"/>
          <p:nvPr/>
        </p:nvSpPr>
        <p:spPr>
          <a:xfrm>
            <a:off x="2103120" y="2103120"/>
            <a:ext cx="3291840" cy="713232"/>
          </a:xfrm>
          <a:prstGeom prst="rect">
            <a:avLst/>
          </a:prstGeom>
          <a:noFill/>
          <a:ln/>
        </p:spPr>
        <p:txBody>
          <a:bodyPr wrap="square" lIns="0" tIns="0" rIns="0" bIns="0" rtlCol="0" anchor="ctr"/>
          <a:lstStyle/>
          <a:p>
            <a:pPr marL="0" indent="0">
              <a:buNone/>
            </a:pPr>
            <a:r>
              <a:rPr lang="en-US" sz="1800" b="1" dirty="0">
                <a:solidFill>
                  <a:schemeClr val="tx2"/>
                </a:solidFill>
              </a:rPr>
              <a:t>Methodology and Design</a:t>
            </a:r>
            <a:endParaRPr lang="en-US" sz="1800" dirty="0"/>
          </a:p>
        </p:txBody>
      </p:sp>
      <p:sp>
        <p:nvSpPr>
          <p:cNvPr id="16" name="Text 11"/>
          <p:cNvSpPr txBox="1"/>
          <p:nvPr/>
        </p:nvSpPr>
        <p:spPr>
          <a:xfrm>
            <a:off x="5440680" y="2103120"/>
            <a:ext cx="4937760" cy="713232"/>
          </a:xfrm>
          <a:prstGeom prst="rect">
            <a:avLst/>
          </a:prstGeom>
          <a:noFill/>
          <a:ln/>
        </p:spPr>
        <p:txBody>
          <a:bodyPr wrap="square" lIns="0" tIns="0" rIns="0" bIns="0" rtlCol="0" anchor="ctr"/>
          <a:lstStyle/>
          <a:p>
            <a:pPr marL="0" indent="0">
              <a:buNone/>
            </a:pPr>
            <a:r>
              <a:rPr lang="en-US" sz="1450" dirty="0">
                <a:solidFill>
                  <a:schemeClr val="tx1"/>
                </a:solidFill>
              </a:rPr>
              <a:t>Workflow, design decisions, architecture, data flow, algorithms, locomotion model</a:t>
            </a:r>
            <a:endParaRPr lang="en-US" sz="1450" dirty="0"/>
          </a:p>
        </p:txBody>
      </p:sp>
      <p:sp>
        <p:nvSpPr>
          <p:cNvPr id="17" name="Text 12"/>
          <p:cNvSpPr txBox="1"/>
          <p:nvPr/>
        </p:nvSpPr>
        <p:spPr>
          <a:xfrm>
            <a:off x="10332720" y="2103120"/>
            <a:ext cx="1143000" cy="713232"/>
          </a:xfrm>
          <a:prstGeom prst="rect">
            <a:avLst/>
          </a:prstGeom>
          <a:noFill/>
          <a:ln/>
        </p:spPr>
        <p:txBody>
          <a:bodyPr wrap="square" lIns="0" tIns="0" rIns="0" bIns="0" rtlCol="0" anchor="ctr"/>
          <a:lstStyle/>
          <a:p>
            <a:pPr marL="0" indent="0" algn="r">
              <a:buNone/>
            </a:pPr>
            <a:r>
              <a:rPr lang="en-US" sz="1300" dirty="0">
                <a:solidFill>
                  <a:schemeClr val="accent6"/>
                </a:solidFill>
              </a:rPr>
              <a:t>Slides 9–19</a:t>
            </a:r>
            <a:endParaRPr lang="en-US" sz="1300" dirty="0"/>
          </a:p>
        </p:txBody>
      </p:sp>
      <p:sp>
        <p:nvSpPr>
          <p:cNvPr id="18" name="panel-317"/>
          <p:cNvSpPr/>
          <p:nvPr/>
        </p:nvSpPr>
        <p:spPr>
          <a:xfrm>
            <a:off x="548640" y="2926080"/>
            <a:ext cx="11064240" cy="713232"/>
          </a:xfrm>
          <a:prstGeom prst="roundRect">
            <a:avLst>
              <a:gd name="adj" fmla="val 12821"/>
            </a:avLst>
          </a:prstGeom>
          <a:solidFill>
            <a:schemeClr val="bg2"/>
          </a:solidFill>
          <a:ln w="12700">
            <a:solidFill>
              <a:schemeClr val="bg2"/>
            </a:solidFill>
            <a:prstDash val="solid"/>
          </a:ln>
        </p:spPr>
      </p:sp>
      <p:sp>
        <p:nvSpPr>
          <p:cNvPr id="19" name="Text 14"/>
          <p:cNvSpPr txBox="1"/>
          <p:nvPr/>
        </p:nvSpPr>
        <p:spPr>
          <a:xfrm>
            <a:off x="731520" y="2926080"/>
            <a:ext cx="640080" cy="713232"/>
          </a:xfrm>
          <a:prstGeom prst="rect">
            <a:avLst/>
          </a:prstGeom>
          <a:noFill/>
          <a:ln/>
        </p:spPr>
        <p:txBody>
          <a:bodyPr wrap="square" lIns="0" tIns="0" rIns="0" bIns="0" rtlCol="0" anchor="ctr"/>
          <a:lstStyle/>
          <a:p>
            <a:pPr marL="0" indent="0">
              <a:buNone/>
            </a:pPr>
            <a:r>
              <a:rPr lang="en-US" sz="2400" b="1" dirty="0">
                <a:solidFill>
                  <a:schemeClr val="accent2"/>
                </a:solidFill>
                <a:latin typeface="Cambria" pitchFamily="34" charset="0"/>
                <a:ea typeface="Cambria" pitchFamily="34" charset="-122"/>
                <a:cs typeface="Cambria" pitchFamily="34" charset="-120"/>
              </a:rPr>
              <a:t>03</a:t>
            </a:r>
            <a:endParaRPr lang="en-US" sz="2400" dirty="0"/>
          </a:p>
        </p:txBody>
      </p:sp>
      <p:sp>
        <p:nvSpPr>
          <p:cNvPr id="20" name="icon-bg-318"/>
          <p:cNvSpPr/>
          <p:nvPr/>
        </p:nvSpPr>
        <p:spPr>
          <a:xfrm>
            <a:off x="1417320" y="3035808"/>
            <a:ext cx="493776" cy="493776"/>
          </a:xfrm>
          <a:prstGeom prst="ellipse">
            <a:avLst/>
          </a:prstGeom>
          <a:solidFill>
            <a:schemeClr val="accent1"/>
          </a:solidFill>
          <a:ln w="12700">
            <a:solidFill>
              <a:schemeClr val="accent1"/>
            </a:solidFill>
            <a:prstDash val="solid"/>
          </a:ln>
        </p:spPr>
      </p:sp>
      <p:pic>
        <p:nvPicPr>
          <p:cNvPr id="21" name="icon-319" descr="preencoded.png"/>
          <p:cNvPicPr>
            <a:picLocks noChangeAspect="1"/>
          </p:cNvPicPr>
          <p:nvPr/>
        </p:nvPicPr>
        <p:blipFill>
          <a:blip r:embed="rId5"/>
          <a:stretch>
            <a:fillRect/>
          </a:stretch>
        </p:blipFill>
        <p:spPr>
          <a:xfrm>
            <a:off x="1535826" y="3154314"/>
            <a:ext cx="256764" cy="256764"/>
          </a:xfrm>
          <a:prstGeom prst="rect">
            <a:avLst/>
          </a:prstGeom>
        </p:spPr>
      </p:pic>
      <p:sp>
        <p:nvSpPr>
          <p:cNvPr id="22" name="Text 16"/>
          <p:cNvSpPr txBox="1"/>
          <p:nvPr/>
        </p:nvSpPr>
        <p:spPr>
          <a:xfrm>
            <a:off x="2103120" y="2926080"/>
            <a:ext cx="3291840" cy="713232"/>
          </a:xfrm>
          <a:prstGeom prst="rect">
            <a:avLst/>
          </a:prstGeom>
          <a:noFill/>
          <a:ln/>
        </p:spPr>
        <p:txBody>
          <a:bodyPr wrap="square" lIns="0" tIns="0" rIns="0" bIns="0" rtlCol="0" anchor="ctr"/>
          <a:lstStyle/>
          <a:p>
            <a:pPr marL="0" indent="0">
              <a:buNone/>
            </a:pPr>
            <a:r>
              <a:rPr lang="en-US" sz="1800" b="1" dirty="0">
                <a:solidFill>
                  <a:schemeClr val="tx2"/>
                </a:solidFill>
              </a:rPr>
              <a:t>Completion and Integration</a:t>
            </a:r>
            <a:endParaRPr lang="en-US" sz="1800" dirty="0"/>
          </a:p>
        </p:txBody>
      </p:sp>
      <p:sp>
        <p:nvSpPr>
          <p:cNvPr id="23" name="Text 17"/>
          <p:cNvSpPr txBox="1"/>
          <p:nvPr/>
        </p:nvSpPr>
        <p:spPr>
          <a:xfrm>
            <a:off x="5440680" y="2926080"/>
            <a:ext cx="4937760" cy="713232"/>
          </a:xfrm>
          <a:prstGeom prst="rect">
            <a:avLst/>
          </a:prstGeom>
          <a:noFill/>
          <a:ln/>
        </p:spPr>
        <p:txBody>
          <a:bodyPr wrap="square" lIns="0" tIns="0" rIns="0" bIns="0" rtlCol="0" anchor="ctr"/>
          <a:lstStyle/>
          <a:p>
            <a:pPr marL="0" indent="0">
              <a:buNone/>
            </a:pPr>
            <a:r>
              <a:rPr lang="en-US" sz="1450" dirty="0">
                <a:solidFill>
                  <a:schemeClr val="tx1"/>
                </a:solidFill>
              </a:rPr>
              <a:t>Scope delivered, assembled robot, integrated dashboard, stable logging, live demo</a:t>
            </a:r>
            <a:endParaRPr lang="en-US" sz="1450" dirty="0"/>
          </a:p>
        </p:txBody>
      </p:sp>
      <p:sp>
        <p:nvSpPr>
          <p:cNvPr id="24" name="Text 18"/>
          <p:cNvSpPr txBox="1"/>
          <p:nvPr/>
        </p:nvSpPr>
        <p:spPr>
          <a:xfrm>
            <a:off x="10332720" y="2926080"/>
            <a:ext cx="1143000" cy="713232"/>
          </a:xfrm>
          <a:prstGeom prst="rect">
            <a:avLst/>
          </a:prstGeom>
          <a:noFill/>
          <a:ln/>
        </p:spPr>
        <p:txBody>
          <a:bodyPr wrap="square" lIns="0" tIns="0" rIns="0" bIns="0" rtlCol="0" anchor="ctr"/>
          <a:lstStyle/>
          <a:p>
            <a:pPr marL="0" indent="0" algn="r">
              <a:buNone/>
            </a:pPr>
            <a:r>
              <a:rPr lang="en-US" sz="1300" dirty="0">
                <a:solidFill>
                  <a:schemeClr val="accent6"/>
                </a:solidFill>
              </a:rPr>
              <a:t>Slides 20–25</a:t>
            </a:r>
            <a:endParaRPr lang="en-US" sz="1300" dirty="0"/>
          </a:p>
        </p:txBody>
      </p:sp>
      <p:sp>
        <p:nvSpPr>
          <p:cNvPr id="25" name="panel-320"/>
          <p:cNvSpPr/>
          <p:nvPr/>
        </p:nvSpPr>
        <p:spPr>
          <a:xfrm>
            <a:off x="548640" y="3749040"/>
            <a:ext cx="11064240" cy="713232"/>
          </a:xfrm>
          <a:prstGeom prst="roundRect">
            <a:avLst>
              <a:gd name="adj" fmla="val 12821"/>
            </a:avLst>
          </a:prstGeom>
          <a:solidFill>
            <a:schemeClr val="bg1"/>
          </a:solidFill>
          <a:ln w="12700">
            <a:solidFill>
              <a:schemeClr val="bg1"/>
            </a:solidFill>
            <a:prstDash val="solid"/>
          </a:ln>
        </p:spPr>
      </p:sp>
      <p:sp>
        <p:nvSpPr>
          <p:cNvPr id="26" name="Text 20"/>
          <p:cNvSpPr txBox="1"/>
          <p:nvPr/>
        </p:nvSpPr>
        <p:spPr>
          <a:xfrm>
            <a:off x="731520" y="3749040"/>
            <a:ext cx="640080" cy="713232"/>
          </a:xfrm>
          <a:prstGeom prst="rect">
            <a:avLst/>
          </a:prstGeom>
          <a:noFill/>
          <a:ln/>
        </p:spPr>
        <p:txBody>
          <a:bodyPr wrap="square" lIns="0" tIns="0" rIns="0" bIns="0" rtlCol="0" anchor="ctr"/>
          <a:lstStyle/>
          <a:p>
            <a:pPr marL="0" indent="0">
              <a:buNone/>
            </a:pPr>
            <a:r>
              <a:rPr lang="en-US" sz="2400" b="1" dirty="0">
                <a:solidFill>
                  <a:schemeClr val="accent2"/>
                </a:solidFill>
                <a:latin typeface="Cambria" pitchFamily="34" charset="0"/>
                <a:ea typeface="Cambria" pitchFamily="34" charset="-122"/>
                <a:cs typeface="Cambria" pitchFamily="34" charset="-120"/>
              </a:rPr>
              <a:t>04</a:t>
            </a:r>
            <a:endParaRPr lang="en-US" sz="2400" dirty="0"/>
          </a:p>
        </p:txBody>
      </p:sp>
      <p:sp>
        <p:nvSpPr>
          <p:cNvPr id="27" name="icon-bg-321"/>
          <p:cNvSpPr/>
          <p:nvPr/>
        </p:nvSpPr>
        <p:spPr>
          <a:xfrm>
            <a:off x="1417320" y="3858768"/>
            <a:ext cx="493776" cy="493776"/>
          </a:xfrm>
          <a:prstGeom prst="ellipse">
            <a:avLst/>
          </a:prstGeom>
          <a:solidFill>
            <a:schemeClr val="accent1"/>
          </a:solidFill>
          <a:ln w="12700">
            <a:solidFill>
              <a:schemeClr val="accent1"/>
            </a:solidFill>
            <a:prstDash val="solid"/>
          </a:ln>
        </p:spPr>
      </p:sp>
      <p:pic>
        <p:nvPicPr>
          <p:cNvPr id="28" name="icon-322" descr="preencoded.png"/>
          <p:cNvPicPr>
            <a:picLocks noChangeAspect="1"/>
          </p:cNvPicPr>
          <p:nvPr/>
        </p:nvPicPr>
        <p:blipFill>
          <a:blip r:embed="rId6"/>
          <a:stretch>
            <a:fillRect/>
          </a:stretch>
        </p:blipFill>
        <p:spPr>
          <a:xfrm>
            <a:off x="1535826" y="3977274"/>
            <a:ext cx="256764" cy="256764"/>
          </a:xfrm>
          <a:prstGeom prst="rect">
            <a:avLst/>
          </a:prstGeom>
        </p:spPr>
      </p:pic>
      <p:sp>
        <p:nvSpPr>
          <p:cNvPr id="29" name="Text 22"/>
          <p:cNvSpPr txBox="1"/>
          <p:nvPr/>
        </p:nvSpPr>
        <p:spPr>
          <a:xfrm>
            <a:off x="2103120" y="3749040"/>
            <a:ext cx="3291840" cy="713232"/>
          </a:xfrm>
          <a:prstGeom prst="rect">
            <a:avLst/>
          </a:prstGeom>
          <a:noFill/>
          <a:ln/>
        </p:spPr>
        <p:txBody>
          <a:bodyPr wrap="square" lIns="0" tIns="0" rIns="0" bIns="0" rtlCol="0" anchor="ctr"/>
          <a:lstStyle/>
          <a:p>
            <a:pPr marL="0" indent="0">
              <a:buNone/>
            </a:pPr>
            <a:r>
              <a:rPr lang="en-US" sz="1800" b="1" dirty="0">
                <a:solidFill>
                  <a:schemeClr val="tx2"/>
                </a:solidFill>
              </a:rPr>
              <a:t>Testing and Results</a:t>
            </a:r>
            <a:endParaRPr lang="en-US" sz="1800" dirty="0"/>
          </a:p>
        </p:txBody>
      </p:sp>
      <p:sp>
        <p:nvSpPr>
          <p:cNvPr id="30" name="Text 23"/>
          <p:cNvSpPr txBox="1"/>
          <p:nvPr/>
        </p:nvSpPr>
        <p:spPr>
          <a:xfrm>
            <a:off x="5440680" y="3749040"/>
            <a:ext cx="4937760" cy="713232"/>
          </a:xfrm>
          <a:prstGeom prst="rect">
            <a:avLst/>
          </a:prstGeom>
          <a:noFill/>
          <a:ln/>
        </p:spPr>
        <p:txBody>
          <a:bodyPr wrap="square" lIns="0" tIns="0" rIns="0" bIns="0" rtlCol="0" anchor="ctr"/>
          <a:lstStyle/>
          <a:p>
            <a:pPr marL="0" indent="0">
              <a:buNone/>
            </a:pPr>
            <a:r>
              <a:rPr lang="en-US" sz="1450" dirty="0">
                <a:solidFill>
                  <a:schemeClr val="tx1"/>
                </a:solidFill>
              </a:rPr>
              <a:t>Bench tests, classifier validation, hardware actuation, simulated survey, speed limit</a:t>
            </a:r>
            <a:endParaRPr lang="en-US" sz="1450" dirty="0"/>
          </a:p>
        </p:txBody>
      </p:sp>
      <p:sp>
        <p:nvSpPr>
          <p:cNvPr id="31" name="Text 24"/>
          <p:cNvSpPr txBox="1"/>
          <p:nvPr/>
        </p:nvSpPr>
        <p:spPr>
          <a:xfrm>
            <a:off x="10332720" y="3749040"/>
            <a:ext cx="1143000" cy="713232"/>
          </a:xfrm>
          <a:prstGeom prst="rect">
            <a:avLst/>
          </a:prstGeom>
          <a:noFill/>
          <a:ln/>
        </p:spPr>
        <p:txBody>
          <a:bodyPr wrap="square" lIns="0" tIns="0" rIns="0" bIns="0" rtlCol="0" anchor="ctr"/>
          <a:lstStyle/>
          <a:p>
            <a:pPr marL="0" indent="0" algn="r">
              <a:buNone/>
            </a:pPr>
            <a:r>
              <a:rPr lang="en-US" sz="1300" dirty="0">
                <a:solidFill>
                  <a:schemeClr val="accent6"/>
                </a:solidFill>
              </a:rPr>
              <a:t>Slides 26–33</a:t>
            </a:r>
            <a:endParaRPr lang="en-US" sz="1300" dirty="0"/>
          </a:p>
        </p:txBody>
      </p:sp>
      <p:sp>
        <p:nvSpPr>
          <p:cNvPr id="32" name="panel-323"/>
          <p:cNvSpPr/>
          <p:nvPr/>
        </p:nvSpPr>
        <p:spPr>
          <a:xfrm>
            <a:off x="548640" y="4572000"/>
            <a:ext cx="11064240" cy="713232"/>
          </a:xfrm>
          <a:prstGeom prst="roundRect">
            <a:avLst>
              <a:gd name="adj" fmla="val 12821"/>
            </a:avLst>
          </a:prstGeom>
          <a:solidFill>
            <a:schemeClr val="bg2"/>
          </a:solidFill>
          <a:ln w="12700">
            <a:solidFill>
              <a:schemeClr val="bg2"/>
            </a:solidFill>
            <a:prstDash val="solid"/>
          </a:ln>
        </p:spPr>
      </p:sp>
      <p:sp>
        <p:nvSpPr>
          <p:cNvPr id="33" name="Text 26"/>
          <p:cNvSpPr txBox="1"/>
          <p:nvPr/>
        </p:nvSpPr>
        <p:spPr>
          <a:xfrm>
            <a:off x="731520" y="4572000"/>
            <a:ext cx="640080" cy="713232"/>
          </a:xfrm>
          <a:prstGeom prst="rect">
            <a:avLst/>
          </a:prstGeom>
          <a:noFill/>
          <a:ln/>
        </p:spPr>
        <p:txBody>
          <a:bodyPr wrap="square" lIns="0" tIns="0" rIns="0" bIns="0" rtlCol="0" anchor="ctr"/>
          <a:lstStyle/>
          <a:p>
            <a:pPr marL="0" indent="0">
              <a:buNone/>
            </a:pPr>
            <a:r>
              <a:rPr lang="en-US" sz="2400" b="1" dirty="0">
                <a:solidFill>
                  <a:schemeClr val="accent2"/>
                </a:solidFill>
                <a:latin typeface="Cambria" pitchFamily="34" charset="0"/>
                <a:ea typeface="Cambria" pitchFamily="34" charset="-122"/>
                <a:cs typeface="Cambria" pitchFamily="34" charset="-120"/>
              </a:rPr>
              <a:t>05</a:t>
            </a:r>
            <a:endParaRPr lang="en-US" sz="2400" dirty="0"/>
          </a:p>
        </p:txBody>
      </p:sp>
      <p:sp>
        <p:nvSpPr>
          <p:cNvPr id="34" name="icon-bg-324"/>
          <p:cNvSpPr/>
          <p:nvPr/>
        </p:nvSpPr>
        <p:spPr>
          <a:xfrm>
            <a:off x="1417320" y="4681728"/>
            <a:ext cx="493776" cy="493776"/>
          </a:xfrm>
          <a:prstGeom prst="ellipse">
            <a:avLst/>
          </a:prstGeom>
          <a:solidFill>
            <a:schemeClr val="accent1"/>
          </a:solidFill>
          <a:ln w="12700">
            <a:solidFill>
              <a:schemeClr val="accent1"/>
            </a:solidFill>
            <a:prstDash val="solid"/>
          </a:ln>
        </p:spPr>
      </p:sp>
      <p:pic>
        <p:nvPicPr>
          <p:cNvPr id="35" name="icon-325" descr="preencoded.png"/>
          <p:cNvPicPr>
            <a:picLocks noChangeAspect="1"/>
          </p:cNvPicPr>
          <p:nvPr/>
        </p:nvPicPr>
        <p:blipFill>
          <a:blip r:embed="rId7"/>
          <a:stretch>
            <a:fillRect/>
          </a:stretch>
        </p:blipFill>
        <p:spPr>
          <a:xfrm>
            <a:off x="1535826" y="4800234"/>
            <a:ext cx="256764" cy="256764"/>
          </a:xfrm>
          <a:prstGeom prst="rect">
            <a:avLst/>
          </a:prstGeom>
        </p:spPr>
      </p:pic>
      <p:sp>
        <p:nvSpPr>
          <p:cNvPr id="36" name="Text 28"/>
          <p:cNvSpPr txBox="1"/>
          <p:nvPr/>
        </p:nvSpPr>
        <p:spPr>
          <a:xfrm>
            <a:off x="2103120" y="4572000"/>
            <a:ext cx="3291840" cy="713232"/>
          </a:xfrm>
          <a:prstGeom prst="rect">
            <a:avLst/>
          </a:prstGeom>
          <a:noFill/>
          <a:ln/>
        </p:spPr>
        <p:txBody>
          <a:bodyPr wrap="square" lIns="0" tIns="0" rIns="0" bIns="0" rtlCol="0" anchor="ctr"/>
          <a:lstStyle/>
          <a:p>
            <a:pPr marL="0" indent="0">
              <a:buNone/>
            </a:pPr>
            <a:r>
              <a:rPr lang="en-US" sz="1800" b="1" dirty="0">
                <a:solidFill>
                  <a:schemeClr val="tx2"/>
                </a:solidFill>
              </a:rPr>
              <a:t>Innovation and Relevance</a:t>
            </a:r>
            <a:endParaRPr lang="en-US" sz="1800" dirty="0"/>
          </a:p>
        </p:txBody>
      </p:sp>
      <p:sp>
        <p:nvSpPr>
          <p:cNvPr id="37" name="Text 29"/>
          <p:cNvSpPr txBox="1"/>
          <p:nvPr/>
        </p:nvSpPr>
        <p:spPr>
          <a:xfrm>
            <a:off x="5440680" y="4572000"/>
            <a:ext cx="4937760" cy="713232"/>
          </a:xfrm>
          <a:prstGeom prst="rect">
            <a:avLst/>
          </a:prstGeom>
          <a:noFill/>
          <a:ln/>
        </p:spPr>
        <p:txBody>
          <a:bodyPr wrap="square" lIns="0" tIns="0" rIns="0" bIns="0" rtlCol="0" anchor="ctr"/>
          <a:lstStyle/>
          <a:p>
            <a:pPr marL="0" indent="0">
              <a:buNone/>
            </a:pPr>
            <a:r>
              <a:rPr lang="en-US" sz="1450" dirty="0">
                <a:solidFill>
                  <a:schemeClr val="tx1"/>
                </a:solidFill>
              </a:rPr>
              <a:t>Contributions, cost and feasibility, ethics, practical use, limitations, future work</a:t>
            </a:r>
            <a:endParaRPr lang="en-US" sz="1450" dirty="0"/>
          </a:p>
        </p:txBody>
      </p:sp>
      <p:sp>
        <p:nvSpPr>
          <p:cNvPr id="38" name="Text 30"/>
          <p:cNvSpPr txBox="1"/>
          <p:nvPr/>
        </p:nvSpPr>
        <p:spPr>
          <a:xfrm>
            <a:off x="10332720" y="4572000"/>
            <a:ext cx="1143000" cy="713232"/>
          </a:xfrm>
          <a:prstGeom prst="rect">
            <a:avLst/>
          </a:prstGeom>
          <a:noFill/>
          <a:ln/>
        </p:spPr>
        <p:txBody>
          <a:bodyPr wrap="square" lIns="0" tIns="0" rIns="0" bIns="0" rtlCol="0" anchor="ctr"/>
          <a:lstStyle/>
          <a:p>
            <a:pPr marL="0" indent="0" algn="r">
              <a:buNone/>
            </a:pPr>
            <a:r>
              <a:rPr lang="en-US" sz="1300" dirty="0">
                <a:solidFill>
                  <a:schemeClr val="accent6"/>
                </a:solidFill>
              </a:rPr>
              <a:t>Slides 34–40</a:t>
            </a:r>
            <a:endParaRPr lang="en-US" sz="1300" dirty="0"/>
          </a:p>
        </p:txBody>
      </p:sp>
      <p:sp>
        <p:nvSpPr>
          <p:cNvPr id="39" name="panel-326"/>
          <p:cNvSpPr/>
          <p:nvPr/>
        </p:nvSpPr>
        <p:spPr>
          <a:xfrm>
            <a:off x="548640" y="5394960"/>
            <a:ext cx="11064240" cy="713232"/>
          </a:xfrm>
          <a:prstGeom prst="roundRect">
            <a:avLst>
              <a:gd name="adj" fmla="val 12821"/>
            </a:avLst>
          </a:prstGeom>
          <a:solidFill>
            <a:schemeClr val="bg1"/>
          </a:solidFill>
          <a:ln w="12700">
            <a:solidFill>
              <a:schemeClr val="bg1"/>
            </a:solidFill>
            <a:prstDash val="solid"/>
          </a:ln>
        </p:spPr>
      </p:sp>
      <p:sp>
        <p:nvSpPr>
          <p:cNvPr id="40" name="Text 32"/>
          <p:cNvSpPr txBox="1"/>
          <p:nvPr/>
        </p:nvSpPr>
        <p:spPr>
          <a:xfrm>
            <a:off x="731520" y="5394960"/>
            <a:ext cx="640080" cy="713232"/>
          </a:xfrm>
          <a:prstGeom prst="rect">
            <a:avLst/>
          </a:prstGeom>
          <a:noFill/>
          <a:ln/>
        </p:spPr>
        <p:txBody>
          <a:bodyPr wrap="square" lIns="0" tIns="0" rIns="0" bIns="0" rtlCol="0" anchor="ctr"/>
          <a:lstStyle/>
          <a:p>
            <a:pPr marL="0" indent="0">
              <a:buNone/>
            </a:pPr>
            <a:r>
              <a:rPr lang="en-US" sz="2400" b="1" dirty="0">
                <a:solidFill>
                  <a:schemeClr val="accent2"/>
                </a:solidFill>
                <a:latin typeface="Cambria" pitchFamily="34" charset="0"/>
                <a:ea typeface="Cambria" pitchFamily="34" charset="-122"/>
                <a:cs typeface="Cambria" pitchFamily="34" charset="-120"/>
              </a:rPr>
              <a:t>06</a:t>
            </a:r>
            <a:endParaRPr lang="en-US" sz="2400" dirty="0"/>
          </a:p>
        </p:txBody>
      </p:sp>
      <p:sp>
        <p:nvSpPr>
          <p:cNvPr id="41" name="icon-bg-327"/>
          <p:cNvSpPr/>
          <p:nvPr/>
        </p:nvSpPr>
        <p:spPr>
          <a:xfrm>
            <a:off x="1417320" y="5504688"/>
            <a:ext cx="493776" cy="493776"/>
          </a:xfrm>
          <a:prstGeom prst="ellipse">
            <a:avLst/>
          </a:prstGeom>
          <a:solidFill>
            <a:schemeClr val="accent1"/>
          </a:solidFill>
          <a:ln w="12700">
            <a:solidFill>
              <a:schemeClr val="accent1"/>
            </a:solidFill>
            <a:prstDash val="solid"/>
          </a:ln>
        </p:spPr>
      </p:sp>
      <p:pic>
        <p:nvPicPr>
          <p:cNvPr id="42" name="icon-328" descr="preencoded.png"/>
          <p:cNvPicPr>
            <a:picLocks noChangeAspect="1"/>
          </p:cNvPicPr>
          <p:nvPr/>
        </p:nvPicPr>
        <p:blipFill>
          <a:blip r:embed="rId8"/>
          <a:stretch>
            <a:fillRect/>
          </a:stretch>
        </p:blipFill>
        <p:spPr>
          <a:xfrm>
            <a:off x="1535826" y="5623194"/>
            <a:ext cx="256764" cy="256764"/>
          </a:xfrm>
          <a:prstGeom prst="rect">
            <a:avLst/>
          </a:prstGeom>
        </p:spPr>
      </p:pic>
      <p:sp>
        <p:nvSpPr>
          <p:cNvPr id="43" name="Text 34"/>
          <p:cNvSpPr txBox="1"/>
          <p:nvPr/>
        </p:nvSpPr>
        <p:spPr>
          <a:xfrm>
            <a:off x="2103120" y="5394960"/>
            <a:ext cx="3291840" cy="713232"/>
          </a:xfrm>
          <a:prstGeom prst="rect">
            <a:avLst/>
          </a:prstGeom>
          <a:noFill/>
          <a:ln/>
        </p:spPr>
        <p:txBody>
          <a:bodyPr wrap="square" lIns="0" tIns="0" rIns="0" bIns="0" rtlCol="0" anchor="ctr"/>
          <a:lstStyle/>
          <a:p>
            <a:pPr marL="0" indent="0">
              <a:buNone/>
            </a:pPr>
            <a:r>
              <a:rPr lang="en-US" sz="1800" b="1" dirty="0">
                <a:solidFill>
                  <a:schemeClr val="tx2"/>
                </a:solidFill>
              </a:rPr>
              <a:t>Conclusion and Q&amp;A</a:t>
            </a:r>
            <a:endParaRPr lang="en-US" sz="1800" dirty="0"/>
          </a:p>
        </p:txBody>
      </p:sp>
      <p:sp>
        <p:nvSpPr>
          <p:cNvPr id="44" name="Text 35"/>
          <p:cNvSpPr txBox="1"/>
          <p:nvPr/>
        </p:nvSpPr>
        <p:spPr>
          <a:xfrm>
            <a:off x="5440680" y="5394960"/>
            <a:ext cx="4937760" cy="713232"/>
          </a:xfrm>
          <a:prstGeom prst="rect">
            <a:avLst/>
          </a:prstGeom>
          <a:noFill/>
          <a:ln/>
        </p:spPr>
        <p:txBody>
          <a:bodyPr wrap="square" lIns="0" tIns="0" rIns="0" bIns="0" rtlCol="0" anchor="ctr"/>
          <a:lstStyle/>
          <a:p>
            <a:pPr marL="0" indent="0">
              <a:buNone/>
            </a:pPr>
            <a:r>
              <a:rPr lang="en-US" sz="1450" dirty="0">
                <a:solidFill>
                  <a:schemeClr val="tx1"/>
                </a:solidFill>
              </a:rPr>
              <a:t>Key takeaways, references, questions</a:t>
            </a:r>
            <a:endParaRPr lang="en-US" sz="1450" dirty="0"/>
          </a:p>
        </p:txBody>
      </p:sp>
      <p:sp>
        <p:nvSpPr>
          <p:cNvPr id="45" name="Text 36"/>
          <p:cNvSpPr txBox="1"/>
          <p:nvPr/>
        </p:nvSpPr>
        <p:spPr>
          <a:xfrm>
            <a:off x="10332720" y="5394960"/>
            <a:ext cx="1143000" cy="713232"/>
          </a:xfrm>
          <a:prstGeom prst="rect">
            <a:avLst/>
          </a:prstGeom>
          <a:noFill/>
          <a:ln/>
        </p:spPr>
        <p:txBody>
          <a:bodyPr wrap="square" lIns="0" tIns="0" rIns="0" bIns="0" rtlCol="0" anchor="ctr"/>
          <a:lstStyle/>
          <a:p>
            <a:pPr marL="0" indent="0" algn="r">
              <a:buNone/>
            </a:pPr>
            <a:r>
              <a:rPr lang="en-US" sz="1300" dirty="0">
                <a:solidFill>
                  <a:schemeClr val="accent6"/>
                </a:solidFill>
              </a:rPr>
              <a:t>Slides 41–43</a:t>
            </a:r>
            <a:endParaRPr lang="en-US" sz="13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417320"/>
            <a:ext cx="3657600" cy="1371600"/>
          </a:xfrm>
          <a:prstGeom prst="rect">
            <a:avLst/>
          </a:prstGeom>
          <a:noFill/>
          <a:ln/>
        </p:spPr>
        <p:txBody>
          <a:bodyPr wrap="square" lIns="0" tIns="0" rIns="0" bIns="0" rtlCol="0" anchor="b"/>
          <a:lstStyle/>
          <a:p>
            <a:pPr marL="0" indent="0" algn="l">
              <a:buNone/>
            </a:pPr>
            <a:r>
              <a:rPr lang="en-US" sz="8800" b="1" dirty="0">
                <a:solidFill>
                  <a:schemeClr val="accent2"/>
                </a:solidFill>
                <a:latin typeface="Cambria" pitchFamily="34" charset="0"/>
                <a:ea typeface="Cambria" pitchFamily="34" charset="-122"/>
                <a:cs typeface="Cambria" pitchFamily="34" charset="-120"/>
              </a:rPr>
              <a:t>01</a:t>
            </a:r>
            <a:endParaRPr lang="en-US" sz="8800" dirty="0"/>
          </a:p>
        </p:txBody>
      </p:sp>
      <p:sp>
        <p:nvSpPr>
          <p:cNvPr id="3" name="Text 0"/>
          <p:cNvSpPr>
            <a:spLocks noGrp="1"/>
          </p:cNvSpPr>
          <p:nvPr>
            <p:ph type="title" idx="101" hasCustomPrompt="1"/>
          </p:nvPr>
        </p:nvSpPr>
        <p:spPr>
          <a:xfrm>
            <a:off x="731520" y="2834640"/>
            <a:ext cx="7863840" cy="1097280"/>
          </a:xfrm>
          <a:prstGeom prst="rect">
            <a:avLst/>
          </a:prstGeom>
          <a:noFill/>
          <a:ln/>
        </p:spPr>
        <p:txBody>
          <a:bodyPr wrap="square" lIns="0" tIns="0" rIns="0" bIns="0" rtlCol="0" anchor="t"/>
          <a:lstStyle/>
          <a:p>
            <a:pPr marL="0" indent="0" algn="l">
              <a:buNone/>
            </a:pPr>
            <a:r>
              <a:rPr lang="en-US" sz="4400" b="1" dirty="0">
                <a:solidFill>
                  <a:schemeClr val="bg1"/>
                </a:solidFill>
              </a:rPr>
              <a:t>Domain and Problem</a:t>
            </a:r>
            <a:endParaRPr lang="en-US" sz="4400" dirty="0"/>
          </a:p>
        </p:txBody>
      </p:sp>
      <p:sp>
        <p:nvSpPr>
          <p:cNvPr id="4" name="Text 0"/>
          <p:cNvSpPr>
            <a:spLocks noGrp="1"/>
          </p:cNvSpPr>
          <p:nvPr>
            <p:ph type="body" idx="102" hasCustomPrompt="1"/>
          </p:nvPr>
        </p:nvSpPr>
        <p:spPr>
          <a:xfrm>
            <a:off x="731520" y="4069080"/>
            <a:ext cx="7680960" cy="1280160"/>
          </a:xfrm>
          <a:prstGeom prst="rect">
            <a:avLst/>
          </a:prstGeom>
          <a:noFill/>
          <a:ln/>
        </p:spPr>
        <p:txBody>
          <a:bodyPr wrap="square" lIns="0" tIns="0" rIns="0" bIns="0" rtlCol="0" anchor="t"/>
          <a:lstStyle/>
          <a:p>
            <a:pPr marL="0" indent="0" algn="l">
              <a:buNone/>
            </a:pPr>
            <a:r>
              <a:rPr lang="en-US" sz="1800" dirty="0">
                <a:solidFill>
                  <a:schemeClr val="bg2"/>
                </a:solidFill>
              </a:rPr>
              <a:t>Why crop-level monitoring matters, what existing platforms miss, and what this project set out to do</a:t>
            </a:r>
            <a:endParaRPr lang="en-US" sz="1800" dirty="0"/>
          </a:p>
        </p:txBody>
      </p:sp>
      <p:pic>
        <p:nvPicPr>
          <p:cNvPr id="5" name="divider-icon-1" descr="preencoded.png"/>
          <p:cNvPicPr>
            <a:picLocks noChangeAspect="1"/>
          </p:cNvPicPr>
          <p:nvPr/>
        </p:nvPicPr>
        <p:blipFill>
          <a:blip r:embed="rId3">
            <a:alphaModFix amt="30000"/>
          </a:blip>
          <a:stretch>
            <a:fillRect/>
          </a:stretch>
        </p:blipFill>
        <p:spPr>
          <a:xfrm>
            <a:off x="8549640" y="1554480"/>
            <a:ext cx="3017520" cy="30175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Crop Disease Is Costly, and Often Seen Too Late</a:t>
            </a:r>
            <a:endParaRPr lang="en-US" sz="3000" dirty="0"/>
          </a:p>
        </p:txBody>
      </p:sp>
      <p:sp>
        <p:nvSpPr>
          <p:cNvPr id="4" name="panel-2"/>
          <p:cNvSpPr/>
          <p:nvPr/>
        </p:nvSpPr>
        <p:spPr>
          <a:xfrm>
            <a:off x="548640" y="1325880"/>
            <a:ext cx="4754880" cy="4846320"/>
          </a:xfrm>
          <a:prstGeom prst="roundRect">
            <a:avLst>
              <a:gd name="adj" fmla="val 1923"/>
            </a:avLst>
          </a:prstGeom>
          <a:solidFill>
            <a:schemeClr val="tx2"/>
          </a:solidFill>
          <a:ln w="12700">
            <a:solidFill>
              <a:schemeClr val="tx2"/>
            </a:solidFill>
            <a:prstDash val="solid"/>
          </a:ln>
        </p:spPr>
      </p:sp>
      <p:sp>
        <p:nvSpPr>
          <p:cNvPr id="5" name="Text 2"/>
          <p:cNvSpPr txBox="1"/>
          <p:nvPr/>
        </p:nvSpPr>
        <p:spPr>
          <a:xfrm>
            <a:off x="868680" y="1600200"/>
            <a:ext cx="4206240" cy="109728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20–40 %</a:t>
            </a:r>
            <a:endParaRPr lang="en-US" sz="6600" dirty="0"/>
          </a:p>
        </p:txBody>
      </p:sp>
      <p:sp>
        <p:nvSpPr>
          <p:cNvPr id="6" name="Text 3"/>
          <p:cNvSpPr txBox="1"/>
          <p:nvPr/>
        </p:nvSpPr>
        <p:spPr>
          <a:xfrm>
            <a:off x="868680" y="2697480"/>
            <a:ext cx="4114800" cy="822960"/>
          </a:xfrm>
          <a:prstGeom prst="rect">
            <a:avLst/>
          </a:prstGeom>
          <a:noFill/>
          <a:ln/>
        </p:spPr>
        <p:txBody>
          <a:bodyPr wrap="square" lIns="0" tIns="0" rIns="0" bIns="0" rtlCol="0" anchor="t"/>
          <a:lstStyle/>
          <a:p>
            <a:pPr marL="0" indent="0">
              <a:buNone/>
            </a:pPr>
            <a:r>
              <a:rPr lang="en-US" sz="1700" dirty="0">
                <a:solidFill>
                  <a:schemeClr val="bg1"/>
                </a:solidFill>
              </a:rPr>
              <a:t>of global crop production is lost to plant pests and diseases every year (FAO)</a:t>
            </a:r>
            <a:endParaRPr lang="en-US" sz="1700" dirty="0"/>
          </a:p>
        </p:txBody>
      </p:sp>
      <p:sp>
        <p:nvSpPr>
          <p:cNvPr id="7" name="Text 4"/>
          <p:cNvSpPr txBox="1"/>
          <p:nvPr/>
        </p:nvSpPr>
        <p:spPr>
          <a:xfrm>
            <a:off x="868680" y="3931920"/>
            <a:ext cx="137160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10–28 %</a:t>
            </a:r>
            <a:endParaRPr lang="en-US" sz="2400" dirty="0"/>
          </a:p>
        </p:txBody>
      </p:sp>
      <p:sp>
        <p:nvSpPr>
          <p:cNvPr id="8" name="Text 5"/>
          <p:cNvSpPr txBox="1"/>
          <p:nvPr/>
        </p:nvSpPr>
        <p:spPr>
          <a:xfrm>
            <a:off x="868680" y="4480560"/>
            <a:ext cx="1371600" cy="320040"/>
          </a:xfrm>
          <a:prstGeom prst="rect">
            <a:avLst/>
          </a:prstGeom>
          <a:noFill/>
          <a:ln/>
        </p:spPr>
        <p:txBody>
          <a:bodyPr wrap="square" lIns="0" tIns="0" rIns="0" bIns="0" rtlCol="0" anchor="t"/>
          <a:lstStyle/>
          <a:p>
            <a:pPr marL="0" indent="0">
              <a:buNone/>
            </a:pPr>
            <a:r>
              <a:rPr lang="en-US" sz="1400" dirty="0">
                <a:solidFill>
                  <a:schemeClr val="bg2"/>
                </a:solidFill>
              </a:rPr>
              <a:t>Wheat</a:t>
            </a:r>
            <a:endParaRPr lang="en-US" sz="1400" dirty="0"/>
          </a:p>
        </p:txBody>
      </p:sp>
      <p:sp>
        <p:nvSpPr>
          <p:cNvPr id="9" name="Text 6"/>
          <p:cNvSpPr txBox="1"/>
          <p:nvPr/>
        </p:nvSpPr>
        <p:spPr>
          <a:xfrm>
            <a:off x="2286000" y="3931920"/>
            <a:ext cx="137160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25–41 %</a:t>
            </a:r>
            <a:endParaRPr lang="en-US" sz="2400" dirty="0"/>
          </a:p>
        </p:txBody>
      </p:sp>
      <p:sp>
        <p:nvSpPr>
          <p:cNvPr id="10" name="Text 7"/>
          <p:cNvSpPr txBox="1"/>
          <p:nvPr/>
        </p:nvSpPr>
        <p:spPr>
          <a:xfrm>
            <a:off x="2286000" y="4480560"/>
            <a:ext cx="1371600" cy="320040"/>
          </a:xfrm>
          <a:prstGeom prst="rect">
            <a:avLst/>
          </a:prstGeom>
          <a:noFill/>
          <a:ln/>
        </p:spPr>
        <p:txBody>
          <a:bodyPr wrap="square" lIns="0" tIns="0" rIns="0" bIns="0" rtlCol="0" anchor="t"/>
          <a:lstStyle/>
          <a:p>
            <a:pPr marL="0" indent="0">
              <a:buNone/>
            </a:pPr>
            <a:r>
              <a:rPr lang="en-US" sz="1400" dirty="0">
                <a:solidFill>
                  <a:schemeClr val="bg2"/>
                </a:solidFill>
              </a:rPr>
              <a:t>Rice</a:t>
            </a:r>
            <a:endParaRPr lang="en-US" sz="1400" dirty="0"/>
          </a:p>
        </p:txBody>
      </p:sp>
      <p:sp>
        <p:nvSpPr>
          <p:cNvPr id="11" name="Text 8"/>
          <p:cNvSpPr txBox="1"/>
          <p:nvPr/>
        </p:nvSpPr>
        <p:spPr>
          <a:xfrm>
            <a:off x="3703320" y="3931920"/>
            <a:ext cx="137160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20–41 %</a:t>
            </a:r>
            <a:endParaRPr lang="en-US" sz="2400" dirty="0"/>
          </a:p>
        </p:txBody>
      </p:sp>
      <p:sp>
        <p:nvSpPr>
          <p:cNvPr id="12" name="Text 9"/>
          <p:cNvSpPr txBox="1"/>
          <p:nvPr/>
        </p:nvSpPr>
        <p:spPr>
          <a:xfrm>
            <a:off x="3703320" y="4480560"/>
            <a:ext cx="1371600" cy="320040"/>
          </a:xfrm>
          <a:prstGeom prst="rect">
            <a:avLst/>
          </a:prstGeom>
          <a:noFill/>
          <a:ln/>
        </p:spPr>
        <p:txBody>
          <a:bodyPr wrap="square" lIns="0" tIns="0" rIns="0" bIns="0" rtlCol="0" anchor="t"/>
          <a:lstStyle/>
          <a:p>
            <a:pPr marL="0" indent="0">
              <a:buNone/>
            </a:pPr>
            <a:r>
              <a:rPr lang="en-US" sz="1400" dirty="0">
                <a:solidFill>
                  <a:schemeClr val="bg2"/>
                </a:solidFill>
              </a:rPr>
              <a:t>Maize</a:t>
            </a:r>
            <a:endParaRPr lang="en-US" sz="1400" dirty="0"/>
          </a:p>
        </p:txBody>
      </p:sp>
      <p:sp>
        <p:nvSpPr>
          <p:cNvPr id="13" name="Text 10"/>
          <p:cNvSpPr txBox="1"/>
          <p:nvPr/>
        </p:nvSpPr>
        <p:spPr>
          <a:xfrm>
            <a:off x="868680" y="4983480"/>
            <a:ext cx="4206240" cy="822960"/>
          </a:xfrm>
          <a:prstGeom prst="rect">
            <a:avLst/>
          </a:prstGeom>
          <a:noFill/>
          <a:ln/>
        </p:spPr>
        <p:txBody>
          <a:bodyPr wrap="square" lIns="0" tIns="0" rIns="0" bIns="0" rtlCol="0" anchor="t"/>
          <a:lstStyle/>
          <a:p>
            <a:pPr marL="0" indent="0">
              <a:buNone/>
            </a:pPr>
            <a:r>
              <a:rPr lang="en-US" sz="1300" i="1" dirty="0">
                <a:solidFill>
                  <a:schemeClr val="bg2"/>
                </a:solidFill>
              </a:rPr>
              <a:t>Yield losses to pathogens and pests, global estimate (Savary et al., 2019)</a:t>
            </a:r>
            <a:endParaRPr lang="en-US" sz="1300" dirty="0"/>
          </a:p>
        </p:txBody>
      </p:sp>
      <p:sp>
        <p:nvSpPr>
          <p:cNvPr id="14" name="icon-bg-3"/>
          <p:cNvSpPr/>
          <p:nvPr/>
        </p:nvSpPr>
        <p:spPr>
          <a:xfrm>
            <a:off x="5715000" y="1417320"/>
            <a:ext cx="640080" cy="640080"/>
          </a:xfrm>
          <a:prstGeom prst="ellipse">
            <a:avLst/>
          </a:prstGeom>
          <a:solidFill>
            <a:schemeClr val="accent1"/>
          </a:solidFill>
          <a:ln w="12700">
            <a:solidFill>
              <a:schemeClr val="accent1"/>
            </a:solidFill>
            <a:prstDash val="solid"/>
          </a:ln>
        </p:spPr>
      </p:sp>
      <p:pic>
        <p:nvPicPr>
          <p:cNvPr id="15" name="icon-4" descr="preencoded.png"/>
          <p:cNvPicPr>
            <a:picLocks noChangeAspect="1"/>
          </p:cNvPicPr>
          <p:nvPr/>
        </p:nvPicPr>
        <p:blipFill>
          <a:blip r:embed="rId3"/>
          <a:stretch>
            <a:fillRect/>
          </a:stretch>
        </p:blipFill>
        <p:spPr>
          <a:xfrm>
            <a:off x="5868619" y="1570939"/>
            <a:ext cx="332842" cy="332842"/>
          </a:xfrm>
          <a:prstGeom prst="rect">
            <a:avLst/>
          </a:prstGeom>
        </p:spPr>
      </p:pic>
      <p:sp>
        <p:nvSpPr>
          <p:cNvPr id="16" name="Text 12"/>
          <p:cNvSpPr txBox="1"/>
          <p:nvPr/>
        </p:nvSpPr>
        <p:spPr>
          <a:xfrm>
            <a:off x="6583680" y="1371600"/>
            <a:ext cx="5029200" cy="411480"/>
          </a:xfrm>
          <a:prstGeom prst="rect">
            <a:avLst/>
          </a:prstGeom>
          <a:noFill/>
          <a:ln/>
        </p:spPr>
        <p:txBody>
          <a:bodyPr wrap="square" lIns="0" tIns="0" rIns="0" bIns="0" rtlCol="0" anchor="t"/>
          <a:lstStyle/>
          <a:p>
            <a:pPr marL="0" indent="0">
              <a:buNone/>
            </a:pPr>
            <a:r>
              <a:rPr lang="en-US" sz="1900" b="1" dirty="0">
                <a:solidFill>
                  <a:schemeClr val="tx2"/>
                </a:solidFill>
              </a:rPr>
              <a:t>Drones see only the canopy top</a:t>
            </a:r>
            <a:endParaRPr lang="en-US" sz="1900" dirty="0"/>
          </a:p>
        </p:txBody>
      </p:sp>
      <p:sp>
        <p:nvSpPr>
          <p:cNvPr id="17" name="Text 13"/>
          <p:cNvSpPr txBox="1"/>
          <p:nvPr/>
        </p:nvSpPr>
        <p:spPr>
          <a:xfrm>
            <a:off x="6583680" y="1801368"/>
            <a:ext cx="5029200" cy="640080"/>
          </a:xfrm>
          <a:prstGeom prst="rect">
            <a:avLst/>
          </a:prstGeom>
          <a:noFill/>
          <a:ln/>
        </p:spPr>
        <p:txBody>
          <a:bodyPr wrap="square" lIns="0" tIns="0" rIns="0" bIns="0" rtlCol="0" anchor="t"/>
          <a:lstStyle/>
          <a:p>
            <a:pPr marL="0" indent="0">
              <a:buNone/>
            </a:pPr>
            <a:r>
              <a:rPr lang="en-US" sz="1600" dirty="0">
                <a:solidFill>
                  <a:schemeClr val="tx1"/>
                </a:solidFill>
              </a:rPr>
              <a:t>Short flights; no view of leaf undersides or the air between rows</a:t>
            </a:r>
            <a:endParaRPr lang="en-US" sz="1600" dirty="0"/>
          </a:p>
        </p:txBody>
      </p:sp>
      <p:sp>
        <p:nvSpPr>
          <p:cNvPr id="18" name="icon-bg-5"/>
          <p:cNvSpPr/>
          <p:nvPr/>
        </p:nvSpPr>
        <p:spPr>
          <a:xfrm>
            <a:off x="5715000" y="2624328"/>
            <a:ext cx="640080" cy="640080"/>
          </a:xfrm>
          <a:prstGeom prst="ellipse">
            <a:avLst/>
          </a:prstGeom>
          <a:solidFill>
            <a:schemeClr val="accent1"/>
          </a:solidFill>
          <a:ln w="12700">
            <a:solidFill>
              <a:schemeClr val="accent1"/>
            </a:solidFill>
            <a:prstDash val="solid"/>
          </a:ln>
        </p:spPr>
      </p:sp>
      <p:pic>
        <p:nvPicPr>
          <p:cNvPr id="19" name="icon-6" descr="preencoded.png"/>
          <p:cNvPicPr>
            <a:picLocks noChangeAspect="1"/>
          </p:cNvPicPr>
          <p:nvPr/>
        </p:nvPicPr>
        <p:blipFill>
          <a:blip r:embed="rId4"/>
          <a:stretch>
            <a:fillRect/>
          </a:stretch>
        </p:blipFill>
        <p:spPr>
          <a:xfrm>
            <a:off x="5868619" y="2777947"/>
            <a:ext cx="332842" cy="332842"/>
          </a:xfrm>
          <a:prstGeom prst="rect">
            <a:avLst/>
          </a:prstGeom>
        </p:spPr>
      </p:pic>
      <p:sp>
        <p:nvSpPr>
          <p:cNvPr id="20" name="Text 15"/>
          <p:cNvSpPr txBox="1"/>
          <p:nvPr/>
        </p:nvSpPr>
        <p:spPr>
          <a:xfrm>
            <a:off x="6583680" y="2578608"/>
            <a:ext cx="5029200" cy="411480"/>
          </a:xfrm>
          <a:prstGeom prst="rect">
            <a:avLst/>
          </a:prstGeom>
          <a:noFill/>
          <a:ln/>
        </p:spPr>
        <p:txBody>
          <a:bodyPr wrap="square" lIns="0" tIns="0" rIns="0" bIns="0" rtlCol="0" anchor="t"/>
          <a:lstStyle/>
          <a:p>
            <a:pPr marL="0" indent="0">
              <a:buNone/>
            </a:pPr>
            <a:r>
              <a:rPr lang="en-US" sz="1900" b="1" dirty="0">
                <a:solidFill>
                  <a:schemeClr val="tx2"/>
                </a:solidFill>
              </a:rPr>
              <a:t>Wheeled rovers get stuck</a:t>
            </a:r>
            <a:endParaRPr lang="en-US" sz="1900" dirty="0"/>
          </a:p>
        </p:txBody>
      </p:sp>
      <p:sp>
        <p:nvSpPr>
          <p:cNvPr id="21" name="Text 16"/>
          <p:cNvSpPr txBox="1"/>
          <p:nvPr/>
        </p:nvSpPr>
        <p:spPr>
          <a:xfrm>
            <a:off x="6583680" y="3008376"/>
            <a:ext cx="5029200" cy="640080"/>
          </a:xfrm>
          <a:prstGeom prst="rect">
            <a:avLst/>
          </a:prstGeom>
          <a:noFill/>
          <a:ln/>
        </p:spPr>
        <p:txBody>
          <a:bodyPr wrap="square" lIns="0" tIns="0" rIns="0" bIns="0" rtlCol="0" anchor="t"/>
          <a:lstStyle/>
          <a:p>
            <a:pPr marL="0" indent="0">
              <a:buNone/>
            </a:pPr>
            <a:r>
              <a:rPr lang="en-US" sz="1600" dirty="0">
                <a:solidFill>
                  <a:schemeClr val="tx1"/>
                </a:solidFill>
              </a:rPr>
              <a:t>Lose traction in mud, soft soil and narrow furrows</a:t>
            </a:r>
            <a:endParaRPr lang="en-US" sz="1600" dirty="0"/>
          </a:p>
        </p:txBody>
      </p:sp>
      <p:sp>
        <p:nvSpPr>
          <p:cNvPr id="22" name="icon-bg-7"/>
          <p:cNvSpPr/>
          <p:nvPr/>
        </p:nvSpPr>
        <p:spPr>
          <a:xfrm>
            <a:off x="5715000" y="3831336"/>
            <a:ext cx="640080" cy="640080"/>
          </a:xfrm>
          <a:prstGeom prst="ellipse">
            <a:avLst/>
          </a:prstGeom>
          <a:solidFill>
            <a:schemeClr val="accent1"/>
          </a:solidFill>
          <a:ln w="12700">
            <a:solidFill>
              <a:schemeClr val="accent1"/>
            </a:solidFill>
            <a:prstDash val="solid"/>
          </a:ln>
        </p:spPr>
      </p:sp>
      <p:pic>
        <p:nvPicPr>
          <p:cNvPr id="23" name="icon-8" descr="preencoded.png"/>
          <p:cNvPicPr>
            <a:picLocks noChangeAspect="1"/>
          </p:cNvPicPr>
          <p:nvPr/>
        </p:nvPicPr>
        <p:blipFill>
          <a:blip r:embed="rId5"/>
          <a:stretch>
            <a:fillRect/>
          </a:stretch>
        </p:blipFill>
        <p:spPr>
          <a:xfrm>
            <a:off x="5868619" y="3984955"/>
            <a:ext cx="332842" cy="332842"/>
          </a:xfrm>
          <a:prstGeom prst="rect">
            <a:avLst/>
          </a:prstGeom>
        </p:spPr>
      </p:pic>
      <p:sp>
        <p:nvSpPr>
          <p:cNvPr id="24" name="Text 18"/>
          <p:cNvSpPr txBox="1"/>
          <p:nvPr/>
        </p:nvSpPr>
        <p:spPr>
          <a:xfrm>
            <a:off x="6583680" y="3785616"/>
            <a:ext cx="5029200" cy="411480"/>
          </a:xfrm>
          <a:prstGeom prst="rect">
            <a:avLst/>
          </a:prstGeom>
          <a:noFill/>
          <a:ln/>
        </p:spPr>
        <p:txBody>
          <a:bodyPr wrap="square" lIns="0" tIns="0" rIns="0" bIns="0" rtlCol="0" anchor="t"/>
          <a:lstStyle/>
          <a:p>
            <a:pPr marL="0" indent="0">
              <a:buNone/>
            </a:pPr>
            <a:r>
              <a:rPr lang="en-US" sz="1900" b="1" dirty="0">
                <a:solidFill>
                  <a:schemeClr val="tx2"/>
                </a:solidFill>
              </a:rPr>
              <a:t>Fixed IoT nodes leave gaps</a:t>
            </a:r>
            <a:endParaRPr lang="en-US" sz="1900" dirty="0"/>
          </a:p>
        </p:txBody>
      </p:sp>
      <p:sp>
        <p:nvSpPr>
          <p:cNvPr id="25" name="Text 19"/>
          <p:cNvSpPr txBox="1"/>
          <p:nvPr/>
        </p:nvSpPr>
        <p:spPr>
          <a:xfrm>
            <a:off x="6583680" y="4215384"/>
            <a:ext cx="5029200" cy="640080"/>
          </a:xfrm>
          <a:prstGeom prst="rect">
            <a:avLst/>
          </a:prstGeom>
          <a:noFill/>
          <a:ln/>
        </p:spPr>
        <p:txBody>
          <a:bodyPr wrap="square" lIns="0" tIns="0" rIns="0" bIns="0" rtlCol="0" anchor="t"/>
          <a:lstStyle/>
          <a:p>
            <a:pPr marL="0" indent="0">
              <a:buNone/>
            </a:pPr>
            <a:r>
              <a:rPr lang="en-US" sz="1600" dirty="0">
                <a:solidFill>
                  <a:schemeClr val="tx1"/>
                </a:solidFill>
              </a:rPr>
              <a:t>Stationary sensors cover only the spot where they stand</a:t>
            </a:r>
            <a:endParaRPr lang="en-US" sz="1600" dirty="0"/>
          </a:p>
        </p:txBody>
      </p:sp>
      <p:sp>
        <p:nvSpPr>
          <p:cNvPr id="26" name="icon-bg-9"/>
          <p:cNvSpPr/>
          <p:nvPr/>
        </p:nvSpPr>
        <p:spPr>
          <a:xfrm>
            <a:off x="5715000" y="5038344"/>
            <a:ext cx="640080" cy="640080"/>
          </a:xfrm>
          <a:prstGeom prst="ellipse">
            <a:avLst/>
          </a:prstGeom>
          <a:solidFill>
            <a:schemeClr val="accent1"/>
          </a:solidFill>
          <a:ln w="12700">
            <a:solidFill>
              <a:schemeClr val="accent1"/>
            </a:solidFill>
            <a:prstDash val="solid"/>
          </a:ln>
        </p:spPr>
      </p:sp>
      <p:pic>
        <p:nvPicPr>
          <p:cNvPr id="27" name="icon-10" descr="preencoded.png"/>
          <p:cNvPicPr>
            <a:picLocks noChangeAspect="1"/>
          </p:cNvPicPr>
          <p:nvPr/>
        </p:nvPicPr>
        <p:blipFill>
          <a:blip r:embed="rId6"/>
          <a:stretch>
            <a:fillRect/>
          </a:stretch>
        </p:blipFill>
        <p:spPr>
          <a:xfrm>
            <a:off x="5868619" y="5191963"/>
            <a:ext cx="332842" cy="332842"/>
          </a:xfrm>
          <a:prstGeom prst="rect">
            <a:avLst/>
          </a:prstGeom>
        </p:spPr>
      </p:pic>
      <p:sp>
        <p:nvSpPr>
          <p:cNvPr id="28" name="Text 21"/>
          <p:cNvSpPr txBox="1"/>
          <p:nvPr/>
        </p:nvSpPr>
        <p:spPr>
          <a:xfrm>
            <a:off x="6583680" y="4992624"/>
            <a:ext cx="5029200" cy="411480"/>
          </a:xfrm>
          <a:prstGeom prst="rect">
            <a:avLst/>
          </a:prstGeom>
          <a:noFill/>
          <a:ln/>
        </p:spPr>
        <p:txBody>
          <a:bodyPr wrap="square" lIns="0" tIns="0" rIns="0" bIns="0" rtlCol="0" anchor="t"/>
          <a:lstStyle/>
          <a:p>
            <a:pPr marL="0" indent="0">
              <a:buNone/>
            </a:pPr>
            <a:r>
              <a:rPr lang="en-US" sz="1900" b="1" dirty="0">
                <a:solidFill>
                  <a:schemeClr val="tx2"/>
                </a:solidFill>
              </a:rPr>
              <a:t>Research robots cost too much</a:t>
            </a:r>
            <a:endParaRPr lang="en-US" sz="1900" dirty="0"/>
          </a:p>
        </p:txBody>
      </p:sp>
      <p:sp>
        <p:nvSpPr>
          <p:cNvPr id="29" name="Text 22"/>
          <p:cNvSpPr txBox="1"/>
          <p:nvPr/>
        </p:nvSpPr>
        <p:spPr>
          <a:xfrm>
            <a:off x="6583680" y="5422392"/>
            <a:ext cx="5029200" cy="640080"/>
          </a:xfrm>
          <a:prstGeom prst="rect">
            <a:avLst/>
          </a:prstGeom>
          <a:noFill/>
          <a:ln/>
        </p:spPr>
        <p:txBody>
          <a:bodyPr wrap="square" lIns="0" tIns="0" rIns="0" bIns="0" rtlCol="0" anchor="t"/>
          <a:lstStyle/>
          <a:p>
            <a:pPr marL="0" indent="0">
              <a:buNone/>
            </a:pPr>
            <a:r>
              <a:rPr lang="en-US" sz="1600" dirty="0">
                <a:solidFill>
                  <a:schemeClr val="tx1"/>
                </a:solidFill>
              </a:rPr>
              <a:t>Legged platforms such as ANYmal cost far beyond a small farm's budget</a:t>
            </a:r>
            <a:endParaRPr lang="en-US" sz="16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Which Platform Can Monitor Between Crop Rows?</a:t>
            </a:r>
            <a:endParaRPr lang="en-US" sz="3000" dirty="0"/>
          </a:p>
        </p:txBody>
      </p:sp>
      <p:sp>
        <p:nvSpPr>
          <p:cNvPr id="4" name="Text 1"/>
          <p:cNvSpPr txBox="1"/>
          <p:nvPr/>
        </p:nvSpPr>
        <p:spPr>
          <a:xfrm>
            <a:off x="548640" y="1188720"/>
            <a:ext cx="11064240" cy="457200"/>
          </a:xfrm>
          <a:prstGeom prst="rect">
            <a:avLst/>
          </a:prstGeom>
          <a:noFill/>
          <a:ln/>
        </p:spPr>
        <p:txBody>
          <a:bodyPr wrap="square" lIns="0" tIns="0" rIns="0" bIns="0" rtlCol="0" anchor="ctr"/>
          <a:lstStyle/>
          <a:p>
            <a:pPr marL="0" indent="0">
              <a:buNone/>
            </a:pPr>
            <a:r>
              <a:rPr lang="en-US" sz="1800" dirty="0">
                <a:solidFill>
                  <a:schemeClr val="tx1"/>
                </a:solidFill>
              </a:rPr>
              <a:t>A legged robot can walk between rows and carry sensors to the leaves; the question is whether it can be built cheaply.</a:t>
            </a:r>
            <a:endParaRPr lang="en-US" sz="1800" dirty="0"/>
          </a:p>
        </p:txBody>
      </p:sp>
      <p:graphicFrame>
        <p:nvGraphicFramePr>
          <p:cNvPr id="6" name="table-11"/>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3401568"/>
        </p:xfrm>
        <a:graphic>
          <a:graphicData uri="http://schemas.openxmlformats.org/drawingml/2006/table">
            <a:tbl>
              <a:tblPr/>
              <a:tblGrid>
                <a:gridCol w="32004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1874520">
                  <a:extLst>
                    <a:ext uri="{9D8B030D-6E8A-4147-A177-3AD203B41FA5}">
                      <a16:colId xmlns:a16="http://schemas.microsoft.com/office/drawing/2014/main" val="20004"/>
                    </a:ext>
                  </a:extLst>
                </a:gridCol>
              </a:tblGrid>
              <a:tr h="566928">
                <a:tc>
                  <a:txBody>
                    <a:bodyPr/>
                    <a:lstStyle/>
                    <a:p>
                      <a:pPr marL="0" indent="0">
                        <a:buNone/>
                      </a:pPr>
                      <a:r>
                        <a:rPr lang="en-US" sz="1500" b="1" dirty="0">
                          <a:solidFill>
                            <a:schemeClr val="bg1"/>
                          </a:solidFill>
                        </a:rPr>
                        <a:t>Platform</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Close-range, leaf-level sensing</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Moves on soft soil and in furrows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Covers the whole field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Affordable for small farms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66928">
                <a:tc>
                  <a:txBody>
                    <a:bodyPr/>
                    <a:lstStyle/>
                    <a:p>
                      <a:pPr marL="0" indent="0">
                        <a:buNone/>
                      </a:pPr>
                      <a:r>
                        <a:rPr lang="en-US" sz="1500" dirty="0">
                          <a:solidFill>
                            <a:schemeClr val="tx1"/>
                          </a:solidFill>
                        </a:rPr>
                        <a:t>Drone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4"/>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3"/>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66928">
                <a:tc>
                  <a:txBody>
                    <a:bodyPr/>
                    <a:lstStyle/>
                    <a:p>
                      <a:pPr marL="0" indent="0">
                        <a:buNone/>
                      </a:pPr>
                      <a:r>
                        <a:rPr lang="en-US" sz="1500" dirty="0">
                          <a:solidFill>
                            <a:schemeClr val="tx1"/>
                          </a:solidFill>
                        </a:rPr>
                        <a:t>Wheeled or tracked rover</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4"/>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3"/>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3"/>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66928">
                <a:tc>
                  <a:txBody>
                    <a:bodyPr/>
                    <a:lstStyle/>
                    <a:p>
                      <a:pPr marL="0" indent="0">
                        <a:buNone/>
                      </a:pPr>
                      <a:r>
                        <a:rPr lang="en-US" sz="1500" dirty="0">
                          <a:solidFill>
                            <a:schemeClr val="tx1"/>
                          </a:solidFill>
                        </a:rPr>
                        <a:t>Fixed IoT sensor nodes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3"/>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accent6"/>
                          </a:solidFill>
                        </a:rPr>
                        <a:t>—</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4"/>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3"/>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66928">
                <a:tc>
                  <a:txBody>
                    <a:bodyPr/>
                    <a:lstStyle/>
                    <a:p>
                      <a:pPr marL="0" indent="0">
                        <a:buNone/>
                      </a:pPr>
                      <a:r>
                        <a:rPr lang="en-US" sz="1500" dirty="0">
                          <a:solidFill>
                            <a:schemeClr val="tx1"/>
                          </a:solidFill>
                        </a:rPr>
                        <a:t>Research quadruped (ANYmal, Cheetah 3)</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lgn="ctr">
                        <a:buNone/>
                      </a:pPr>
                      <a:r>
                        <a:rPr lang="en-US" sz="2000" b="1" dirty="0">
                          <a:solidFill>
                            <a:schemeClr val="accent4"/>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66928">
                <a:tc>
                  <a:txBody>
                    <a:bodyPr/>
                    <a:lstStyle/>
                    <a:p>
                      <a:pPr marL="0" indent="0">
                        <a:buNone/>
                      </a:pPr>
                      <a:r>
                        <a:rPr lang="en-US" sz="1500" b="1" dirty="0">
                          <a:solidFill>
                            <a:schemeClr val="tx2"/>
                          </a:solidFill>
                        </a:rPr>
                        <a:t>This project: printed quadruped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lgn="ctr">
                        <a:buNone/>
                      </a:pPr>
                      <a:r>
                        <a:rPr lang="en-US" sz="2000" b="1" dirty="0">
                          <a:solidFill>
                            <a:schemeClr val="accent1"/>
                          </a:solidFill>
                        </a:rPr>
                        <a:t>✓</a:t>
                      </a:r>
                      <a:endParaRPr lang="en-US" sz="20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3" name="Text 2"/>
          <p:cNvSpPr txBox="1"/>
          <p:nvPr/>
        </p:nvSpPr>
        <p:spPr>
          <a:xfrm>
            <a:off x="548640" y="5623560"/>
            <a:ext cx="7315200" cy="320040"/>
          </a:xfrm>
          <a:prstGeom prst="rect">
            <a:avLst/>
          </a:prstGeom>
          <a:noFill/>
          <a:ln/>
        </p:spPr>
        <p:txBody>
          <a:bodyPr wrap="square" lIns="0" tIns="0" rIns="0" bIns="0" rtlCol="0" anchor="t"/>
          <a:lstStyle/>
          <a:p>
            <a:pPr marL="0" indent="0">
              <a:buNone/>
            </a:pPr>
            <a:r>
              <a:rPr lang="en-US" sz="1300" dirty="0">
                <a:solidFill>
                  <a:schemeClr val="accent6"/>
                </a:solidFill>
              </a:rPr>
              <a:t>✓ suited     ~ partly     ✗ not suited</a:t>
            </a:r>
            <a:endParaRPr lang="en-US" sz="13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What 18 Papers Tell Us</a:t>
            </a:r>
            <a:endParaRPr lang="en-US" sz="3000" dirty="0"/>
          </a:p>
        </p:txBody>
      </p:sp>
      <p:sp>
        <p:nvSpPr>
          <p:cNvPr id="4" name="panel-12"/>
          <p:cNvSpPr/>
          <p:nvPr/>
        </p:nvSpPr>
        <p:spPr>
          <a:xfrm>
            <a:off x="548640" y="1280160"/>
            <a:ext cx="5440680" cy="2331720"/>
          </a:xfrm>
          <a:prstGeom prst="roundRect">
            <a:avLst>
              <a:gd name="adj" fmla="val 3922"/>
            </a:avLst>
          </a:prstGeom>
          <a:solidFill>
            <a:schemeClr val="bg2"/>
          </a:solidFill>
          <a:ln w="12700">
            <a:solidFill>
              <a:schemeClr val="bg2"/>
            </a:solidFill>
            <a:prstDash val="solid"/>
          </a:ln>
        </p:spPr>
      </p:sp>
      <p:sp>
        <p:nvSpPr>
          <p:cNvPr id="5" name="icon-bg-13"/>
          <p:cNvSpPr/>
          <p:nvPr/>
        </p:nvSpPr>
        <p:spPr>
          <a:xfrm>
            <a:off x="777240" y="1508760"/>
            <a:ext cx="548640" cy="548640"/>
          </a:xfrm>
          <a:prstGeom prst="ellipse">
            <a:avLst/>
          </a:prstGeom>
          <a:solidFill>
            <a:schemeClr val="accent1"/>
          </a:solidFill>
          <a:ln w="12700">
            <a:solidFill>
              <a:schemeClr val="accent1"/>
            </a:solidFill>
            <a:prstDash val="solid"/>
          </a:ln>
        </p:spPr>
      </p:sp>
      <p:pic>
        <p:nvPicPr>
          <p:cNvPr id="6" name="icon-14" descr="preencoded.png"/>
          <p:cNvPicPr>
            <a:picLocks noChangeAspect="1"/>
          </p:cNvPicPr>
          <p:nvPr/>
        </p:nvPicPr>
        <p:blipFill>
          <a:blip r:embed="rId3"/>
          <a:stretch>
            <a:fillRect/>
          </a:stretch>
        </p:blipFill>
        <p:spPr>
          <a:xfrm>
            <a:off x="908914" y="1640434"/>
            <a:ext cx="285293" cy="285293"/>
          </a:xfrm>
          <a:prstGeom prst="rect">
            <a:avLst/>
          </a:prstGeom>
        </p:spPr>
      </p:pic>
      <p:sp>
        <p:nvSpPr>
          <p:cNvPr id="7" name="Text 3"/>
          <p:cNvSpPr txBox="1"/>
          <p:nvPr/>
        </p:nvSpPr>
        <p:spPr>
          <a:xfrm>
            <a:off x="1463040" y="1508760"/>
            <a:ext cx="4389120" cy="548640"/>
          </a:xfrm>
          <a:prstGeom prst="rect">
            <a:avLst/>
          </a:prstGeom>
          <a:noFill/>
          <a:ln/>
        </p:spPr>
        <p:txBody>
          <a:bodyPr wrap="square" lIns="0" tIns="0" rIns="0" bIns="0" rtlCol="0" anchor="ctr"/>
          <a:lstStyle/>
          <a:p>
            <a:pPr marL="0" indent="0">
              <a:buNone/>
            </a:pPr>
            <a:r>
              <a:rPr lang="en-US" sz="1900" b="1" dirty="0">
                <a:solidFill>
                  <a:schemeClr val="tx2"/>
                </a:solidFill>
              </a:rPr>
              <a:t>Legged locomotion  [1–6]</a:t>
            </a:r>
            <a:endParaRPr lang="en-US" sz="1900" dirty="0"/>
          </a:p>
        </p:txBody>
      </p:sp>
      <p:sp>
        <p:nvSpPr>
          <p:cNvPr id="8" name="Text 4"/>
          <p:cNvSpPr txBox="1"/>
          <p:nvPr/>
        </p:nvSpPr>
        <p:spPr>
          <a:xfrm>
            <a:off x="777240" y="2194560"/>
            <a:ext cx="4983480" cy="685800"/>
          </a:xfrm>
          <a:prstGeom prst="rect">
            <a:avLst/>
          </a:prstGeom>
          <a:noFill/>
          <a:ln/>
        </p:spPr>
        <p:txBody>
          <a:bodyPr wrap="square" lIns="0" tIns="0" rIns="0" bIns="0" rtlCol="0" anchor="t"/>
          <a:lstStyle/>
          <a:p>
            <a:pPr marL="0" indent="0">
              <a:buNone/>
            </a:pPr>
            <a:r>
              <a:rPr lang="en-US" sz="1500" dirty="0">
                <a:solidFill>
                  <a:schemeClr val="tx1"/>
                </a:solidFill>
              </a:rPr>
              <a:t>MIT Cheetah 3, Mini Cheetah, ANYmal, Stanford Doggo; MPC and learned gaits</a:t>
            </a:r>
            <a:endParaRPr lang="en-US" sz="1500" dirty="0"/>
          </a:p>
        </p:txBody>
      </p:sp>
      <p:sp>
        <p:nvSpPr>
          <p:cNvPr id="9" name="Text 5"/>
          <p:cNvSpPr txBox="1"/>
          <p:nvPr/>
        </p:nvSpPr>
        <p:spPr>
          <a:xfrm>
            <a:off x="777240" y="2880360"/>
            <a:ext cx="4983480" cy="640080"/>
          </a:xfrm>
          <a:prstGeom prst="rect">
            <a:avLst/>
          </a:prstGeom>
          <a:noFill/>
          <a:ln/>
        </p:spPr>
        <p:txBody>
          <a:bodyPr wrap="square" lIns="0" tIns="0" rIns="0" bIns="0" rtlCol="0" anchor="t"/>
          <a:lstStyle/>
          <a:p>
            <a:pPr marL="0" indent="0">
              <a:buNone/>
            </a:pPr>
            <a:r>
              <a:rPr lang="en-US" sz="1500" b="1" dirty="0">
                <a:solidFill>
                  <a:schemeClr val="accent4"/>
                </a:solidFill>
              </a:rPr>
              <a:t>Gap  </a:t>
            </a:r>
            <a:r>
              <a:rPr lang="en-US" sz="1500" dirty="0">
                <a:solidFill>
                  <a:schemeClr val="tx1"/>
                </a:solidFill>
              </a:rPr>
              <a:t>Custom actuators, costly; none carries a crop-sensing payload</a:t>
            </a:r>
            <a:endParaRPr lang="en-US" sz="1500" dirty="0"/>
          </a:p>
        </p:txBody>
      </p:sp>
      <p:sp>
        <p:nvSpPr>
          <p:cNvPr id="10" name="panel-15"/>
          <p:cNvSpPr/>
          <p:nvPr/>
        </p:nvSpPr>
        <p:spPr>
          <a:xfrm>
            <a:off x="6172200" y="1280160"/>
            <a:ext cx="5440680" cy="2331720"/>
          </a:xfrm>
          <a:prstGeom prst="roundRect">
            <a:avLst>
              <a:gd name="adj" fmla="val 3922"/>
            </a:avLst>
          </a:prstGeom>
          <a:solidFill>
            <a:schemeClr val="bg2"/>
          </a:solidFill>
          <a:ln w="12700">
            <a:solidFill>
              <a:schemeClr val="bg2"/>
            </a:solidFill>
            <a:prstDash val="solid"/>
          </a:ln>
        </p:spPr>
      </p:sp>
      <p:sp>
        <p:nvSpPr>
          <p:cNvPr id="11" name="icon-bg-16"/>
          <p:cNvSpPr/>
          <p:nvPr/>
        </p:nvSpPr>
        <p:spPr>
          <a:xfrm>
            <a:off x="6400800" y="1508760"/>
            <a:ext cx="548640" cy="548640"/>
          </a:xfrm>
          <a:prstGeom prst="ellipse">
            <a:avLst/>
          </a:prstGeom>
          <a:solidFill>
            <a:schemeClr val="accent1"/>
          </a:solidFill>
          <a:ln w="12700">
            <a:solidFill>
              <a:schemeClr val="accent1"/>
            </a:solidFill>
            <a:prstDash val="solid"/>
          </a:ln>
        </p:spPr>
      </p:sp>
      <p:pic>
        <p:nvPicPr>
          <p:cNvPr id="12" name="icon-17" descr="preencoded.png"/>
          <p:cNvPicPr>
            <a:picLocks noChangeAspect="1"/>
          </p:cNvPicPr>
          <p:nvPr/>
        </p:nvPicPr>
        <p:blipFill>
          <a:blip r:embed="rId4"/>
          <a:stretch>
            <a:fillRect/>
          </a:stretch>
        </p:blipFill>
        <p:spPr>
          <a:xfrm>
            <a:off x="6532474" y="1640434"/>
            <a:ext cx="285293" cy="285293"/>
          </a:xfrm>
          <a:prstGeom prst="rect">
            <a:avLst/>
          </a:prstGeom>
        </p:spPr>
      </p:pic>
      <p:sp>
        <p:nvSpPr>
          <p:cNvPr id="13" name="Text 8"/>
          <p:cNvSpPr txBox="1"/>
          <p:nvPr/>
        </p:nvSpPr>
        <p:spPr>
          <a:xfrm>
            <a:off x="7086600" y="1508760"/>
            <a:ext cx="4389120" cy="548640"/>
          </a:xfrm>
          <a:prstGeom prst="rect">
            <a:avLst/>
          </a:prstGeom>
          <a:noFill/>
          <a:ln/>
        </p:spPr>
        <p:txBody>
          <a:bodyPr wrap="square" lIns="0" tIns="0" rIns="0" bIns="0" rtlCol="0" anchor="ctr"/>
          <a:lstStyle/>
          <a:p>
            <a:pPr marL="0" indent="0">
              <a:buNone/>
            </a:pPr>
            <a:r>
              <a:rPr lang="en-US" sz="1900" b="1" dirty="0">
                <a:solidFill>
                  <a:schemeClr val="tx2"/>
                </a:solidFill>
              </a:rPr>
              <a:t>Field robots and drones  [7–10]</a:t>
            </a:r>
            <a:endParaRPr lang="en-US" sz="1900" dirty="0"/>
          </a:p>
        </p:txBody>
      </p:sp>
      <p:sp>
        <p:nvSpPr>
          <p:cNvPr id="14" name="Text 9"/>
          <p:cNvSpPr txBox="1"/>
          <p:nvPr/>
        </p:nvSpPr>
        <p:spPr>
          <a:xfrm>
            <a:off x="6400800" y="2194560"/>
            <a:ext cx="4983480" cy="685800"/>
          </a:xfrm>
          <a:prstGeom prst="rect">
            <a:avLst/>
          </a:prstGeom>
          <a:noFill/>
          <a:ln/>
        </p:spPr>
        <p:txBody>
          <a:bodyPr wrap="square" lIns="0" tIns="0" rIns="0" bIns="0" rtlCol="0" anchor="t"/>
          <a:lstStyle/>
          <a:p>
            <a:pPr marL="0" indent="0">
              <a:buNone/>
            </a:pPr>
            <a:r>
              <a:rPr lang="en-US" sz="1500" dirty="0">
                <a:solidFill>
                  <a:schemeClr val="tx1"/>
                </a:solidFill>
              </a:rPr>
              <a:t>Reviews of agricultural rovers, drone–ground teaming, farmer interfaces</a:t>
            </a:r>
            <a:endParaRPr lang="en-US" sz="1500" dirty="0"/>
          </a:p>
        </p:txBody>
      </p:sp>
      <p:sp>
        <p:nvSpPr>
          <p:cNvPr id="15" name="Text 10"/>
          <p:cNvSpPr txBox="1"/>
          <p:nvPr/>
        </p:nvSpPr>
        <p:spPr>
          <a:xfrm>
            <a:off x="6400800" y="2880360"/>
            <a:ext cx="4983480" cy="640080"/>
          </a:xfrm>
          <a:prstGeom prst="rect">
            <a:avLst/>
          </a:prstGeom>
          <a:noFill/>
          <a:ln/>
        </p:spPr>
        <p:txBody>
          <a:bodyPr wrap="square" lIns="0" tIns="0" rIns="0" bIns="0" rtlCol="0" anchor="t"/>
          <a:lstStyle/>
          <a:p>
            <a:pPr marL="0" indent="0">
              <a:buNone/>
            </a:pPr>
            <a:r>
              <a:rPr lang="en-US" sz="1500" b="1" dirty="0">
                <a:solidFill>
                  <a:schemeClr val="accent4"/>
                </a:solidFill>
              </a:rPr>
              <a:t>Gap  </a:t>
            </a:r>
            <a:r>
              <a:rPr lang="en-US" sz="1500" dirty="0">
                <a:solidFill>
                  <a:schemeClr val="tx1"/>
                </a:solidFill>
              </a:rPr>
              <a:t>Wheels fail in mud and furrows; drones cannot see under the canopy</a:t>
            </a:r>
            <a:endParaRPr lang="en-US" sz="1500" dirty="0"/>
          </a:p>
        </p:txBody>
      </p:sp>
      <p:sp>
        <p:nvSpPr>
          <p:cNvPr id="16" name="panel-18"/>
          <p:cNvSpPr/>
          <p:nvPr/>
        </p:nvSpPr>
        <p:spPr>
          <a:xfrm>
            <a:off x="548640" y="3794760"/>
            <a:ext cx="5440680" cy="2331720"/>
          </a:xfrm>
          <a:prstGeom prst="roundRect">
            <a:avLst>
              <a:gd name="adj" fmla="val 3922"/>
            </a:avLst>
          </a:prstGeom>
          <a:solidFill>
            <a:schemeClr val="bg2"/>
          </a:solidFill>
          <a:ln w="12700">
            <a:solidFill>
              <a:schemeClr val="bg2"/>
            </a:solidFill>
            <a:prstDash val="solid"/>
          </a:ln>
        </p:spPr>
      </p:sp>
      <p:sp>
        <p:nvSpPr>
          <p:cNvPr id="17" name="icon-bg-19"/>
          <p:cNvSpPr/>
          <p:nvPr/>
        </p:nvSpPr>
        <p:spPr>
          <a:xfrm>
            <a:off x="777240" y="4023360"/>
            <a:ext cx="548640" cy="548640"/>
          </a:xfrm>
          <a:prstGeom prst="ellipse">
            <a:avLst/>
          </a:prstGeom>
          <a:solidFill>
            <a:schemeClr val="accent1"/>
          </a:solidFill>
          <a:ln w="12700">
            <a:solidFill>
              <a:schemeClr val="accent1"/>
            </a:solidFill>
            <a:prstDash val="solid"/>
          </a:ln>
        </p:spPr>
      </p:sp>
      <p:pic>
        <p:nvPicPr>
          <p:cNvPr id="18" name="icon-20" descr="preencoded.png"/>
          <p:cNvPicPr>
            <a:picLocks noChangeAspect="1"/>
          </p:cNvPicPr>
          <p:nvPr/>
        </p:nvPicPr>
        <p:blipFill>
          <a:blip r:embed="rId5"/>
          <a:stretch>
            <a:fillRect/>
          </a:stretch>
        </p:blipFill>
        <p:spPr>
          <a:xfrm>
            <a:off x="908914" y="4155034"/>
            <a:ext cx="285293" cy="285293"/>
          </a:xfrm>
          <a:prstGeom prst="rect">
            <a:avLst/>
          </a:prstGeom>
        </p:spPr>
      </p:pic>
      <p:sp>
        <p:nvSpPr>
          <p:cNvPr id="19" name="Text 13"/>
          <p:cNvSpPr txBox="1"/>
          <p:nvPr/>
        </p:nvSpPr>
        <p:spPr>
          <a:xfrm>
            <a:off x="1463040" y="4023360"/>
            <a:ext cx="4389120" cy="548640"/>
          </a:xfrm>
          <a:prstGeom prst="rect">
            <a:avLst/>
          </a:prstGeom>
          <a:noFill/>
          <a:ln/>
        </p:spPr>
        <p:txBody>
          <a:bodyPr wrap="square" lIns="0" tIns="0" rIns="0" bIns="0" rtlCol="0" anchor="ctr"/>
          <a:lstStyle/>
          <a:p>
            <a:pPr marL="0" indent="0">
              <a:buNone/>
            </a:pPr>
            <a:r>
              <a:rPr lang="en-US" sz="1900" b="1" dirty="0">
                <a:solidFill>
                  <a:schemeClr val="tx2"/>
                </a:solidFill>
              </a:rPr>
              <a:t>Leaf-disease deep learning  [11–15]</a:t>
            </a:r>
            <a:endParaRPr lang="en-US" sz="1900" dirty="0"/>
          </a:p>
        </p:txBody>
      </p:sp>
      <p:sp>
        <p:nvSpPr>
          <p:cNvPr id="20" name="Text 14"/>
          <p:cNvSpPr txBox="1"/>
          <p:nvPr/>
        </p:nvSpPr>
        <p:spPr>
          <a:xfrm>
            <a:off x="777240" y="4709160"/>
            <a:ext cx="4983480" cy="685800"/>
          </a:xfrm>
          <a:prstGeom prst="rect">
            <a:avLst/>
          </a:prstGeom>
          <a:noFill/>
          <a:ln/>
        </p:spPr>
        <p:txBody>
          <a:bodyPr wrap="square" lIns="0" tIns="0" rIns="0" bIns="0" rtlCol="0" anchor="t"/>
          <a:lstStyle/>
          <a:p>
            <a:pPr marL="0" indent="0">
              <a:buNone/>
            </a:pPr>
            <a:r>
              <a:rPr lang="en-US" sz="1500" dirty="0">
                <a:solidFill>
                  <a:schemeClr val="tx1"/>
                </a:solidFill>
              </a:rPr>
              <a:t>CNNs reach 97–99 % on PlantVillage; MobileNetV2 is efficient enough for edge use</a:t>
            </a:r>
            <a:endParaRPr lang="en-US" sz="1500" dirty="0"/>
          </a:p>
        </p:txBody>
      </p:sp>
      <p:sp>
        <p:nvSpPr>
          <p:cNvPr id="21" name="Text 15"/>
          <p:cNvSpPr txBox="1"/>
          <p:nvPr/>
        </p:nvSpPr>
        <p:spPr>
          <a:xfrm>
            <a:off x="777240" y="5394960"/>
            <a:ext cx="4983480" cy="640080"/>
          </a:xfrm>
          <a:prstGeom prst="rect">
            <a:avLst/>
          </a:prstGeom>
          <a:noFill/>
          <a:ln/>
        </p:spPr>
        <p:txBody>
          <a:bodyPr wrap="square" lIns="0" tIns="0" rIns="0" bIns="0" rtlCol="0" anchor="t"/>
          <a:lstStyle/>
          <a:p>
            <a:pPr marL="0" indent="0">
              <a:buNone/>
            </a:pPr>
            <a:r>
              <a:rPr lang="en-US" sz="1500" b="1" dirty="0">
                <a:solidFill>
                  <a:schemeClr val="accent4"/>
                </a:solidFill>
              </a:rPr>
              <a:t>Gap  </a:t>
            </a:r>
            <a:r>
              <a:rPr lang="en-US" sz="1500" dirty="0">
                <a:solidFill>
                  <a:schemeClr val="tx1"/>
                </a:solidFill>
              </a:rPr>
              <a:t>Lab images only; closed-set models label anything they see</a:t>
            </a:r>
            <a:endParaRPr lang="en-US" sz="1500" dirty="0"/>
          </a:p>
        </p:txBody>
      </p:sp>
      <p:sp>
        <p:nvSpPr>
          <p:cNvPr id="22" name="panel-21"/>
          <p:cNvSpPr/>
          <p:nvPr/>
        </p:nvSpPr>
        <p:spPr>
          <a:xfrm>
            <a:off x="6172200" y="3794760"/>
            <a:ext cx="5440680" cy="2331720"/>
          </a:xfrm>
          <a:prstGeom prst="roundRect">
            <a:avLst>
              <a:gd name="adj" fmla="val 3922"/>
            </a:avLst>
          </a:prstGeom>
          <a:solidFill>
            <a:schemeClr val="bg2"/>
          </a:solidFill>
          <a:ln w="12700">
            <a:solidFill>
              <a:schemeClr val="bg2"/>
            </a:solidFill>
            <a:prstDash val="solid"/>
          </a:ln>
        </p:spPr>
      </p:sp>
      <p:sp>
        <p:nvSpPr>
          <p:cNvPr id="23" name="icon-bg-22"/>
          <p:cNvSpPr/>
          <p:nvPr/>
        </p:nvSpPr>
        <p:spPr>
          <a:xfrm>
            <a:off x="6400800" y="4023360"/>
            <a:ext cx="548640" cy="548640"/>
          </a:xfrm>
          <a:prstGeom prst="ellipse">
            <a:avLst/>
          </a:prstGeom>
          <a:solidFill>
            <a:schemeClr val="accent1"/>
          </a:solidFill>
          <a:ln w="12700">
            <a:solidFill>
              <a:schemeClr val="accent1"/>
            </a:solidFill>
            <a:prstDash val="solid"/>
          </a:ln>
        </p:spPr>
      </p:sp>
      <p:pic>
        <p:nvPicPr>
          <p:cNvPr id="24" name="icon-23" descr="preencoded.png"/>
          <p:cNvPicPr>
            <a:picLocks noChangeAspect="1"/>
          </p:cNvPicPr>
          <p:nvPr/>
        </p:nvPicPr>
        <p:blipFill>
          <a:blip r:embed="rId6"/>
          <a:stretch>
            <a:fillRect/>
          </a:stretch>
        </p:blipFill>
        <p:spPr>
          <a:xfrm>
            <a:off x="6532474" y="4155034"/>
            <a:ext cx="285293" cy="285293"/>
          </a:xfrm>
          <a:prstGeom prst="rect">
            <a:avLst/>
          </a:prstGeom>
        </p:spPr>
      </p:pic>
      <p:sp>
        <p:nvSpPr>
          <p:cNvPr id="25" name="Text 18"/>
          <p:cNvSpPr txBox="1"/>
          <p:nvPr/>
        </p:nvSpPr>
        <p:spPr>
          <a:xfrm>
            <a:off x="7086600" y="4023360"/>
            <a:ext cx="4389120" cy="548640"/>
          </a:xfrm>
          <a:prstGeom prst="rect">
            <a:avLst/>
          </a:prstGeom>
          <a:noFill/>
          <a:ln/>
        </p:spPr>
        <p:txBody>
          <a:bodyPr wrap="square" lIns="0" tIns="0" rIns="0" bIns="0" rtlCol="0" anchor="ctr"/>
          <a:lstStyle/>
          <a:p>
            <a:pPr marL="0" indent="0">
              <a:buNone/>
            </a:pPr>
            <a:r>
              <a:rPr lang="en-US" sz="1900" b="1" dirty="0">
                <a:solidFill>
                  <a:schemeClr val="tx2"/>
                </a:solidFill>
              </a:rPr>
              <a:t>IoT environmental sensing  [16–18]</a:t>
            </a:r>
            <a:endParaRPr lang="en-US" sz="1900" dirty="0"/>
          </a:p>
        </p:txBody>
      </p:sp>
      <p:sp>
        <p:nvSpPr>
          <p:cNvPr id="26" name="Text 19"/>
          <p:cNvSpPr txBox="1"/>
          <p:nvPr/>
        </p:nvSpPr>
        <p:spPr>
          <a:xfrm>
            <a:off x="6400800" y="4709160"/>
            <a:ext cx="4983480" cy="685800"/>
          </a:xfrm>
          <a:prstGeom prst="rect">
            <a:avLst/>
          </a:prstGeom>
          <a:noFill/>
          <a:ln/>
        </p:spPr>
        <p:txBody>
          <a:bodyPr wrap="square" lIns="0" tIns="0" rIns="0" bIns="0" rtlCol="0" anchor="t"/>
          <a:lstStyle/>
          <a:p>
            <a:pPr marL="0" indent="0">
              <a:buNone/>
            </a:pPr>
            <a:r>
              <a:rPr lang="en-US" sz="1500" dirty="0">
                <a:solidFill>
                  <a:schemeClr val="tx1"/>
                </a:solidFill>
              </a:rPr>
              <a:t>Layered IoT and sensor networks for microclimate, gases and soil</a:t>
            </a:r>
            <a:endParaRPr lang="en-US" sz="1500" dirty="0"/>
          </a:p>
        </p:txBody>
      </p:sp>
      <p:sp>
        <p:nvSpPr>
          <p:cNvPr id="27" name="Text 20"/>
          <p:cNvSpPr txBox="1"/>
          <p:nvPr/>
        </p:nvSpPr>
        <p:spPr>
          <a:xfrm>
            <a:off x="6400800" y="5394960"/>
            <a:ext cx="4983480" cy="640080"/>
          </a:xfrm>
          <a:prstGeom prst="rect">
            <a:avLst/>
          </a:prstGeom>
          <a:noFill/>
          <a:ln/>
        </p:spPr>
        <p:txBody>
          <a:bodyPr wrap="square" lIns="0" tIns="0" rIns="0" bIns="0" rtlCol="0" anchor="t"/>
          <a:lstStyle/>
          <a:p>
            <a:pPr marL="0" indent="0">
              <a:buNone/>
            </a:pPr>
            <a:r>
              <a:rPr lang="en-US" sz="1500" b="1" dirty="0">
                <a:solidFill>
                  <a:schemeClr val="accent4"/>
                </a:solidFill>
              </a:rPr>
              <a:t>Gap  </a:t>
            </a:r>
            <a:r>
              <a:rPr lang="en-US" sz="1500" dirty="0">
                <a:solidFill>
                  <a:schemeClr val="tx1"/>
                </a:solidFill>
              </a:rPr>
              <a:t>Stationary nodes leave gaps; nothing carries sensors along rows</a:t>
            </a:r>
            <a:endParaRPr lang="en-US" sz="15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Research Gaps and How This Project Answers Them</a:t>
            </a:r>
            <a:endParaRPr lang="en-US" sz="3000" dirty="0"/>
          </a:p>
        </p:txBody>
      </p:sp>
      <p:sp>
        <p:nvSpPr>
          <p:cNvPr id="4" name="Text 1"/>
          <p:cNvSpPr txBox="1"/>
          <p:nvPr/>
        </p:nvSpPr>
        <p:spPr>
          <a:xfrm>
            <a:off x="548640" y="1234440"/>
            <a:ext cx="5120640" cy="365760"/>
          </a:xfrm>
          <a:prstGeom prst="rect">
            <a:avLst/>
          </a:prstGeom>
          <a:noFill/>
          <a:ln/>
        </p:spPr>
        <p:txBody>
          <a:bodyPr wrap="square" lIns="0" tIns="0" rIns="0" bIns="0" rtlCol="0" anchor="t"/>
          <a:lstStyle/>
          <a:p>
            <a:pPr marL="0" indent="0">
              <a:buNone/>
            </a:pPr>
            <a:r>
              <a:rPr lang="en-US" sz="1600" b="1" dirty="0">
                <a:solidFill>
                  <a:schemeClr val="accent4"/>
                </a:solidFill>
              </a:rPr>
              <a:t>Gap in the literature</a:t>
            </a:r>
            <a:endParaRPr lang="en-US" sz="1600" dirty="0"/>
          </a:p>
        </p:txBody>
      </p:sp>
      <p:sp>
        <p:nvSpPr>
          <p:cNvPr id="5" name="Text 2"/>
          <p:cNvSpPr txBox="1"/>
          <p:nvPr/>
        </p:nvSpPr>
        <p:spPr>
          <a:xfrm>
            <a:off x="6400800" y="1234440"/>
            <a:ext cx="5212080" cy="365760"/>
          </a:xfrm>
          <a:prstGeom prst="rect">
            <a:avLst/>
          </a:prstGeom>
          <a:noFill/>
          <a:ln/>
        </p:spPr>
        <p:txBody>
          <a:bodyPr wrap="square" lIns="0" tIns="0" rIns="0" bIns="0" rtlCol="0" anchor="t"/>
          <a:lstStyle/>
          <a:p>
            <a:pPr marL="0" indent="0">
              <a:buNone/>
            </a:pPr>
            <a:r>
              <a:rPr lang="en-US" sz="1600" b="1" dirty="0">
                <a:solidFill>
                  <a:schemeClr val="accent1"/>
                </a:solidFill>
              </a:rPr>
              <a:t>Our response</a:t>
            </a:r>
            <a:endParaRPr lang="en-US" sz="1600" dirty="0"/>
          </a:p>
        </p:txBody>
      </p:sp>
      <p:sp>
        <p:nvSpPr>
          <p:cNvPr id="6" name="panel-24"/>
          <p:cNvSpPr/>
          <p:nvPr/>
        </p:nvSpPr>
        <p:spPr>
          <a:xfrm>
            <a:off x="548640" y="1691640"/>
            <a:ext cx="5303520" cy="1005840"/>
          </a:xfrm>
          <a:prstGeom prst="roundRect">
            <a:avLst>
              <a:gd name="adj" fmla="val 9091"/>
            </a:avLst>
          </a:prstGeom>
          <a:solidFill>
            <a:schemeClr val="bg2"/>
          </a:solidFill>
          <a:ln w="12700">
            <a:solidFill>
              <a:schemeClr val="bg2"/>
            </a:solidFill>
            <a:prstDash val="solid"/>
          </a:ln>
        </p:spPr>
      </p:sp>
      <p:sp>
        <p:nvSpPr>
          <p:cNvPr id="7" name="Text 4"/>
          <p:cNvSpPr txBox="1"/>
          <p:nvPr/>
        </p:nvSpPr>
        <p:spPr>
          <a:xfrm>
            <a:off x="731520" y="1783080"/>
            <a:ext cx="4937760" cy="822960"/>
          </a:xfrm>
          <a:prstGeom prst="rect">
            <a:avLst/>
          </a:prstGeom>
          <a:noFill/>
          <a:ln/>
        </p:spPr>
        <p:txBody>
          <a:bodyPr wrap="square" lIns="0" tIns="0" rIns="0" bIns="0" rtlCol="0" anchor="ctr"/>
          <a:lstStyle/>
          <a:p>
            <a:pPr marL="0" indent="0">
              <a:buNone/>
            </a:pPr>
            <a:r>
              <a:rPr lang="en-US" sz="1450" dirty="0">
                <a:solidFill>
                  <a:schemeClr val="tx1"/>
                </a:solidFill>
              </a:rPr>
              <a:t>Low-cost legged robots have not carried an environmental and imaging payload, and their feasibility with hobby servos is rarely quantified</a:t>
            </a:r>
            <a:endParaRPr lang="en-US" sz="1450" dirty="0"/>
          </a:p>
        </p:txBody>
      </p:sp>
      <p:sp>
        <p:nvSpPr>
          <p:cNvPr id="8" name="arrow-25"/>
          <p:cNvSpPr/>
          <p:nvPr/>
        </p:nvSpPr>
        <p:spPr>
          <a:xfrm>
            <a:off x="5943600" y="2039112"/>
            <a:ext cx="365760" cy="310896"/>
          </a:xfrm>
          <a:prstGeom prst="rightArrow">
            <a:avLst/>
          </a:prstGeom>
          <a:solidFill>
            <a:schemeClr val="accent1"/>
          </a:solidFill>
          <a:ln w="12700">
            <a:solidFill>
              <a:schemeClr val="accent1"/>
            </a:solidFill>
            <a:prstDash val="solid"/>
          </a:ln>
        </p:spPr>
      </p:sp>
      <p:sp>
        <p:nvSpPr>
          <p:cNvPr id="9" name="panel-26"/>
          <p:cNvSpPr/>
          <p:nvPr/>
        </p:nvSpPr>
        <p:spPr>
          <a:xfrm>
            <a:off x="6400800" y="1691640"/>
            <a:ext cx="5212080" cy="1005840"/>
          </a:xfrm>
          <a:prstGeom prst="roundRect">
            <a:avLst>
              <a:gd name="adj" fmla="val 9091"/>
            </a:avLst>
          </a:prstGeom>
          <a:solidFill>
            <a:schemeClr val="tx2"/>
          </a:solidFill>
          <a:ln w="12700">
            <a:solidFill>
              <a:schemeClr val="tx2"/>
            </a:solidFill>
            <a:prstDash val="solid"/>
          </a:ln>
        </p:spPr>
      </p:sp>
      <p:sp>
        <p:nvSpPr>
          <p:cNvPr id="10" name="Text 7"/>
          <p:cNvSpPr txBox="1"/>
          <p:nvPr/>
        </p:nvSpPr>
        <p:spPr>
          <a:xfrm>
            <a:off x="6583680" y="1783080"/>
            <a:ext cx="4846320" cy="822960"/>
          </a:xfrm>
          <a:prstGeom prst="rect">
            <a:avLst/>
          </a:prstGeom>
          <a:noFill/>
          <a:ln/>
        </p:spPr>
        <p:txBody>
          <a:bodyPr wrap="square" lIns="0" tIns="0" rIns="0" bIns="0" rtlCol="0" anchor="ctr"/>
          <a:lstStyle/>
          <a:p>
            <a:pPr marL="0" indent="0">
              <a:buNone/>
            </a:pPr>
            <a:r>
              <a:rPr lang="en-US" sz="1450" dirty="0">
                <a:solidFill>
                  <a:schemeClr val="bg1"/>
                </a:solidFill>
              </a:rPr>
              <a:t>A printed 12-DOF quadruped with two sensing nodes, and a physics model with the real MG996R torque limit</a:t>
            </a:r>
            <a:endParaRPr lang="en-US" sz="1450" dirty="0"/>
          </a:p>
        </p:txBody>
      </p:sp>
      <p:sp>
        <p:nvSpPr>
          <p:cNvPr id="11" name="panel-27"/>
          <p:cNvSpPr/>
          <p:nvPr/>
        </p:nvSpPr>
        <p:spPr>
          <a:xfrm>
            <a:off x="548640" y="2834640"/>
            <a:ext cx="5303520" cy="1005840"/>
          </a:xfrm>
          <a:prstGeom prst="roundRect">
            <a:avLst>
              <a:gd name="adj" fmla="val 9091"/>
            </a:avLst>
          </a:prstGeom>
          <a:solidFill>
            <a:schemeClr val="bg2"/>
          </a:solidFill>
          <a:ln w="12700">
            <a:solidFill>
              <a:schemeClr val="bg2"/>
            </a:solidFill>
            <a:prstDash val="solid"/>
          </a:ln>
        </p:spPr>
      </p:sp>
      <p:sp>
        <p:nvSpPr>
          <p:cNvPr id="12" name="Text 9"/>
          <p:cNvSpPr txBox="1"/>
          <p:nvPr/>
        </p:nvSpPr>
        <p:spPr>
          <a:xfrm>
            <a:off x="731520" y="2926080"/>
            <a:ext cx="4937760" cy="822960"/>
          </a:xfrm>
          <a:prstGeom prst="rect">
            <a:avLst/>
          </a:prstGeom>
          <a:noFill/>
          <a:ln/>
        </p:spPr>
        <p:txBody>
          <a:bodyPr wrap="square" lIns="0" tIns="0" rIns="0" bIns="0" rtlCol="0" anchor="ctr"/>
          <a:lstStyle/>
          <a:p>
            <a:pPr marL="0" indent="0">
              <a:buNone/>
            </a:pPr>
            <a:r>
              <a:rPr lang="en-US" sz="1450" dirty="0">
                <a:solidFill>
                  <a:schemeClr val="tx1"/>
                </a:solidFill>
              </a:rPr>
              <a:t>Crop sensing relies on fixed nodes; a mobile, low-cost platform logging gas, dust and temperature along the rows is missing</a:t>
            </a:r>
            <a:endParaRPr lang="en-US" sz="1450" dirty="0"/>
          </a:p>
        </p:txBody>
      </p:sp>
      <p:sp>
        <p:nvSpPr>
          <p:cNvPr id="13" name="arrow-28"/>
          <p:cNvSpPr/>
          <p:nvPr/>
        </p:nvSpPr>
        <p:spPr>
          <a:xfrm>
            <a:off x="5943600" y="3182112"/>
            <a:ext cx="365760" cy="310896"/>
          </a:xfrm>
          <a:prstGeom prst="rightArrow">
            <a:avLst/>
          </a:prstGeom>
          <a:solidFill>
            <a:schemeClr val="accent1"/>
          </a:solidFill>
          <a:ln w="12700">
            <a:solidFill>
              <a:schemeClr val="accent1"/>
            </a:solidFill>
            <a:prstDash val="solid"/>
          </a:ln>
        </p:spPr>
      </p:sp>
      <p:sp>
        <p:nvSpPr>
          <p:cNvPr id="14" name="panel-29"/>
          <p:cNvSpPr/>
          <p:nvPr/>
        </p:nvSpPr>
        <p:spPr>
          <a:xfrm>
            <a:off x="6400800" y="2834640"/>
            <a:ext cx="5212080" cy="1005840"/>
          </a:xfrm>
          <a:prstGeom prst="roundRect">
            <a:avLst>
              <a:gd name="adj" fmla="val 9091"/>
            </a:avLst>
          </a:prstGeom>
          <a:solidFill>
            <a:schemeClr val="tx2"/>
          </a:solidFill>
          <a:ln w="12700">
            <a:solidFill>
              <a:schemeClr val="tx2"/>
            </a:solidFill>
            <a:prstDash val="solid"/>
          </a:ln>
        </p:spPr>
      </p:sp>
      <p:sp>
        <p:nvSpPr>
          <p:cNvPr id="15" name="Text 12"/>
          <p:cNvSpPr txBox="1"/>
          <p:nvPr/>
        </p:nvSpPr>
        <p:spPr>
          <a:xfrm>
            <a:off x="6583680" y="2926080"/>
            <a:ext cx="4846320" cy="822960"/>
          </a:xfrm>
          <a:prstGeom prst="rect">
            <a:avLst/>
          </a:prstGeom>
          <a:noFill/>
          <a:ln/>
        </p:spPr>
        <p:txBody>
          <a:bodyPr wrap="square" lIns="0" tIns="0" rIns="0" bIns="0" rtlCol="0" anchor="ctr"/>
          <a:lstStyle/>
          <a:p>
            <a:pPr marL="0" indent="0">
              <a:buNone/>
            </a:pPr>
            <a:r>
              <a:rPr lang="en-US" sz="1450" dirty="0">
                <a:solidFill>
                  <a:schemeClr val="bg1"/>
                </a:solidFill>
              </a:rPr>
              <a:t>A wireless sensor node on the robot reporting every 5 s to a logging dashboard</a:t>
            </a:r>
            <a:endParaRPr lang="en-US" sz="1450" dirty="0"/>
          </a:p>
        </p:txBody>
      </p:sp>
      <p:sp>
        <p:nvSpPr>
          <p:cNvPr id="16" name="panel-30"/>
          <p:cNvSpPr/>
          <p:nvPr/>
        </p:nvSpPr>
        <p:spPr>
          <a:xfrm>
            <a:off x="548640" y="3977640"/>
            <a:ext cx="5303520" cy="1005840"/>
          </a:xfrm>
          <a:prstGeom prst="roundRect">
            <a:avLst>
              <a:gd name="adj" fmla="val 9091"/>
            </a:avLst>
          </a:prstGeom>
          <a:solidFill>
            <a:schemeClr val="bg2"/>
          </a:solidFill>
          <a:ln w="12700">
            <a:solidFill>
              <a:schemeClr val="bg2"/>
            </a:solidFill>
            <a:prstDash val="solid"/>
          </a:ln>
        </p:spPr>
      </p:sp>
      <p:sp>
        <p:nvSpPr>
          <p:cNvPr id="17" name="Text 14"/>
          <p:cNvSpPr txBox="1"/>
          <p:nvPr/>
        </p:nvSpPr>
        <p:spPr>
          <a:xfrm>
            <a:off x="731520" y="4069080"/>
            <a:ext cx="4937760" cy="822960"/>
          </a:xfrm>
          <a:prstGeom prst="rect">
            <a:avLst/>
          </a:prstGeom>
          <a:noFill/>
          <a:ln/>
        </p:spPr>
        <p:txBody>
          <a:bodyPr wrap="square" lIns="0" tIns="0" rIns="0" bIns="0" rtlCol="0" anchor="ctr"/>
          <a:lstStyle/>
          <a:p>
            <a:pPr marL="0" indent="0">
              <a:buNone/>
            </a:pPr>
            <a:r>
              <a:rPr lang="en-US" sz="1450" dirty="0">
                <a:solidFill>
                  <a:schemeClr val="tx1"/>
                </a:solidFill>
              </a:rPr>
              <a:t>Disease classifiers are closed-set and report a disease for any input, even a wall</a:t>
            </a:r>
            <a:endParaRPr lang="en-US" sz="1450" dirty="0"/>
          </a:p>
        </p:txBody>
      </p:sp>
      <p:sp>
        <p:nvSpPr>
          <p:cNvPr id="18" name="arrow-31"/>
          <p:cNvSpPr/>
          <p:nvPr/>
        </p:nvSpPr>
        <p:spPr>
          <a:xfrm>
            <a:off x="5943600" y="4325112"/>
            <a:ext cx="365760" cy="310896"/>
          </a:xfrm>
          <a:prstGeom prst="rightArrow">
            <a:avLst/>
          </a:prstGeom>
          <a:solidFill>
            <a:schemeClr val="accent1"/>
          </a:solidFill>
          <a:ln w="12700">
            <a:solidFill>
              <a:schemeClr val="accent1"/>
            </a:solidFill>
            <a:prstDash val="solid"/>
          </a:ln>
        </p:spPr>
      </p:sp>
      <p:sp>
        <p:nvSpPr>
          <p:cNvPr id="19" name="panel-32"/>
          <p:cNvSpPr/>
          <p:nvPr/>
        </p:nvSpPr>
        <p:spPr>
          <a:xfrm>
            <a:off x="6400800" y="3977640"/>
            <a:ext cx="5212080" cy="1005840"/>
          </a:xfrm>
          <a:prstGeom prst="roundRect">
            <a:avLst>
              <a:gd name="adj" fmla="val 9091"/>
            </a:avLst>
          </a:prstGeom>
          <a:solidFill>
            <a:schemeClr val="tx2"/>
          </a:solidFill>
          <a:ln w="12700">
            <a:solidFill>
              <a:schemeClr val="tx2"/>
            </a:solidFill>
            <a:prstDash val="solid"/>
          </a:ln>
        </p:spPr>
      </p:sp>
      <p:sp>
        <p:nvSpPr>
          <p:cNvPr id="20" name="Text 17"/>
          <p:cNvSpPr txBox="1"/>
          <p:nvPr/>
        </p:nvSpPr>
        <p:spPr>
          <a:xfrm>
            <a:off x="6583680" y="4069080"/>
            <a:ext cx="4846320" cy="822960"/>
          </a:xfrm>
          <a:prstGeom prst="rect">
            <a:avLst/>
          </a:prstGeom>
          <a:noFill/>
          <a:ln/>
        </p:spPr>
        <p:txBody>
          <a:bodyPr wrap="square" lIns="0" tIns="0" rIns="0" bIns="0" rtlCol="0" anchor="ctr"/>
          <a:lstStyle/>
          <a:p>
            <a:pPr marL="0" indent="0">
              <a:buNone/>
            </a:pPr>
            <a:r>
              <a:rPr lang="en-US" sz="1450" dirty="0">
                <a:solidFill>
                  <a:schemeClr val="bg1"/>
                </a:solidFill>
              </a:rPr>
              <a:t>A vegetation gate that checks for leaf before the classifier is allowed to answer</a:t>
            </a:r>
            <a:endParaRPr lang="en-US" sz="1450" dirty="0"/>
          </a:p>
        </p:txBody>
      </p:sp>
      <p:sp>
        <p:nvSpPr>
          <p:cNvPr id="21" name="panel-33"/>
          <p:cNvSpPr/>
          <p:nvPr/>
        </p:nvSpPr>
        <p:spPr>
          <a:xfrm>
            <a:off x="548640" y="5120640"/>
            <a:ext cx="5303520" cy="1005840"/>
          </a:xfrm>
          <a:prstGeom prst="roundRect">
            <a:avLst>
              <a:gd name="adj" fmla="val 9091"/>
            </a:avLst>
          </a:prstGeom>
          <a:solidFill>
            <a:schemeClr val="bg2"/>
          </a:solidFill>
          <a:ln w="12700">
            <a:solidFill>
              <a:schemeClr val="bg2"/>
            </a:solidFill>
            <a:prstDash val="solid"/>
          </a:ln>
        </p:spPr>
      </p:sp>
      <p:sp>
        <p:nvSpPr>
          <p:cNvPr id="22" name="Text 19"/>
          <p:cNvSpPr txBox="1"/>
          <p:nvPr/>
        </p:nvSpPr>
        <p:spPr>
          <a:xfrm>
            <a:off x="731520" y="5212080"/>
            <a:ext cx="4937760" cy="822960"/>
          </a:xfrm>
          <a:prstGeom prst="rect">
            <a:avLst/>
          </a:prstGeom>
          <a:noFill/>
          <a:ln/>
        </p:spPr>
        <p:txBody>
          <a:bodyPr wrap="square" lIns="0" tIns="0" rIns="0" bIns="0" rtlCol="0" anchor="ctr"/>
          <a:lstStyle/>
          <a:p>
            <a:pPr marL="0" indent="0">
              <a:buNone/>
            </a:pPr>
            <a:r>
              <a:rPr lang="en-US" sz="1450" dirty="0">
                <a:solidFill>
                  <a:schemeClr val="tx1"/>
                </a:solidFill>
              </a:rPr>
              <a:t>Hobby quadruped designs give no guidance on centre of mass or the speed servos allow</a:t>
            </a:r>
            <a:endParaRPr lang="en-US" sz="1450" dirty="0"/>
          </a:p>
        </p:txBody>
      </p:sp>
      <p:sp>
        <p:nvSpPr>
          <p:cNvPr id="23" name="arrow-34"/>
          <p:cNvSpPr/>
          <p:nvPr/>
        </p:nvSpPr>
        <p:spPr>
          <a:xfrm>
            <a:off x="5943600" y="5468112"/>
            <a:ext cx="365760" cy="310896"/>
          </a:xfrm>
          <a:prstGeom prst="rightArrow">
            <a:avLst/>
          </a:prstGeom>
          <a:solidFill>
            <a:schemeClr val="accent1"/>
          </a:solidFill>
          <a:ln w="12700">
            <a:solidFill>
              <a:schemeClr val="accent1"/>
            </a:solidFill>
            <a:prstDash val="solid"/>
          </a:ln>
        </p:spPr>
      </p:sp>
      <p:sp>
        <p:nvSpPr>
          <p:cNvPr id="24" name="panel-35"/>
          <p:cNvSpPr/>
          <p:nvPr/>
        </p:nvSpPr>
        <p:spPr>
          <a:xfrm>
            <a:off x="6400800" y="5120640"/>
            <a:ext cx="5212080" cy="1005840"/>
          </a:xfrm>
          <a:prstGeom prst="roundRect">
            <a:avLst>
              <a:gd name="adj" fmla="val 9091"/>
            </a:avLst>
          </a:prstGeom>
          <a:solidFill>
            <a:schemeClr val="tx2"/>
          </a:solidFill>
          <a:ln w="12700">
            <a:solidFill>
              <a:schemeClr val="tx2"/>
            </a:solidFill>
            <a:prstDash val="solid"/>
          </a:ln>
        </p:spPr>
      </p:sp>
      <p:sp>
        <p:nvSpPr>
          <p:cNvPr id="25" name="Text 22"/>
          <p:cNvSpPr txBox="1"/>
          <p:nvPr/>
        </p:nvSpPr>
        <p:spPr>
          <a:xfrm>
            <a:off x="6583680" y="5212080"/>
            <a:ext cx="4846320" cy="822960"/>
          </a:xfrm>
          <a:prstGeom prst="rect">
            <a:avLst/>
          </a:prstGeom>
          <a:noFill/>
          <a:ln/>
        </p:spPr>
        <p:txBody>
          <a:bodyPr wrap="square" lIns="0" tIns="0" rIns="0" bIns="0" rtlCol="0" anchor="ctr"/>
          <a:lstStyle/>
          <a:p>
            <a:pPr marL="0" indent="0">
              <a:buNone/>
            </a:pPr>
            <a:r>
              <a:rPr lang="en-US" sz="1450" dirty="0">
                <a:solidFill>
                  <a:schemeClr val="bg1"/>
                </a:solidFill>
              </a:rPr>
              <a:t>Measured: centre of mass 12 mm aft, trot limited to about 0.18 m/s</a:t>
            </a:r>
            <a:endParaRPr lang="en-US" sz="145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Objectives and Scope</a:t>
            </a:r>
            <a:endParaRPr lang="en-US" sz="3000" dirty="0"/>
          </a:p>
        </p:txBody>
      </p:sp>
      <p:sp>
        <p:nvSpPr>
          <p:cNvPr id="4" name="panel-36"/>
          <p:cNvSpPr/>
          <p:nvPr/>
        </p:nvSpPr>
        <p:spPr>
          <a:xfrm>
            <a:off x="548640" y="1280160"/>
            <a:ext cx="2606040" cy="2971800"/>
          </a:xfrm>
          <a:prstGeom prst="roundRect">
            <a:avLst>
              <a:gd name="adj" fmla="val 3509"/>
            </a:avLst>
          </a:prstGeom>
          <a:solidFill>
            <a:schemeClr val="bg2"/>
          </a:solidFill>
          <a:ln w="12700">
            <a:solidFill>
              <a:schemeClr val="bg2"/>
            </a:solidFill>
            <a:prstDash val="solid"/>
          </a:ln>
        </p:spPr>
      </p:sp>
      <p:sp>
        <p:nvSpPr>
          <p:cNvPr id="5" name="icon-bg-37"/>
          <p:cNvSpPr/>
          <p:nvPr/>
        </p:nvSpPr>
        <p:spPr>
          <a:xfrm>
            <a:off x="777240" y="1508760"/>
            <a:ext cx="548640" cy="548640"/>
          </a:xfrm>
          <a:prstGeom prst="ellipse">
            <a:avLst/>
          </a:prstGeom>
          <a:solidFill>
            <a:schemeClr val="accent1"/>
          </a:solidFill>
          <a:ln w="12700">
            <a:solidFill>
              <a:schemeClr val="accent1"/>
            </a:solidFill>
            <a:prstDash val="solid"/>
          </a:ln>
        </p:spPr>
      </p:sp>
      <p:pic>
        <p:nvPicPr>
          <p:cNvPr id="6" name="icon-38" descr="preencoded.png"/>
          <p:cNvPicPr>
            <a:picLocks noChangeAspect="1"/>
          </p:cNvPicPr>
          <p:nvPr/>
        </p:nvPicPr>
        <p:blipFill>
          <a:blip r:embed="rId3"/>
          <a:stretch>
            <a:fillRect/>
          </a:stretch>
        </p:blipFill>
        <p:spPr>
          <a:xfrm>
            <a:off x="908914" y="1640434"/>
            <a:ext cx="285293" cy="285293"/>
          </a:xfrm>
          <a:prstGeom prst="rect">
            <a:avLst/>
          </a:prstGeom>
        </p:spPr>
      </p:pic>
      <p:sp>
        <p:nvSpPr>
          <p:cNvPr id="7" name="Text 3"/>
          <p:cNvSpPr txBox="1"/>
          <p:nvPr/>
        </p:nvSpPr>
        <p:spPr>
          <a:xfrm>
            <a:off x="1463040" y="1508760"/>
            <a:ext cx="1508760" cy="548640"/>
          </a:xfrm>
          <a:prstGeom prst="rect">
            <a:avLst/>
          </a:prstGeom>
          <a:noFill/>
          <a:ln/>
        </p:spPr>
        <p:txBody>
          <a:bodyPr wrap="square" lIns="0" tIns="0" rIns="0" bIns="0" rtlCol="0" anchor="ctr"/>
          <a:lstStyle/>
          <a:p>
            <a:pPr marL="0" indent="0">
              <a:buNone/>
            </a:pPr>
            <a:r>
              <a:rPr lang="en-US" sz="1800" b="1" dirty="0">
                <a:solidFill>
                  <a:schemeClr val="tx2"/>
                </a:solidFill>
              </a:rPr>
              <a:t>Mobility</a:t>
            </a:r>
            <a:endParaRPr lang="en-US" sz="1800" dirty="0"/>
          </a:p>
        </p:txBody>
      </p:sp>
      <p:sp>
        <p:nvSpPr>
          <p:cNvPr id="8" name="Text 4"/>
          <p:cNvSpPr txBox="1"/>
          <p:nvPr/>
        </p:nvSpPr>
        <p:spPr>
          <a:xfrm>
            <a:off x="777240" y="2194560"/>
            <a:ext cx="2148840" cy="19202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A low-cost printed 12-DOF quadruped whose gait is validated against real servo torque limits, then tested on the robot</a:t>
            </a:r>
            <a:endParaRPr lang="en-US" sz="1500" dirty="0"/>
          </a:p>
        </p:txBody>
      </p:sp>
      <p:sp>
        <p:nvSpPr>
          <p:cNvPr id="9" name="panel-39"/>
          <p:cNvSpPr/>
          <p:nvPr/>
        </p:nvSpPr>
        <p:spPr>
          <a:xfrm>
            <a:off x="3337560" y="1280160"/>
            <a:ext cx="2606040" cy="2971800"/>
          </a:xfrm>
          <a:prstGeom prst="roundRect">
            <a:avLst>
              <a:gd name="adj" fmla="val 3509"/>
            </a:avLst>
          </a:prstGeom>
          <a:solidFill>
            <a:schemeClr val="bg2"/>
          </a:solidFill>
          <a:ln w="12700">
            <a:solidFill>
              <a:schemeClr val="bg2"/>
            </a:solidFill>
            <a:prstDash val="solid"/>
          </a:ln>
        </p:spPr>
      </p:sp>
      <p:sp>
        <p:nvSpPr>
          <p:cNvPr id="10" name="icon-bg-40"/>
          <p:cNvSpPr/>
          <p:nvPr/>
        </p:nvSpPr>
        <p:spPr>
          <a:xfrm>
            <a:off x="3566160" y="1508760"/>
            <a:ext cx="548640" cy="548640"/>
          </a:xfrm>
          <a:prstGeom prst="ellipse">
            <a:avLst/>
          </a:prstGeom>
          <a:solidFill>
            <a:schemeClr val="accent1"/>
          </a:solidFill>
          <a:ln w="12700">
            <a:solidFill>
              <a:schemeClr val="accent1"/>
            </a:solidFill>
            <a:prstDash val="solid"/>
          </a:ln>
        </p:spPr>
      </p:sp>
      <p:pic>
        <p:nvPicPr>
          <p:cNvPr id="11" name="icon-41" descr="preencoded.png"/>
          <p:cNvPicPr>
            <a:picLocks noChangeAspect="1"/>
          </p:cNvPicPr>
          <p:nvPr/>
        </p:nvPicPr>
        <p:blipFill>
          <a:blip r:embed="rId4"/>
          <a:stretch>
            <a:fillRect/>
          </a:stretch>
        </p:blipFill>
        <p:spPr>
          <a:xfrm>
            <a:off x="3697834" y="1640434"/>
            <a:ext cx="285293" cy="285293"/>
          </a:xfrm>
          <a:prstGeom prst="rect">
            <a:avLst/>
          </a:prstGeom>
        </p:spPr>
      </p:pic>
      <p:sp>
        <p:nvSpPr>
          <p:cNvPr id="12" name="Text 7"/>
          <p:cNvSpPr txBox="1"/>
          <p:nvPr/>
        </p:nvSpPr>
        <p:spPr>
          <a:xfrm>
            <a:off x="4251960" y="1508760"/>
            <a:ext cx="1508760" cy="548640"/>
          </a:xfrm>
          <a:prstGeom prst="rect">
            <a:avLst/>
          </a:prstGeom>
          <a:noFill/>
          <a:ln/>
        </p:spPr>
        <p:txBody>
          <a:bodyPr wrap="square" lIns="0" tIns="0" rIns="0" bIns="0" rtlCol="0" anchor="ctr"/>
          <a:lstStyle/>
          <a:p>
            <a:pPr marL="0" indent="0">
              <a:buNone/>
            </a:pPr>
            <a:r>
              <a:rPr lang="en-US" sz="1800" b="1" dirty="0">
                <a:solidFill>
                  <a:schemeClr val="tx2"/>
                </a:solidFill>
              </a:rPr>
              <a:t>Sensing</a:t>
            </a:r>
            <a:endParaRPr lang="en-US" sz="1800" dirty="0"/>
          </a:p>
        </p:txBody>
      </p:sp>
      <p:sp>
        <p:nvSpPr>
          <p:cNvPr id="13" name="Text 8"/>
          <p:cNvSpPr txBox="1"/>
          <p:nvPr/>
        </p:nvSpPr>
        <p:spPr>
          <a:xfrm>
            <a:off x="3566160" y="2194560"/>
            <a:ext cx="2148840" cy="19202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Gas (TVOC, eCO₂), dust, temperature and range sensing carried on the chassis</a:t>
            </a:r>
            <a:endParaRPr lang="en-US" sz="1500" dirty="0"/>
          </a:p>
        </p:txBody>
      </p:sp>
      <p:sp>
        <p:nvSpPr>
          <p:cNvPr id="14" name="panel-42"/>
          <p:cNvSpPr/>
          <p:nvPr/>
        </p:nvSpPr>
        <p:spPr>
          <a:xfrm>
            <a:off x="6126480" y="1280160"/>
            <a:ext cx="2606040" cy="2971800"/>
          </a:xfrm>
          <a:prstGeom prst="roundRect">
            <a:avLst>
              <a:gd name="adj" fmla="val 3509"/>
            </a:avLst>
          </a:prstGeom>
          <a:solidFill>
            <a:schemeClr val="bg2"/>
          </a:solidFill>
          <a:ln w="12700">
            <a:solidFill>
              <a:schemeClr val="bg2"/>
            </a:solidFill>
            <a:prstDash val="solid"/>
          </a:ln>
        </p:spPr>
      </p:sp>
      <p:sp>
        <p:nvSpPr>
          <p:cNvPr id="15" name="icon-bg-43"/>
          <p:cNvSpPr/>
          <p:nvPr/>
        </p:nvSpPr>
        <p:spPr>
          <a:xfrm>
            <a:off x="6355080" y="1508760"/>
            <a:ext cx="548640" cy="548640"/>
          </a:xfrm>
          <a:prstGeom prst="ellipse">
            <a:avLst/>
          </a:prstGeom>
          <a:solidFill>
            <a:schemeClr val="accent1"/>
          </a:solidFill>
          <a:ln w="12700">
            <a:solidFill>
              <a:schemeClr val="accent1"/>
            </a:solidFill>
            <a:prstDash val="solid"/>
          </a:ln>
        </p:spPr>
      </p:sp>
      <p:pic>
        <p:nvPicPr>
          <p:cNvPr id="16" name="icon-44" descr="preencoded.png"/>
          <p:cNvPicPr>
            <a:picLocks noChangeAspect="1"/>
          </p:cNvPicPr>
          <p:nvPr/>
        </p:nvPicPr>
        <p:blipFill>
          <a:blip r:embed="rId5"/>
          <a:stretch>
            <a:fillRect/>
          </a:stretch>
        </p:blipFill>
        <p:spPr>
          <a:xfrm>
            <a:off x="6486754" y="1640434"/>
            <a:ext cx="285293" cy="285293"/>
          </a:xfrm>
          <a:prstGeom prst="rect">
            <a:avLst/>
          </a:prstGeom>
        </p:spPr>
      </p:pic>
      <p:sp>
        <p:nvSpPr>
          <p:cNvPr id="17" name="Text 11"/>
          <p:cNvSpPr txBox="1"/>
          <p:nvPr/>
        </p:nvSpPr>
        <p:spPr>
          <a:xfrm>
            <a:off x="7040880" y="1508760"/>
            <a:ext cx="1508760" cy="548640"/>
          </a:xfrm>
          <a:prstGeom prst="rect">
            <a:avLst/>
          </a:prstGeom>
          <a:noFill/>
          <a:ln/>
        </p:spPr>
        <p:txBody>
          <a:bodyPr wrap="square" lIns="0" tIns="0" rIns="0" bIns="0" rtlCol="0" anchor="ctr"/>
          <a:lstStyle/>
          <a:p>
            <a:pPr marL="0" indent="0">
              <a:buNone/>
            </a:pPr>
            <a:r>
              <a:rPr lang="en-US" sz="1800" b="1" dirty="0">
                <a:solidFill>
                  <a:schemeClr val="tx2"/>
                </a:solidFill>
              </a:rPr>
              <a:t>Plant-health AI</a:t>
            </a:r>
            <a:endParaRPr lang="en-US" sz="1800" dirty="0"/>
          </a:p>
        </p:txBody>
      </p:sp>
      <p:sp>
        <p:nvSpPr>
          <p:cNvPr id="18" name="Text 12"/>
          <p:cNvSpPr txBox="1"/>
          <p:nvPr/>
        </p:nvSpPr>
        <p:spPr>
          <a:xfrm>
            <a:off x="6355080" y="2194560"/>
            <a:ext cx="2148840" cy="19202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Leaf-disease classification that first checks a leaf is in view</a:t>
            </a:r>
            <a:endParaRPr lang="en-US" sz="1500" dirty="0"/>
          </a:p>
        </p:txBody>
      </p:sp>
      <p:sp>
        <p:nvSpPr>
          <p:cNvPr id="19" name="panel-45"/>
          <p:cNvSpPr/>
          <p:nvPr/>
        </p:nvSpPr>
        <p:spPr>
          <a:xfrm>
            <a:off x="8915400" y="1280160"/>
            <a:ext cx="2606040" cy="2971800"/>
          </a:xfrm>
          <a:prstGeom prst="roundRect">
            <a:avLst>
              <a:gd name="adj" fmla="val 3509"/>
            </a:avLst>
          </a:prstGeom>
          <a:solidFill>
            <a:schemeClr val="bg2"/>
          </a:solidFill>
          <a:ln w="12700">
            <a:solidFill>
              <a:schemeClr val="bg2"/>
            </a:solidFill>
            <a:prstDash val="solid"/>
          </a:ln>
        </p:spPr>
      </p:sp>
      <p:sp>
        <p:nvSpPr>
          <p:cNvPr id="20" name="icon-bg-46"/>
          <p:cNvSpPr/>
          <p:nvPr/>
        </p:nvSpPr>
        <p:spPr>
          <a:xfrm>
            <a:off x="9144000" y="1508760"/>
            <a:ext cx="548640" cy="548640"/>
          </a:xfrm>
          <a:prstGeom prst="ellipse">
            <a:avLst/>
          </a:prstGeom>
          <a:solidFill>
            <a:schemeClr val="accent1"/>
          </a:solidFill>
          <a:ln w="12700">
            <a:solidFill>
              <a:schemeClr val="accent1"/>
            </a:solidFill>
            <a:prstDash val="solid"/>
          </a:ln>
        </p:spPr>
      </p:sp>
      <p:pic>
        <p:nvPicPr>
          <p:cNvPr id="21" name="icon-47" descr="preencoded.png"/>
          <p:cNvPicPr>
            <a:picLocks noChangeAspect="1"/>
          </p:cNvPicPr>
          <p:nvPr/>
        </p:nvPicPr>
        <p:blipFill>
          <a:blip r:embed="rId6"/>
          <a:stretch>
            <a:fillRect/>
          </a:stretch>
        </p:blipFill>
        <p:spPr>
          <a:xfrm>
            <a:off x="9275674" y="1640434"/>
            <a:ext cx="285293" cy="285293"/>
          </a:xfrm>
          <a:prstGeom prst="rect">
            <a:avLst/>
          </a:prstGeom>
        </p:spPr>
      </p:pic>
      <p:sp>
        <p:nvSpPr>
          <p:cNvPr id="22" name="Text 15"/>
          <p:cNvSpPr txBox="1"/>
          <p:nvPr/>
        </p:nvSpPr>
        <p:spPr>
          <a:xfrm>
            <a:off x="9829800" y="1508760"/>
            <a:ext cx="1508760" cy="548640"/>
          </a:xfrm>
          <a:prstGeom prst="rect">
            <a:avLst/>
          </a:prstGeom>
          <a:noFill/>
          <a:ln/>
        </p:spPr>
        <p:txBody>
          <a:bodyPr wrap="square" lIns="0" tIns="0" rIns="0" bIns="0" rtlCol="0" anchor="ctr"/>
          <a:lstStyle/>
          <a:p>
            <a:pPr marL="0" indent="0">
              <a:buNone/>
            </a:pPr>
            <a:r>
              <a:rPr lang="en-US" sz="1800" b="1" dirty="0">
                <a:solidFill>
                  <a:schemeClr val="tx2"/>
                </a:solidFill>
              </a:rPr>
              <a:t>Live dashboard</a:t>
            </a:r>
            <a:endParaRPr lang="en-US" sz="1800" dirty="0"/>
          </a:p>
        </p:txBody>
      </p:sp>
      <p:sp>
        <p:nvSpPr>
          <p:cNvPr id="23" name="Text 16"/>
          <p:cNvSpPr txBox="1"/>
          <p:nvPr/>
        </p:nvSpPr>
        <p:spPr>
          <a:xfrm>
            <a:off x="9144000" y="2194560"/>
            <a:ext cx="2148840" cy="19202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Wireless logging, live charts, and leaf images tagged with the readings at capture</a:t>
            </a:r>
            <a:endParaRPr lang="en-US" sz="1500" dirty="0"/>
          </a:p>
        </p:txBody>
      </p:sp>
      <p:sp>
        <p:nvSpPr>
          <p:cNvPr id="24" name="panel-48"/>
          <p:cNvSpPr/>
          <p:nvPr/>
        </p:nvSpPr>
        <p:spPr>
          <a:xfrm>
            <a:off x="548640" y="4480560"/>
            <a:ext cx="5486400" cy="1691640"/>
          </a:xfrm>
          <a:prstGeom prst="roundRect">
            <a:avLst>
              <a:gd name="adj" fmla="val 5405"/>
            </a:avLst>
          </a:prstGeom>
          <a:solidFill>
            <a:schemeClr val="bg2"/>
          </a:solidFill>
          <a:ln w="12700">
            <a:solidFill>
              <a:schemeClr val="bg2"/>
            </a:solidFill>
            <a:prstDash val="solid"/>
          </a:ln>
        </p:spPr>
      </p:sp>
      <p:sp>
        <p:nvSpPr>
          <p:cNvPr id="25" name="Text 18"/>
          <p:cNvSpPr txBox="1"/>
          <p:nvPr/>
        </p:nvSpPr>
        <p:spPr>
          <a:xfrm>
            <a:off x="777240" y="4617720"/>
            <a:ext cx="5029200" cy="1463040"/>
          </a:xfrm>
          <a:prstGeom prst="rect">
            <a:avLst/>
          </a:prstGeom>
          <a:noFill/>
          <a:ln/>
        </p:spPr>
        <p:txBody>
          <a:bodyPr wrap="square" lIns="0" tIns="0" rIns="0" bIns="0" rtlCol="0" anchor="t"/>
          <a:lstStyle/>
          <a:p>
            <a:pPr marL="0" indent="0">
              <a:buNone/>
            </a:pPr>
            <a:r>
              <a:rPr lang="en-US" sz="1500" b="1" dirty="0">
                <a:solidFill>
                  <a:schemeClr val="accent1"/>
                </a:solidFill>
              </a:rPr>
              <a:t>In scope</a:t>
            </a:r>
            <a:endParaRPr lang="en-US" sz="1500" dirty="0"/>
          </a:p>
          <a:p>
            <a:pPr marL="0" indent="0">
              <a:buNone/>
            </a:pPr>
            <a:r>
              <a:rPr lang="en-US" sz="1500" dirty="0">
                <a:solidFill>
                  <a:schemeClr val="tx1"/>
                </a:solidFill>
              </a:rPr>
              <a:t>Printed platform, sensing and camera nodes, dashboard and classifier, locomotion design, simulation, first actuation trials</a:t>
            </a:r>
            <a:endParaRPr lang="en-US" sz="1500" dirty="0"/>
          </a:p>
        </p:txBody>
      </p:sp>
      <p:sp>
        <p:nvSpPr>
          <p:cNvPr id="26" name="panel-49"/>
          <p:cNvSpPr/>
          <p:nvPr/>
        </p:nvSpPr>
        <p:spPr>
          <a:xfrm>
            <a:off x="6172200" y="4480560"/>
            <a:ext cx="5440680" cy="1691640"/>
          </a:xfrm>
          <a:prstGeom prst="roundRect">
            <a:avLst>
              <a:gd name="adj" fmla="val 5405"/>
            </a:avLst>
          </a:prstGeom>
          <a:solidFill>
            <a:schemeClr val="bg2"/>
          </a:solidFill>
          <a:ln w="12700">
            <a:solidFill>
              <a:schemeClr val="bg2"/>
            </a:solidFill>
            <a:prstDash val="solid"/>
          </a:ln>
        </p:spPr>
      </p:sp>
      <p:sp>
        <p:nvSpPr>
          <p:cNvPr id="27" name="Text 20"/>
          <p:cNvSpPr txBox="1"/>
          <p:nvPr/>
        </p:nvSpPr>
        <p:spPr>
          <a:xfrm>
            <a:off x="6400800" y="4617720"/>
            <a:ext cx="5029200" cy="1463040"/>
          </a:xfrm>
          <a:prstGeom prst="rect">
            <a:avLst/>
          </a:prstGeom>
          <a:noFill/>
          <a:ln/>
        </p:spPr>
        <p:txBody>
          <a:bodyPr wrap="square" lIns="0" tIns="0" rIns="0" bIns="0" rtlCol="0" anchor="t"/>
          <a:lstStyle/>
          <a:p>
            <a:pPr marL="0" indent="0">
              <a:buNone/>
            </a:pPr>
            <a:r>
              <a:rPr lang="en-US" sz="1500" b="1" dirty="0">
                <a:solidFill>
                  <a:schemeClr val="accent4"/>
                </a:solidFill>
              </a:rPr>
              <a:t>Out of scope</a:t>
            </a:r>
            <a:endParaRPr lang="en-US" sz="1500" dirty="0"/>
          </a:p>
          <a:p>
            <a:pPr marL="0" indent="0">
              <a:buNone/>
            </a:pPr>
            <a:r>
              <a:rPr lang="en-US" sz="1500" dirty="0">
                <a:solidFill>
                  <a:schemeClr val="tx1"/>
                </a:solidFill>
              </a:rPr>
              <a:t>Trials on a working farm, sensor calibration against reference instruments, training a new classifier, GPS mapping</a:t>
            </a:r>
            <a:endParaRPr lang="en-US" sz="15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417320"/>
            <a:ext cx="3657600" cy="1371600"/>
          </a:xfrm>
          <a:prstGeom prst="rect">
            <a:avLst/>
          </a:prstGeom>
          <a:noFill/>
          <a:ln/>
        </p:spPr>
        <p:txBody>
          <a:bodyPr wrap="square" lIns="0" tIns="0" rIns="0" bIns="0" rtlCol="0" anchor="b"/>
          <a:lstStyle/>
          <a:p>
            <a:pPr marL="0" indent="0" algn="l">
              <a:buNone/>
            </a:pPr>
            <a:r>
              <a:rPr lang="en-US" sz="8800" b="1" dirty="0">
                <a:solidFill>
                  <a:schemeClr val="accent2"/>
                </a:solidFill>
                <a:latin typeface="Cambria" pitchFamily="34" charset="0"/>
                <a:ea typeface="Cambria" pitchFamily="34" charset="-122"/>
                <a:cs typeface="Cambria" pitchFamily="34" charset="-120"/>
              </a:rPr>
              <a:t>02</a:t>
            </a:r>
            <a:endParaRPr lang="en-US" sz="8800" dirty="0"/>
          </a:p>
        </p:txBody>
      </p:sp>
      <p:sp>
        <p:nvSpPr>
          <p:cNvPr id="3" name="Text 0"/>
          <p:cNvSpPr>
            <a:spLocks noGrp="1"/>
          </p:cNvSpPr>
          <p:nvPr>
            <p:ph type="title" idx="101" hasCustomPrompt="1"/>
          </p:nvPr>
        </p:nvSpPr>
        <p:spPr>
          <a:xfrm>
            <a:off x="731520" y="2834640"/>
            <a:ext cx="7863840" cy="1097280"/>
          </a:xfrm>
          <a:prstGeom prst="rect">
            <a:avLst/>
          </a:prstGeom>
          <a:noFill/>
          <a:ln/>
        </p:spPr>
        <p:txBody>
          <a:bodyPr wrap="square" lIns="0" tIns="0" rIns="0" bIns="0" rtlCol="0" anchor="t"/>
          <a:lstStyle/>
          <a:p>
            <a:pPr marL="0" indent="0" algn="l">
              <a:buNone/>
            </a:pPr>
            <a:r>
              <a:rPr lang="en-US" sz="4400" b="1" dirty="0">
                <a:solidFill>
                  <a:schemeClr val="bg1"/>
                </a:solidFill>
              </a:rPr>
              <a:t>Methodology and Design</a:t>
            </a:r>
            <a:endParaRPr lang="en-US" sz="4400" dirty="0"/>
          </a:p>
        </p:txBody>
      </p:sp>
      <p:sp>
        <p:nvSpPr>
          <p:cNvPr id="4" name="Text 0"/>
          <p:cNvSpPr>
            <a:spLocks noGrp="1"/>
          </p:cNvSpPr>
          <p:nvPr>
            <p:ph type="body" idx="102" hasCustomPrompt="1"/>
          </p:nvPr>
        </p:nvSpPr>
        <p:spPr>
          <a:xfrm>
            <a:off x="731520" y="4069080"/>
            <a:ext cx="7680960" cy="1280160"/>
          </a:xfrm>
          <a:prstGeom prst="rect">
            <a:avLst/>
          </a:prstGeom>
          <a:noFill/>
          <a:ln/>
        </p:spPr>
        <p:txBody>
          <a:bodyPr wrap="square" lIns="0" tIns="0" rIns="0" bIns="0" rtlCol="0" anchor="t"/>
          <a:lstStyle/>
          <a:p>
            <a:pPr marL="0" indent="0" algn="l">
              <a:buNone/>
            </a:pPr>
            <a:r>
              <a:rPr lang="en-US" sz="1800" dirty="0">
                <a:solidFill>
                  <a:schemeClr val="bg2"/>
                </a:solidFill>
              </a:rPr>
              <a:t>How the system was designed: the workflow, key technical decisions, architecture, data flow and algorithms</a:t>
            </a:r>
            <a:endParaRPr lang="en-US" sz="1800" dirty="0"/>
          </a:p>
        </p:txBody>
      </p:sp>
      <p:pic>
        <p:nvPicPr>
          <p:cNvPr id="5" name="divider-icon-50" descr="preencoded.png"/>
          <p:cNvPicPr>
            <a:picLocks noChangeAspect="1"/>
          </p:cNvPicPr>
          <p:nvPr/>
        </p:nvPicPr>
        <p:blipFill>
          <a:blip r:embed="rId3">
            <a:alphaModFix amt="30000"/>
          </a:blip>
          <a:stretch>
            <a:fillRect/>
          </a:stretch>
        </p:blipFill>
        <p:spPr>
          <a:xfrm>
            <a:off x="8549640" y="1554480"/>
            <a:ext cx="3017520" cy="30175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Methodology: Analyse, Revise, Build, Validate</a:t>
            </a:r>
            <a:endParaRPr lang="en-US" sz="3000" dirty="0"/>
          </a:p>
        </p:txBody>
      </p:sp>
      <p:sp>
        <p:nvSpPr>
          <p:cNvPr id="4" name="panel-51"/>
          <p:cNvSpPr/>
          <p:nvPr/>
        </p:nvSpPr>
        <p:spPr>
          <a:xfrm>
            <a:off x="548640" y="1417320"/>
            <a:ext cx="1719072" cy="3291840"/>
          </a:xfrm>
          <a:prstGeom prst="roundRect">
            <a:avLst>
              <a:gd name="adj" fmla="val 5319"/>
            </a:avLst>
          </a:prstGeom>
          <a:solidFill>
            <a:schemeClr val="bg2"/>
          </a:solidFill>
          <a:ln w="12700">
            <a:solidFill>
              <a:schemeClr val="bg2"/>
            </a:solidFill>
            <a:prstDash val="solid"/>
          </a:ln>
        </p:spPr>
      </p:sp>
      <p:sp>
        <p:nvSpPr>
          <p:cNvPr id="5" name="Text 2"/>
          <p:cNvSpPr txBox="1"/>
          <p:nvPr/>
        </p:nvSpPr>
        <p:spPr>
          <a:xfrm>
            <a:off x="731520" y="1554480"/>
            <a:ext cx="914400" cy="45720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01</a:t>
            </a:r>
            <a:endParaRPr lang="en-US" sz="2200" dirty="0"/>
          </a:p>
        </p:txBody>
      </p:sp>
      <p:sp>
        <p:nvSpPr>
          <p:cNvPr id="6" name="icon-bg-52"/>
          <p:cNvSpPr/>
          <p:nvPr/>
        </p:nvSpPr>
        <p:spPr>
          <a:xfrm>
            <a:off x="1490472" y="1554480"/>
            <a:ext cx="566928" cy="566928"/>
          </a:xfrm>
          <a:prstGeom prst="ellipse">
            <a:avLst/>
          </a:prstGeom>
          <a:solidFill>
            <a:schemeClr val="accent1"/>
          </a:solidFill>
          <a:ln w="12700">
            <a:solidFill>
              <a:schemeClr val="accent1"/>
            </a:solidFill>
            <a:prstDash val="solid"/>
          </a:ln>
        </p:spPr>
      </p:sp>
      <p:pic>
        <p:nvPicPr>
          <p:cNvPr id="7" name="icon-53" descr="preencoded.png"/>
          <p:cNvPicPr>
            <a:picLocks noChangeAspect="1"/>
          </p:cNvPicPr>
          <p:nvPr/>
        </p:nvPicPr>
        <p:blipFill>
          <a:blip r:embed="rId3"/>
          <a:stretch>
            <a:fillRect/>
          </a:stretch>
        </p:blipFill>
        <p:spPr>
          <a:xfrm>
            <a:off x="1626535" y="1690543"/>
            <a:ext cx="294803" cy="294803"/>
          </a:xfrm>
          <a:prstGeom prst="rect">
            <a:avLst/>
          </a:prstGeom>
        </p:spPr>
      </p:pic>
      <p:sp>
        <p:nvSpPr>
          <p:cNvPr id="8" name="Text 4"/>
          <p:cNvSpPr txBox="1"/>
          <p:nvPr/>
        </p:nvSpPr>
        <p:spPr>
          <a:xfrm>
            <a:off x="731520" y="2286000"/>
            <a:ext cx="1399032" cy="457200"/>
          </a:xfrm>
          <a:prstGeom prst="rect">
            <a:avLst/>
          </a:prstGeom>
          <a:noFill/>
          <a:ln/>
        </p:spPr>
        <p:txBody>
          <a:bodyPr wrap="square" lIns="0" tIns="0" rIns="0" bIns="0" rtlCol="0" anchor="t"/>
          <a:lstStyle/>
          <a:p>
            <a:pPr marL="0" indent="0">
              <a:buNone/>
            </a:pPr>
            <a:r>
              <a:rPr lang="en-US" sz="1800" b="1" dirty="0">
                <a:solidFill>
                  <a:schemeClr val="tx2"/>
                </a:solidFill>
              </a:rPr>
              <a:t>Analyse</a:t>
            </a:r>
            <a:endParaRPr lang="en-US" sz="1800" dirty="0"/>
          </a:p>
        </p:txBody>
      </p:sp>
      <p:sp>
        <p:nvSpPr>
          <p:cNvPr id="9" name="Text 5"/>
          <p:cNvSpPr txBox="1"/>
          <p:nvPr/>
        </p:nvSpPr>
        <p:spPr>
          <a:xfrm>
            <a:off x="731520" y="2788920"/>
            <a:ext cx="1399032" cy="1828800"/>
          </a:xfrm>
          <a:prstGeom prst="rect">
            <a:avLst/>
          </a:prstGeom>
          <a:noFill/>
          <a:ln/>
        </p:spPr>
        <p:txBody>
          <a:bodyPr wrap="square" lIns="0" tIns="0" rIns="0" bIns="0" rtlCol="0" anchor="t"/>
          <a:lstStyle/>
          <a:p>
            <a:pPr marL="0" indent="0">
              <a:buNone/>
            </a:pPr>
            <a:r>
              <a:rPr lang="en-US" sz="1500" dirty="0">
                <a:solidFill>
                  <a:schemeClr val="tx1"/>
                </a:solidFill>
              </a:rPr>
              <a:t>Torque, power and heat analysis of the Review III plan</a:t>
            </a:r>
            <a:endParaRPr lang="en-US" sz="1500" dirty="0"/>
          </a:p>
        </p:txBody>
      </p:sp>
      <p:sp>
        <p:nvSpPr>
          <p:cNvPr id="10" name="arrow-54"/>
          <p:cNvSpPr/>
          <p:nvPr/>
        </p:nvSpPr>
        <p:spPr>
          <a:xfrm>
            <a:off x="2249424" y="2926080"/>
            <a:ext cx="192024" cy="274320"/>
          </a:xfrm>
          <a:prstGeom prst="rightArrow">
            <a:avLst/>
          </a:prstGeom>
          <a:solidFill>
            <a:schemeClr val="accent1"/>
          </a:solidFill>
          <a:ln w="12700">
            <a:solidFill>
              <a:schemeClr val="accent1"/>
            </a:solidFill>
            <a:prstDash val="solid"/>
          </a:ln>
        </p:spPr>
      </p:sp>
      <p:sp>
        <p:nvSpPr>
          <p:cNvPr id="11" name="panel-55"/>
          <p:cNvSpPr/>
          <p:nvPr/>
        </p:nvSpPr>
        <p:spPr>
          <a:xfrm>
            <a:off x="2423160" y="1417320"/>
            <a:ext cx="1719072" cy="3291840"/>
          </a:xfrm>
          <a:prstGeom prst="roundRect">
            <a:avLst>
              <a:gd name="adj" fmla="val 5319"/>
            </a:avLst>
          </a:prstGeom>
          <a:solidFill>
            <a:schemeClr val="bg2"/>
          </a:solidFill>
          <a:ln w="12700">
            <a:solidFill>
              <a:schemeClr val="bg2"/>
            </a:solidFill>
            <a:prstDash val="solid"/>
          </a:ln>
        </p:spPr>
      </p:sp>
      <p:sp>
        <p:nvSpPr>
          <p:cNvPr id="12" name="Text 8"/>
          <p:cNvSpPr txBox="1"/>
          <p:nvPr/>
        </p:nvSpPr>
        <p:spPr>
          <a:xfrm>
            <a:off x="2606040" y="1554480"/>
            <a:ext cx="914400" cy="45720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02</a:t>
            </a:r>
            <a:endParaRPr lang="en-US" sz="2200" dirty="0"/>
          </a:p>
        </p:txBody>
      </p:sp>
      <p:sp>
        <p:nvSpPr>
          <p:cNvPr id="13" name="icon-bg-56"/>
          <p:cNvSpPr/>
          <p:nvPr/>
        </p:nvSpPr>
        <p:spPr>
          <a:xfrm>
            <a:off x="3364992" y="1554480"/>
            <a:ext cx="566928" cy="566928"/>
          </a:xfrm>
          <a:prstGeom prst="ellipse">
            <a:avLst/>
          </a:prstGeom>
          <a:solidFill>
            <a:schemeClr val="accent1"/>
          </a:solidFill>
          <a:ln w="12700">
            <a:solidFill>
              <a:schemeClr val="accent1"/>
            </a:solidFill>
            <a:prstDash val="solid"/>
          </a:ln>
        </p:spPr>
      </p:sp>
      <p:pic>
        <p:nvPicPr>
          <p:cNvPr id="14" name="icon-57" descr="preencoded.png"/>
          <p:cNvPicPr>
            <a:picLocks noChangeAspect="1"/>
          </p:cNvPicPr>
          <p:nvPr/>
        </p:nvPicPr>
        <p:blipFill>
          <a:blip r:embed="rId4"/>
          <a:stretch>
            <a:fillRect/>
          </a:stretch>
        </p:blipFill>
        <p:spPr>
          <a:xfrm>
            <a:off x="3501055" y="1690543"/>
            <a:ext cx="294803" cy="294803"/>
          </a:xfrm>
          <a:prstGeom prst="rect">
            <a:avLst/>
          </a:prstGeom>
        </p:spPr>
      </p:pic>
      <p:sp>
        <p:nvSpPr>
          <p:cNvPr id="15" name="Text 10"/>
          <p:cNvSpPr txBox="1"/>
          <p:nvPr/>
        </p:nvSpPr>
        <p:spPr>
          <a:xfrm>
            <a:off x="2606040" y="2286000"/>
            <a:ext cx="1399032" cy="457200"/>
          </a:xfrm>
          <a:prstGeom prst="rect">
            <a:avLst/>
          </a:prstGeom>
          <a:noFill/>
          <a:ln/>
        </p:spPr>
        <p:txBody>
          <a:bodyPr wrap="square" lIns="0" tIns="0" rIns="0" bIns="0" rtlCol="0" anchor="t"/>
          <a:lstStyle/>
          <a:p>
            <a:pPr marL="0" indent="0">
              <a:buNone/>
            </a:pPr>
            <a:r>
              <a:rPr lang="en-US" sz="1800" b="1" dirty="0">
                <a:solidFill>
                  <a:schemeClr val="tx2"/>
                </a:solidFill>
              </a:rPr>
              <a:t>Revise</a:t>
            </a:r>
            <a:endParaRPr lang="en-US" sz="1800" dirty="0"/>
          </a:p>
        </p:txBody>
      </p:sp>
      <p:sp>
        <p:nvSpPr>
          <p:cNvPr id="16" name="Text 11"/>
          <p:cNvSpPr txBox="1"/>
          <p:nvPr/>
        </p:nvSpPr>
        <p:spPr>
          <a:xfrm>
            <a:off x="2606040" y="2788920"/>
            <a:ext cx="1399032" cy="1828800"/>
          </a:xfrm>
          <a:prstGeom prst="rect">
            <a:avLst/>
          </a:prstGeom>
          <a:noFill/>
          <a:ln/>
        </p:spPr>
        <p:txBody>
          <a:bodyPr wrap="square" lIns="0" tIns="0" rIns="0" bIns="0" rtlCol="0" anchor="t"/>
          <a:lstStyle/>
          <a:p>
            <a:pPr marL="0" indent="0">
              <a:buNone/>
            </a:pPr>
            <a:r>
              <a:rPr lang="en-US" sz="1500" dirty="0">
                <a:solidFill>
                  <a:schemeClr val="tx1"/>
                </a:solidFill>
              </a:rPr>
              <a:t>Move inference to a laptop; split sensing over two ESP32 nodes</a:t>
            </a:r>
            <a:endParaRPr lang="en-US" sz="1500" dirty="0"/>
          </a:p>
        </p:txBody>
      </p:sp>
      <p:sp>
        <p:nvSpPr>
          <p:cNvPr id="17" name="arrow-58"/>
          <p:cNvSpPr/>
          <p:nvPr/>
        </p:nvSpPr>
        <p:spPr>
          <a:xfrm>
            <a:off x="4123944" y="2926080"/>
            <a:ext cx="192024" cy="274320"/>
          </a:xfrm>
          <a:prstGeom prst="rightArrow">
            <a:avLst/>
          </a:prstGeom>
          <a:solidFill>
            <a:schemeClr val="accent1"/>
          </a:solidFill>
          <a:ln w="12700">
            <a:solidFill>
              <a:schemeClr val="accent1"/>
            </a:solidFill>
            <a:prstDash val="solid"/>
          </a:ln>
        </p:spPr>
      </p:sp>
      <p:sp>
        <p:nvSpPr>
          <p:cNvPr id="18" name="panel-59"/>
          <p:cNvSpPr/>
          <p:nvPr/>
        </p:nvSpPr>
        <p:spPr>
          <a:xfrm>
            <a:off x="4297680" y="1417320"/>
            <a:ext cx="1719072" cy="3291840"/>
          </a:xfrm>
          <a:prstGeom prst="roundRect">
            <a:avLst>
              <a:gd name="adj" fmla="val 5319"/>
            </a:avLst>
          </a:prstGeom>
          <a:solidFill>
            <a:schemeClr val="bg2"/>
          </a:solidFill>
          <a:ln w="12700">
            <a:solidFill>
              <a:schemeClr val="bg2"/>
            </a:solidFill>
            <a:prstDash val="solid"/>
          </a:ln>
        </p:spPr>
      </p:sp>
      <p:sp>
        <p:nvSpPr>
          <p:cNvPr id="19" name="Text 14"/>
          <p:cNvSpPr txBox="1"/>
          <p:nvPr/>
        </p:nvSpPr>
        <p:spPr>
          <a:xfrm>
            <a:off x="4480560" y="1554480"/>
            <a:ext cx="914400" cy="45720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03</a:t>
            </a:r>
            <a:endParaRPr lang="en-US" sz="2200" dirty="0"/>
          </a:p>
        </p:txBody>
      </p:sp>
      <p:sp>
        <p:nvSpPr>
          <p:cNvPr id="20" name="icon-bg-60"/>
          <p:cNvSpPr/>
          <p:nvPr/>
        </p:nvSpPr>
        <p:spPr>
          <a:xfrm>
            <a:off x="5239512" y="1554480"/>
            <a:ext cx="566928" cy="566928"/>
          </a:xfrm>
          <a:prstGeom prst="ellipse">
            <a:avLst/>
          </a:prstGeom>
          <a:solidFill>
            <a:schemeClr val="accent1"/>
          </a:solidFill>
          <a:ln w="12700">
            <a:solidFill>
              <a:schemeClr val="accent1"/>
            </a:solidFill>
            <a:prstDash val="solid"/>
          </a:ln>
        </p:spPr>
      </p:sp>
      <p:pic>
        <p:nvPicPr>
          <p:cNvPr id="21" name="icon-61" descr="preencoded.png"/>
          <p:cNvPicPr>
            <a:picLocks noChangeAspect="1"/>
          </p:cNvPicPr>
          <p:nvPr/>
        </p:nvPicPr>
        <p:blipFill>
          <a:blip r:embed="rId5"/>
          <a:stretch>
            <a:fillRect/>
          </a:stretch>
        </p:blipFill>
        <p:spPr>
          <a:xfrm>
            <a:off x="5375575" y="1690543"/>
            <a:ext cx="294803" cy="294803"/>
          </a:xfrm>
          <a:prstGeom prst="rect">
            <a:avLst/>
          </a:prstGeom>
        </p:spPr>
      </p:pic>
      <p:sp>
        <p:nvSpPr>
          <p:cNvPr id="22" name="Text 16"/>
          <p:cNvSpPr txBox="1"/>
          <p:nvPr/>
        </p:nvSpPr>
        <p:spPr>
          <a:xfrm>
            <a:off x="4480560" y="2286000"/>
            <a:ext cx="1399032" cy="457200"/>
          </a:xfrm>
          <a:prstGeom prst="rect">
            <a:avLst/>
          </a:prstGeom>
          <a:noFill/>
          <a:ln/>
        </p:spPr>
        <p:txBody>
          <a:bodyPr wrap="square" lIns="0" tIns="0" rIns="0" bIns="0" rtlCol="0" anchor="t"/>
          <a:lstStyle/>
          <a:p>
            <a:pPr marL="0" indent="0">
              <a:buNone/>
            </a:pPr>
            <a:r>
              <a:rPr lang="en-US" sz="1800" b="1" dirty="0">
                <a:solidFill>
                  <a:schemeClr val="tx2"/>
                </a:solidFill>
              </a:rPr>
              <a:t>Build sensing</a:t>
            </a:r>
            <a:endParaRPr lang="en-US" sz="1800" dirty="0"/>
          </a:p>
        </p:txBody>
      </p:sp>
      <p:sp>
        <p:nvSpPr>
          <p:cNvPr id="23" name="Text 17"/>
          <p:cNvSpPr txBox="1"/>
          <p:nvPr/>
        </p:nvSpPr>
        <p:spPr>
          <a:xfrm>
            <a:off x="4480560" y="2788920"/>
            <a:ext cx="1399032" cy="1828800"/>
          </a:xfrm>
          <a:prstGeom prst="rect">
            <a:avLst/>
          </a:prstGeom>
          <a:noFill/>
          <a:ln/>
        </p:spPr>
        <p:txBody>
          <a:bodyPr wrap="square" lIns="0" tIns="0" rIns="0" bIns="0" rtlCol="0" anchor="t"/>
          <a:lstStyle/>
          <a:p>
            <a:pPr marL="0" indent="0">
              <a:buNone/>
            </a:pPr>
            <a:r>
              <a:rPr lang="en-US" sz="1500" dirty="0">
                <a:solidFill>
                  <a:schemeClr val="tx1"/>
                </a:solidFill>
              </a:rPr>
              <a:t>Sensor node and camera firmware, wiring with dividers</a:t>
            </a:r>
            <a:endParaRPr lang="en-US" sz="1500" dirty="0"/>
          </a:p>
        </p:txBody>
      </p:sp>
      <p:sp>
        <p:nvSpPr>
          <p:cNvPr id="24" name="arrow-62"/>
          <p:cNvSpPr/>
          <p:nvPr/>
        </p:nvSpPr>
        <p:spPr>
          <a:xfrm>
            <a:off x="5998464" y="2926080"/>
            <a:ext cx="192024" cy="274320"/>
          </a:xfrm>
          <a:prstGeom prst="rightArrow">
            <a:avLst/>
          </a:prstGeom>
          <a:solidFill>
            <a:schemeClr val="accent1"/>
          </a:solidFill>
          <a:ln w="12700">
            <a:solidFill>
              <a:schemeClr val="accent1"/>
            </a:solidFill>
            <a:prstDash val="solid"/>
          </a:ln>
        </p:spPr>
      </p:sp>
      <p:sp>
        <p:nvSpPr>
          <p:cNvPr id="25" name="panel-63"/>
          <p:cNvSpPr/>
          <p:nvPr/>
        </p:nvSpPr>
        <p:spPr>
          <a:xfrm>
            <a:off x="6172200" y="1417320"/>
            <a:ext cx="1719072" cy="3291840"/>
          </a:xfrm>
          <a:prstGeom prst="roundRect">
            <a:avLst>
              <a:gd name="adj" fmla="val 5319"/>
            </a:avLst>
          </a:prstGeom>
          <a:solidFill>
            <a:schemeClr val="bg2"/>
          </a:solidFill>
          <a:ln w="12700">
            <a:solidFill>
              <a:schemeClr val="bg2"/>
            </a:solidFill>
            <a:prstDash val="solid"/>
          </a:ln>
        </p:spPr>
      </p:sp>
      <p:sp>
        <p:nvSpPr>
          <p:cNvPr id="26" name="Text 20"/>
          <p:cNvSpPr txBox="1"/>
          <p:nvPr/>
        </p:nvSpPr>
        <p:spPr>
          <a:xfrm>
            <a:off x="6355080" y="1554480"/>
            <a:ext cx="914400" cy="45720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04</a:t>
            </a:r>
            <a:endParaRPr lang="en-US" sz="2200" dirty="0"/>
          </a:p>
        </p:txBody>
      </p:sp>
      <p:sp>
        <p:nvSpPr>
          <p:cNvPr id="27" name="icon-bg-64"/>
          <p:cNvSpPr/>
          <p:nvPr/>
        </p:nvSpPr>
        <p:spPr>
          <a:xfrm>
            <a:off x="7114032" y="1554480"/>
            <a:ext cx="566928" cy="566928"/>
          </a:xfrm>
          <a:prstGeom prst="ellipse">
            <a:avLst/>
          </a:prstGeom>
          <a:solidFill>
            <a:schemeClr val="accent1"/>
          </a:solidFill>
          <a:ln w="12700">
            <a:solidFill>
              <a:schemeClr val="accent1"/>
            </a:solidFill>
            <a:prstDash val="solid"/>
          </a:ln>
        </p:spPr>
      </p:sp>
      <p:pic>
        <p:nvPicPr>
          <p:cNvPr id="28" name="icon-65" descr="preencoded.png"/>
          <p:cNvPicPr>
            <a:picLocks noChangeAspect="1"/>
          </p:cNvPicPr>
          <p:nvPr/>
        </p:nvPicPr>
        <p:blipFill>
          <a:blip r:embed="rId6"/>
          <a:stretch>
            <a:fillRect/>
          </a:stretch>
        </p:blipFill>
        <p:spPr>
          <a:xfrm>
            <a:off x="7250095" y="1690543"/>
            <a:ext cx="294803" cy="294803"/>
          </a:xfrm>
          <a:prstGeom prst="rect">
            <a:avLst/>
          </a:prstGeom>
        </p:spPr>
      </p:pic>
      <p:sp>
        <p:nvSpPr>
          <p:cNvPr id="29" name="Text 22"/>
          <p:cNvSpPr txBox="1"/>
          <p:nvPr/>
        </p:nvSpPr>
        <p:spPr>
          <a:xfrm>
            <a:off x="6355080" y="2286000"/>
            <a:ext cx="1399032" cy="457200"/>
          </a:xfrm>
          <a:prstGeom prst="rect">
            <a:avLst/>
          </a:prstGeom>
          <a:noFill/>
          <a:ln/>
        </p:spPr>
        <p:txBody>
          <a:bodyPr wrap="square" lIns="0" tIns="0" rIns="0" bIns="0" rtlCol="0" anchor="t"/>
          <a:lstStyle/>
          <a:p>
            <a:pPr marL="0" indent="0">
              <a:buNone/>
            </a:pPr>
            <a:r>
              <a:rPr lang="en-US" sz="1800" b="1" dirty="0">
                <a:solidFill>
                  <a:schemeClr val="tx2"/>
                </a:solidFill>
              </a:rPr>
              <a:t>Build software</a:t>
            </a:r>
            <a:endParaRPr lang="en-US" sz="1800" dirty="0"/>
          </a:p>
        </p:txBody>
      </p:sp>
      <p:sp>
        <p:nvSpPr>
          <p:cNvPr id="30" name="Text 23"/>
          <p:cNvSpPr txBox="1"/>
          <p:nvPr/>
        </p:nvSpPr>
        <p:spPr>
          <a:xfrm>
            <a:off x="6355080" y="2788920"/>
            <a:ext cx="1399032" cy="1828800"/>
          </a:xfrm>
          <a:prstGeom prst="rect">
            <a:avLst/>
          </a:prstGeom>
          <a:noFill/>
          <a:ln/>
        </p:spPr>
        <p:txBody>
          <a:bodyPr wrap="square" lIns="0" tIns="0" rIns="0" bIns="0" rtlCol="0" anchor="t"/>
          <a:lstStyle/>
          <a:p>
            <a:pPr marL="0" indent="0">
              <a:buNone/>
            </a:pPr>
            <a:r>
              <a:rPr lang="en-US" sz="1500" dirty="0">
                <a:solidFill>
                  <a:schemeClr val="tx1"/>
                </a:solidFill>
              </a:rPr>
              <a:t>Flask dashboard, logging, gated classifier</a:t>
            </a:r>
            <a:endParaRPr lang="en-US" sz="1500" dirty="0"/>
          </a:p>
        </p:txBody>
      </p:sp>
      <p:sp>
        <p:nvSpPr>
          <p:cNvPr id="31" name="arrow-66"/>
          <p:cNvSpPr/>
          <p:nvPr/>
        </p:nvSpPr>
        <p:spPr>
          <a:xfrm>
            <a:off x="7872984" y="2926080"/>
            <a:ext cx="192024" cy="274320"/>
          </a:xfrm>
          <a:prstGeom prst="rightArrow">
            <a:avLst/>
          </a:prstGeom>
          <a:solidFill>
            <a:schemeClr val="accent1"/>
          </a:solidFill>
          <a:ln w="12700">
            <a:solidFill>
              <a:schemeClr val="accent1"/>
            </a:solidFill>
            <a:prstDash val="solid"/>
          </a:ln>
        </p:spPr>
      </p:sp>
      <p:sp>
        <p:nvSpPr>
          <p:cNvPr id="32" name="panel-67"/>
          <p:cNvSpPr/>
          <p:nvPr/>
        </p:nvSpPr>
        <p:spPr>
          <a:xfrm>
            <a:off x="8046720" y="1417320"/>
            <a:ext cx="1719072" cy="3291840"/>
          </a:xfrm>
          <a:prstGeom prst="roundRect">
            <a:avLst>
              <a:gd name="adj" fmla="val 5319"/>
            </a:avLst>
          </a:prstGeom>
          <a:solidFill>
            <a:schemeClr val="bg2"/>
          </a:solidFill>
          <a:ln w="12700">
            <a:solidFill>
              <a:schemeClr val="bg2"/>
            </a:solidFill>
            <a:prstDash val="solid"/>
          </a:ln>
        </p:spPr>
      </p:sp>
      <p:sp>
        <p:nvSpPr>
          <p:cNvPr id="33" name="Text 26"/>
          <p:cNvSpPr txBox="1"/>
          <p:nvPr/>
        </p:nvSpPr>
        <p:spPr>
          <a:xfrm>
            <a:off x="8229600" y="1554480"/>
            <a:ext cx="914400" cy="45720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05</a:t>
            </a:r>
            <a:endParaRPr lang="en-US" sz="2200" dirty="0"/>
          </a:p>
        </p:txBody>
      </p:sp>
      <p:sp>
        <p:nvSpPr>
          <p:cNvPr id="34" name="icon-bg-68"/>
          <p:cNvSpPr/>
          <p:nvPr/>
        </p:nvSpPr>
        <p:spPr>
          <a:xfrm>
            <a:off x="8988552" y="1554480"/>
            <a:ext cx="566928" cy="566928"/>
          </a:xfrm>
          <a:prstGeom prst="ellipse">
            <a:avLst/>
          </a:prstGeom>
          <a:solidFill>
            <a:schemeClr val="accent1"/>
          </a:solidFill>
          <a:ln w="12700">
            <a:solidFill>
              <a:schemeClr val="accent1"/>
            </a:solidFill>
            <a:prstDash val="solid"/>
          </a:ln>
        </p:spPr>
      </p:sp>
      <p:pic>
        <p:nvPicPr>
          <p:cNvPr id="35" name="icon-69" descr="preencoded.png"/>
          <p:cNvPicPr>
            <a:picLocks noChangeAspect="1"/>
          </p:cNvPicPr>
          <p:nvPr/>
        </p:nvPicPr>
        <p:blipFill>
          <a:blip r:embed="rId7"/>
          <a:stretch>
            <a:fillRect/>
          </a:stretch>
        </p:blipFill>
        <p:spPr>
          <a:xfrm>
            <a:off x="9124615" y="1690543"/>
            <a:ext cx="294803" cy="294803"/>
          </a:xfrm>
          <a:prstGeom prst="rect">
            <a:avLst/>
          </a:prstGeom>
        </p:spPr>
      </p:pic>
      <p:sp>
        <p:nvSpPr>
          <p:cNvPr id="36" name="Text 28"/>
          <p:cNvSpPr txBox="1"/>
          <p:nvPr/>
        </p:nvSpPr>
        <p:spPr>
          <a:xfrm>
            <a:off x="8229600" y="2286000"/>
            <a:ext cx="1399032" cy="457200"/>
          </a:xfrm>
          <a:prstGeom prst="rect">
            <a:avLst/>
          </a:prstGeom>
          <a:noFill/>
          <a:ln/>
        </p:spPr>
        <p:txBody>
          <a:bodyPr wrap="square" lIns="0" tIns="0" rIns="0" bIns="0" rtlCol="0" anchor="t"/>
          <a:lstStyle/>
          <a:p>
            <a:pPr marL="0" indent="0">
              <a:buNone/>
            </a:pPr>
            <a:r>
              <a:rPr lang="en-US" sz="1800" b="1" dirty="0">
                <a:solidFill>
                  <a:schemeClr val="tx2"/>
                </a:solidFill>
              </a:rPr>
              <a:t>Simulate</a:t>
            </a:r>
            <a:endParaRPr lang="en-US" sz="1800" dirty="0"/>
          </a:p>
        </p:txBody>
      </p:sp>
      <p:sp>
        <p:nvSpPr>
          <p:cNvPr id="37" name="Text 29"/>
          <p:cNvSpPr txBox="1"/>
          <p:nvPr/>
        </p:nvSpPr>
        <p:spPr>
          <a:xfrm>
            <a:off x="8229600" y="2788920"/>
            <a:ext cx="1399032" cy="1828800"/>
          </a:xfrm>
          <a:prstGeom prst="rect">
            <a:avLst/>
          </a:prstGeom>
          <a:noFill/>
          <a:ln/>
        </p:spPr>
        <p:txBody>
          <a:bodyPr wrap="square" lIns="0" tIns="0" rIns="0" bIns="0" rtlCol="0" anchor="t"/>
          <a:lstStyle/>
          <a:p>
            <a:pPr marL="0" indent="0">
              <a:buNone/>
            </a:pPr>
            <a:r>
              <a:rPr lang="en-US" sz="1500" dirty="0">
                <a:solidFill>
                  <a:schemeClr val="tx1"/>
                </a:solidFill>
              </a:rPr>
              <a:t>Kinematics and gait in MuJoCo with real servo limits</a:t>
            </a:r>
            <a:endParaRPr lang="en-US" sz="1500" dirty="0"/>
          </a:p>
        </p:txBody>
      </p:sp>
      <p:sp>
        <p:nvSpPr>
          <p:cNvPr id="38" name="arrow-70"/>
          <p:cNvSpPr/>
          <p:nvPr/>
        </p:nvSpPr>
        <p:spPr>
          <a:xfrm>
            <a:off x="9747504" y="2926080"/>
            <a:ext cx="192024" cy="274320"/>
          </a:xfrm>
          <a:prstGeom prst="rightArrow">
            <a:avLst/>
          </a:prstGeom>
          <a:solidFill>
            <a:schemeClr val="accent1"/>
          </a:solidFill>
          <a:ln w="12700">
            <a:solidFill>
              <a:schemeClr val="accent1"/>
            </a:solidFill>
            <a:prstDash val="solid"/>
          </a:ln>
        </p:spPr>
      </p:sp>
      <p:sp>
        <p:nvSpPr>
          <p:cNvPr id="39" name="panel-71"/>
          <p:cNvSpPr/>
          <p:nvPr/>
        </p:nvSpPr>
        <p:spPr>
          <a:xfrm>
            <a:off x="9921240" y="1417320"/>
            <a:ext cx="1719072" cy="3291840"/>
          </a:xfrm>
          <a:prstGeom prst="roundRect">
            <a:avLst>
              <a:gd name="adj" fmla="val 5319"/>
            </a:avLst>
          </a:prstGeom>
          <a:solidFill>
            <a:schemeClr val="bg2"/>
          </a:solidFill>
          <a:ln w="12700">
            <a:solidFill>
              <a:schemeClr val="bg2"/>
            </a:solidFill>
            <a:prstDash val="solid"/>
          </a:ln>
        </p:spPr>
      </p:sp>
      <p:sp>
        <p:nvSpPr>
          <p:cNvPr id="40" name="Text 32"/>
          <p:cNvSpPr txBox="1"/>
          <p:nvPr/>
        </p:nvSpPr>
        <p:spPr>
          <a:xfrm>
            <a:off x="10104120" y="1554480"/>
            <a:ext cx="914400" cy="457200"/>
          </a:xfrm>
          <a:prstGeom prst="rect">
            <a:avLst/>
          </a:prstGeom>
          <a:noFill/>
          <a:ln/>
        </p:spPr>
        <p:txBody>
          <a:bodyPr wrap="square" lIns="0" tIns="0" rIns="0" bIns="0" rtlCol="0" anchor="t"/>
          <a:lstStyle/>
          <a:p>
            <a:pPr marL="0" indent="0">
              <a:buNone/>
            </a:pPr>
            <a:r>
              <a:rPr lang="en-US" sz="2200" b="1" dirty="0">
                <a:solidFill>
                  <a:schemeClr val="accent2"/>
                </a:solidFill>
                <a:latin typeface="Cambria" pitchFamily="34" charset="0"/>
                <a:ea typeface="Cambria" pitchFamily="34" charset="-122"/>
                <a:cs typeface="Cambria" pitchFamily="34" charset="-120"/>
              </a:rPr>
              <a:t>06</a:t>
            </a:r>
            <a:endParaRPr lang="en-US" sz="2200" dirty="0"/>
          </a:p>
        </p:txBody>
      </p:sp>
      <p:sp>
        <p:nvSpPr>
          <p:cNvPr id="41" name="icon-bg-72"/>
          <p:cNvSpPr/>
          <p:nvPr/>
        </p:nvSpPr>
        <p:spPr>
          <a:xfrm>
            <a:off x="10863072" y="1554480"/>
            <a:ext cx="566928" cy="566928"/>
          </a:xfrm>
          <a:prstGeom prst="ellipse">
            <a:avLst/>
          </a:prstGeom>
          <a:solidFill>
            <a:schemeClr val="accent1"/>
          </a:solidFill>
          <a:ln w="12700">
            <a:solidFill>
              <a:schemeClr val="accent1"/>
            </a:solidFill>
            <a:prstDash val="solid"/>
          </a:ln>
        </p:spPr>
      </p:sp>
      <p:pic>
        <p:nvPicPr>
          <p:cNvPr id="42" name="icon-73" descr="preencoded.png"/>
          <p:cNvPicPr>
            <a:picLocks noChangeAspect="1"/>
          </p:cNvPicPr>
          <p:nvPr/>
        </p:nvPicPr>
        <p:blipFill>
          <a:blip r:embed="rId8"/>
          <a:stretch>
            <a:fillRect/>
          </a:stretch>
        </p:blipFill>
        <p:spPr>
          <a:xfrm>
            <a:off x="10999135" y="1690543"/>
            <a:ext cx="294803" cy="294803"/>
          </a:xfrm>
          <a:prstGeom prst="rect">
            <a:avLst/>
          </a:prstGeom>
        </p:spPr>
      </p:pic>
      <p:sp>
        <p:nvSpPr>
          <p:cNvPr id="43" name="Text 34"/>
          <p:cNvSpPr txBox="1"/>
          <p:nvPr/>
        </p:nvSpPr>
        <p:spPr>
          <a:xfrm>
            <a:off x="10104120" y="2286000"/>
            <a:ext cx="1399032" cy="457200"/>
          </a:xfrm>
          <a:prstGeom prst="rect">
            <a:avLst/>
          </a:prstGeom>
          <a:noFill/>
          <a:ln/>
        </p:spPr>
        <p:txBody>
          <a:bodyPr wrap="square" lIns="0" tIns="0" rIns="0" bIns="0" rtlCol="0" anchor="t"/>
          <a:lstStyle/>
          <a:p>
            <a:pPr marL="0" indent="0">
              <a:buNone/>
            </a:pPr>
            <a:r>
              <a:rPr lang="en-US" sz="1800" b="1" dirty="0">
                <a:solidFill>
                  <a:schemeClr val="tx2"/>
                </a:solidFill>
              </a:rPr>
              <a:t>Validate</a:t>
            </a:r>
            <a:endParaRPr lang="en-US" sz="1800" dirty="0"/>
          </a:p>
        </p:txBody>
      </p:sp>
      <p:sp>
        <p:nvSpPr>
          <p:cNvPr id="44" name="Text 35"/>
          <p:cNvSpPr txBox="1"/>
          <p:nvPr/>
        </p:nvSpPr>
        <p:spPr>
          <a:xfrm>
            <a:off x="10104120" y="2788920"/>
            <a:ext cx="1399032" cy="1828800"/>
          </a:xfrm>
          <a:prstGeom prst="rect">
            <a:avLst/>
          </a:prstGeom>
          <a:noFill/>
          <a:ln/>
        </p:spPr>
        <p:txBody>
          <a:bodyPr wrap="square" lIns="0" tIns="0" rIns="0" bIns="0" rtlCol="0" anchor="t"/>
          <a:lstStyle/>
          <a:p>
            <a:pPr marL="0" indent="0">
              <a:buNone/>
            </a:pPr>
            <a:r>
              <a:rPr lang="en-US" sz="1500" dirty="0">
                <a:solidFill>
                  <a:schemeClr val="tx1"/>
                </a:solidFill>
              </a:rPr>
              <a:t>Bench tests, logged sessions, scans, leg actuation</a:t>
            </a:r>
            <a:endParaRPr lang="en-US" sz="1500" dirty="0"/>
          </a:p>
        </p:txBody>
      </p:sp>
      <p:sp>
        <p:nvSpPr>
          <p:cNvPr id="45" name="panel-74"/>
          <p:cNvSpPr/>
          <p:nvPr/>
        </p:nvSpPr>
        <p:spPr>
          <a:xfrm>
            <a:off x="548640" y="4937760"/>
            <a:ext cx="11064240" cy="1188720"/>
          </a:xfrm>
          <a:prstGeom prst="roundRect">
            <a:avLst>
              <a:gd name="adj" fmla="val 7692"/>
            </a:avLst>
          </a:prstGeom>
          <a:solidFill>
            <a:schemeClr val="tx2"/>
          </a:solidFill>
          <a:ln w="12700">
            <a:solidFill>
              <a:schemeClr val="tx2"/>
            </a:solidFill>
            <a:prstDash val="solid"/>
          </a:ln>
        </p:spPr>
      </p:sp>
      <p:sp>
        <p:nvSpPr>
          <p:cNvPr id="46" name="Text 37"/>
          <p:cNvSpPr txBox="1"/>
          <p:nvPr/>
        </p:nvSpPr>
        <p:spPr>
          <a:xfrm>
            <a:off x="822960" y="4937760"/>
            <a:ext cx="10515600" cy="1188720"/>
          </a:xfrm>
          <a:prstGeom prst="rect">
            <a:avLst/>
          </a:prstGeom>
          <a:noFill/>
          <a:ln/>
        </p:spPr>
        <p:txBody>
          <a:bodyPr wrap="square" lIns="0" tIns="0" rIns="0" bIns="0" rtlCol="0" anchor="ctr"/>
          <a:lstStyle/>
          <a:p>
            <a:pPr marL="0" indent="0">
              <a:buNone/>
            </a:pPr>
            <a:r>
              <a:rPr lang="en-US" sz="1700" b="1" dirty="0">
                <a:solidFill>
                  <a:schemeClr val="accent2"/>
                </a:solidFill>
              </a:rPr>
              <a:t>Guiding principle  </a:t>
            </a:r>
            <a:r>
              <a:rPr lang="en-US" sz="1700" dirty="0">
                <a:solidFill>
                  <a:schemeClr val="bg1"/>
                </a:solidFill>
              </a:rPr>
              <a:t>Every design change came from a measurement or analysis: supply and heat limits, servo torque margin, camera interface, and faults found on the bench.</a:t>
            </a:r>
            <a:endParaRPr lang="en-US" sz="17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Key Technical Decisions Since Review III</a:t>
            </a:r>
            <a:endParaRPr lang="en-US" sz="3000" dirty="0"/>
          </a:p>
        </p:txBody>
      </p:sp>
      <p:graphicFrame>
        <p:nvGraphicFramePr>
          <p:cNvPr id="12" name="table-75"/>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187952"/>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457200">
                <a:tc>
                  <a:txBody>
                    <a:bodyPr/>
                    <a:lstStyle/>
                    <a:p>
                      <a:pPr marL="0" indent="0">
                        <a:buNone/>
                      </a:pPr>
                      <a:r>
                        <a:rPr lang="en-US" sz="1400" b="1" dirty="0">
                          <a:solidFill>
                            <a:schemeClr val="bg1"/>
                          </a:solidFill>
                        </a:rPr>
                        <a:t>Review III plan</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Final system</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Reason</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13232">
                <a:tc>
                  <a:txBody>
                    <a:bodyPr/>
                    <a:lstStyle/>
                    <a:p>
                      <a:pPr marL="0" indent="0">
                        <a:buNone/>
                      </a:pPr>
                      <a:r>
                        <a:rPr lang="en-US" sz="1400" dirty="0">
                          <a:solidFill>
                            <a:schemeClr val="tx1"/>
                          </a:solidFill>
                        </a:rPr>
                        <a:t>Jetson Orin Nano on the robot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XIAO ESP32-S3 and ESP32-CAM nodes; inference on a laptop</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Needs 9–19 V and dissipates 7–25 W inside a PLA body; a fall risks an expensive board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buNone/>
                      </a:pPr>
                      <a:r>
                        <a:rPr lang="en-US" sz="1400" dirty="0">
                          <a:solidFill>
                            <a:schemeClr val="tx1"/>
                          </a:solidFill>
                        </a:rPr>
                        <a:t>IMX219 CSI camera</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ESP32-CAM (OV3660), MJPEG over Wi-Fi</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The ESP32-S3 has no MIPI-CSI camera interface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03504">
                <a:tc>
                  <a:txBody>
                    <a:bodyPr/>
                    <a:lstStyle/>
                    <a:p>
                      <a:pPr marL="0" indent="0">
                        <a:buNone/>
                      </a:pPr>
                      <a:r>
                        <a:rPr lang="en-US" sz="1400" dirty="0">
                          <a:solidFill>
                            <a:schemeClr val="tx1"/>
                          </a:solidFill>
                        </a:rPr>
                        <a:t>ROS 2 and MQTT on the robot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HTTP and JSON to a Flask dashboard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Fewer parts; every device on one local network</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buNone/>
                      </a:pPr>
                      <a:r>
                        <a:rPr lang="en-US" sz="1400" dirty="0">
                          <a:solidFill>
                            <a:schemeClr val="tx1"/>
                          </a:solidFill>
                        </a:rPr>
                        <a:t>Gazebo dynamics model</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MuJoCo physics model</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The Gazebo stance never stabilised; MuJoCo walks and reports metrics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603504">
                <a:tc>
                  <a:txBody>
                    <a:bodyPr/>
                    <a:lstStyle/>
                    <a:p>
                      <a:pPr marL="0" indent="0">
                        <a:buNone/>
                      </a:pPr>
                      <a:r>
                        <a:rPr lang="en-US" sz="1400" dirty="0">
                          <a:solidFill>
                            <a:schemeClr val="tx1"/>
                          </a:solidFill>
                        </a:rPr>
                        <a:t>3S LiPo and onboard regulators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USB power bank for the nodes; separate supply for servos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Safer and simpler for bench work</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buNone/>
                      </a:pPr>
                      <a:r>
                        <a:rPr lang="en-US" sz="1400" dirty="0">
                          <a:solidFill>
                            <a:schemeClr val="tx1"/>
                          </a:solidFill>
                        </a:rPr>
                        <a:t>Walking trials on hardware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Gait in simulation first, then leg actuation on the robot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Simulation showed a centre-of-mass correction is needed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System Architecture</a:t>
            </a:r>
            <a:endParaRPr lang="en-US" sz="3000" dirty="0"/>
          </a:p>
        </p:txBody>
      </p:sp>
      <p:sp>
        <p:nvSpPr>
          <p:cNvPr id="4" name="panel-76"/>
          <p:cNvSpPr/>
          <p:nvPr/>
        </p:nvSpPr>
        <p:spPr>
          <a:xfrm>
            <a:off x="548640" y="1325880"/>
            <a:ext cx="3474720" cy="3429000"/>
          </a:xfrm>
          <a:prstGeom prst="roundRect">
            <a:avLst>
              <a:gd name="adj" fmla="val 2667"/>
            </a:avLst>
          </a:prstGeom>
          <a:solidFill>
            <a:schemeClr val="bg2"/>
          </a:solidFill>
          <a:ln w="12700">
            <a:solidFill>
              <a:schemeClr val="bg2"/>
            </a:solidFill>
            <a:prstDash val="solid"/>
          </a:ln>
        </p:spPr>
      </p:sp>
      <p:sp>
        <p:nvSpPr>
          <p:cNvPr id="5" name="icon-bg-77"/>
          <p:cNvSpPr/>
          <p:nvPr/>
        </p:nvSpPr>
        <p:spPr>
          <a:xfrm>
            <a:off x="777240" y="1508760"/>
            <a:ext cx="566928" cy="566928"/>
          </a:xfrm>
          <a:prstGeom prst="ellipse">
            <a:avLst/>
          </a:prstGeom>
          <a:solidFill>
            <a:schemeClr val="accent1"/>
          </a:solidFill>
          <a:ln w="12700">
            <a:solidFill>
              <a:schemeClr val="accent1"/>
            </a:solidFill>
            <a:prstDash val="solid"/>
          </a:ln>
        </p:spPr>
      </p:sp>
      <p:pic>
        <p:nvPicPr>
          <p:cNvPr id="6" name="icon-78" descr="preencoded.png"/>
          <p:cNvPicPr>
            <a:picLocks noChangeAspect="1"/>
          </p:cNvPicPr>
          <p:nvPr/>
        </p:nvPicPr>
        <p:blipFill>
          <a:blip r:embed="rId3"/>
          <a:stretch>
            <a:fillRect/>
          </a:stretch>
        </p:blipFill>
        <p:spPr>
          <a:xfrm>
            <a:off x="913303" y="1644823"/>
            <a:ext cx="294803" cy="294803"/>
          </a:xfrm>
          <a:prstGeom prst="rect">
            <a:avLst/>
          </a:prstGeom>
        </p:spPr>
      </p:pic>
      <p:sp>
        <p:nvSpPr>
          <p:cNvPr id="7" name="Text 3"/>
          <p:cNvSpPr txBox="1"/>
          <p:nvPr/>
        </p:nvSpPr>
        <p:spPr>
          <a:xfrm>
            <a:off x="1463040" y="1481328"/>
            <a:ext cx="2468880" cy="365760"/>
          </a:xfrm>
          <a:prstGeom prst="rect">
            <a:avLst/>
          </a:prstGeom>
          <a:noFill/>
          <a:ln/>
        </p:spPr>
        <p:txBody>
          <a:bodyPr wrap="square" lIns="0" tIns="0" rIns="0" bIns="0" rtlCol="0" anchor="t"/>
          <a:lstStyle/>
          <a:p>
            <a:pPr marL="0" indent="0">
              <a:buNone/>
            </a:pPr>
            <a:r>
              <a:rPr lang="en-US" sz="1800" b="1" dirty="0">
                <a:solidFill>
                  <a:schemeClr val="tx2"/>
                </a:solidFill>
              </a:rPr>
              <a:t>Sensor node</a:t>
            </a:r>
            <a:endParaRPr lang="en-US" sz="1800" dirty="0"/>
          </a:p>
        </p:txBody>
      </p:sp>
      <p:sp>
        <p:nvSpPr>
          <p:cNvPr id="8" name="Text 4"/>
          <p:cNvSpPr txBox="1"/>
          <p:nvPr/>
        </p:nvSpPr>
        <p:spPr>
          <a:xfrm>
            <a:off x="1463040" y="1828800"/>
            <a:ext cx="2468880" cy="320040"/>
          </a:xfrm>
          <a:prstGeom prst="rect">
            <a:avLst/>
          </a:prstGeom>
          <a:noFill/>
          <a:ln/>
        </p:spPr>
        <p:txBody>
          <a:bodyPr wrap="square" lIns="0" tIns="0" rIns="0" bIns="0" rtlCol="0" anchor="t"/>
          <a:lstStyle/>
          <a:p>
            <a:pPr marL="0" indent="0">
              <a:buNone/>
            </a:pPr>
            <a:r>
              <a:rPr lang="en-US" sz="1300" dirty="0">
                <a:solidFill>
                  <a:schemeClr val="accent6"/>
                </a:solidFill>
              </a:rPr>
              <a:t>XIAO ESP32-S3 + expansion board</a:t>
            </a:r>
            <a:endParaRPr lang="en-US" sz="1300" dirty="0"/>
          </a:p>
        </p:txBody>
      </p:sp>
      <p:sp>
        <p:nvSpPr>
          <p:cNvPr id="9" name="Text 5"/>
          <p:cNvSpPr txBox="1"/>
          <p:nvPr/>
        </p:nvSpPr>
        <p:spPr>
          <a:xfrm>
            <a:off x="777240" y="2331720"/>
            <a:ext cx="3063240" cy="2286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SGP30 gas · I²C 0x58</a:t>
            </a:r>
            <a:endParaRPr lang="en-US" sz="1500" dirty="0"/>
          </a:p>
          <a:p>
            <a:pPr marL="177800" indent="-177800">
              <a:spcAft>
                <a:spcPts val="500"/>
              </a:spcAft>
              <a:buSzPct val="100000"/>
              <a:buChar char="•"/>
            </a:pPr>
            <a:r>
              <a:rPr lang="en-US" sz="1500" dirty="0">
                <a:solidFill>
                  <a:schemeClr val="tx1"/>
                </a:solidFill>
              </a:rPr>
              <a:t>MCP9808 temperature · I²C 0x18</a:t>
            </a:r>
            <a:endParaRPr lang="en-US" sz="1500" dirty="0"/>
          </a:p>
          <a:p>
            <a:pPr marL="177800" indent="-177800">
              <a:spcAft>
                <a:spcPts val="500"/>
              </a:spcAft>
              <a:buSzPct val="100000"/>
              <a:buChar char="•"/>
            </a:pPr>
            <a:r>
              <a:rPr lang="en-US" sz="1500" dirty="0">
                <a:solidFill>
                  <a:schemeClr val="tx1"/>
                </a:solidFill>
              </a:rPr>
              <a:t>PPD42 dust · D0</a:t>
            </a:r>
            <a:endParaRPr lang="en-US" sz="1500" dirty="0"/>
          </a:p>
          <a:p>
            <a:pPr marL="177800" indent="-177800">
              <a:spcAft>
                <a:spcPts val="500"/>
              </a:spcAft>
              <a:buSzPct val="100000"/>
              <a:buChar char="•"/>
            </a:pPr>
            <a:r>
              <a:rPr lang="en-US" sz="1500" dirty="0">
                <a:solidFill>
                  <a:schemeClr val="tx1"/>
                </a:solidFill>
              </a:rPr>
              <a:t>HC-SR04 × 2 · D6–D9</a:t>
            </a:r>
            <a:endParaRPr lang="en-US" sz="1500" dirty="0"/>
          </a:p>
          <a:p>
            <a:pPr marL="177800" indent="-177800">
              <a:spcAft>
                <a:spcPts val="500"/>
              </a:spcAft>
              <a:buSzPct val="100000"/>
              <a:buChar char="•"/>
            </a:pPr>
            <a:r>
              <a:rPr lang="en-US" sz="1500" dirty="0">
                <a:solidFill>
                  <a:schemeClr val="tx1"/>
                </a:solidFill>
              </a:rPr>
              <a:t>OLED, buzzer, button</a:t>
            </a:r>
            <a:endParaRPr lang="en-US" sz="1500" dirty="0"/>
          </a:p>
        </p:txBody>
      </p:sp>
      <p:sp>
        <p:nvSpPr>
          <p:cNvPr id="10" name="panel-79"/>
          <p:cNvSpPr/>
          <p:nvPr/>
        </p:nvSpPr>
        <p:spPr>
          <a:xfrm>
            <a:off x="4343400" y="1325880"/>
            <a:ext cx="3474720" cy="3429000"/>
          </a:xfrm>
          <a:prstGeom prst="roundRect">
            <a:avLst>
              <a:gd name="adj" fmla="val 2667"/>
            </a:avLst>
          </a:prstGeom>
          <a:solidFill>
            <a:schemeClr val="tx2"/>
          </a:solidFill>
          <a:ln w="12700">
            <a:solidFill>
              <a:schemeClr val="tx2"/>
            </a:solidFill>
            <a:prstDash val="solid"/>
          </a:ln>
        </p:spPr>
      </p:sp>
      <p:sp>
        <p:nvSpPr>
          <p:cNvPr id="11" name="icon-bg-80"/>
          <p:cNvSpPr/>
          <p:nvPr/>
        </p:nvSpPr>
        <p:spPr>
          <a:xfrm>
            <a:off x="4572000" y="1508760"/>
            <a:ext cx="566928" cy="566928"/>
          </a:xfrm>
          <a:prstGeom prst="ellipse">
            <a:avLst/>
          </a:prstGeom>
          <a:solidFill>
            <a:schemeClr val="accent2"/>
          </a:solidFill>
          <a:ln w="12700">
            <a:solidFill>
              <a:schemeClr val="accent2"/>
            </a:solidFill>
            <a:prstDash val="solid"/>
          </a:ln>
        </p:spPr>
      </p:sp>
      <p:pic>
        <p:nvPicPr>
          <p:cNvPr id="12" name="icon-81" descr="preencoded.png"/>
          <p:cNvPicPr>
            <a:picLocks noChangeAspect="1"/>
          </p:cNvPicPr>
          <p:nvPr/>
        </p:nvPicPr>
        <p:blipFill>
          <a:blip r:embed="rId4"/>
          <a:stretch>
            <a:fillRect/>
          </a:stretch>
        </p:blipFill>
        <p:spPr>
          <a:xfrm>
            <a:off x="4708063" y="1644823"/>
            <a:ext cx="294803" cy="294803"/>
          </a:xfrm>
          <a:prstGeom prst="rect">
            <a:avLst/>
          </a:prstGeom>
        </p:spPr>
      </p:pic>
      <p:sp>
        <p:nvSpPr>
          <p:cNvPr id="13" name="Text 8"/>
          <p:cNvSpPr txBox="1"/>
          <p:nvPr/>
        </p:nvSpPr>
        <p:spPr>
          <a:xfrm>
            <a:off x="5257800" y="1481328"/>
            <a:ext cx="2468880" cy="365760"/>
          </a:xfrm>
          <a:prstGeom prst="rect">
            <a:avLst/>
          </a:prstGeom>
          <a:noFill/>
          <a:ln/>
        </p:spPr>
        <p:txBody>
          <a:bodyPr wrap="square" lIns="0" tIns="0" rIns="0" bIns="0" rtlCol="0" anchor="t"/>
          <a:lstStyle/>
          <a:p>
            <a:pPr marL="0" indent="0">
              <a:buNone/>
            </a:pPr>
            <a:r>
              <a:rPr lang="en-US" sz="1800" b="1" dirty="0">
                <a:solidFill>
                  <a:schemeClr val="bg1"/>
                </a:solidFill>
              </a:rPr>
              <a:t>Laptop base station</a:t>
            </a:r>
            <a:endParaRPr lang="en-US" sz="1800" dirty="0"/>
          </a:p>
        </p:txBody>
      </p:sp>
      <p:sp>
        <p:nvSpPr>
          <p:cNvPr id="14" name="Text 9"/>
          <p:cNvSpPr txBox="1"/>
          <p:nvPr/>
        </p:nvSpPr>
        <p:spPr>
          <a:xfrm>
            <a:off x="5257800" y="1828800"/>
            <a:ext cx="2468880" cy="320040"/>
          </a:xfrm>
          <a:prstGeom prst="rect">
            <a:avLst/>
          </a:prstGeom>
          <a:noFill/>
          <a:ln/>
        </p:spPr>
        <p:txBody>
          <a:bodyPr wrap="square" lIns="0" tIns="0" rIns="0" bIns="0" rtlCol="0" anchor="t"/>
          <a:lstStyle/>
          <a:p>
            <a:pPr marL="0" indent="0">
              <a:buNone/>
            </a:pPr>
            <a:r>
              <a:rPr lang="en-US" sz="1300" dirty="0">
                <a:solidFill>
                  <a:schemeClr val="bg2"/>
                </a:solidFill>
              </a:rPr>
              <a:t>Hotspot 192.168.137.1</a:t>
            </a:r>
            <a:endParaRPr lang="en-US" sz="1300" dirty="0"/>
          </a:p>
        </p:txBody>
      </p:sp>
      <p:sp>
        <p:nvSpPr>
          <p:cNvPr id="15" name="Text 10"/>
          <p:cNvSpPr txBox="1"/>
          <p:nvPr/>
        </p:nvSpPr>
        <p:spPr>
          <a:xfrm>
            <a:off x="4572000" y="2331720"/>
            <a:ext cx="3063240" cy="2286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bg1"/>
                </a:solidFill>
              </a:rPr>
              <a:t>Flask dashboard on port 5000</a:t>
            </a:r>
            <a:endParaRPr lang="en-US" sz="1500" dirty="0"/>
          </a:p>
          <a:p>
            <a:pPr marL="177800" indent="-177800">
              <a:spcAft>
                <a:spcPts val="500"/>
              </a:spcAft>
              <a:buSzPct val="100000"/>
              <a:buChar char="•"/>
            </a:pPr>
            <a:r>
              <a:rPr lang="en-US" sz="1500" dirty="0">
                <a:solidFill>
                  <a:schemeClr val="bg1"/>
                </a:solidFill>
              </a:rPr>
              <a:t>CSV log of every reading</a:t>
            </a:r>
            <a:endParaRPr lang="en-US" sz="1500" dirty="0"/>
          </a:p>
          <a:p>
            <a:pPr marL="177800" indent="-177800">
              <a:spcAft>
                <a:spcPts val="500"/>
              </a:spcAft>
              <a:buSzPct val="100000"/>
              <a:buChar char="•"/>
            </a:pPr>
            <a:r>
              <a:rPr lang="en-US" sz="1500" dirty="0">
                <a:solidFill>
                  <a:schemeClr val="bg1"/>
                </a:solidFill>
              </a:rPr>
              <a:t>Vegetation gate + MobileNetV2</a:t>
            </a:r>
            <a:endParaRPr lang="en-US" sz="1500" dirty="0"/>
          </a:p>
          <a:p>
            <a:pPr marL="177800" indent="-177800">
              <a:spcAft>
                <a:spcPts val="500"/>
              </a:spcAft>
              <a:buSzPct val="100000"/>
              <a:buChar char="•"/>
            </a:pPr>
            <a:r>
              <a:rPr lang="en-US" sz="1500" dirty="0">
                <a:solidFill>
                  <a:schemeClr val="bg1"/>
                </a:solidFill>
              </a:rPr>
              <a:t>Relays video to all viewers</a:t>
            </a:r>
            <a:endParaRPr lang="en-US" sz="1500" dirty="0"/>
          </a:p>
        </p:txBody>
      </p:sp>
      <p:sp>
        <p:nvSpPr>
          <p:cNvPr id="16" name="panel-82"/>
          <p:cNvSpPr/>
          <p:nvPr/>
        </p:nvSpPr>
        <p:spPr>
          <a:xfrm>
            <a:off x="8138160" y="1325880"/>
            <a:ext cx="3474720" cy="3429000"/>
          </a:xfrm>
          <a:prstGeom prst="roundRect">
            <a:avLst>
              <a:gd name="adj" fmla="val 2667"/>
            </a:avLst>
          </a:prstGeom>
          <a:solidFill>
            <a:schemeClr val="bg2"/>
          </a:solidFill>
          <a:ln w="12700">
            <a:solidFill>
              <a:schemeClr val="bg2"/>
            </a:solidFill>
            <a:prstDash val="solid"/>
          </a:ln>
        </p:spPr>
      </p:sp>
      <p:sp>
        <p:nvSpPr>
          <p:cNvPr id="17" name="icon-bg-83"/>
          <p:cNvSpPr/>
          <p:nvPr/>
        </p:nvSpPr>
        <p:spPr>
          <a:xfrm>
            <a:off x="8366760" y="1508760"/>
            <a:ext cx="566928" cy="566928"/>
          </a:xfrm>
          <a:prstGeom prst="ellipse">
            <a:avLst/>
          </a:prstGeom>
          <a:solidFill>
            <a:schemeClr val="accent1"/>
          </a:solidFill>
          <a:ln w="12700">
            <a:solidFill>
              <a:schemeClr val="accent1"/>
            </a:solidFill>
            <a:prstDash val="solid"/>
          </a:ln>
        </p:spPr>
      </p:sp>
      <p:pic>
        <p:nvPicPr>
          <p:cNvPr id="18" name="icon-84" descr="preencoded.png"/>
          <p:cNvPicPr>
            <a:picLocks noChangeAspect="1"/>
          </p:cNvPicPr>
          <p:nvPr/>
        </p:nvPicPr>
        <p:blipFill>
          <a:blip r:embed="rId5"/>
          <a:stretch>
            <a:fillRect/>
          </a:stretch>
        </p:blipFill>
        <p:spPr>
          <a:xfrm>
            <a:off x="8502823" y="1644823"/>
            <a:ext cx="294803" cy="294803"/>
          </a:xfrm>
          <a:prstGeom prst="rect">
            <a:avLst/>
          </a:prstGeom>
        </p:spPr>
      </p:pic>
      <p:sp>
        <p:nvSpPr>
          <p:cNvPr id="19" name="Text 13"/>
          <p:cNvSpPr txBox="1"/>
          <p:nvPr/>
        </p:nvSpPr>
        <p:spPr>
          <a:xfrm>
            <a:off x="9052560" y="1481328"/>
            <a:ext cx="2468880" cy="365760"/>
          </a:xfrm>
          <a:prstGeom prst="rect">
            <a:avLst/>
          </a:prstGeom>
          <a:noFill/>
          <a:ln/>
        </p:spPr>
        <p:txBody>
          <a:bodyPr wrap="square" lIns="0" tIns="0" rIns="0" bIns="0" rtlCol="0" anchor="t"/>
          <a:lstStyle/>
          <a:p>
            <a:pPr marL="0" indent="0">
              <a:buNone/>
            </a:pPr>
            <a:r>
              <a:rPr lang="en-US" sz="1800" b="1" dirty="0">
                <a:solidFill>
                  <a:schemeClr val="tx2"/>
                </a:solidFill>
              </a:rPr>
              <a:t>Camera node</a:t>
            </a:r>
            <a:endParaRPr lang="en-US" sz="1800" dirty="0"/>
          </a:p>
        </p:txBody>
      </p:sp>
      <p:sp>
        <p:nvSpPr>
          <p:cNvPr id="20" name="Text 14"/>
          <p:cNvSpPr txBox="1"/>
          <p:nvPr/>
        </p:nvSpPr>
        <p:spPr>
          <a:xfrm>
            <a:off x="9052560" y="1828800"/>
            <a:ext cx="2468880" cy="320040"/>
          </a:xfrm>
          <a:prstGeom prst="rect">
            <a:avLst/>
          </a:prstGeom>
          <a:noFill/>
          <a:ln/>
        </p:spPr>
        <p:txBody>
          <a:bodyPr wrap="square" lIns="0" tIns="0" rIns="0" bIns="0" rtlCol="0" anchor="t"/>
          <a:lstStyle/>
          <a:p>
            <a:pPr marL="0" indent="0">
              <a:buNone/>
            </a:pPr>
            <a:r>
              <a:rPr lang="en-US" sz="1300" dirty="0">
                <a:solidFill>
                  <a:schemeClr val="accent6"/>
                </a:solidFill>
              </a:rPr>
              <a:t>ESP32-CAM, OV3660 sensor</a:t>
            </a:r>
            <a:endParaRPr lang="en-US" sz="1300" dirty="0"/>
          </a:p>
        </p:txBody>
      </p:sp>
      <p:sp>
        <p:nvSpPr>
          <p:cNvPr id="21" name="Text 15"/>
          <p:cNvSpPr txBox="1"/>
          <p:nvPr/>
        </p:nvSpPr>
        <p:spPr>
          <a:xfrm>
            <a:off x="8366760" y="2331720"/>
            <a:ext cx="3063240" cy="228600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MJPEG video on port 81</a:t>
            </a:r>
            <a:endParaRPr lang="en-US" sz="1500" dirty="0"/>
          </a:p>
          <a:p>
            <a:pPr marL="177800" indent="-177800">
              <a:spcAft>
                <a:spcPts val="500"/>
              </a:spcAft>
              <a:buSzPct val="100000"/>
              <a:buChar char="•"/>
            </a:pPr>
            <a:r>
              <a:rPr lang="en-US" sz="1500" dirty="0">
                <a:solidFill>
                  <a:schemeClr val="tx1"/>
                </a:solidFill>
              </a:rPr>
              <a:t>Single photo on port 80</a:t>
            </a:r>
            <a:endParaRPr lang="en-US" sz="1500" dirty="0"/>
          </a:p>
          <a:p>
            <a:pPr marL="177800" indent="-177800">
              <a:spcAft>
                <a:spcPts val="500"/>
              </a:spcAft>
              <a:buSzPct val="100000"/>
              <a:buChar char="•"/>
            </a:pPr>
            <a:r>
              <a:rPr lang="en-US" sz="1500" dirty="0">
                <a:solidFill>
                  <a:schemeClr val="tx1"/>
                </a:solidFill>
              </a:rPr>
              <a:t>Registers itself at boot</a:t>
            </a:r>
            <a:endParaRPr lang="en-US" sz="1500" dirty="0"/>
          </a:p>
        </p:txBody>
      </p:sp>
      <p:sp>
        <p:nvSpPr>
          <p:cNvPr id="22" name="arrow-85"/>
          <p:cNvSpPr/>
          <p:nvPr/>
        </p:nvSpPr>
        <p:spPr>
          <a:xfrm>
            <a:off x="4041648" y="2788920"/>
            <a:ext cx="292608" cy="365760"/>
          </a:xfrm>
          <a:prstGeom prst="rightArrow">
            <a:avLst/>
          </a:prstGeom>
          <a:solidFill>
            <a:schemeClr val="accent1"/>
          </a:solidFill>
          <a:ln w="12700">
            <a:solidFill>
              <a:schemeClr val="accent1"/>
            </a:solidFill>
            <a:prstDash val="solid"/>
          </a:ln>
        </p:spPr>
      </p:sp>
      <p:sp>
        <p:nvSpPr>
          <p:cNvPr id="23" name="arrow-86"/>
          <p:cNvSpPr/>
          <p:nvPr/>
        </p:nvSpPr>
        <p:spPr>
          <a:xfrm>
            <a:off x="7836408" y="2788920"/>
            <a:ext cx="292608" cy="365760"/>
          </a:xfrm>
          <a:prstGeom prst="leftArrow">
            <a:avLst/>
          </a:prstGeom>
          <a:solidFill>
            <a:schemeClr val="accent1"/>
          </a:solidFill>
          <a:ln w="12700">
            <a:solidFill>
              <a:schemeClr val="accent1"/>
            </a:solidFill>
            <a:prstDash val="solid"/>
          </a:ln>
        </p:spPr>
      </p:sp>
      <p:sp>
        <p:nvSpPr>
          <p:cNvPr id="24" name="Text 18"/>
          <p:cNvSpPr txBox="1"/>
          <p:nvPr/>
        </p:nvSpPr>
        <p:spPr>
          <a:xfrm>
            <a:off x="548640" y="4846320"/>
            <a:ext cx="3474720" cy="320040"/>
          </a:xfrm>
          <a:prstGeom prst="rect">
            <a:avLst/>
          </a:prstGeom>
          <a:noFill/>
          <a:ln/>
        </p:spPr>
        <p:txBody>
          <a:bodyPr wrap="square" lIns="0" tIns="0" rIns="0" bIns="0" rtlCol="0" anchor="t"/>
          <a:lstStyle/>
          <a:p>
            <a:pPr marL="0" indent="0" algn="r">
              <a:buNone/>
            </a:pPr>
            <a:r>
              <a:rPr lang="en-US" sz="1400" b="1" dirty="0">
                <a:solidFill>
                  <a:schemeClr val="accent1"/>
                </a:solidFill>
              </a:rPr>
              <a:t>JSON every 5 s</a:t>
            </a:r>
            <a:endParaRPr lang="en-US" sz="1400" dirty="0"/>
          </a:p>
        </p:txBody>
      </p:sp>
      <p:sp>
        <p:nvSpPr>
          <p:cNvPr id="25" name="Text 19"/>
          <p:cNvSpPr txBox="1"/>
          <p:nvPr/>
        </p:nvSpPr>
        <p:spPr>
          <a:xfrm>
            <a:off x="8138160" y="4846320"/>
            <a:ext cx="3474720" cy="320040"/>
          </a:xfrm>
          <a:prstGeom prst="rect">
            <a:avLst/>
          </a:prstGeom>
          <a:noFill/>
          <a:ln/>
        </p:spPr>
        <p:txBody>
          <a:bodyPr wrap="square" lIns="0" tIns="0" rIns="0" bIns="0" rtlCol="0" anchor="t"/>
          <a:lstStyle/>
          <a:p>
            <a:pPr marL="0" indent="0">
              <a:buNone/>
            </a:pPr>
            <a:r>
              <a:rPr lang="en-US" sz="1400" b="1" dirty="0">
                <a:solidFill>
                  <a:schemeClr val="accent1"/>
                </a:solidFill>
              </a:rPr>
              <a:t>MJPEG video, 16–20 fps</a:t>
            </a:r>
            <a:endParaRPr lang="en-US" sz="1400" dirty="0"/>
          </a:p>
        </p:txBody>
      </p:sp>
      <p:sp>
        <p:nvSpPr>
          <p:cNvPr id="26" name="panel-87"/>
          <p:cNvSpPr/>
          <p:nvPr/>
        </p:nvSpPr>
        <p:spPr>
          <a:xfrm>
            <a:off x="548640" y="5349240"/>
            <a:ext cx="11064240" cy="868680"/>
          </a:xfrm>
          <a:prstGeom prst="roundRect">
            <a:avLst>
              <a:gd name="adj" fmla="val 10526"/>
            </a:avLst>
          </a:prstGeom>
          <a:solidFill>
            <a:schemeClr val="bg2"/>
          </a:solidFill>
          <a:ln w="12700">
            <a:solidFill>
              <a:schemeClr val="bg2"/>
            </a:solidFill>
            <a:prstDash val="solid"/>
          </a:ln>
        </p:spPr>
      </p:sp>
      <p:sp>
        <p:nvSpPr>
          <p:cNvPr id="27" name="Text 21"/>
          <p:cNvSpPr txBox="1"/>
          <p:nvPr/>
        </p:nvSpPr>
        <p:spPr>
          <a:xfrm>
            <a:off x="777240" y="5349240"/>
            <a:ext cx="10698480" cy="868680"/>
          </a:xfrm>
          <a:prstGeom prst="rect">
            <a:avLst/>
          </a:prstGeom>
          <a:noFill/>
          <a:ln/>
        </p:spPr>
        <p:txBody>
          <a:bodyPr wrap="square" lIns="0" tIns="0" rIns="0" bIns="0" rtlCol="0" anchor="ctr"/>
          <a:lstStyle/>
          <a:p>
            <a:pPr marL="0" indent="0">
              <a:buNone/>
            </a:pPr>
            <a:r>
              <a:rPr lang="en-US" sz="1500" b="1" dirty="0">
                <a:solidFill>
                  <a:schemeClr val="tx2"/>
                </a:solidFill>
              </a:rPr>
              <a:t>Platform  </a:t>
            </a:r>
            <a:r>
              <a:rPr lang="en-US" sz="1500" dirty="0">
                <a:solidFill>
                  <a:schemeClr val="tx1"/>
                </a:solidFill>
              </a:rPr>
              <a:t>SpotMicro-based printed chassis carrying both nodes  ·  12 × MG996R servos  ·  gait validated in MuJoCo  ·  any phone on the hotspot can open the dashboard</a:t>
            </a:r>
            <a:endParaRPr lang="en-US" sz="15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Data Flow: From Sensor to Tagged Diagnosis</a:t>
            </a:r>
            <a:endParaRPr lang="en-US" sz="3000" dirty="0"/>
          </a:p>
        </p:txBody>
      </p:sp>
      <p:sp>
        <p:nvSpPr>
          <p:cNvPr id="4" name="Text 1"/>
          <p:cNvSpPr txBox="1"/>
          <p:nvPr/>
        </p:nvSpPr>
        <p:spPr>
          <a:xfrm>
            <a:off x="548640" y="1280160"/>
            <a:ext cx="3657600" cy="365760"/>
          </a:xfrm>
          <a:prstGeom prst="rect">
            <a:avLst/>
          </a:prstGeom>
          <a:noFill/>
          <a:ln/>
        </p:spPr>
        <p:txBody>
          <a:bodyPr wrap="square" lIns="0" tIns="0" rIns="0" bIns="0" rtlCol="0" anchor="t"/>
          <a:lstStyle/>
          <a:p>
            <a:pPr marL="0" indent="0">
              <a:buNone/>
            </a:pPr>
            <a:r>
              <a:rPr lang="en-US" sz="1800" b="1" dirty="0">
                <a:solidFill>
                  <a:schemeClr val="tx2"/>
                </a:solidFill>
              </a:rPr>
              <a:t>Sensor stream</a:t>
            </a:r>
            <a:endParaRPr lang="en-US" sz="1800" dirty="0"/>
          </a:p>
        </p:txBody>
      </p:sp>
      <p:sp>
        <p:nvSpPr>
          <p:cNvPr id="5" name="panel-88"/>
          <p:cNvSpPr/>
          <p:nvPr/>
        </p:nvSpPr>
        <p:spPr>
          <a:xfrm>
            <a:off x="548640" y="1737360"/>
            <a:ext cx="2560320" cy="1920240"/>
          </a:xfrm>
          <a:prstGeom prst="roundRect">
            <a:avLst>
              <a:gd name="adj" fmla="val 4762"/>
            </a:avLst>
          </a:prstGeom>
          <a:solidFill>
            <a:schemeClr val="bg2"/>
          </a:solidFill>
          <a:ln w="12700">
            <a:solidFill>
              <a:schemeClr val="bg2"/>
            </a:solidFill>
            <a:prstDash val="solid"/>
          </a:ln>
        </p:spPr>
      </p:sp>
      <p:sp>
        <p:nvSpPr>
          <p:cNvPr id="6" name="icon-bg-89"/>
          <p:cNvSpPr/>
          <p:nvPr/>
        </p:nvSpPr>
        <p:spPr>
          <a:xfrm>
            <a:off x="731520" y="1874520"/>
            <a:ext cx="502920" cy="502920"/>
          </a:xfrm>
          <a:prstGeom prst="ellipse">
            <a:avLst/>
          </a:prstGeom>
          <a:solidFill>
            <a:schemeClr val="accent1"/>
          </a:solidFill>
          <a:ln w="12700">
            <a:solidFill>
              <a:schemeClr val="accent1"/>
            </a:solidFill>
            <a:prstDash val="solid"/>
          </a:ln>
        </p:spPr>
      </p:sp>
      <p:pic>
        <p:nvPicPr>
          <p:cNvPr id="7" name="icon-90" descr="preencoded.png"/>
          <p:cNvPicPr>
            <a:picLocks noChangeAspect="1"/>
          </p:cNvPicPr>
          <p:nvPr/>
        </p:nvPicPr>
        <p:blipFill>
          <a:blip r:embed="rId3"/>
          <a:stretch>
            <a:fillRect/>
          </a:stretch>
        </p:blipFill>
        <p:spPr>
          <a:xfrm>
            <a:off x="852221" y="1995221"/>
            <a:ext cx="261518" cy="261518"/>
          </a:xfrm>
          <a:prstGeom prst="rect">
            <a:avLst/>
          </a:prstGeom>
        </p:spPr>
      </p:pic>
      <p:sp>
        <p:nvSpPr>
          <p:cNvPr id="8" name="Text 4"/>
          <p:cNvSpPr txBox="1"/>
          <p:nvPr/>
        </p:nvSpPr>
        <p:spPr>
          <a:xfrm>
            <a:off x="731520" y="2468880"/>
            <a:ext cx="2240280" cy="1097280"/>
          </a:xfrm>
          <a:prstGeom prst="rect">
            <a:avLst/>
          </a:prstGeom>
          <a:noFill/>
          <a:ln/>
        </p:spPr>
        <p:txBody>
          <a:bodyPr wrap="square" lIns="0" tIns="0" rIns="0" bIns="0" rtlCol="0" anchor="t"/>
          <a:lstStyle/>
          <a:p>
            <a:pPr marL="0" indent="0">
              <a:buNone/>
            </a:pPr>
            <a:r>
              <a:rPr lang="en-US" sz="1600" dirty="0">
                <a:solidFill>
                  <a:schemeClr val="tx1"/>
                </a:solidFill>
              </a:rPr>
              <a:t>Sample: gas 1 s, temperature 2 s, dust 30 s</a:t>
            </a:r>
            <a:endParaRPr lang="en-US" sz="1600" dirty="0"/>
          </a:p>
        </p:txBody>
      </p:sp>
      <p:sp>
        <p:nvSpPr>
          <p:cNvPr id="9" name="arrow-91"/>
          <p:cNvSpPr/>
          <p:nvPr/>
        </p:nvSpPr>
        <p:spPr>
          <a:xfrm>
            <a:off x="3136392" y="2560320"/>
            <a:ext cx="219456" cy="274320"/>
          </a:xfrm>
          <a:prstGeom prst="rightArrow">
            <a:avLst/>
          </a:prstGeom>
          <a:solidFill>
            <a:schemeClr val="accent1"/>
          </a:solidFill>
          <a:ln w="12700">
            <a:solidFill>
              <a:schemeClr val="accent1"/>
            </a:solidFill>
            <a:prstDash val="solid"/>
          </a:ln>
        </p:spPr>
      </p:sp>
      <p:sp>
        <p:nvSpPr>
          <p:cNvPr id="10" name="panel-92"/>
          <p:cNvSpPr/>
          <p:nvPr/>
        </p:nvSpPr>
        <p:spPr>
          <a:xfrm>
            <a:off x="3383280" y="1737360"/>
            <a:ext cx="2560320" cy="1920240"/>
          </a:xfrm>
          <a:prstGeom prst="roundRect">
            <a:avLst>
              <a:gd name="adj" fmla="val 4762"/>
            </a:avLst>
          </a:prstGeom>
          <a:solidFill>
            <a:schemeClr val="bg2"/>
          </a:solidFill>
          <a:ln w="12700">
            <a:solidFill>
              <a:schemeClr val="bg2"/>
            </a:solidFill>
            <a:prstDash val="solid"/>
          </a:ln>
        </p:spPr>
      </p:sp>
      <p:sp>
        <p:nvSpPr>
          <p:cNvPr id="11" name="icon-bg-93"/>
          <p:cNvSpPr/>
          <p:nvPr/>
        </p:nvSpPr>
        <p:spPr>
          <a:xfrm>
            <a:off x="3566160" y="1874520"/>
            <a:ext cx="502920" cy="502920"/>
          </a:xfrm>
          <a:prstGeom prst="ellipse">
            <a:avLst/>
          </a:prstGeom>
          <a:solidFill>
            <a:schemeClr val="accent1"/>
          </a:solidFill>
          <a:ln w="12700">
            <a:solidFill>
              <a:schemeClr val="accent1"/>
            </a:solidFill>
            <a:prstDash val="solid"/>
          </a:ln>
        </p:spPr>
      </p:sp>
      <p:pic>
        <p:nvPicPr>
          <p:cNvPr id="12" name="icon-94" descr="preencoded.png"/>
          <p:cNvPicPr>
            <a:picLocks noChangeAspect="1"/>
          </p:cNvPicPr>
          <p:nvPr/>
        </p:nvPicPr>
        <p:blipFill>
          <a:blip r:embed="rId4"/>
          <a:stretch>
            <a:fillRect/>
          </a:stretch>
        </p:blipFill>
        <p:spPr>
          <a:xfrm>
            <a:off x="3686861" y="1995221"/>
            <a:ext cx="261518" cy="261518"/>
          </a:xfrm>
          <a:prstGeom prst="rect">
            <a:avLst/>
          </a:prstGeom>
        </p:spPr>
      </p:pic>
      <p:sp>
        <p:nvSpPr>
          <p:cNvPr id="13" name="Text 8"/>
          <p:cNvSpPr txBox="1"/>
          <p:nvPr/>
        </p:nvSpPr>
        <p:spPr>
          <a:xfrm>
            <a:off x="3566160" y="2468880"/>
            <a:ext cx="2240280" cy="1097280"/>
          </a:xfrm>
          <a:prstGeom prst="rect">
            <a:avLst/>
          </a:prstGeom>
          <a:noFill/>
          <a:ln/>
        </p:spPr>
        <p:txBody>
          <a:bodyPr wrap="square" lIns="0" tIns="0" rIns="0" bIns="0" rtlCol="0" anchor="t"/>
          <a:lstStyle/>
          <a:p>
            <a:pPr marL="0" indent="0">
              <a:buNone/>
            </a:pPr>
            <a:r>
              <a:rPr lang="en-US" sz="1600" dirty="0">
                <a:solidFill>
                  <a:schemeClr val="tx1"/>
                </a:solidFill>
              </a:rPr>
              <a:t>Post JSON to /api/sensors every 5 s</a:t>
            </a:r>
            <a:endParaRPr lang="en-US" sz="1600" dirty="0"/>
          </a:p>
        </p:txBody>
      </p:sp>
      <p:sp>
        <p:nvSpPr>
          <p:cNvPr id="14" name="arrow-95"/>
          <p:cNvSpPr/>
          <p:nvPr/>
        </p:nvSpPr>
        <p:spPr>
          <a:xfrm>
            <a:off x="5971032" y="2560320"/>
            <a:ext cx="219456" cy="274320"/>
          </a:xfrm>
          <a:prstGeom prst="rightArrow">
            <a:avLst/>
          </a:prstGeom>
          <a:solidFill>
            <a:schemeClr val="accent1"/>
          </a:solidFill>
          <a:ln w="12700">
            <a:solidFill>
              <a:schemeClr val="accent1"/>
            </a:solidFill>
            <a:prstDash val="solid"/>
          </a:ln>
        </p:spPr>
      </p:sp>
      <p:sp>
        <p:nvSpPr>
          <p:cNvPr id="15" name="panel-96"/>
          <p:cNvSpPr/>
          <p:nvPr/>
        </p:nvSpPr>
        <p:spPr>
          <a:xfrm>
            <a:off x="6217920" y="1737360"/>
            <a:ext cx="2560320" cy="1920240"/>
          </a:xfrm>
          <a:prstGeom prst="roundRect">
            <a:avLst>
              <a:gd name="adj" fmla="val 4762"/>
            </a:avLst>
          </a:prstGeom>
          <a:solidFill>
            <a:schemeClr val="bg2"/>
          </a:solidFill>
          <a:ln w="12700">
            <a:solidFill>
              <a:schemeClr val="bg2"/>
            </a:solidFill>
            <a:prstDash val="solid"/>
          </a:ln>
        </p:spPr>
      </p:sp>
      <p:sp>
        <p:nvSpPr>
          <p:cNvPr id="16" name="icon-bg-97"/>
          <p:cNvSpPr/>
          <p:nvPr/>
        </p:nvSpPr>
        <p:spPr>
          <a:xfrm>
            <a:off x="6400800" y="1874520"/>
            <a:ext cx="502920" cy="502920"/>
          </a:xfrm>
          <a:prstGeom prst="ellipse">
            <a:avLst/>
          </a:prstGeom>
          <a:solidFill>
            <a:schemeClr val="accent1"/>
          </a:solidFill>
          <a:ln w="12700">
            <a:solidFill>
              <a:schemeClr val="accent1"/>
            </a:solidFill>
            <a:prstDash val="solid"/>
          </a:ln>
        </p:spPr>
      </p:sp>
      <p:pic>
        <p:nvPicPr>
          <p:cNvPr id="17" name="icon-98" descr="preencoded.png"/>
          <p:cNvPicPr>
            <a:picLocks noChangeAspect="1"/>
          </p:cNvPicPr>
          <p:nvPr/>
        </p:nvPicPr>
        <p:blipFill>
          <a:blip r:embed="rId5"/>
          <a:stretch>
            <a:fillRect/>
          </a:stretch>
        </p:blipFill>
        <p:spPr>
          <a:xfrm>
            <a:off x="6521501" y="1995221"/>
            <a:ext cx="261518" cy="261518"/>
          </a:xfrm>
          <a:prstGeom prst="rect">
            <a:avLst/>
          </a:prstGeom>
        </p:spPr>
      </p:pic>
      <p:sp>
        <p:nvSpPr>
          <p:cNvPr id="18" name="Text 12"/>
          <p:cNvSpPr txBox="1"/>
          <p:nvPr/>
        </p:nvSpPr>
        <p:spPr>
          <a:xfrm>
            <a:off x="6400800" y="2468880"/>
            <a:ext cx="2240280" cy="1097280"/>
          </a:xfrm>
          <a:prstGeom prst="rect">
            <a:avLst/>
          </a:prstGeom>
          <a:noFill/>
          <a:ln/>
        </p:spPr>
        <p:txBody>
          <a:bodyPr wrap="square" lIns="0" tIns="0" rIns="0" bIns="0" rtlCol="0" anchor="t"/>
          <a:lstStyle/>
          <a:p>
            <a:pPr marL="0" indent="0">
              <a:buNone/>
            </a:pPr>
            <a:r>
              <a:rPr lang="en-US" sz="1600" dirty="0">
                <a:solidFill>
                  <a:schemeClr val="tx1"/>
                </a:solidFill>
              </a:rPr>
              <a:t>Grade good / moderate / high</a:t>
            </a:r>
            <a:endParaRPr lang="en-US" sz="1600" dirty="0"/>
          </a:p>
        </p:txBody>
      </p:sp>
      <p:sp>
        <p:nvSpPr>
          <p:cNvPr id="19" name="arrow-99"/>
          <p:cNvSpPr/>
          <p:nvPr/>
        </p:nvSpPr>
        <p:spPr>
          <a:xfrm>
            <a:off x="8805672" y="2560320"/>
            <a:ext cx="219456" cy="274320"/>
          </a:xfrm>
          <a:prstGeom prst="rightArrow">
            <a:avLst/>
          </a:prstGeom>
          <a:solidFill>
            <a:schemeClr val="accent1"/>
          </a:solidFill>
          <a:ln w="12700">
            <a:solidFill>
              <a:schemeClr val="accent1"/>
            </a:solidFill>
            <a:prstDash val="solid"/>
          </a:ln>
        </p:spPr>
      </p:sp>
      <p:sp>
        <p:nvSpPr>
          <p:cNvPr id="20" name="panel-100"/>
          <p:cNvSpPr/>
          <p:nvPr/>
        </p:nvSpPr>
        <p:spPr>
          <a:xfrm>
            <a:off x="9052560" y="1737360"/>
            <a:ext cx="2560320" cy="1920240"/>
          </a:xfrm>
          <a:prstGeom prst="roundRect">
            <a:avLst>
              <a:gd name="adj" fmla="val 4762"/>
            </a:avLst>
          </a:prstGeom>
          <a:solidFill>
            <a:schemeClr val="tx2"/>
          </a:solidFill>
          <a:ln w="12700">
            <a:solidFill>
              <a:schemeClr val="tx2"/>
            </a:solidFill>
            <a:prstDash val="solid"/>
          </a:ln>
        </p:spPr>
      </p:sp>
      <p:sp>
        <p:nvSpPr>
          <p:cNvPr id="21" name="icon-bg-101"/>
          <p:cNvSpPr/>
          <p:nvPr/>
        </p:nvSpPr>
        <p:spPr>
          <a:xfrm>
            <a:off x="9235440" y="1874520"/>
            <a:ext cx="502920" cy="502920"/>
          </a:xfrm>
          <a:prstGeom prst="ellipse">
            <a:avLst/>
          </a:prstGeom>
          <a:solidFill>
            <a:schemeClr val="accent2"/>
          </a:solidFill>
          <a:ln w="12700">
            <a:solidFill>
              <a:schemeClr val="accent2"/>
            </a:solidFill>
            <a:prstDash val="solid"/>
          </a:ln>
        </p:spPr>
      </p:sp>
      <p:pic>
        <p:nvPicPr>
          <p:cNvPr id="22" name="icon-102" descr="preencoded.png"/>
          <p:cNvPicPr>
            <a:picLocks noChangeAspect="1"/>
          </p:cNvPicPr>
          <p:nvPr/>
        </p:nvPicPr>
        <p:blipFill>
          <a:blip r:embed="rId6"/>
          <a:stretch>
            <a:fillRect/>
          </a:stretch>
        </p:blipFill>
        <p:spPr>
          <a:xfrm>
            <a:off x="9356141" y="1995221"/>
            <a:ext cx="261518" cy="261518"/>
          </a:xfrm>
          <a:prstGeom prst="rect">
            <a:avLst/>
          </a:prstGeom>
        </p:spPr>
      </p:pic>
      <p:sp>
        <p:nvSpPr>
          <p:cNvPr id="23" name="Text 16"/>
          <p:cNvSpPr txBox="1"/>
          <p:nvPr/>
        </p:nvSpPr>
        <p:spPr>
          <a:xfrm>
            <a:off x="9235440" y="2468880"/>
            <a:ext cx="2240280" cy="1097280"/>
          </a:xfrm>
          <a:prstGeom prst="rect">
            <a:avLst/>
          </a:prstGeom>
          <a:noFill/>
          <a:ln/>
        </p:spPr>
        <p:txBody>
          <a:bodyPr wrap="square" lIns="0" tIns="0" rIns="0" bIns="0" rtlCol="0" anchor="t"/>
          <a:lstStyle/>
          <a:p>
            <a:pPr marL="0" indent="0">
              <a:buNone/>
            </a:pPr>
            <a:r>
              <a:rPr lang="en-US" sz="1600" dirty="0">
                <a:solidFill>
                  <a:schemeClr val="bg1"/>
                </a:solidFill>
              </a:rPr>
              <a:t>Log to daily CSV, update live cards</a:t>
            </a:r>
            <a:endParaRPr lang="en-US" sz="1600" dirty="0"/>
          </a:p>
        </p:txBody>
      </p:sp>
      <p:sp>
        <p:nvSpPr>
          <p:cNvPr id="24" name="Text 17"/>
          <p:cNvSpPr txBox="1"/>
          <p:nvPr/>
        </p:nvSpPr>
        <p:spPr>
          <a:xfrm>
            <a:off x="548640" y="3794760"/>
            <a:ext cx="3657600" cy="365760"/>
          </a:xfrm>
          <a:prstGeom prst="rect">
            <a:avLst/>
          </a:prstGeom>
          <a:noFill/>
          <a:ln/>
        </p:spPr>
        <p:txBody>
          <a:bodyPr wrap="square" lIns="0" tIns="0" rIns="0" bIns="0" rtlCol="0" anchor="t"/>
          <a:lstStyle/>
          <a:p>
            <a:pPr marL="0" indent="0">
              <a:buNone/>
            </a:pPr>
            <a:r>
              <a:rPr lang="en-US" sz="1800" b="1" dirty="0">
                <a:solidFill>
                  <a:schemeClr val="tx2"/>
                </a:solidFill>
              </a:rPr>
              <a:t>Camera stream</a:t>
            </a:r>
            <a:endParaRPr lang="en-US" sz="1800" dirty="0"/>
          </a:p>
        </p:txBody>
      </p:sp>
      <p:sp>
        <p:nvSpPr>
          <p:cNvPr id="25" name="panel-103"/>
          <p:cNvSpPr/>
          <p:nvPr/>
        </p:nvSpPr>
        <p:spPr>
          <a:xfrm>
            <a:off x="548640" y="4251960"/>
            <a:ext cx="2560320" cy="1920240"/>
          </a:xfrm>
          <a:prstGeom prst="roundRect">
            <a:avLst>
              <a:gd name="adj" fmla="val 4762"/>
            </a:avLst>
          </a:prstGeom>
          <a:solidFill>
            <a:schemeClr val="bg2"/>
          </a:solidFill>
          <a:ln w="12700">
            <a:solidFill>
              <a:schemeClr val="bg2"/>
            </a:solidFill>
            <a:prstDash val="solid"/>
          </a:ln>
        </p:spPr>
      </p:sp>
      <p:sp>
        <p:nvSpPr>
          <p:cNvPr id="26" name="icon-bg-104"/>
          <p:cNvSpPr/>
          <p:nvPr/>
        </p:nvSpPr>
        <p:spPr>
          <a:xfrm>
            <a:off x="731520" y="4389120"/>
            <a:ext cx="502920" cy="502920"/>
          </a:xfrm>
          <a:prstGeom prst="ellipse">
            <a:avLst/>
          </a:prstGeom>
          <a:solidFill>
            <a:schemeClr val="accent1"/>
          </a:solidFill>
          <a:ln w="12700">
            <a:solidFill>
              <a:schemeClr val="accent1"/>
            </a:solidFill>
            <a:prstDash val="solid"/>
          </a:ln>
        </p:spPr>
      </p:sp>
      <p:pic>
        <p:nvPicPr>
          <p:cNvPr id="27" name="icon-105" descr="preencoded.png"/>
          <p:cNvPicPr>
            <a:picLocks noChangeAspect="1"/>
          </p:cNvPicPr>
          <p:nvPr/>
        </p:nvPicPr>
        <p:blipFill>
          <a:blip r:embed="rId7"/>
          <a:stretch>
            <a:fillRect/>
          </a:stretch>
        </p:blipFill>
        <p:spPr>
          <a:xfrm>
            <a:off x="852221" y="4509821"/>
            <a:ext cx="261518" cy="261518"/>
          </a:xfrm>
          <a:prstGeom prst="rect">
            <a:avLst/>
          </a:prstGeom>
        </p:spPr>
      </p:pic>
      <p:sp>
        <p:nvSpPr>
          <p:cNvPr id="28" name="Text 20"/>
          <p:cNvSpPr txBox="1"/>
          <p:nvPr/>
        </p:nvSpPr>
        <p:spPr>
          <a:xfrm>
            <a:off x="731520" y="4983480"/>
            <a:ext cx="2240280" cy="1097280"/>
          </a:xfrm>
          <a:prstGeom prst="rect">
            <a:avLst/>
          </a:prstGeom>
          <a:noFill/>
          <a:ln/>
        </p:spPr>
        <p:txBody>
          <a:bodyPr wrap="square" lIns="0" tIns="0" rIns="0" bIns="0" rtlCol="0" anchor="t"/>
          <a:lstStyle/>
          <a:p>
            <a:pPr marL="0" indent="0">
              <a:buNone/>
            </a:pPr>
            <a:r>
              <a:rPr lang="en-US" sz="1600" dirty="0">
                <a:solidFill>
                  <a:schemeClr val="tx1"/>
                </a:solidFill>
              </a:rPr>
              <a:t>ESP32-CAM streams MJPEG</a:t>
            </a:r>
            <a:endParaRPr lang="en-US" sz="1600" dirty="0"/>
          </a:p>
        </p:txBody>
      </p:sp>
      <p:sp>
        <p:nvSpPr>
          <p:cNvPr id="29" name="arrow-106"/>
          <p:cNvSpPr/>
          <p:nvPr/>
        </p:nvSpPr>
        <p:spPr>
          <a:xfrm>
            <a:off x="3136392" y="5074920"/>
            <a:ext cx="219456" cy="274320"/>
          </a:xfrm>
          <a:prstGeom prst="rightArrow">
            <a:avLst/>
          </a:prstGeom>
          <a:solidFill>
            <a:schemeClr val="accent1"/>
          </a:solidFill>
          <a:ln w="12700">
            <a:solidFill>
              <a:schemeClr val="accent1"/>
            </a:solidFill>
            <a:prstDash val="solid"/>
          </a:ln>
        </p:spPr>
      </p:sp>
      <p:sp>
        <p:nvSpPr>
          <p:cNvPr id="30" name="panel-107"/>
          <p:cNvSpPr/>
          <p:nvPr/>
        </p:nvSpPr>
        <p:spPr>
          <a:xfrm>
            <a:off x="3383280" y="4251960"/>
            <a:ext cx="2560320" cy="1920240"/>
          </a:xfrm>
          <a:prstGeom prst="roundRect">
            <a:avLst>
              <a:gd name="adj" fmla="val 4762"/>
            </a:avLst>
          </a:prstGeom>
          <a:solidFill>
            <a:schemeClr val="bg2"/>
          </a:solidFill>
          <a:ln w="12700">
            <a:solidFill>
              <a:schemeClr val="bg2"/>
            </a:solidFill>
            <a:prstDash val="solid"/>
          </a:ln>
        </p:spPr>
      </p:sp>
      <p:sp>
        <p:nvSpPr>
          <p:cNvPr id="31" name="icon-bg-108"/>
          <p:cNvSpPr/>
          <p:nvPr/>
        </p:nvSpPr>
        <p:spPr>
          <a:xfrm>
            <a:off x="3566160" y="4389120"/>
            <a:ext cx="502920" cy="502920"/>
          </a:xfrm>
          <a:prstGeom prst="ellipse">
            <a:avLst/>
          </a:prstGeom>
          <a:solidFill>
            <a:schemeClr val="accent1"/>
          </a:solidFill>
          <a:ln w="12700">
            <a:solidFill>
              <a:schemeClr val="accent1"/>
            </a:solidFill>
            <a:prstDash val="solid"/>
          </a:ln>
        </p:spPr>
      </p:sp>
      <p:pic>
        <p:nvPicPr>
          <p:cNvPr id="32" name="icon-109" descr="preencoded.png"/>
          <p:cNvPicPr>
            <a:picLocks noChangeAspect="1"/>
          </p:cNvPicPr>
          <p:nvPr/>
        </p:nvPicPr>
        <p:blipFill>
          <a:blip r:embed="rId8"/>
          <a:stretch>
            <a:fillRect/>
          </a:stretch>
        </p:blipFill>
        <p:spPr>
          <a:xfrm>
            <a:off x="3686861" y="4509821"/>
            <a:ext cx="261518" cy="261518"/>
          </a:xfrm>
          <a:prstGeom prst="rect">
            <a:avLst/>
          </a:prstGeom>
        </p:spPr>
      </p:pic>
      <p:sp>
        <p:nvSpPr>
          <p:cNvPr id="33" name="Text 24"/>
          <p:cNvSpPr txBox="1"/>
          <p:nvPr/>
        </p:nvSpPr>
        <p:spPr>
          <a:xfrm>
            <a:off x="3566160" y="4983480"/>
            <a:ext cx="2240280" cy="1097280"/>
          </a:xfrm>
          <a:prstGeom prst="rect">
            <a:avLst/>
          </a:prstGeom>
          <a:noFill/>
          <a:ln/>
        </p:spPr>
        <p:txBody>
          <a:bodyPr wrap="square" lIns="0" tIns="0" rIns="0" bIns="0" rtlCol="0" anchor="t"/>
          <a:lstStyle/>
          <a:p>
            <a:pPr marL="0" indent="0">
              <a:buNone/>
            </a:pPr>
            <a:r>
              <a:rPr lang="en-US" sz="1600" dirty="0">
                <a:solidFill>
                  <a:schemeClr val="tx1"/>
                </a:solidFill>
              </a:rPr>
              <a:t>Dashboard relays frames to every viewer</a:t>
            </a:r>
            <a:endParaRPr lang="en-US" sz="1600" dirty="0"/>
          </a:p>
        </p:txBody>
      </p:sp>
      <p:sp>
        <p:nvSpPr>
          <p:cNvPr id="34" name="arrow-110"/>
          <p:cNvSpPr/>
          <p:nvPr/>
        </p:nvSpPr>
        <p:spPr>
          <a:xfrm>
            <a:off x="5971032" y="5074920"/>
            <a:ext cx="219456" cy="274320"/>
          </a:xfrm>
          <a:prstGeom prst="rightArrow">
            <a:avLst/>
          </a:prstGeom>
          <a:solidFill>
            <a:schemeClr val="accent1"/>
          </a:solidFill>
          <a:ln w="12700">
            <a:solidFill>
              <a:schemeClr val="accent1"/>
            </a:solidFill>
            <a:prstDash val="solid"/>
          </a:ln>
        </p:spPr>
      </p:sp>
      <p:sp>
        <p:nvSpPr>
          <p:cNvPr id="35" name="panel-111"/>
          <p:cNvSpPr/>
          <p:nvPr/>
        </p:nvSpPr>
        <p:spPr>
          <a:xfrm>
            <a:off x="6217920" y="4251960"/>
            <a:ext cx="2560320" cy="1920240"/>
          </a:xfrm>
          <a:prstGeom prst="roundRect">
            <a:avLst>
              <a:gd name="adj" fmla="val 4762"/>
            </a:avLst>
          </a:prstGeom>
          <a:solidFill>
            <a:schemeClr val="bg2"/>
          </a:solidFill>
          <a:ln w="12700">
            <a:solidFill>
              <a:schemeClr val="bg2"/>
            </a:solidFill>
            <a:prstDash val="solid"/>
          </a:ln>
        </p:spPr>
      </p:sp>
      <p:sp>
        <p:nvSpPr>
          <p:cNvPr id="36" name="icon-bg-112"/>
          <p:cNvSpPr/>
          <p:nvPr/>
        </p:nvSpPr>
        <p:spPr>
          <a:xfrm>
            <a:off x="6400800" y="4389120"/>
            <a:ext cx="502920" cy="502920"/>
          </a:xfrm>
          <a:prstGeom prst="ellipse">
            <a:avLst/>
          </a:prstGeom>
          <a:solidFill>
            <a:schemeClr val="accent1"/>
          </a:solidFill>
          <a:ln w="12700">
            <a:solidFill>
              <a:schemeClr val="accent1"/>
            </a:solidFill>
            <a:prstDash val="solid"/>
          </a:ln>
        </p:spPr>
      </p:sp>
      <p:pic>
        <p:nvPicPr>
          <p:cNvPr id="37" name="icon-113" descr="preencoded.png"/>
          <p:cNvPicPr>
            <a:picLocks noChangeAspect="1"/>
          </p:cNvPicPr>
          <p:nvPr/>
        </p:nvPicPr>
        <p:blipFill>
          <a:blip r:embed="rId9"/>
          <a:stretch>
            <a:fillRect/>
          </a:stretch>
        </p:blipFill>
        <p:spPr>
          <a:xfrm>
            <a:off x="6521501" y="4509821"/>
            <a:ext cx="261518" cy="261518"/>
          </a:xfrm>
          <a:prstGeom prst="rect">
            <a:avLst/>
          </a:prstGeom>
        </p:spPr>
      </p:pic>
      <p:sp>
        <p:nvSpPr>
          <p:cNvPr id="38" name="Text 28"/>
          <p:cNvSpPr txBox="1"/>
          <p:nvPr/>
        </p:nvSpPr>
        <p:spPr>
          <a:xfrm>
            <a:off x="6400800" y="4983480"/>
            <a:ext cx="2240280" cy="1097280"/>
          </a:xfrm>
          <a:prstGeom prst="rect">
            <a:avLst/>
          </a:prstGeom>
          <a:noFill/>
          <a:ln/>
        </p:spPr>
        <p:txBody>
          <a:bodyPr wrap="square" lIns="0" tIns="0" rIns="0" bIns="0" rtlCol="0" anchor="t"/>
          <a:lstStyle/>
          <a:p>
            <a:pPr marL="0" indent="0">
              <a:buNone/>
            </a:pPr>
            <a:r>
              <a:rPr lang="en-US" sz="1600" dirty="0">
                <a:solidFill>
                  <a:schemeClr val="tx1"/>
                </a:solidFill>
              </a:rPr>
              <a:t>Scan: vegetation gate, then MobileNetV2</a:t>
            </a:r>
            <a:endParaRPr lang="en-US" sz="1600" dirty="0"/>
          </a:p>
        </p:txBody>
      </p:sp>
      <p:sp>
        <p:nvSpPr>
          <p:cNvPr id="39" name="arrow-114"/>
          <p:cNvSpPr/>
          <p:nvPr/>
        </p:nvSpPr>
        <p:spPr>
          <a:xfrm>
            <a:off x="8805672" y="5074920"/>
            <a:ext cx="219456" cy="274320"/>
          </a:xfrm>
          <a:prstGeom prst="rightArrow">
            <a:avLst/>
          </a:prstGeom>
          <a:solidFill>
            <a:schemeClr val="accent1"/>
          </a:solidFill>
          <a:ln w="12700">
            <a:solidFill>
              <a:schemeClr val="accent1"/>
            </a:solidFill>
            <a:prstDash val="solid"/>
          </a:ln>
        </p:spPr>
      </p:sp>
      <p:sp>
        <p:nvSpPr>
          <p:cNvPr id="40" name="panel-115"/>
          <p:cNvSpPr/>
          <p:nvPr/>
        </p:nvSpPr>
        <p:spPr>
          <a:xfrm>
            <a:off x="9052560" y="4251960"/>
            <a:ext cx="2560320" cy="1920240"/>
          </a:xfrm>
          <a:prstGeom prst="roundRect">
            <a:avLst>
              <a:gd name="adj" fmla="val 4762"/>
            </a:avLst>
          </a:prstGeom>
          <a:solidFill>
            <a:schemeClr val="tx2"/>
          </a:solidFill>
          <a:ln w="12700">
            <a:solidFill>
              <a:schemeClr val="tx2"/>
            </a:solidFill>
            <a:prstDash val="solid"/>
          </a:ln>
        </p:spPr>
      </p:sp>
      <p:sp>
        <p:nvSpPr>
          <p:cNvPr id="41" name="icon-bg-116"/>
          <p:cNvSpPr/>
          <p:nvPr/>
        </p:nvSpPr>
        <p:spPr>
          <a:xfrm>
            <a:off x="9235440" y="4389120"/>
            <a:ext cx="502920" cy="502920"/>
          </a:xfrm>
          <a:prstGeom prst="ellipse">
            <a:avLst/>
          </a:prstGeom>
          <a:solidFill>
            <a:schemeClr val="accent2"/>
          </a:solidFill>
          <a:ln w="12700">
            <a:solidFill>
              <a:schemeClr val="accent2"/>
            </a:solidFill>
            <a:prstDash val="solid"/>
          </a:ln>
        </p:spPr>
      </p:sp>
      <p:pic>
        <p:nvPicPr>
          <p:cNvPr id="42" name="icon-117" descr="preencoded.png"/>
          <p:cNvPicPr>
            <a:picLocks noChangeAspect="1"/>
          </p:cNvPicPr>
          <p:nvPr/>
        </p:nvPicPr>
        <p:blipFill>
          <a:blip r:embed="rId10"/>
          <a:stretch>
            <a:fillRect/>
          </a:stretch>
        </p:blipFill>
        <p:spPr>
          <a:xfrm>
            <a:off x="9356141" y="4509821"/>
            <a:ext cx="261518" cy="261518"/>
          </a:xfrm>
          <a:prstGeom prst="rect">
            <a:avLst/>
          </a:prstGeom>
        </p:spPr>
      </p:pic>
      <p:sp>
        <p:nvSpPr>
          <p:cNvPr id="43" name="Text 32"/>
          <p:cNvSpPr txBox="1"/>
          <p:nvPr/>
        </p:nvSpPr>
        <p:spPr>
          <a:xfrm>
            <a:off x="9235440" y="4983480"/>
            <a:ext cx="2240280" cy="1097280"/>
          </a:xfrm>
          <a:prstGeom prst="rect">
            <a:avLst/>
          </a:prstGeom>
          <a:noFill/>
          <a:ln/>
        </p:spPr>
        <p:txBody>
          <a:bodyPr wrap="square" lIns="0" tIns="0" rIns="0" bIns="0" rtlCol="0" anchor="t"/>
          <a:lstStyle/>
          <a:p>
            <a:pPr marL="0" indent="0">
              <a:buNone/>
            </a:pPr>
            <a:r>
              <a:rPr lang="en-US" sz="1600" dirty="0">
                <a:solidFill>
                  <a:schemeClr val="bg1"/>
                </a:solidFill>
              </a:rPr>
              <a:t>Save image tagged with crop, condition and readings</a:t>
            </a:r>
            <a:endParaRPr lang="en-US" sz="16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Sensor Node Hardware</a:t>
            </a:r>
            <a:endParaRPr lang="en-US" sz="3000" dirty="0"/>
          </a:p>
        </p:txBody>
      </p:sp>
      <p:pic>
        <p:nvPicPr>
          <p:cNvPr id="4" name="image-118" descr="photo_oled.jpg"/>
          <p:cNvPicPr>
            <a:picLocks noChangeAspect="1"/>
          </p:cNvPicPr>
          <p:nvPr/>
        </p:nvPicPr>
        <p:blipFill>
          <a:blip r:embed="rId3"/>
          <a:stretch>
            <a:fillRect/>
          </a:stretch>
        </p:blipFill>
        <p:spPr>
          <a:xfrm>
            <a:off x="548640" y="1325880"/>
            <a:ext cx="4480560" cy="2520315"/>
          </a:xfrm>
          <a:prstGeom prst="rect">
            <a:avLst/>
          </a:prstGeom>
        </p:spPr>
      </p:pic>
      <p:sp>
        <p:nvSpPr>
          <p:cNvPr id="5" name="Text 1"/>
          <p:cNvSpPr txBox="1"/>
          <p:nvPr/>
        </p:nvSpPr>
        <p:spPr>
          <a:xfrm>
            <a:off x="548640" y="3919347"/>
            <a:ext cx="4480560" cy="274320"/>
          </a:xfrm>
          <a:prstGeom prst="rect">
            <a:avLst/>
          </a:prstGeom>
          <a:noFill/>
          <a:ln/>
        </p:spPr>
        <p:txBody>
          <a:bodyPr wrap="square" lIns="0" tIns="0" rIns="0" bIns="0" rtlCol="0" anchor="t"/>
          <a:lstStyle/>
          <a:p>
            <a:pPr marL="0" indent="0">
              <a:buNone/>
            </a:pPr>
            <a:r>
              <a:rPr lang="en-US" sz="1200" i="1" dirty="0">
                <a:solidFill>
                  <a:schemeClr val="accent6"/>
                </a:solidFill>
              </a:rPr>
              <a:t>Live readings and IP address on the node's OLED</a:t>
            </a:r>
            <a:endParaRPr lang="en-US" sz="1200" dirty="0"/>
          </a:p>
        </p:txBody>
      </p:sp>
      <p:sp>
        <p:nvSpPr>
          <p:cNvPr id="6" name="panel-119"/>
          <p:cNvSpPr/>
          <p:nvPr/>
        </p:nvSpPr>
        <p:spPr>
          <a:xfrm>
            <a:off x="548640" y="4343400"/>
            <a:ext cx="4480560" cy="1828800"/>
          </a:xfrm>
          <a:prstGeom prst="roundRect">
            <a:avLst>
              <a:gd name="adj" fmla="val 5000"/>
            </a:avLst>
          </a:prstGeom>
          <a:solidFill>
            <a:schemeClr val="bg2"/>
          </a:solidFill>
          <a:ln w="12700">
            <a:solidFill>
              <a:schemeClr val="bg2"/>
            </a:solidFill>
            <a:prstDash val="solid"/>
          </a:ln>
        </p:spPr>
      </p:sp>
      <p:sp>
        <p:nvSpPr>
          <p:cNvPr id="7" name="Text 3"/>
          <p:cNvSpPr txBox="1"/>
          <p:nvPr/>
        </p:nvSpPr>
        <p:spPr>
          <a:xfrm>
            <a:off x="777240" y="4480560"/>
            <a:ext cx="4069080" cy="1600200"/>
          </a:xfrm>
          <a:prstGeom prst="rect">
            <a:avLst/>
          </a:prstGeom>
          <a:noFill/>
          <a:ln/>
        </p:spPr>
        <p:txBody>
          <a:bodyPr wrap="square" lIns="0" tIns="0" rIns="0" bIns="0" rtlCol="0" anchor="t"/>
          <a:lstStyle/>
          <a:p>
            <a:pPr marL="0" indent="0">
              <a:buNone/>
            </a:pPr>
            <a:r>
              <a:rPr lang="en-US" sz="1500" b="1" dirty="0">
                <a:solidFill>
                  <a:schemeClr val="tx2"/>
                </a:solidFill>
              </a:rPr>
              <a:t>5 V → 3.3 V safely  </a:t>
            </a:r>
            <a:endParaRPr lang="en-US" sz="1500" dirty="0"/>
          </a:p>
          <a:p>
            <a:pPr marL="0" indent="0">
              <a:buNone/>
            </a:pPr>
            <a:r>
              <a:rPr lang="en-US" sz="1500" dirty="0">
                <a:solidFill>
                  <a:schemeClr val="tx1"/>
                </a:solidFill>
              </a:rPr>
              <a:t>Every 5 V sensor output reaches the XIAO through a 1 kΩ / 2 kΩ divider: 5 V becomes 3.33 V, and the PPD42's 4 V becomes 2.67 V.</a:t>
            </a:r>
            <a:endParaRPr lang="en-US" sz="1500" dirty="0"/>
          </a:p>
        </p:txBody>
      </p:sp>
      <p:graphicFrame>
        <p:nvGraphicFramePr>
          <p:cNvPr id="15" name="table-120"/>
          <p:cNvGraphicFramePr>
            <a:graphicFrameLocks noGrp="1"/>
          </p:cNvGraphicFramePr>
          <p:nvPr>
            <p:extLst>
              <p:ext uri="{D42A27DB-BD31-4B8C-83A1-F6EECF244321}">
                <p14:modId xmlns:p14="http://schemas.microsoft.com/office/powerpoint/2010/main" val="1579011935"/>
              </p:ext>
            </p:extLst>
          </p:nvPr>
        </p:nvGraphicFramePr>
        <p:xfrm>
          <a:off x="5349240" y="1325880"/>
          <a:ext cx="6263640" cy="3712464"/>
        </p:xfrm>
        <a:graphic>
          <a:graphicData uri="http://schemas.openxmlformats.org/drawingml/2006/table">
            <a:tbl>
              <a:tblPr/>
              <a:tblGrid>
                <a:gridCol w="1691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530352">
                <a:tc>
                  <a:txBody>
                    <a:bodyPr/>
                    <a:lstStyle/>
                    <a:p>
                      <a:pPr marL="0" indent="0">
                        <a:buNone/>
                      </a:pPr>
                      <a:r>
                        <a:rPr lang="en-US" sz="1400" b="1" dirty="0">
                          <a:solidFill>
                            <a:schemeClr val="bg1"/>
                          </a:solidFill>
                        </a:rPr>
                        <a:t>Sensor</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Measures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Interface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Status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30352">
                <a:tc>
                  <a:txBody>
                    <a:bodyPr/>
                    <a:lstStyle/>
                    <a:p>
                      <a:pPr marL="0" indent="0">
                        <a:buNone/>
                      </a:pPr>
                      <a:r>
                        <a:rPr lang="en-US" sz="1400" dirty="0">
                          <a:solidFill>
                            <a:schemeClr val="tx1"/>
                          </a:solidFill>
                        </a:rPr>
                        <a:t>SGP30</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TVOC, eCO₂</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I²C 0x58</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b="1" dirty="0">
                          <a:solidFill>
                            <a:schemeClr val="accent1"/>
                          </a:solidFill>
                        </a:rPr>
                        <a:t>Live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30352">
                <a:tc>
                  <a:txBody>
                    <a:bodyPr/>
                    <a:lstStyle/>
                    <a:p>
                      <a:pPr marL="0" indent="0">
                        <a:buNone/>
                      </a:pPr>
                      <a:r>
                        <a:rPr lang="en-US" sz="1400" dirty="0">
                          <a:solidFill>
                            <a:schemeClr val="tx1"/>
                          </a:solidFill>
                        </a:rPr>
                        <a:t>MCP9808</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Temperature, ±0.25 °C</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I²C 0x18</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b="1" dirty="0">
                          <a:solidFill>
                            <a:schemeClr val="accent1"/>
                          </a:solidFill>
                        </a:rPr>
                        <a:t>Live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30352">
                <a:tc>
                  <a:txBody>
                    <a:bodyPr/>
                    <a:lstStyle/>
                    <a:p>
                      <a:pPr marL="0" indent="0">
                        <a:buNone/>
                      </a:pPr>
                      <a:r>
                        <a:rPr lang="en-US" sz="1400" dirty="0">
                          <a:solidFill>
                            <a:schemeClr val="tx1"/>
                          </a:solidFill>
                        </a:rPr>
                        <a:t>PPD42</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Particles &gt; 1 µm</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D0, via divider</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b="1" dirty="0">
                          <a:solidFill>
                            <a:schemeClr val="accent1"/>
                          </a:solidFill>
                        </a:rPr>
                        <a:t>Live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30352">
                <a:tc>
                  <a:txBody>
                    <a:bodyPr/>
                    <a:lstStyle/>
                    <a:p>
                      <a:pPr marL="0" indent="0">
                        <a:buNone/>
                      </a:pPr>
                      <a:r>
                        <a:rPr lang="en-US" sz="1400" dirty="0">
                          <a:solidFill>
                            <a:schemeClr val="tx1"/>
                          </a:solidFill>
                        </a:rPr>
                        <a:t>OLED, buzzer, button</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Display and alerts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On board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b="1" dirty="0">
                          <a:solidFill>
                            <a:schemeClr val="accent1"/>
                          </a:solidFill>
                        </a:rPr>
                        <a:t>Live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30352">
                <a:tc>
                  <a:txBody>
                    <a:bodyPr/>
                    <a:lstStyle/>
                    <a:p>
                      <a:pPr marL="0" indent="0">
                        <a:buNone/>
                      </a:pPr>
                      <a:r>
                        <a:rPr lang="en-US" sz="1400" dirty="0">
                          <a:solidFill>
                            <a:schemeClr val="tx1"/>
                          </a:solidFill>
                        </a:rPr>
                        <a:t>HC-SR04 #1</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Obstacle, row end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D6 / D7</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b="1" dirty="0">
                          <a:solidFill>
                            <a:schemeClr val="accent3"/>
                          </a:solidFill>
                        </a:rPr>
                        <a:t>Wiring pending</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530352">
                <a:tc>
                  <a:txBody>
                    <a:bodyPr/>
                    <a:lstStyle/>
                    <a:p>
                      <a:pPr marL="0" indent="0">
                        <a:buNone/>
                      </a:pPr>
                      <a:r>
                        <a:rPr lang="en-US" sz="1400" dirty="0">
                          <a:solidFill>
                            <a:schemeClr val="tx1"/>
                          </a:solidFill>
                        </a:rPr>
                        <a:t>HC-SR04 #2</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Canopy height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D8 / D9</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b="1" dirty="0">
                          <a:solidFill>
                            <a:schemeClr val="accent3"/>
                          </a:solidFill>
                        </a:rPr>
                        <a:t>Wiring pending</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9" name="Text 4"/>
          <p:cNvSpPr txBox="1"/>
          <p:nvPr/>
        </p:nvSpPr>
        <p:spPr>
          <a:xfrm>
            <a:off x="5349240" y="5257800"/>
            <a:ext cx="6263640" cy="548640"/>
          </a:xfrm>
          <a:prstGeom prst="rect">
            <a:avLst/>
          </a:prstGeom>
          <a:noFill/>
          <a:ln/>
        </p:spPr>
        <p:txBody>
          <a:bodyPr wrap="square" lIns="0" tIns="0" rIns="0" bIns="0" rtlCol="0" anchor="t"/>
          <a:lstStyle/>
          <a:p>
            <a:pPr marL="0" indent="0">
              <a:buNone/>
            </a:pPr>
            <a:r>
              <a:rPr lang="en-US" sz="1300" i="1" dirty="0">
                <a:solidFill>
                  <a:schemeClr val="accent6"/>
                </a:solidFill>
              </a:rPr>
              <a:t>Ultrasonic firmware is written and flashed; the sensors report as absent until connected.</a:t>
            </a:r>
            <a:endParaRPr lang="en-US" sz="13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Firmware Algorithms</a:t>
            </a:r>
            <a:endParaRPr lang="en-US" sz="3000" dirty="0"/>
          </a:p>
        </p:txBody>
      </p:sp>
      <p:sp>
        <p:nvSpPr>
          <p:cNvPr id="4" name="panel-121"/>
          <p:cNvSpPr/>
          <p:nvPr/>
        </p:nvSpPr>
        <p:spPr>
          <a:xfrm>
            <a:off x="548640" y="1325880"/>
            <a:ext cx="3529584" cy="2286000"/>
          </a:xfrm>
          <a:prstGeom prst="roundRect">
            <a:avLst>
              <a:gd name="adj" fmla="val 4000"/>
            </a:avLst>
          </a:prstGeom>
          <a:solidFill>
            <a:schemeClr val="bg2"/>
          </a:solidFill>
          <a:ln w="12700">
            <a:solidFill>
              <a:schemeClr val="bg2"/>
            </a:solidFill>
            <a:prstDash val="solid"/>
          </a:ln>
        </p:spPr>
      </p:sp>
      <p:sp>
        <p:nvSpPr>
          <p:cNvPr id="5" name="icon-bg-122"/>
          <p:cNvSpPr/>
          <p:nvPr/>
        </p:nvSpPr>
        <p:spPr>
          <a:xfrm>
            <a:off x="777240" y="1554480"/>
            <a:ext cx="548640" cy="548640"/>
          </a:xfrm>
          <a:prstGeom prst="ellipse">
            <a:avLst/>
          </a:prstGeom>
          <a:solidFill>
            <a:schemeClr val="accent1"/>
          </a:solidFill>
          <a:ln w="12700">
            <a:solidFill>
              <a:schemeClr val="accent1"/>
            </a:solidFill>
            <a:prstDash val="solid"/>
          </a:ln>
        </p:spPr>
      </p:sp>
      <p:pic>
        <p:nvPicPr>
          <p:cNvPr id="6" name="icon-123" descr="preencoded.png"/>
          <p:cNvPicPr>
            <a:picLocks noChangeAspect="1"/>
          </p:cNvPicPr>
          <p:nvPr/>
        </p:nvPicPr>
        <p:blipFill>
          <a:blip r:embed="rId3"/>
          <a:stretch>
            <a:fillRect/>
          </a:stretch>
        </p:blipFill>
        <p:spPr>
          <a:xfrm>
            <a:off x="908914" y="1686154"/>
            <a:ext cx="285293" cy="285293"/>
          </a:xfrm>
          <a:prstGeom prst="rect">
            <a:avLst/>
          </a:prstGeom>
        </p:spPr>
      </p:pic>
      <p:sp>
        <p:nvSpPr>
          <p:cNvPr id="7" name="Text 3"/>
          <p:cNvSpPr txBox="1"/>
          <p:nvPr/>
        </p:nvSpPr>
        <p:spPr>
          <a:xfrm>
            <a:off x="1463040" y="1554480"/>
            <a:ext cx="2432304" cy="548640"/>
          </a:xfrm>
          <a:prstGeom prst="rect">
            <a:avLst/>
          </a:prstGeom>
          <a:noFill/>
          <a:ln/>
        </p:spPr>
        <p:txBody>
          <a:bodyPr wrap="square" lIns="0" tIns="0" rIns="0" bIns="0" rtlCol="0" anchor="ctr"/>
          <a:lstStyle/>
          <a:p>
            <a:pPr marL="0" indent="0">
              <a:buNone/>
            </a:pPr>
            <a:r>
              <a:rPr lang="en-US" sz="1650" b="1" dirty="0">
                <a:solidFill>
                  <a:schemeClr val="tx2"/>
                </a:solidFill>
              </a:rPr>
              <a:t>Dust by low-pulse occupancy</a:t>
            </a:r>
            <a:endParaRPr lang="en-US" sz="1650" dirty="0"/>
          </a:p>
        </p:txBody>
      </p:sp>
      <p:sp>
        <p:nvSpPr>
          <p:cNvPr id="8" name="Text 4"/>
          <p:cNvSpPr txBox="1"/>
          <p:nvPr/>
        </p:nvSpPr>
        <p:spPr>
          <a:xfrm>
            <a:off x="777240" y="224028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An interrupt times the PPD42's low pulses over 30 s. C = 1.1r³ − 3.8r² + 520r + 0.62 particles per 0.01 ft³</a:t>
            </a:r>
            <a:endParaRPr lang="en-US" sz="1500" dirty="0"/>
          </a:p>
        </p:txBody>
      </p:sp>
      <p:sp>
        <p:nvSpPr>
          <p:cNvPr id="9" name="panel-124"/>
          <p:cNvSpPr/>
          <p:nvPr/>
        </p:nvSpPr>
        <p:spPr>
          <a:xfrm>
            <a:off x="4279392" y="1325880"/>
            <a:ext cx="3529584" cy="2286000"/>
          </a:xfrm>
          <a:prstGeom prst="roundRect">
            <a:avLst>
              <a:gd name="adj" fmla="val 4000"/>
            </a:avLst>
          </a:prstGeom>
          <a:solidFill>
            <a:schemeClr val="bg2"/>
          </a:solidFill>
          <a:ln w="12700">
            <a:solidFill>
              <a:schemeClr val="bg2"/>
            </a:solidFill>
            <a:prstDash val="solid"/>
          </a:ln>
        </p:spPr>
      </p:sp>
      <p:sp>
        <p:nvSpPr>
          <p:cNvPr id="10" name="icon-bg-125"/>
          <p:cNvSpPr/>
          <p:nvPr/>
        </p:nvSpPr>
        <p:spPr>
          <a:xfrm>
            <a:off x="4507992" y="1554480"/>
            <a:ext cx="548640" cy="548640"/>
          </a:xfrm>
          <a:prstGeom prst="ellipse">
            <a:avLst/>
          </a:prstGeom>
          <a:solidFill>
            <a:schemeClr val="accent1"/>
          </a:solidFill>
          <a:ln w="12700">
            <a:solidFill>
              <a:schemeClr val="accent1"/>
            </a:solidFill>
            <a:prstDash val="solid"/>
          </a:ln>
        </p:spPr>
      </p:sp>
      <p:pic>
        <p:nvPicPr>
          <p:cNvPr id="11" name="icon-126" descr="preencoded.png"/>
          <p:cNvPicPr>
            <a:picLocks noChangeAspect="1"/>
          </p:cNvPicPr>
          <p:nvPr/>
        </p:nvPicPr>
        <p:blipFill>
          <a:blip r:embed="rId4"/>
          <a:stretch>
            <a:fillRect/>
          </a:stretch>
        </p:blipFill>
        <p:spPr>
          <a:xfrm>
            <a:off x="4639666" y="1686154"/>
            <a:ext cx="285293" cy="285293"/>
          </a:xfrm>
          <a:prstGeom prst="rect">
            <a:avLst/>
          </a:prstGeom>
        </p:spPr>
      </p:pic>
      <p:sp>
        <p:nvSpPr>
          <p:cNvPr id="12" name="Text 7"/>
          <p:cNvSpPr txBox="1"/>
          <p:nvPr/>
        </p:nvSpPr>
        <p:spPr>
          <a:xfrm>
            <a:off x="5193792" y="1554480"/>
            <a:ext cx="2432304" cy="548640"/>
          </a:xfrm>
          <a:prstGeom prst="rect">
            <a:avLst/>
          </a:prstGeom>
          <a:noFill/>
          <a:ln/>
        </p:spPr>
        <p:txBody>
          <a:bodyPr wrap="square" lIns="0" tIns="0" rIns="0" bIns="0" rtlCol="0" anchor="ctr"/>
          <a:lstStyle/>
          <a:p>
            <a:pPr marL="0" indent="0">
              <a:buNone/>
            </a:pPr>
            <a:r>
              <a:rPr lang="en-US" sz="1650" b="1" dirty="0">
                <a:solidFill>
                  <a:schemeClr val="tx2"/>
                </a:solidFill>
              </a:rPr>
              <a:t>Absent-sensor detection</a:t>
            </a:r>
            <a:endParaRPr lang="en-US" sz="1650" dirty="0"/>
          </a:p>
        </p:txBody>
      </p:sp>
      <p:sp>
        <p:nvSpPr>
          <p:cNvPr id="13" name="Text 8"/>
          <p:cNvSpPr txBox="1"/>
          <p:nvPr/>
        </p:nvSpPr>
        <p:spPr>
          <a:xfrm>
            <a:off x="4507992" y="224028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An unplugged PPD42 read as 1.1 million particles. No edges and a low line now means absent</a:t>
            </a:r>
            <a:endParaRPr lang="en-US" sz="1500" dirty="0"/>
          </a:p>
        </p:txBody>
      </p:sp>
      <p:sp>
        <p:nvSpPr>
          <p:cNvPr id="14" name="panel-127"/>
          <p:cNvSpPr/>
          <p:nvPr/>
        </p:nvSpPr>
        <p:spPr>
          <a:xfrm>
            <a:off x="8010144" y="1325880"/>
            <a:ext cx="3529584" cy="2286000"/>
          </a:xfrm>
          <a:prstGeom prst="roundRect">
            <a:avLst>
              <a:gd name="adj" fmla="val 4000"/>
            </a:avLst>
          </a:prstGeom>
          <a:solidFill>
            <a:schemeClr val="bg2"/>
          </a:solidFill>
          <a:ln w="12700">
            <a:solidFill>
              <a:schemeClr val="bg2"/>
            </a:solidFill>
            <a:prstDash val="solid"/>
          </a:ln>
        </p:spPr>
      </p:sp>
      <p:sp>
        <p:nvSpPr>
          <p:cNvPr id="15" name="icon-bg-128"/>
          <p:cNvSpPr/>
          <p:nvPr/>
        </p:nvSpPr>
        <p:spPr>
          <a:xfrm>
            <a:off x="8238744" y="1554480"/>
            <a:ext cx="548640" cy="548640"/>
          </a:xfrm>
          <a:prstGeom prst="ellipse">
            <a:avLst/>
          </a:prstGeom>
          <a:solidFill>
            <a:schemeClr val="accent1"/>
          </a:solidFill>
          <a:ln w="12700">
            <a:solidFill>
              <a:schemeClr val="accent1"/>
            </a:solidFill>
            <a:prstDash val="solid"/>
          </a:ln>
        </p:spPr>
      </p:sp>
      <p:pic>
        <p:nvPicPr>
          <p:cNvPr id="16" name="icon-129" descr="preencoded.png"/>
          <p:cNvPicPr>
            <a:picLocks noChangeAspect="1"/>
          </p:cNvPicPr>
          <p:nvPr/>
        </p:nvPicPr>
        <p:blipFill>
          <a:blip r:embed="rId5"/>
          <a:stretch>
            <a:fillRect/>
          </a:stretch>
        </p:blipFill>
        <p:spPr>
          <a:xfrm>
            <a:off x="8370418" y="1686154"/>
            <a:ext cx="285293" cy="285293"/>
          </a:xfrm>
          <a:prstGeom prst="rect">
            <a:avLst/>
          </a:prstGeom>
        </p:spPr>
      </p:pic>
      <p:sp>
        <p:nvSpPr>
          <p:cNvPr id="17" name="Text 11"/>
          <p:cNvSpPr txBox="1"/>
          <p:nvPr/>
        </p:nvSpPr>
        <p:spPr>
          <a:xfrm>
            <a:off x="8924544" y="1554480"/>
            <a:ext cx="2432304" cy="548640"/>
          </a:xfrm>
          <a:prstGeom prst="rect">
            <a:avLst/>
          </a:prstGeom>
          <a:noFill/>
          <a:ln/>
        </p:spPr>
        <p:txBody>
          <a:bodyPr wrap="square" lIns="0" tIns="0" rIns="0" bIns="0" rtlCol="0" anchor="ctr"/>
          <a:lstStyle/>
          <a:p>
            <a:pPr marL="0" indent="0">
              <a:buNone/>
            </a:pPr>
            <a:r>
              <a:rPr lang="en-US" sz="1650" b="1" dirty="0">
                <a:solidFill>
                  <a:schemeClr val="tx2"/>
                </a:solidFill>
              </a:rPr>
              <a:t>Temperature-corrected range</a:t>
            </a:r>
            <a:endParaRPr lang="en-US" sz="1650" dirty="0"/>
          </a:p>
        </p:txBody>
      </p:sp>
      <p:sp>
        <p:nvSpPr>
          <p:cNvPr id="18" name="Text 12"/>
          <p:cNvSpPr txBox="1"/>
          <p:nvPr/>
        </p:nvSpPr>
        <p:spPr>
          <a:xfrm>
            <a:off x="8238744" y="224028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c = 331.3 + 0.606·T m/s from the MCP9808; a fixed 343 m/s is ~3 % off at 35 °C</a:t>
            </a:r>
            <a:endParaRPr lang="en-US" sz="1500" dirty="0"/>
          </a:p>
        </p:txBody>
      </p:sp>
      <p:sp>
        <p:nvSpPr>
          <p:cNvPr id="19" name="panel-130"/>
          <p:cNvSpPr/>
          <p:nvPr/>
        </p:nvSpPr>
        <p:spPr>
          <a:xfrm>
            <a:off x="548640" y="3794760"/>
            <a:ext cx="3529584" cy="2286000"/>
          </a:xfrm>
          <a:prstGeom prst="roundRect">
            <a:avLst>
              <a:gd name="adj" fmla="val 4000"/>
            </a:avLst>
          </a:prstGeom>
          <a:solidFill>
            <a:schemeClr val="bg2"/>
          </a:solidFill>
          <a:ln w="12700">
            <a:solidFill>
              <a:schemeClr val="bg2"/>
            </a:solidFill>
            <a:prstDash val="solid"/>
          </a:ln>
        </p:spPr>
      </p:sp>
      <p:sp>
        <p:nvSpPr>
          <p:cNvPr id="20" name="icon-bg-131"/>
          <p:cNvSpPr/>
          <p:nvPr/>
        </p:nvSpPr>
        <p:spPr>
          <a:xfrm>
            <a:off x="777240" y="4023360"/>
            <a:ext cx="548640" cy="548640"/>
          </a:xfrm>
          <a:prstGeom prst="ellipse">
            <a:avLst/>
          </a:prstGeom>
          <a:solidFill>
            <a:schemeClr val="accent1"/>
          </a:solidFill>
          <a:ln w="12700">
            <a:solidFill>
              <a:schemeClr val="accent1"/>
            </a:solidFill>
            <a:prstDash val="solid"/>
          </a:ln>
        </p:spPr>
      </p:sp>
      <p:pic>
        <p:nvPicPr>
          <p:cNvPr id="21" name="icon-132" descr="preencoded.png"/>
          <p:cNvPicPr>
            <a:picLocks noChangeAspect="1"/>
          </p:cNvPicPr>
          <p:nvPr/>
        </p:nvPicPr>
        <p:blipFill>
          <a:blip r:embed="rId6"/>
          <a:stretch>
            <a:fillRect/>
          </a:stretch>
        </p:blipFill>
        <p:spPr>
          <a:xfrm>
            <a:off x="908914" y="4155034"/>
            <a:ext cx="285293" cy="285293"/>
          </a:xfrm>
          <a:prstGeom prst="rect">
            <a:avLst/>
          </a:prstGeom>
        </p:spPr>
      </p:pic>
      <p:sp>
        <p:nvSpPr>
          <p:cNvPr id="22" name="Text 15"/>
          <p:cNvSpPr txBox="1"/>
          <p:nvPr/>
        </p:nvSpPr>
        <p:spPr>
          <a:xfrm>
            <a:off x="1463040" y="4023360"/>
            <a:ext cx="2432304" cy="548640"/>
          </a:xfrm>
          <a:prstGeom prst="rect">
            <a:avLst/>
          </a:prstGeom>
          <a:noFill/>
          <a:ln/>
        </p:spPr>
        <p:txBody>
          <a:bodyPr wrap="square" lIns="0" tIns="0" rIns="0" bIns="0" rtlCol="0" anchor="ctr"/>
          <a:lstStyle/>
          <a:p>
            <a:pPr marL="0" indent="0">
              <a:buNone/>
            </a:pPr>
            <a:r>
              <a:rPr lang="en-US" sz="1650" b="1" dirty="0">
                <a:solidFill>
                  <a:schemeClr val="tx2"/>
                </a:solidFill>
              </a:rPr>
              <a:t>Crosstalk-free ultrasonics</a:t>
            </a:r>
            <a:endParaRPr lang="en-US" sz="1650" dirty="0"/>
          </a:p>
        </p:txBody>
      </p:sp>
      <p:sp>
        <p:nvSpPr>
          <p:cNvPr id="23" name="Text 16"/>
          <p:cNvSpPr txBox="1"/>
          <p:nvPr/>
        </p:nvSpPr>
        <p:spPr>
          <a:xfrm>
            <a:off x="777240" y="470916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The two HC-SR04s fire alternately, and each reading is a median of three</a:t>
            </a:r>
            <a:endParaRPr lang="en-US" sz="1500" dirty="0"/>
          </a:p>
        </p:txBody>
      </p:sp>
      <p:sp>
        <p:nvSpPr>
          <p:cNvPr id="24" name="panel-133"/>
          <p:cNvSpPr/>
          <p:nvPr/>
        </p:nvSpPr>
        <p:spPr>
          <a:xfrm>
            <a:off x="4279392" y="3794760"/>
            <a:ext cx="3529584" cy="2286000"/>
          </a:xfrm>
          <a:prstGeom prst="roundRect">
            <a:avLst>
              <a:gd name="adj" fmla="val 4000"/>
            </a:avLst>
          </a:prstGeom>
          <a:solidFill>
            <a:schemeClr val="bg2"/>
          </a:solidFill>
          <a:ln w="12700">
            <a:solidFill>
              <a:schemeClr val="bg2"/>
            </a:solidFill>
            <a:prstDash val="solid"/>
          </a:ln>
        </p:spPr>
      </p:sp>
      <p:sp>
        <p:nvSpPr>
          <p:cNvPr id="25" name="icon-bg-134"/>
          <p:cNvSpPr/>
          <p:nvPr/>
        </p:nvSpPr>
        <p:spPr>
          <a:xfrm>
            <a:off x="4507992" y="4023360"/>
            <a:ext cx="548640" cy="548640"/>
          </a:xfrm>
          <a:prstGeom prst="ellipse">
            <a:avLst/>
          </a:prstGeom>
          <a:solidFill>
            <a:schemeClr val="accent1"/>
          </a:solidFill>
          <a:ln w="12700">
            <a:solidFill>
              <a:schemeClr val="accent1"/>
            </a:solidFill>
            <a:prstDash val="solid"/>
          </a:ln>
        </p:spPr>
      </p:sp>
      <p:pic>
        <p:nvPicPr>
          <p:cNvPr id="26" name="icon-135" descr="preencoded.png"/>
          <p:cNvPicPr>
            <a:picLocks noChangeAspect="1"/>
          </p:cNvPicPr>
          <p:nvPr/>
        </p:nvPicPr>
        <p:blipFill>
          <a:blip r:embed="rId7"/>
          <a:stretch>
            <a:fillRect/>
          </a:stretch>
        </p:blipFill>
        <p:spPr>
          <a:xfrm>
            <a:off x="4639666" y="4155034"/>
            <a:ext cx="285293" cy="285293"/>
          </a:xfrm>
          <a:prstGeom prst="rect">
            <a:avLst/>
          </a:prstGeom>
        </p:spPr>
      </p:pic>
      <p:sp>
        <p:nvSpPr>
          <p:cNvPr id="27" name="Text 19"/>
          <p:cNvSpPr txBox="1"/>
          <p:nvPr/>
        </p:nvSpPr>
        <p:spPr>
          <a:xfrm>
            <a:off x="5193792" y="4023360"/>
            <a:ext cx="2432304" cy="548640"/>
          </a:xfrm>
          <a:prstGeom prst="rect">
            <a:avLst/>
          </a:prstGeom>
          <a:noFill/>
          <a:ln/>
        </p:spPr>
        <p:txBody>
          <a:bodyPr wrap="square" lIns="0" tIns="0" rIns="0" bIns="0" rtlCol="0" anchor="ctr"/>
          <a:lstStyle/>
          <a:p>
            <a:pPr marL="0" indent="0">
              <a:buNone/>
            </a:pPr>
            <a:r>
              <a:rPr lang="en-US" sz="1650" b="1" dirty="0">
                <a:solidFill>
                  <a:schemeClr val="tx2"/>
                </a:solidFill>
              </a:rPr>
              <a:t>Wi-Fi diagnostics</a:t>
            </a:r>
            <a:endParaRPr lang="en-US" sz="1650" dirty="0"/>
          </a:p>
        </p:txBody>
      </p:sp>
      <p:sp>
        <p:nvSpPr>
          <p:cNvPr id="28" name="Text 20"/>
          <p:cNvSpPr txBox="1"/>
          <p:nvPr/>
        </p:nvSpPr>
        <p:spPr>
          <a:xfrm>
            <a:off x="4507992" y="470916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Reports why a link fails; traced −78 dBm to a missing antenna, −26 dBm once fitted</a:t>
            </a:r>
            <a:endParaRPr lang="en-US" sz="1500" dirty="0"/>
          </a:p>
        </p:txBody>
      </p:sp>
      <p:sp>
        <p:nvSpPr>
          <p:cNvPr id="29" name="panel-136"/>
          <p:cNvSpPr/>
          <p:nvPr/>
        </p:nvSpPr>
        <p:spPr>
          <a:xfrm>
            <a:off x="8010144" y="3794760"/>
            <a:ext cx="3529584" cy="2286000"/>
          </a:xfrm>
          <a:prstGeom prst="roundRect">
            <a:avLst>
              <a:gd name="adj" fmla="val 4000"/>
            </a:avLst>
          </a:prstGeom>
          <a:solidFill>
            <a:schemeClr val="bg2"/>
          </a:solidFill>
          <a:ln w="12700">
            <a:solidFill>
              <a:schemeClr val="bg2"/>
            </a:solidFill>
            <a:prstDash val="solid"/>
          </a:ln>
        </p:spPr>
      </p:sp>
      <p:sp>
        <p:nvSpPr>
          <p:cNvPr id="30" name="icon-bg-137"/>
          <p:cNvSpPr/>
          <p:nvPr/>
        </p:nvSpPr>
        <p:spPr>
          <a:xfrm>
            <a:off x="8238744" y="4023360"/>
            <a:ext cx="548640" cy="548640"/>
          </a:xfrm>
          <a:prstGeom prst="ellipse">
            <a:avLst/>
          </a:prstGeom>
          <a:solidFill>
            <a:schemeClr val="accent1"/>
          </a:solidFill>
          <a:ln w="12700">
            <a:solidFill>
              <a:schemeClr val="accent1"/>
            </a:solidFill>
            <a:prstDash val="solid"/>
          </a:ln>
        </p:spPr>
      </p:sp>
      <p:pic>
        <p:nvPicPr>
          <p:cNvPr id="31" name="icon-138" descr="preencoded.png"/>
          <p:cNvPicPr>
            <a:picLocks noChangeAspect="1"/>
          </p:cNvPicPr>
          <p:nvPr/>
        </p:nvPicPr>
        <p:blipFill>
          <a:blip r:embed="rId8"/>
          <a:stretch>
            <a:fillRect/>
          </a:stretch>
        </p:blipFill>
        <p:spPr>
          <a:xfrm>
            <a:off x="8370418" y="4155034"/>
            <a:ext cx="285293" cy="285293"/>
          </a:xfrm>
          <a:prstGeom prst="rect">
            <a:avLst/>
          </a:prstGeom>
        </p:spPr>
      </p:pic>
      <p:sp>
        <p:nvSpPr>
          <p:cNvPr id="32" name="Text 23"/>
          <p:cNvSpPr txBox="1"/>
          <p:nvPr/>
        </p:nvSpPr>
        <p:spPr>
          <a:xfrm>
            <a:off x="8924544" y="4023360"/>
            <a:ext cx="2432304" cy="548640"/>
          </a:xfrm>
          <a:prstGeom prst="rect">
            <a:avLst/>
          </a:prstGeom>
          <a:noFill/>
          <a:ln/>
        </p:spPr>
        <p:txBody>
          <a:bodyPr wrap="square" lIns="0" tIns="0" rIns="0" bIns="0" rtlCol="0" anchor="ctr"/>
          <a:lstStyle/>
          <a:p>
            <a:pPr marL="0" indent="0">
              <a:buNone/>
            </a:pPr>
            <a:r>
              <a:rPr lang="en-US" sz="1650" b="1" dirty="0">
                <a:solidFill>
                  <a:schemeClr val="tx2"/>
                </a:solidFill>
              </a:rPr>
              <a:t>Self-registering camera</a:t>
            </a:r>
            <a:endParaRPr lang="en-US" sz="1650" dirty="0"/>
          </a:p>
        </p:txBody>
      </p:sp>
      <p:sp>
        <p:nvSpPr>
          <p:cNvPr id="33" name="Text 24"/>
          <p:cNvSpPr txBox="1"/>
          <p:nvPr/>
        </p:nvSpPr>
        <p:spPr>
          <a:xfrm>
            <a:off x="8238744" y="470916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The ESP32-CAM sends its stream URL to the dashboard at boot, so a new IP needs no setup</a:t>
            </a:r>
            <a:endParaRPr lang="en-US" sz="15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Gated Leaf-Disease Classification</a:t>
            </a:r>
            <a:endParaRPr lang="en-US" sz="3000" dirty="0"/>
          </a:p>
        </p:txBody>
      </p:sp>
      <p:sp>
        <p:nvSpPr>
          <p:cNvPr id="4" name="icon-bg-139"/>
          <p:cNvSpPr/>
          <p:nvPr/>
        </p:nvSpPr>
        <p:spPr>
          <a:xfrm>
            <a:off x="548640" y="1325880"/>
            <a:ext cx="548640" cy="548640"/>
          </a:xfrm>
          <a:prstGeom prst="ellipse">
            <a:avLst/>
          </a:prstGeom>
          <a:solidFill>
            <a:schemeClr val="accent1"/>
          </a:solidFill>
          <a:ln w="12700">
            <a:solidFill>
              <a:schemeClr val="accent1"/>
            </a:solidFill>
            <a:prstDash val="solid"/>
          </a:ln>
        </p:spPr>
      </p:sp>
      <p:pic>
        <p:nvPicPr>
          <p:cNvPr id="5" name="icon-140" descr="preencoded.png"/>
          <p:cNvPicPr>
            <a:picLocks noChangeAspect="1"/>
          </p:cNvPicPr>
          <p:nvPr/>
        </p:nvPicPr>
        <p:blipFill>
          <a:blip r:embed="rId3"/>
          <a:stretch>
            <a:fillRect/>
          </a:stretch>
        </p:blipFill>
        <p:spPr>
          <a:xfrm>
            <a:off x="680314" y="1457554"/>
            <a:ext cx="285293" cy="285293"/>
          </a:xfrm>
          <a:prstGeom prst="rect">
            <a:avLst/>
          </a:prstGeom>
        </p:spPr>
      </p:pic>
      <p:sp>
        <p:nvSpPr>
          <p:cNvPr id="6" name="Text 2"/>
          <p:cNvSpPr txBox="1"/>
          <p:nvPr/>
        </p:nvSpPr>
        <p:spPr>
          <a:xfrm>
            <a:off x="1280160" y="1280160"/>
            <a:ext cx="3520440" cy="868680"/>
          </a:xfrm>
          <a:prstGeom prst="rect">
            <a:avLst/>
          </a:prstGeom>
          <a:noFill/>
          <a:ln/>
        </p:spPr>
        <p:txBody>
          <a:bodyPr wrap="square" lIns="0" tIns="0" rIns="0" bIns="0" rtlCol="0" anchor="ctr"/>
          <a:lstStyle/>
          <a:p>
            <a:pPr marL="0" indent="0">
              <a:buNone/>
            </a:pPr>
            <a:r>
              <a:rPr lang="en-US" sz="1500" dirty="0">
                <a:solidFill>
                  <a:schemeClr val="tx1"/>
                </a:solidFill>
              </a:rPr>
              <a:t>Frame from the ESP32-CAM</a:t>
            </a:r>
            <a:endParaRPr lang="en-US" sz="1500" dirty="0"/>
          </a:p>
        </p:txBody>
      </p:sp>
      <p:sp>
        <p:nvSpPr>
          <p:cNvPr id="7" name="icon-bg-141"/>
          <p:cNvSpPr/>
          <p:nvPr/>
        </p:nvSpPr>
        <p:spPr>
          <a:xfrm>
            <a:off x="548640" y="2286000"/>
            <a:ext cx="548640" cy="548640"/>
          </a:xfrm>
          <a:prstGeom prst="ellipse">
            <a:avLst/>
          </a:prstGeom>
          <a:solidFill>
            <a:schemeClr val="accent2"/>
          </a:solidFill>
          <a:ln w="12700">
            <a:solidFill>
              <a:schemeClr val="accent2"/>
            </a:solidFill>
            <a:prstDash val="solid"/>
          </a:ln>
        </p:spPr>
      </p:sp>
      <p:pic>
        <p:nvPicPr>
          <p:cNvPr id="8" name="icon-142" descr="preencoded.png"/>
          <p:cNvPicPr>
            <a:picLocks noChangeAspect="1"/>
          </p:cNvPicPr>
          <p:nvPr/>
        </p:nvPicPr>
        <p:blipFill>
          <a:blip r:embed="rId4"/>
          <a:stretch>
            <a:fillRect/>
          </a:stretch>
        </p:blipFill>
        <p:spPr>
          <a:xfrm>
            <a:off x="680314" y="2417674"/>
            <a:ext cx="285293" cy="285293"/>
          </a:xfrm>
          <a:prstGeom prst="rect">
            <a:avLst/>
          </a:prstGeom>
        </p:spPr>
      </p:pic>
      <p:sp>
        <p:nvSpPr>
          <p:cNvPr id="9" name="Text 4"/>
          <p:cNvSpPr txBox="1"/>
          <p:nvPr/>
        </p:nvSpPr>
        <p:spPr>
          <a:xfrm>
            <a:off x="1280160" y="2240280"/>
            <a:ext cx="3520440" cy="868680"/>
          </a:xfrm>
          <a:prstGeom prst="rect">
            <a:avLst/>
          </a:prstGeom>
          <a:noFill/>
          <a:ln/>
        </p:spPr>
        <p:txBody>
          <a:bodyPr wrap="square" lIns="0" tIns="0" rIns="0" bIns="0" rtlCol="0" anchor="ctr"/>
          <a:lstStyle/>
          <a:p>
            <a:pPr marL="0" indent="0">
              <a:buNone/>
            </a:pPr>
            <a:r>
              <a:rPr lang="en-US" sz="1500" b="1" dirty="0">
                <a:solidFill>
                  <a:schemeClr val="tx2"/>
                </a:solidFill>
              </a:rPr>
              <a:t>Vegetation gate: share of pixels with 38° ≤ H ≤ 165°, S ≥ 0.20, V ≥ 0.12; below 12 % → no leaf</a:t>
            </a:r>
            <a:endParaRPr lang="en-US" sz="1500" dirty="0"/>
          </a:p>
        </p:txBody>
      </p:sp>
      <p:sp>
        <p:nvSpPr>
          <p:cNvPr id="10" name="icon-bg-143"/>
          <p:cNvSpPr/>
          <p:nvPr/>
        </p:nvSpPr>
        <p:spPr>
          <a:xfrm>
            <a:off x="548640" y="3246120"/>
            <a:ext cx="548640" cy="548640"/>
          </a:xfrm>
          <a:prstGeom prst="ellipse">
            <a:avLst/>
          </a:prstGeom>
          <a:solidFill>
            <a:schemeClr val="accent1"/>
          </a:solidFill>
          <a:ln w="12700">
            <a:solidFill>
              <a:schemeClr val="accent1"/>
            </a:solidFill>
            <a:prstDash val="solid"/>
          </a:ln>
        </p:spPr>
      </p:sp>
      <p:pic>
        <p:nvPicPr>
          <p:cNvPr id="11" name="icon-144" descr="preencoded.png"/>
          <p:cNvPicPr>
            <a:picLocks noChangeAspect="1"/>
          </p:cNvPicPr>
          <p:nvPr/>
        </p:nvPicPr>
        <p:blipFill>
          <a:blip r:embed="rId5"/>
          <a:stretch>
            <a:fillRect/>
          </a:stretch>
        </p:blipFill>
        <p:spPr>
          <a:xfrm>
            <a:off x="680314" y="3377794"/>
            <a:ext cx="285293" cy="285293"/>
          </a:xfrm>
          <a:prstGeom prst="rect">
            <a:avLst/>
          </a:prstGeom>
        </p:spPr>
      </p:pic>
      <p:sp>
        <p:nvSpPr>
          <p:cNvPr id="12" name="Text 6"/>
          <p:cNvSpPr txBox="1"/>
          <p:nvPr/>
        </p:nvSpPr>
        <p:spPr>
          <a:xfrm>
            <a:off x="1280160" y="3200400"/>
            <a:ext cx="3520440" cy="868680"/>
          </a:xfrm>
          <a:prstGeom prst="rect">
            <a:avLst/>
          </a:prstGeom>
          <a:noFill/>
          <a:ln/>
        </p:spPr>
        <p:txBody>
          <a:bodyPr wrap="square" lIns="0" tIns="0" rIns="0" bIns="0" rtlCol="0" anchor="ctr"/>
          <a:lstStyle/>
          <a:p>
            <a:pPr marL="0" indent="0">
              <a:buNone/>
            </a:pPr>
            <a:r>
              <a:rPr lang="en-US" sz="1500" dirty="0">
                <a:solidFill>
                  <a:schemeClr val="tx1"/>
                </a:solidFill>
              </a:rPr>
              <a:t>MobileNetV2 trained on PlantVillage: 38 classes, 14 crops</a:t>
            </a:r>
            <a:endParaRPr lang="en-US" sz="1500" dirty="0"/>
          </a:p>
        </p:txBody>
      </p:sp>
      <p:sp>
        <p:nvSpPr>
          <p:cNvPr id="13" name="icon-bg-145"/>
          <p:cNvSpPr/>
          <p:nvPr/>
        </p:nvSpPr>
        <p:spPr>
          <a:xfrm>
            <a:off x="548640" y="4206240"/>
            <a:ext cx="548640" cy="548640"/>
          </a:xfrm>
          <a:prstGeom prst="ellipse">
            <a:avLst/>
          </a:prstGeom>
          <a:solidFill>
            <a:schemeClr val="accent1"/>
          </a:solidFill>
          <a:ln w="12700">
            <a:solidFill>
              <a:schemeClr val="accent1"/>
            </a:solidFill>
            <a:prstDash val="solid"/>
          </a:ln>
        </p:spPr>
      </p:sp>
      <p:pic>
        <p:nvPicPr>
          <p:cNvPr id="14" name="icon-146" descr="preencoded.png"/>
          <p:cNvPicPr>
            <a:picLocks noChangeAspect="1"/>
          </p:cNvPicPr>
          <p:nvPr/>
        </p:nvPicPr>
        <p:blipFill>
          <a:blip r:embed="rId6"/>
          <a:stretch>
            <a:fillRect/>
          </a:stretch>
        </p:blipFill>
        <p:spPr>
          <a:xfrm>
            <a:off x="680314" y="4337914"/>
            <a:ext cx="285293" cy="285293"/>
          </a:xfrm>
          <a:prstGeom prst="rect">
            <a:avLst/>
          </a:prstGeom>
        </p:spPr>
      </p:pic>
      <p:sp>
        <p:nvSpPr>
          <p:cNvPr id="15" name="Text 8"/>
          <p:cNvSpPr txBox="1"/>
          <p:nvPr/>
        </p:nvSpPr>
        <p:spPr>
          <a:xfrm>
            <a:off x="1280160" y="4160520"/>
            <a:ext cx="3520440" cy="868680"/>
          </a:xfrm>
          <a:prstGeom prst="rect">
            <a:avLst/>
          </a:prstGeom>
          <a:noFill/>
          <a:ln/>
        </p:spPr>
        <p:txBody>
          <a:bodyPr wrap="square" lIns="0" tIns="0" rIns="0" bIns="0" rtlCol="0" anchor="ctr"/>
          <a:lstStyle/>
          <a:p>
            <a:pPr marL="0" indent="0">
              <a:buNone/>
            </a:pPr>
            <a:r>
              <a:rPr lang="en-US" sz="1500" dirty="0">
                <a:solidFill>
                  <a:schemeClr val="tx1"/>
                </a:solidFill>
              </a:rPr>
              <a:t>Top probability below 50 % → reported as uncertain</a:t>
            </a:r>
            <a:endParaRPr lang="en-US" sz="1500" dirty="0"/>
          </a:p>
        </p:txBody>
      </p:sp>
      <p:sp>
        <p:nvSpPr>
          <p:cNvPr id="16" name="icon-bg-147"/>
          <p:cNvSpPr/>
          <p:nvPr/>
        </p:nvSpPr>
        <p:spPr>
          <a:xfrm>
            <a:off x="548640" y="5166360"/>
            <a:ext cx="548640" cy="548640"/>
          </a:xfrm>
          <a:prstGeom prst="ellipse">
            <a:avLst/>
          </a:prstGeom>
          <a:solidFill>
            <a:schemeClr val="accent1"/>
          </a:solidFill>
          <a:ln w="12700">
            <a:solidFill>
              <a:schemeClr val="accent1"/>
            </a:solidFill>
            <a:prstDash val="solid"/>
          </a:ln>
        </p:spPr>
      </p:sp>
      <p:pic>
        <p:nvPicPr>
          <p:cNvPr id="17" name="icon-148" descr="preencoded.png"/>
          <p:cNvPicPr>
            <a:picLocks noChangeAspect="1"/>
          </p:cNvPicPr>
          <p:nvPr/>
        </p:nvPicPr>
        <p:blipFill>
          <a:blip r:embed="rId7"/>
          <a:stretch>
            <a:fillRect/>
          </a:stretch>
        </p:blipFill>
        <p:spPr>
          <a:xfrm>
            <a:off x="680314" y="5298034"/>
            <a:ext cx="285293" cy="285293"/>
          </a:xfrm>
          <a:prstGeom prst="rect">
            <a:avLst/>
          </a:prstGeom>
        </p:spPr>
      </p:pic>
      <p:sp>
        <p:nvSpPr>
          <p:cNvPr id="18" name="Text 10"/>
          <p:cNvSpPr txBox="1"/>
          <p:nvPr/>
        </p:nvSpPr>
        <p:spPr>
          <a:xfrm>
            <a:off x="1280160" y="5120640"/>
            <a:ext cx="3520440" cy="868680"/>
          </a:xfrm>
          <a:prstGeom prst="rect">
            <a:avLst/>
          </a:prstGeom>
          <a:noFill/>
          <a:ln/>
        </p:spPr>
        <p:txBody>
          <a:bodyPr wrap="square" lIns="0" tIns="0" rIns="0" bIns="0" rtlCol="0" anchor="ctr"/>
          <a:lstStyle/>
          <a:p>
            <a:pPr marL="0" indent="0">
              <a:buNone/>
            </a:pPr>
            <a:r>
              <a:rPr lang="en-US" sz="1500" dirty="0">
                <a:solidFill>
                  <a:schemeClr val="tx1"/>
                </a:solidFill>
              </a:rPr>
              <a:t>Image saved and tagged with crop, condition and the readings</a:t>
            </a:r>
            <a:endParaRPr lang="en-US" sz="1500" dirty="0"/>
          </a:p>
        </p:txBody>
      </p:sp>
      <p:pic>
        <p:nvPicPr>
          <p:cNvPr id="19" name="image-149" descr="vegetation_gate.png"/>
          <p:cNvPicPr>
            <a:picLocks noChangeAspect="1"/>
          </p:cNvPicPr>
          <p:nvPr/>
        </p:nvPicPr>
        <p:blipFill>
          <a:blip r:embed="rId8"/>
          <a:stretch>
            <a:fillRect/>
          </a:stretch>
        </p:blipFill>
        <p:spPr>
          <a:xfrm>
            <a:off x="5029200" y="1280160"/>
            <a:ext cx="6583680" cy="3451845"/>
          </a:xfrm>
          <a:prstGeom prst="rect">
            <a:avLst/>
          </a:prstGeom>
        </p:spPr>
      </p:pic>
      <p:sp>
        <p:nvSpPr>
          <p:cNvPr id="20" name="Text 11"/>
          <p:cNvSpPr txBox="1"/>
          <p:nvPr/>
        </p:nvSpPr>
        <p:spPr>
          <a:xfrm>
            <a:off x="5029200" y="4823445"/>
            <a:ext cx="6583680" cy="274320"/>
          </a:xfrm>
          <a:prstGeom prst="rect">
            <a:avLst/>
          </a:prstGeom>
          <a:noFill/>
          <a:ln/>
        </p:spPr>
        <p:txBody>
          <a:bodyPr wrap="square" lIns="0" tIns="0" rIns="0" bIns="0" rtlCol="0" anchor="t"/>
          <a:lstStyle/>
          <a:p>
            <a:pPr marL="0" indent="0">
              <a:buNone/>
            </a:pPr>
            <a:r>
              <a:rPr lang="en-US" sz="1200" i="1" dirty="0">
                <a:solidFill>
                  <a:schemeClr val="accent6"/>
                </a:solidFill>
              </a:rPr>
              <a:t>The gate on four outdoor camera frames: leaf-coloured pixels in green</a:t>
            </a:r>
            <a:endParaRPr lang="en-US" sz="12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Locomotion Design: Kinematics, Gait, Centre of Mass</a:t>
            </a:r>
            <a:endParaRPr lang="en-US" sz="3000" dirty="0"/>
          </a:p>
        </p:txBody>
      </p:sp>
      <p:pic>
        <p:nvPicPr>
          <p:cNvPr id="4" name="image-150" descr="leg_kinematics.png"/>
          <p:cNvPicPr>
            <a:picLocks noChangeAspect="1"/>
          </p:cNvPicPr>
          <p:nvPr/>
        </p:nvPicPr>
        <p:blipFill>
          <a:blip r:embed="rId3"/>
          <a:stretch>
            <a:fillRect/>
          </a:stretch>
        </p:blipFill>
        <p:spPr>
          <a:xfrm>
            <a:off x="548640" y="1280160"/>
            <a:ext cx="3291840" cy="3329461"/>
          </a:xfrm>
          <a:prstGeom prst="rect">
            <a:avLst/>
          </a:prstGeom>
        </p:spPr>
      </p:pic>
      <p:sp>
        <p:nvSpPr>
          <p:cNvPr id="5" name="Text 1"/>
          <p:cNvSpPr txBox="1"/>
          <p:nvPr/>
        </p:nvSpPr>
        <p:spPr>
          <a:xfrm>
            <a:off x="548640" y="4682773"/>
            <a:ext cx="3291840" cy="274320"/>
          </a:xfrm>
          <a:prstGeom prst="rect">
            <a:avLst/>
          </a:prstGeom>
          <a:noFill/>
          <a:ln/>
        </p:spPr>
        <p:txBody>
          <a:bodyPr wrap="square" lIns="0" tIns="0" rIns="0" bIns="0" rtlCol="0" anchor="t"/>
          <a:lstStyle/>
          <a:p>
            <a:pPr marL="0" indent="0">
              <a:buNone/>
            </a:pPr>
            <a:r>
              <a:rPr lang="en-US" sz="1200" i="1" dirty="0">
                <a:solidFill>
                  <a:schemeClr val="accent6"/>
                </a:solidFill>
              </a:rPr>
              <a:t>Leg geometry: femur 111 mm, tibia 125 mm</a:t>
            </a:r>
            <a:endParaRPr lang="en-US" sz="1200" dirty="0"/>
          </a:p>
        </p:txBody>
      </p:sp>
      <p:pic>
        <p:nvPicPr>
          <p:cNvPr id="6" name="image-151" descr="com_support_line.png"/>
          <p:cNvPicPr>
            <a:picLocks noChangeAspect="1"/>
          </p:cNvPicPr>
          <p:nvPr/>
        </p:nvPicPr>
        <p:blipFill>
          <a:blip r:embed="rId4"/>
          <a:stretch>
            <a:fillRect/>
          </a:stretch>
        </p:blipFill>
        <p:spPr>
          <a:xfrm>
            <a:off x="4069080" y="1280160"/>
            <a:ext cx="3474720" cy="3341697"/>
          </a:xfrm>
          <a:prstGeom prst="rect">
            <a:avLst/>
          </a:prstGeom>
        </p:spPr>
      </p:pic>
      <p:sp>
        <p:nvSpPr>
          <p:cNvPr id="7" name="Text 2"/>
          <p:cNvSpPr txBox="1"/>
          <p:nvPr/>
        </p:nvSpPr>
        <p:spPr>
          <a:xfrm>
            <a:off x="4069080" y="4695009"/>
            <a:ext cx="3474720" cy="502920"/>
          </a:xfrm>
          <a:prstGeom prst="rect">
            <a:avLst/>
          </a:prstGeom>
          <a:noFill/>
          <a:ln/>
        </p:spPr>
        <p:txBody>
          <a:bodyPr wrap="square" lIns="0" tIns="0" rIns="0" bIns="0" rtlCol="0" anchor="t"/>
          <a:lstStyle/>
          <a:p>
            <a:pPr marL="0" indent="0">
              <a:buNone/>
            </a:pPr>
            <a:r>
              <a:rPr lang="en-US" sz="1200" i="1" dirty="0">
                <a:solidFill>
                  <a:schemeClr val="accent6"/>
                </a:solidFill>
              </a:rPr>
              <a:t>Trot support line passes in front of the centre of mass</a:t>
            </a:r>
            <a:endParaRPr lang="en-US" sz="1200" dirty="0"/>
          </a:p>
        </p:txBody>
      </p:sp>
      <p:sp>
        <p:nvSpPr>
          <p:cNvPr id="8" name="icon-bg-152"/>
          <p:cNvSpPr/>
          <p:nvPr/>
        </p:nvSpPr>
        <p:spPr>
          <a:xfrm>
            <a:off x="7818120" y="1325880"/>
            <a:ext cx="548640" cy="548640"/>
          </a:xfrm>
          <a:prstGeom prst="ellipse">
            <a:avLst/>
          </a:prstGeom>
          <a:solidFill>
            <a:schemeClr val="accent1"/>
          </a:solidFill>
          <a:ln w="12700">
            <a:solidFill>
              <a:schemeClr val="accent1"/>
            </a:solidFill>
            <a:prstDash val="solid"/>
          </a:ln>
        </p:spPr>
      </p:sp>
      <p:pic>
        <p:nvPicPr>
          <p:cNvPr id="9" name="icon-153" descr="preencoded.png"/>
          <p:cNvPicPr>
            <a:picLocks noChangeAspect="1"/>
          </p:cNvPicPr>
          <p:nvPr/>
        </p:nvPicPr>
        <p:blipFill>
          <a:blip r:embed="rId5"/>
          <a:stretch>
            <a:fillRect/>
          </a:stretch>
        </p:blipFill>
        <p:spPr>
          <a:xfrm>
            <a:off x="7949794" y="1457554"/>
            <a:ext cx="285293" cy="285293"/>
          </a:xfrm>
          <a:prstGeom prst="rect">
            <a:avLst/>
          </a:prstGeom>
        </p:spPr>
      </p:pic>
      <p:sp>
        <p:nvSpPr>
          <p:cNvPr id="10" name="Text 4"/>
          <p:cNvSpPr txBox="1"/>
          <p:nvPr/>
        </p:nvSpPr>
        <p:spPr>
          <a:xfrm>
            <a:off x="8503920" y="1307592"/>
            <a:ext cx="3108960" cy="411480"/>
          </a:xfrm>
          <a:prstGeom prst="rect">
            <a:avLst/>
          </a:prstGeom>
          <a:noFill/>
          <a:ln/>
        </p:spPr>
        <p:txBody>
          <a:bodyPr wrap="square" lIns="0" tIns="0" rIns="0" bIns="0" rtlCol="0" anchor="t"/>
          <a:lstStyle/>
          <a:p>
            <a:pPr marL="0" indent="0">
              <a:buNone/>
            </a:pPr>
            <a:r>
              <a:rPr lang="en-US" sz="1700" b="1" dirty="0">
                <a:solidFill>
                  <a:schemeClr val="tx2"/>
                </a:solidFill>
              </a:rPr>
              <a:t>Closed-form IK</a:t>
            </a:r>
            <a:endParaRPr lang="en-US" sz="1700" dirty="0"/>
          </a:p>
        </p:txBody>
      </p:sp>
      <p:sp>
        <p:nvSpPr>
          <p:cNvPr id="11" name="Text 5"/>
          <p:cNvSpPr txBox="1"/>
          <p:nvPr/>
        </p:nvSpPr>
        <p:spPr>
          <a:xfrm>
            <a:off x="8503920" y="1709928"/>
            <a:ext cx="3108960" cy="777240"/>
          </a:xfrm>
          <a:prstGeom prst="rect">
            <a:avLst/>
          </a:prstGeom>
          <a:noFill/>
          <a:ln/>
        </p:spPr>
        <p:txBody>
          <a:bodyPr wrap="square" lIns="0" tIns="0" rIns="0" bIns="0" rtlCol="0" anchor="t"/>
          <a:lstStyle/>
          <a:p>
            <a:pPr marL="0" indent="0">
              <a:buNone/>
            </a:pPr>
            <a:r>
              <a:rPr lang="en-US" sz="1450" dirty="0">
                <a:solidFill>
                  <a:schemeClr val="tx1"/>
                </a:solidFill>
              </a:rPr>
              <a:t>Abduction, hip, knee from the foot target; verified at 1,280 targets, error &lt; 10⁻⁷ m</a:t>
            </a:r>
            <a:endParaRPr lang="en-US" sz="1450" dirty="0"/>
          </a:p>
        </p:txBody>
      </p:sp>
      <p:sp>
        <p:nvSpPr>
          <p:cNvPr id="12" name="icon-bg-154"/>
          <p:cNvSpPr/>
          <p:nvPr/>
        </p:nvSpPr>
        <p:spPr>
          <a:xfrm>
            <a:off x="7818120" y="2606040"/>
            <a:ext cx="548640" cy="548640"/>
          </a:xfrm>
          <a:prstGeom prst="ellipse">
            <a:avLst/>
          </a:prstGeom>
          <a:solidFill>
            <a:schemeClr val="accent1"/>
          </a:solidFill>
          <a:ln w="12700">
            <a:solidFill>
              <a:schemeClr val="accent1"/>
            </a:solidFill>
            <a:prstDash val="solid"/>
          </a:ln>
        </p:spPr>
      </p:sp>
      <p:pic>
        <p:nvPicPr>
          <p:cNvPr id="13" name="icon-155" descr="preencoded.png"/>
          <p:cNvPicPr>
            <a:picLocks noChangeAspect="1"/>
          </p:cNvPicPr>
          <p:nvPr/>
        </p:nvPicPr>
        <p:blipFill>
          <a:blip r:embed="rId6"/>
          <a:stretch>
            <a:fillRect/>
          </a:stretch>
        </p:blipFill>
        <p:spPr>
          <a:xfrm>
            <a:off x="7949794" y="2737714"/>
            <a:ext cx="285293" cy="285293"/>
          </a:xfrm>
          <a:prstGeom prst="rect">
            <a:avLst/>
          </a:prstGeom>
        </p:spPr>
      </p:pic>
      <p:sp>
        <p:nvSpPr>
          <p:cNvPr id="14" name="Text 7"/>
          <p:cNvSpPr txBox="1"/>
          <p:nvPr/>
        </p:nvSpPr>
        <p:spPr>
          <a:xfrm>
            <a:off x="8503920" y="2587752"/>
            <a:ext cx="3108960" cy="411480"/>
          </a:xfrm>
          <a:prstGeom prst="rect">
            <a:avLst/>
          </a:prstGeom>
          <a:noFill/>
          <a:ln/>
        </p:spPr>
        <p:txBody>
          <a:bodyPr wrap="square" lIns="0" tIns="0" rIns="0" bIns="0" rtlCol="0" anchor="t"/>
          <a:lstStyle/>
          <a:p>
            <a:pPr marL="0" indent="0">
              <a:buNone/>
            </a:pPr>
            <a:r>
              <a:rPr lang="en-US" sz="1700" b="1" dirty="0">
                <a:solidFill>
                  <a:schemeClr val="tx2"/>
                </a:solidFill>
              </a:rPr>
              <a:t>Diagonal trot</a:t>
            </a:r>
            <a:endParaRPr lang="en-US" sz="1700" dirty="0"/>
          </a:p>
        </p:txBody>
      </p:sp>
      <p:sp>
        <p:nvSpPr>
          <p:cNvPr id="15" name="Text 8"/>
          <p:cNvSpPr txBox="1"/>
          <p:nvPr/>
        </p:nvSpPr>
        <p:spPr>
          <a:xfrm>
            <a:off x="8503920" y="2990088"/>
            <a:ext cx="3108960" cy="777240"/>
          </a:xfrm>
          <a:prstGeom prst="rect">
            <a:avLst/>
          </a:prstGeom>
          <a:noFill/>
          <a:ln/>
        </p:spPr>
        <p:txBody>
          <a:bodyPr wrap="square" lIns="0" tIns="0" rIns="0" bIns="0" rtlCol="0" anchor="t"/>
          <a:lstStyle/>
          <a:p>
            <a:pPr marL="0" indent="0">
              <a:buNone/>
            </a:pPr>
            <a:r>
              <a:rPr lang="en-US" sz="1450" dirty="0">
                <a:solidFill>
                  <a:schemeClr val="tx1"/>
                </a:solidFill>
              </a:rPr>
              <a:t>2 Hz, duty 0.6, 30 mm step height, 180 mm body height, roll and pitch levelling</a:t>
            </a:r>
            <a:endParaRPr lang="en-US" sz="1450" dirty="0"/>
          </a:p>
        </p:txBody>
      </p:sp>
      <p:sp>
        <p:nvSpPr>
          <p:cNvPr id="16" name="icon-bg-156"/>
          <p:cNvSpPr/>
          <p:nvPr/>
        </p:nvSpPr>
        <p:spPr>
          <a:xfrm>
            <a:off x="7818120" y="3886200"/>
            <a:ext cx="548640" cy="548640"/>
          </a:xfrm>
          <a:prstGeom prst="ellipse">
            <a:avLst/>
          </a:prstGeom>
          <a:solidFill>
            <a:schemeClr val="accent1"/>
          </a:solidFill>
          <a:ln w="12700">
            <a:solidFill>
              <a:schemeClr val="accent1"/>
            </a:solidFill>
            <a:prstDash val="solid"/>
          </a:ln>
        </p:spPr>
      </p:sp>
      <p:pic>
        <p:nvPicPr>
          <p:cNvPr id="17" name="icon-157" descr="preencoded.png"/>
          <p:cNvPicPr>
            <a:picLocks noChangeAspect="1"/>
          </p:cNvPicPr>
          <p:nvPr/>
        </p:nvPicPr>
        <p:blipFill>
          <a:blip r:embed="rId7"/>
          <a:stretch>
            <a:fillRect/>
          </a:stretch>
        </p:blipFill>
        <p:spPr>
          <a:xfrm>
            <a:off x="7949794" y="4017874"/>
            <a:ext cx="285293" cy="285293"/>
          </a:xfrm>
          <a:prstGeom prst="rect">
            <a:avLst/>
          </a:prstGeom>
        </p:spPr>
      </p:pic>
      <p:sp>
        <p:nvSpPr>
          <p:cNvPr id="18" name="Text 10"/>
          <p:cNvSpPr txBox="1"/>
          <p:nvPr/>
        </p:nvSpPr>
        <p:spPr>
          <a:xfrm>
            <a:off x="8503920" y="3867912"/>
            <a:ext cx="3108960" cy="411480"/>
          </a:xfrm>
          <a:prstGeom prst="rect">
            <a:avLst/>
          </a:prstGeom>
          <a:noFill/>
          <a:ln/>
        </p:spPr>
        <p:txBody>
          <a:bodyPr wrap="square" lIns="0" tIns="0" rIns="0" bIns="0" rtlCol="0" anchor="t"/>
          <a:lstStyle/>
          <a:p>
            <a:pPr marL="0" indent="0">
              <a:buNone/>
            </a:pPr>
            <a:r>
              <a:rPr lang="en-US" sz="1700" b="1" dirty="0">
                <a:solidFill>
                  <a:schemeClr val="tx2"/>
                </a:solidFill>
              </a:rPr>
              <a:t>CoM-centred footholds</a:t>
            </a:r>
            <a:endParaRPr lang="en-US" sz="1700" dirty="0"/>
          </a:p>
        </p:txBody>
      </p:sp>
      <p:sp>
        <p:nvSpPr>
          <p:cNvPr id="19" name="Text 11"/>
          <p:cNvSpPr txBox="1"/>
          <p:nvPr/>
        </p:nvSpPr>
        <p:spPr>
          <a:xfrm>
            <a:off x="8503920" y="4270248"/>
            <a:ext cx="3108960" cy="777240"/>
          </a:xfrm>
          <a:prstGeom prst="rect">
            <a:avLst/>
          </a:prstGeom>
          <a:noFill/>
          <a:ln/>
        </p:spPr>
        <p:txBody>
          <a:bodyPr wrap="square" lIns="0" tIns="0" rIns="0" bIns="0" rtlCol="0" anchor="t"/>
          <a:lstStyle/>
          <a:p>
            <a:pPr marL="0" indent="0">
              <a:buNone/>
            </a:pPr>
            <a:r>
              <a:rPr lang="en-US" sz="1450" dirty="0">
                <a:solidFill>
                  <a:schemeClr val="tx1"/>
                </a:solidFill>
              </a:rPr>
              <a:t>Feet placed around the measured centre of mass, 12 mm aft of the body centre</a:t>
            </a:r>
            <a:endParaRPr lang="en-US" sz="1450" dirty="0"/>
          </a:p>
        </p:txBody>
      </p:sp>
      <p:sp>
        <p:nvSpPr>
          <p:cNvPr id="20" name="panel-158"/>
          <p:cNvSpPr/>
          <p:nvPr/>
        </p:nvSpPr>
        <p:spPr>
          <a:xfrm>
            <a:off x="548640" y="5257800"/>
            <a:ext cx="11064240" cy="914400"/>
          </a:xfrm>
          <a:prstGeom prst="roundRect">
            <a:avLst>
              <a:gd name="adj" fmla="val 10000"/>
            </a:avLst>
          </a:prstGeom>
          <a:solidFill>
            <a:schemeClr val="tx2"/>
          </a:solidFill>
          <a:ln w="12700">
            <a:solidFill>
              <a:schemeClr val="tx2"/>
            </a:solidFill>
            <a:prstDash val="solid"/>
          </a:ln>
        </p:spPr>
      </p:sp>
      <p:sp>
        <p:nvSpPr>
          <p:cNvPr id="21" name="Text 13"/>
          <p:cNvSpPr txBox="1"/>
          <p:nvPr/>
        </p:nvSpPr>
        <p:spPr>
          <a:xfrm>
            <a:off x="777240" y="5257800"/>
            <a:ext cx="10607040" cy="914400"/>
          </a:xfrm>
          <a:prstGeom prst="rect">
            <a:avLst/>
          </a:prstGeom>
          <a:noFill/>
          <a:ln/>
        </p:spPr>
        <p:txBody>
          <a:bodyPr wrap="square" lIns="0" tIns="0" rIns="0" bIns="0" rtlCol="0" anchor="ctr"/>
          <a:lstStyle/>
          <a:p>
            <a:pPr marL="0" indent="0">
              <a:buNone/>
            </a:pPr>
            <a:r>
              <a:rPr lang="en-US" sz="1600" b="1" dirty="0">
                <a:solidFill>
                  <a:schemeClr val="accent2"/>
                </a:solidFill>
              </a:rPr>
              <a:t>Why footholds matter  </a:t>
            </a:r>
            <a:r>
              <a:rPr lang="en-US" sz="1600" dirty="0">
                <a:solidFill>
                  <a:schemeClr val="bg1"/>
                </a:solidFill>
              </a:rPr>
              <a:t>Centred on the body, the trot fell in all 24 gait settings; centred on the measured centre of mass, tilt stayed below 0.7°.</a:t>
            </a:r>
            <a:endParaRPr lang="en-US" sz="16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Simulation Model in MuJoCo</a:t>
            </a:r>
            <a:endParaRPr lang="en-US" sz="3000" dirty="0"/>
          </a:p>
        </p:txBody>
      </p:sp>
      <p:pic>
        <p:nvPicPr>
          <p:cNvPr id="3" name="video-15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8640" y="1280160"/>
            <a:ext cx="6949440" cy="3909060"/>
          </a:xfrm>
          <a:prstGeom prst="rect">
            <a:avLst/>
          </a:prstGeom>
        </p:spPr>
      </p:pic>
      <p:sp>
        <p:nvSpPr>
          <p:cNvPr id="5" name="Text 1"/>
          <p:cNvSpPr txBox="1"/>
          <p:nvPr/>
        </p:nvSpPr>
        <p:spPr>
          <a:xfrm>
            <a:off x="548640" y="5280660"/>
            <a:ext cx="6949440" cy="274320"/>
          </a:xfrm>
          <a:prstGeom prst="rect">
            <a:avLst/>
          </a:prstGeom>
          <a:noFill/>
          <a:ln/>
        </p:spPr>
        <p:txBody>
          <a:bodyPr wrap="square" lIns="0" tIns="0" rIns="0" bIns="0" rtlCol="0" anchor="t"/>
          <a:lstStyle/>
          <a:p>
            <a:pPr marL="0" indent="0">
              <a:buNone/>
            </a:pPr>
            <a:r>
              <a:rPr lang="en-US" sz="1200" i="1" dirty="0">
                <a:solidFill>
                  <a:schemeClr val="accent6"/>
                </a:solidFill>
              </a:rPr>
              <a:t>Autonomous survey: stand up, trot each row gap, detect the row end, turn, log readings</a:t>
            </a:r>
            <a:endParaRPr lang="en-US" sz="1200" dirty="0"/>
          </a:p>
        </p:txBody>
      </p:sp>
      <p:sp>
        <p:nvSpPr>
          <p:cNvPr id="6" name="icon-bg-160"/>
          <p:cNvSpPr/>
          <p:nvPr/>
        </p:nvSpPr>
        <p:spPr>
          <a:xfrm>
            <a:off x="7818120" y="1325880"/>
            <a:ext cx="530352" cy="530352"/>
          </a:xfrm>
          <a:prstGeom prst="ellipse">
            <a:avLst/>
          </a:prstGeom>
          <a:solidFill>
            <a:schemeClr val="accent1"/>
          </a:solidFill>
          <a:ln w="12700">
            <a:solidFill>
              <a:schemeClr val="accent1"/>
            </a:solidFill>
            <a:prstDash val="solid"/>
          </a:ln>
        </p:spPr>
      </p:sp>
      <p:pic>
        <p:nvPicPr>
          <p:cNvPr id="7" name="icon-161" descr="preencoded.png"/>
          <p:cNvPicPr>
            <a:picLocks noChangeAspect="1"/>
          </p:cNvPicPr>
          <p:nvPr/>
        </p:nvPicPr>
        <p:blipFill>
          <a:blip r:embed="rId6"/>
          <a:stretch>
            <a:fillRect/>
          </a:stretch>
        </p:blipFill>
        <p:spPr>
          <a:xfrm>
            <a:off x="7945404" y="1453164"/>
            <a:ext cx="275783" cy="275783"/>
          </a:xfrm>
          <a:prstGeom prst="rect">
            <a:avLst/>
          </a:prstGeom>
        </p:spPr>
      </p:pic>
      <p:sp>
        <p:nvSpPr>
          <p:cNvPr id="8" name="Text 3"/>
          <p:cNvSpPr txBox="1"/>
          <p:nvPr/>
        </p:nvSpPr>
        <p:spPr>
          <a:xfrm>
            <a:off x="8503920" y="1307592"/>
            <a:ext cx="3108960" cy="384048"/>
          </a:xfrm>
          <a:prstGeom prst="rect">
            <a:avLst/>
          </a:prstGeom>
          <a:noFill/>
          <a:ln/>
        </p:spPr>
        <p:txBody>
          <a:bodyPr wrap="square" lIns="0" tIns="0" rIns="0" bIns="0" rtlCol="0" anchor="t"/>
          <a:lstStyle/>
          <a:p>
            <a:pPr marL="0" indent="0">
              <a:buNone/>
            </a:pPr>
            <a:r>
              <a:rPr lang="en-US" sz="1700" b="1" dirty="0">
                <a:solidFill>
                  <a:schemeClr val="tx2"/>
                </a:solidFill>
              </a:rPr>
              <a:t>Measured geometry</a:t>
            </a:r>
            <a:endParaRPr lang="en-US" sz="1700" dirty="0"/>
          </a:p>
        </p:txBody>
      </p:sp>
      <p:sp>
        <p:nvSpPr>
          <p:cNvPr id="9" name="Text 4"/>
          <p:cNvSpPr txBox="1"/>
          <p:nvPr/>
        </p:nvSpPr>
        <p:spPr>
          <a:xfrm>
            <a:off x="8503920" y="1691640"/>
            <a:ext cx="3108960" cy="658368"/>
          </a:xfrm>
          <a:prstGeom prst="rect">
            <a:avLst/>
          </a:prstGeom>
          <a:noFill/>
          <a:ln/>
        </p:spPr>
        <p:txBody>
          <a:bodyPr wrap="square" lIns="0" tIns="0" rIns="0" bIns="0" rtlCol="0" anchor="t"/>
          <a:lstStyle/>
          <a:p>
            <a:pPr marL="0" indent="0">
              <a:buNone/>
            </a:pPr>
            <a:r>
              <a:rPr lang="en-US" sz="1450" dirty="0">
                <a:solidFill>
                  <a:schemeClr val="tx1"/>
                </a:solidFill>
              </a:rPr>
              <a:t>140 × 78 mm hip spacing, 111 / 125 mm legs, 1.35 kg</a:t>
            </a:r>
            <a:endParaRPr lang="en-US" sz="1450" dirty="0"/>
          </a:p>
        </p:txBody>
      </p:sp>
      <p:sp>
        <p:nvSpPr>
          <p:cNvPr id="10" name="icon-bg-162"/>
          <p:cNvSpPr/>
          <p:nvPr/>
        </p:nvSpPr>
        <p:spPr>
          <a:xfrm>
            <a:off x="7818120" y="2377440"/>
            <a:ext cx="530352" cy="530352"/>
          </a:xfrm>
          <a:prstGeom prst="ellipse">
            <a:avLst/>
          </a:prstGeom>
          <a:solidFill>
            <a:schemeClr val="accent1"/>
          </a:solidFill>
          <a:ln w="12700">
            <a:solidFill>
              <a:schemeClr val="accent1"/>
            </a:solidFill>
            <a:prstDash val="solid"/>
          </a:ln>
        </p:spPr>
      </p:sp>
      <p:pic>
        <p:nvPicPr>
          <p:cNvPr id="11" name="icon-163" descr="preencoded.png"/>
          <p:cNvPicPr>
            <a:picLocks noChangeAspect="1"/>
          </p:cNvPicPr>
          <p:nvPr/>
        </p:nvPicPr>
        <p:blipFill>
          <a:blip r:embed="rId7"/>
          <a:stretch>
            <a:fillRect/>
          </a:stretch>
        </p:blipFill>
        <p:spPr>
          <a:xfrm>
            <a:off x="7945404" y="2504724"/>
            <a:ext cx="275783" cy="275783"/>
          </a:xfrm>
          <a:prstGeom prst="rect">
            <a:avLst/>
          </a:prstGeom>
        </p:spPr>
      </p:pic>
      <p:sp>
        <p:nvSpPr>
          <p:cNvPr id="12" name="Text 6"/>
          <p:cNvSpPr txBox="1"/>
          <p:nvPr/>
        </p:nvSpPr>
        <p:spPr>
          <a:xfrm>
            <a:off x="8503920" y="2359152"/>
            <a:ext cx="3108960" cy="384048"/>
          </a:xfrm>
          <a:prstGeom prst="rect">
            <a:avLst/>
          </a:prstGeom>
          <a:noFill/>
          <a:ln/>
        </p:spPr>
        <p:txBody>
          <a:bodyPr wrap="square" lIns="0" tIns="0" rIns="0" bIns="0" rtlCol="0" anchor="t"/>
          <a:lstStyle/>
          <a:p>
            <a:pPr marL="0" indent="0">
              <a:buNone/>
            </a:pPr>
            <a:r>
              <a:rPr lang="en-US" sz="1700" b="1" dirty="0">
                <a:solidFill>
                  <a:schemeClr val="tx2"/>
                </a:solidFill>
              </a:rPr>
              <a:t>Realistic servos</a:t>
            </a:r>
            <a:endParaRPr lang="en-US" sz="1700" dirty="0"/>
          </a:p>
        </p:txBody>
      </p:sp>
      <p:sp>
        <p:nvSpPr>
          <p:cNvPr id="13" name="Text 7"/>
          <p:cNvSpPr txBox="1"/>
          <p:nvPr/>
        </p:nvSpPr>
        <p:spPr>
          <a:xfrm>
            <a:off x="8503920" y="2743200"/>
            <a:ext cx="3108960" cy="658368"/>
          </a:xfrm>
          <a:prstGeom prst="rect">
            <a:avLst/>
          </a:prstGeom>
          <a:noFill/>
          <a:ln/>
        </p:spPr>
        <p:txBody>
          <a:bodyPr wrap="square" lIns="0" tIns="0" rIns="0" bIns="0" rtlCol="0" anchor="t"/>
          <a:lstStyle/>
          <a:p>
            <a:pPr marL="0" indent="0">
              <a:buNone/>
            </a:pPr>
            <a:r>
              <a:rPr lang="en-US" sz="1450" dirty="0">
                <a:solidFill>
                  <a:schemeClr val="tx1"/>
                </a:solidFill>
              </a:rPr>
              <a:t>Position servos capped at 1.0 N·m (MG996R stall 0.92–1.08 N·m)</a:t>
            </a:r>
            <a:endParaRPr lang="en-US" sz="1450" dirty="0"/>
          </a:p>
        </p:txBody>
      </p:sp>
      <p:sp>
        <p:nvSpPr>
          <p:cNvPr id="14" name="icon-bg-164"/>
          <p:cNvSpPr/>
          <p:nvPr/>
        </p:nvSpPr>
        <p:spPr>
          <a:xfrm>
            <a:off x="7818120" y="3429000"/>
            <a:ext cx="530352" cy="530352"/>
          </a:xfrm>
          <a:prstGeom prst="ellipse">
            <a:avLst/>
          </a:prstGeom>
          <a:solidFill>
            <a:schemeClr val="accent1"/>
          </a:solidFill>
          <a:ln w="12700">
            <a:solidFill>
              <a:schemeClr val="accent1"/>
            </a:solidFill>
            <a:prstDash val="solid"/>
          </a:ln>
        </p:spPr>
      </p:sp>
      <p:pic>
        <p:nvPicPr>
          <p:cNvPr id="15" name="icon-165" descr="preencoded.png"/>
          <p:cNvPicPr>
            <a:picLocks noChangeAspect="1"/>
          </p:cNvPicPr>
          <p:nvPr/>
        </p:nvPicPr>
        <p:blipFill>
          <a:blip r:embed="rId8"/>
          <a:stretch>
            <a:fillRect/>
          </a:stretch>
        </p:blipFill>
        <p:spPr>
          <a:xfrm>
            <a:off x="7945404" y="3556284"/>
            <a:ext cx="275783" cy="275783"/>
          </a:xfrm>
          <a:prstGeom prst="rect">
            <a:avLst/>
          </a:prstGeom>
        </p:spPr>
      </p:pic>
      <p:sp>
        <p:nvSpPr>
          <p:cNvPr id="16" name="Text 9"/>
          <p:cNvSpPr txBox="1"/>
          <p:nvPr/>
        </p:nvSpPr>
        <p:spPr>
          <a:xfrm>
            <a:off x="8503920" y="3410712"/>
            <a:ext cx="3108960" cy="384048"/>
          </a:xfrm>
          <a:prstGeom prst="rect">
            <a:avLst/>
          </a:prstGeom>
          <a:noFill/>
          <a:ln/>
        </p:spPr>
        <p:txBody>
          <a:bodyPr wrap="square" lIns="0" tIns="0" rIns="0" bIns="0" rtlCol="0" anchor="t"/>
          <a:lstStyle/>
          <a:p>
            <a:pPr marL="0" indent="0">
              <a:buNone/>
            </a:pPr>
            <a:r>
              <a:rPr lang="en-US" sz="1700" b="1" dirty="0">
                <a:solidFill>
                  <a:schemeClr val="tx2"/>
                </a:solidFill>
              </a:rPr>
              <a:t>Modelled field</a:t>
            </a:r>
            <a:endParaRPr lang="en-US" sz="1700" dirty="0"/>
          </a:p>
        </p:txBody>
      </p:sp>
      <p:sp>
        <p:nvSpPr>
          <p:cNvPr id="17" name="Text 10"/>
          <p:cNvSpPr txBox="1"/>
          <p:nvPr/>
        </p:nvSpPr>
        <p:spPr>
          <a:xfrm>
            <a:off x="8503920" y="3794760"/>
            <a:ext cx="3108960" cy="658368"/>
          </a:xfrm>
          <a:prstGeom prst="rect">
            <a:avLst/>
          </a:prstGeom>
          <a:noFill/>
          <a:ln/>
        </p:spPr>
        <p:txBody>
          <a:bodyPr wrap="square" lIns="0" tIns="0" rIns="0" bIns="0" rtlCol="0" anchor="t"/>
          <a:lstStyle/>
          <a:p>
            <a:pPr marL="0" indent="0">
              <a:buNone/>
            </a:pPr>
            <a:r>
              <a:rPr lang="en-US" sz="1450" dirty="0">
                <a:solidFill>
                  <a:schemeClr val="tx1"/>
                </a:solidFill>
              </a:rPr>
              <a:t>4 tomato rows, a stressed patch emitting VOCs, a dusty headland</a:t>
            </a:r>
            <a:endParaRPr lang="en-US" sz="1450" dirty="0"/>
          </a:p>
        </p:txBody>
      </p:sp>
      <p:sp>
        <p:nvSpPr>
          <p:cNvPr id="18" name="icon-bg-166"/>
          <p:cNvSpPr/>
          <p:nvPr/>
        </p:nvSpPr>
        <p:spPr>
          <a:xfrm>
            <a:off x="7818120" y="4480560"/>
            <a:ext cx="530352" cy="530352"/>
          </a:xfrm>
          <a:prstGeom prst="ellipse">
            <a:avLst/>
          </a:prstGeom>
          <a:solidFill>
            <a:schemeClr val="accent1"/>
          </a:solidFill>
          <a:ln w="12700">
            <a:solidFill>
              <a:schemeClr val="accent1"/>
            </a:solidFill>
            <a:prstDash val="solid"/>
          </a:ln>
        </p:spPr>
      </p:sp>
      <p:pic>
        <p:nvPicPr>
          <p:cNvPr id="19" name="icon-167" descr="preencoded.png"/>
          <p:cNvPicPr>
            <a:picLocks noChangeAspect="1"/>
          </p:cNvPicPr>
          <p:nvPr/>
        </p:nvPicPr>
        <p:blipFill>
          <a:blip r:embed="rId9"/>
          <a:stretch>
            <a:fillRect/>
          </a:stretch>
        </p:blipFill>
        <p:spPr>
          <a:xfrm>
            <a:off x="7945404" y="4607844"/>
            <a:ext cx="275783" cy="275783"/>
          </a:xfrm>
          <a:prstGeom prst="rect">
            <a:avLst/>
          </a:prstGeom>
        </p:spPr>
      </p:pic>
      <p:sp>
        <p:nvSpPr>
          <p:cNvPr id="20" name="Text 12"/>
          <p:cNvSpPr txBox="1"/>
          <p:nvPr/>
        </p:nvSpPr>
        <p:spPr>
          <a:xfrm>
            <a:off x="8503920" y="4462272"/>
            <a:ext cx="3108960" cy="384048"/>
          </a:xfrm>
          <a:prstGeom prst="rect">
            <a:avLst/>
          </a:prstGeom>
          <a:noFill/>
          <a:ln/>
        </p:spPr>
        <p:txBody>
          <a:bodyPr wrap="square" lIns="0" tIns="0" rIns="0" bIns="0" rtlCol="0" anchor="t"/>
          <a:lstStyle/>
          <a:p>
            <a:pPr marL="0" indent="0">
              <a:buNone/>
            </a:pPr>
            <a:r>
              <a:rPr lang="en-US" sz="1700" b="1" dirty="0">
                <a:solidFill>
                  <a:schemeClr val="tx2"/>
                </a:solidFill>
              </a:rPr>
              <a:t>Autonomous mission</a:t>
            </a:r>
            <a:endParaRPr lang="en-US" sz="1700" dirty="0"/>
          </a:p>
        </p:txBody>
      </p:sp>
      <p:sp>
        <p:nvSpPr>
          <p:cNvPr id="21" name="Text 13"/>
          <p:cNvSpPr txBox="1"/>
          <p:nvPr/>
        </p:nvSpPr>
        <p:spPr>
          <a:xfrm>
            <a:off x="8503920" y="4846320"/>
            <a:ext cx="3108960" cy="658368"/>
          </a:xfrm>
          <a:prstGeom prst="rect">
            <a:avLst/>
          </a:prstGeom>
          <a:noFill/>
          <a:ln/>
        </p:spPr>
        <p:txBody>
          <a:bodyPr wrap="square" lIns="0" tIns="0" rIns="0" bIns="0" rtlCol="0" anchor="t"/>
          <a:lstStyle/>
          <a:p>
            <a:pPr marL="0" indent="0">
              <a:buNone/>
            </a:pPr>
            <a:r>
              <a:rPr lang="en-US" sz="1450" dirty="0">
                <a:solidFill>
                  <a:schemeClr val="tx1"/>
                </a:solidFill>
              </a:rPr>
              <a:t>Heading control; front range sensor ends each row at 55 cm</a:t>
            </a:r>
            <a:endParaRPr lang="en-US" sz="1450" dirty="0"/>
          </a:p>
        </p:txBody>
      </p:sp>
      <p:sp>
        <p:nvSpPr>
          <p:cNvPr id="22" name="panel-168"/>
          <p:cNvSpPr/>
          <p:nvPr/>
        </p:nvSpPr>
        <p:spPr>
          <a:xfrm>
            <a:off x="548640" y="5669280"/>
            <a:ext cx="11064240" cy="566928"/>
          </a:xfrm>
          <a:prstGeom prst="roundRect">
            <a:avLst>
              <a:gd name="adj" fmla="val 16129"/>
            </a:avLst>
          </a:prstGeom>
          <a:solidFill>
            <a:schemeClr val="bg2"/>
          </a:solidFill>
          <a:ln w="12700">
            <a:solidFill>
              <a:schemeClr val="bg2"/>
            </a:solidFill>
            <a:prstDash val="solid"/>
          </a:ln>
        </p:spPr>
      </p:sp>
      <p:sp>
        <p:nvSpPr>
          <p:cNvPr id="23" name="Text 15"/>
          <p:cNvSpPr txBox="1"/>
          <p:nvPr/>
        </p:nvSpPr>
        <p:spPr>
          <a:xfrm>
            <a:off x="777240" y="5669280"/>
            <a:ext cx="10607040" cy="566928"/>
          </a:xfrm>
          <a:prstGeom prst="rect">
            <a:avLst/>
          </a:prstGeom>
          <a:noFill/>
          <a:ln/>
        </p:spPr>
        <p:txBody>
          <a:bodyPr wrap="square" lIns="0" tIns="0" rIns="0" bIns="0" rtlCol="0" anchor="ctr"/>
          <a:lstStyle/>
          <a:p>
            <a:pPr marL="0" indent="0">
              <a:buNone/>
            </a:pPr>
            <a:r>
              <a:rPr lang="en-US" sz="1500" b="1" dirty="0">
                <a:solidFill>
                  <a:schemeClr val="tx2"/>
                </a:solidFill>
              </a:rPr>
              <a:t>Gait chosen by a sweep  </a:t>
            </a:r>
            <a:r>
              <a:rPr lang="en-US" sz="1500" dirty="0">
                <a:solidFill>
                  <a:schemeClr val="tx1"/>
                </a:solidFill>
              </a:rPr>
              <a:t>24 settings: frequency 2 / 2.5 / 3 Hz × duty 0.5 / 0.6 × stiffness 15 / 30 N·m/rad × levelling gain 0 / 0.5</a:t>
            </a:r>
            <a:endParaRPr lang="en-US" sz="15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Technology Stack</a:t>
            </a:r>
            <a:endParaRPr lang="en-US" sz="3000" dirty="0"/>
          </a:p>
        </p:txBody>
      </p:sp>
      <p:sp>
        <p:nvSpPr>
          <p:cNvPr id="4" name="panel-169"/>
          <p:cNvSpPr/>
          <p:nvPr/>
        </p:nvSpPr>
        <p:spPr>
          <a:xfrm>
            <a:off x="548640" y="1325880"/>
            <a:ext cx="3529584" cy="2286000"/>
          </a:xfrm>
          <a:prstGeom prst="roundRect">
            <a:avLst>
              <a:gd name="adj" fmla="val 4000"/>
            </a:avLst>
          </a:prstGeom>
          <a:solidFill>
            <a:schemeClr val="bg2"/>
          </a:solidFill>
          <a:ln w="12700">
            <a:solidFill>
              <a:schemeClr val="bg2"/>
            </a:solidFill>
            <a:prstDash val="solid"/>
          </a:ln>
        </p:spPr>
      </p:sp>
      <p:sp>
        <p:nvSpPr>
          <p:cNvPr id="5" name="icon-bg-170"/>
          <p:cNvSpPr/>
          <p:nvPr/>
        </p:nvSpPr>
        <p:spPr>
          <a:xfrm>
            <a:off x="777240" y="1554480"/>
            <a:ext cx="548640" cy="548640"/>
          </a:xfrm>
          <a:prstGeom prst="ellipse">
            <a:avLst/>
          </a:prstGeom>
          <a:solidFill>
            <a:schemeClr val="accent1"/>
          </a:solidFill>
          <a:ln w="12700">
            <a:solidFill>
              <a:schemeClr val="accent1"/>
            </a:solidFill>
            <a:prstDash val="solid"/>
          </a:ln>
        </p:spPr>
      </p:sp>
      <p:pic>
        <p:nvPicPr>
          <p:cNvPr id="6" name="icon-171" descr="preencoded.png"/>
          <p:cNvPicPr>
            <a:picLocks noChangeAspect="1"/>
          </p:cNvPicPr>
          <p:nvPr/>
        </p:nvPicPr>
        <p:blipFill>
          <a:blip r:embed="rId3"/>
          <a:stretch>
            <a:fillRect/>
          </a:stretch>
        </p:blipFill>
        <p:spPr>
          <a:xfrm>
            <a:off x="908914" y="1686154"/>
            <a:ext cx="285293" cy="285293"/>
          </a:xfrm>
          <a:prstGeom prst="rect">
            <a:avLst/>
          </a:prstGeom>
        </p:spPr>
      </p:pic>
      <p:sp>
        <p:nvSpPr>
          <p:cNvPr id="7" name="Text 3"/>
          <p:cNvSpPr txBox="1"/>
          <p:nvPr/>
        </p:nvSpPr>
        <p:spPr>
          <a:xfrm>
            <a:off x="1463040" y="155448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Hardware</a:t>
            </a:r>
            <a:endParaRPr lang="en-US" sz="1800" dirty="0"/>
          </a:p>
        </p:txBody>
      </p:sp>
      <p:sp>
        <p:nvSpPr>
          <p:cNvPr id="8" name="Text 4"/>
          <p:cNvSpPr txBox="1"/>
          <p:nvPr/>
        </p:nvSpPr>
        <p:spPr>
          <a:xfrm>
            <a:off x="777240" y="224028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XIAO ESP32-S3 + expansion board · ESP32-CAM (OV3660) · SGP30, MCP9808, PPD42, HC-SR04 × 2 · 12 × MG996R</a:t>
            </a:r>
            <a:endParaRPr lang="en-US" sz="1500" dirty="0"/>
          </a:p>
        </p:txBody>
      </p:sp>
      <p:sp>
        <p:nvSpPr>
          <p:cNvPr id="9" name="panel-172"/>
          <p:cNvSpPr/>
          <p:nvPr/>
        </p:nvSpPr>
        <p:spPr>
          <a:xfrm>
            <a:off x="4279392" y="1325880"/>
            <a:ext cx="3529584" cy="2286000"/>
          </a:xfrm>
          <a:prstGeom prst="roundRect">
            <a:avLst>
              <a:gd name="adj" fmla="val 4000"/>
            </a:avLst>
          </a:prstGeom>
          <a:solidFill>
            <a:schemeClr val="bg2"/>
          </a:solidFill>
          <a:ln w="12700">
            <a:solidFill>
              <a:schemeClr val="bg2"/>
            </a:solidFill>
            <a:prstDash val="solid"/>
          </a:ln>
        </p:spPr>
      </p:sp>
      <p:sp>
        <p:nvSpPr>
          <p:cNvPr id="10" name="icon-bg-173"/>
          <p:cNvSpPr/>
          <p:nvPr/>
        </p:nvSpPr>
        <p:spPr>
          <a:xfrm>
            <a:off x="4507992" y="1554480"/>
            <a:ext cx="548640" cy="548640"/>
          </a:xfrm>
          <a:prstGeom prst="ellipse">
            <a:avLst/>
          </a:prstGeom>
          <a:solidFill>
            <a:schemeClr val="accent1"/>
          </a:solidFill>
          <a:ln w="12700">
            <a:solidFill>
              <a:schemeClr val="accent1"/>
            </a:solidFill>
            <a:prstDash val="solid"/>
          </a:ln>
        </p:spPr>
      </p:sp>
      <p:pic>
        <p:nvPicPr>
          <p:cNvPr id="11" name="icon-174" descr="preencoded.png"/>
          <p:cNvPicPr>
            <a:picLocks noChangeAspect="1"/>
          </p:cNvPicPr>
          <p:nvPr/>
        </p:nvPicPr>
        <p:blipFill>
          <a:blip r:embed="rId4"/>
          <a:stretch>
            <a:fillRect/>
          </a:stretch>
        </p:blipFill>
        <p:spPr>
          <a:xfrm>
            <a:off x="4639666" y="1686154"/>
            <a:ext cx="285293" cy="285293"/>
          </a:xfrm>
          <a:prstGeom prst="rect">
            <a:avLst/>
          </a:prstGeom>
        </p:spPr>
      </p:pic>
      <p:sp>
        <p:nvSpPr>
          <p:cNvPr id="12" name="Text 7"/>
          <p:cNvSpPr txBox="1"/>
          <p:nvPr/>
        </p:nvSpPr>
        <p:spPr>
          <a:xfrm>
            <a:off x="5193792" y="155448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Firmware</a:t>
            </a:r>
            <a:endParaRPr lang="en-US" sz="1800" dirty="0"/>
          </a:p>
        </p:txBody>
      </p:sp>
      <p:sp>
        <p:nvSpPr>
          <p:cNvPr id="13" name="Text 8"/>
          <p:cNvSpPr txBox="1"/>
          <p:nvPr/>
        </p:nvSpPr>
        <p:spPr>
          <a:xfrm>
            <a:off x="4507992" y="224028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Arduino-ESP32 core 3.3 · Adafruit SGP30 · U8g2 display · esp_http_server for MJPEG</a:t>
            </a:r>
            <a:endParaRPr lang="en-US" sz="1500" dirty="0"/>
          </a:p>
        </p:txBody>
      </p:sp>
      <p:sp>
        <p:nvSpPr>
          <p:cNvPr id="14" name="panel-175"/>
          <p:cNvSpPr/>
          <p:nvPr/>
        </p:nvSpPr>
        <p:spPr>
          <a:xfrm>
            <a:off x="8010144" y="1325880"/>
            <a:ext cx="3529584" cy="2286000"/>
          </a:xfrm>
          <a:prstGeom prst="roundRect">
            <a:avLst>
              <a:gd name="adj" fmla="val 4000"/>
            </a:avLst>
          </a:prstGeom>
          <a:solidFill>
            <a:schemeClr val="bg2"/>
          </a:solidFill>
          <a:ln w="12700">
            <a:solidFill>
              <a:schemeClr val="bg2"/>
            </a:solidFill>
            <a:prstDash val="solid"/>
          </a:ln>
        </p:spPr>
      </p:sp>
      <p:sp>
        <p:nvSpPr>
          <p:cNvPr id="15" name="icon-bg-176"/>
          <p:cNvSpPr/>
          <p:nvPr/>
        </p:nvSpPr>
        <p:spPr>
          <a:xfrm>
            <a:off x="8238744" y="1554480"/>
            <a:ext cx="548640" cy="548640"/>
          </a:xfrm>
          <a:prstGeom prst="ellipse">
            <a:avLst/>
          </a:prstGeom>
          <a:solidFill>
            <a:schemeClr val="accent1"/>
          </a:solidFill>
          <a:ln w="12700">
            <a:solidFill>
              <a:schemeClr val="accent1"/>
            </a:solidFill>
            <a:prstDash val="solid"/>
          </a:ln>
        </p:spPr>
      </p:sp>
      <p:pic>
        <p:nvPicPr>
          <p:cNvPr id="16" name="icon-177" descr="preencoded.png"/>
          <p:cNvPicPr>
            <a:picLocks noChangeAspect="1"/>
          </p:cNvPicPr>
          <p:nvPr/>
        </p:nvPicPr>
        <p:blipFill>
          <a:blip r:embed="rId5"/>
          <a:stretch>
            <a:fillRect/>
          </a:stretch>
        </p:blipFill>
        <p:spPr>
          <a:xfrm>
            <a:off x="8370418" y="1686154"/>
            <a:ext cx="285293" cy="285293"/>
          </a:xfrm>
          <a:prstGeom prst="rect">
            <a:avLst/>
          </a:prstGeom>
        </p:spPr>
      </p:pic>
      <p:sp>
        <p:nvSpPr>
          <p:cNvPr id="17" name="Text 11"/>
          <p:cNvSpPr txBox="1"/>
          <p:nvPr/>
        </p:nvSpPr>
        <p:spPr>
          <a:xfrm>
            <a:off x="8924544" y="155448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Dashboard and AI</a:t>
            </a:r>
            <a:endParaRPr lang="en-US" sz="1800" dirty="0"/>
          </a:p>
        </p:txBody>
      </p:sp>
      <p:sp>
        <p:nvSpPr>
          <p:cNvPr id="18" name="Text 12"/>
          <p:cNvSpPr txBox="1"/>
          <p:nvPr/>
        </p:nvSpPr>
        <p:spPr>
          <a:xfrm>
            <a:off x="8238744" y="224028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Python · Flask · PyTorch · Hugging Face Transformers · MobileNetV2 (PlantVillage)</a:t>
            </a:r>
            <a:endParaRPr lang="en-US" sz="1500" dirty="0"/>
          </a:p>
        </p:txBody>
      </p:sp>
      <p:sp>
        <p:nvSpPr>
          <p:cNvPr id="19" name="panel-178"/>
          <p:cNvSpPr/>
          <p:nvPr/>
        </p:nvSpPr>
        <p:spPr>
          <a:xfrm>
            <a:off x="548640" y="3794760"/>
            <a:ext cx="3529584" cy="2286000"/>
          </a:xfrm>
          <a:prstGeom prst="roundRect">
            <a:avLst>
              <a:gd name="adj" fmla="val 4000"/>
            </a:avLst>
          </a:prstGeom>
          <a:solidFill>
            <a:schemeClr val="bg2"/>
          </a:solidFill>
          <a:ln w="12700">
            <a:solidFill>
              <a:schemeClr val="bg2"/>
            </a:solidFill>
            <a:prstDash val="solid"/>
          </a:ln>
        </p:spPr>
      </p:sp>
      <p:sp>
        <p:nvSpPr>
          <p:cNvPr id="20" name="icon-bg-179"/>
          <p:cNvSpPr/>
          <p:nvPr/>
        </p:nvSpPr>
        <p:spPr>
          <a:xfrm>
            <a:off x="777240" y="4023360"/>
            <a:ext cx="548640" cy="548640"/>
          </a:xfrm>
          <a:prstGeom prst="ellipse">
            <a:avLst/>
          </a:prstGeom>
          <a:solidFill>
            <a:schemeClr val="accent1"/>
          </a:solidFill>
          <a:ln w="12700">
            <a:solidFill>
              <a:schemeClr val="accent1"/>
            </a:solidFill>
            <a:prstDash val="solid"/>
          </a:ln>
        </p:spPr>
      </p:sp>
      <p:pic>
        <p:nvPicPr>
          <p:cNvPr id="21" name="icon-180" descr="preencoded.png"/>
          <p:cNvPicPr>
            <a:picLocks noChangeAspect="1"/>
          </p:cNvPicPr>
          <p:nvPr/>
        </p:nvPicPr>
        <p:blipFill>
          <a:blip r:embed="rId6"/>
          <a:stretch>
            <a:fillRect/>
          </a:stretch>
        </p:blipFill>
        <p:spPr>
          <a:xfrm>
            <a:off x="908914" y="4155034"/>
            <a:ext cx="285293" cy="285293"/>
          </a:xfrm>
          <a:prstGeom prst="rect">
            <a:avLst/>
          </a:prstGeom>
        </p:spPr>
      </p:pic>
      <p:sp>
        <p:nvSpPr>
          <p:cNvPr id="22" name="Text 15"/>
          <p:cNvSpPr txBox="1"/>
          <p:nvPr/>
        </p:nvSpPr>
        <p:spPr>
          <a:xfrm>
            <a:off x="1463040" y="402336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Simulation</a:t>
            </a:r>
            <a:endParaRPr lang="en-US" sz="1800" dirty="0"/>
          </a:p>
        </p:txBody>
      </p:sp>
      <p:sp>
        <p:nvSpPr>
          <p:cNvPr id="23" name="Text 16"/>
          <p:cNvSpPr txBox="1"/>
          <p:nvPr/>
        </p:nvSpPr>
        <p:spPr>
          <a:xfrm>
            <a:off x="777240" y="470916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MuJoCo 3 · NumPy · Matplotlib · headless video and metrics</a:t>
            </a:r>
            <a:endParaRPr lang="en-US" sz="1500" dirty="0"/>
          </a:p>
        </p:txBody>
      </p:sp>
      <p:sp>
        <p:nvSpPr>
          <p:cNvPr id="24" name="panel-181"/>
          <p:cNvSpPr/>
          <p:nvPr/>
        </p:nvSpPr>
        <p:spPr>
          <a:xfrm>
            <a:off x="4279392" y="3794760"/>
            <a:ext cx="3529584" cy="2286000"/>
          </a:xfrm>
          <a:prstGeom prst="roundRect">
            <a:avLst>
              <a:gd name="adj" fmla="val 4000"/>
            </a:avLst>
          </a:prstGeom>
          <a:solidFill>
            <a:schemeClr val="bg2"/>
          </a:solidFill>
          <a:ln w="12700">
            <a:solidFill>
              <a:schemeClr val="bg2"/>
            </a:solidFill>
            <a:prstDash val="solid"/>
          </a:ln>
        </p:spPr>
      </p:sp>
      <p:sp>
        <p:nvSpPr>
          <p:cNvPr id="25" name="icon-bg-182"/>
          <p:cNvSpPr/>
          <p:nvPr/>
        </p:nvSpPr>
        <p:spPr>
          <a:xfrm>
            <a:off x="4507992" y="4023360"/>
            <a:ext cx="548640" cy="548640"/>
          </a:xfrm>
          <a:prstGeom prst="ellipse">
            <a:avLst/>
          </a:prstGeom>
          <a:solidFill>
            <a:schemeClr val="accent1"/>
          </a:solidFill>
          <a:ln w="12700">
            <a:solidFill>
              <a:schemeClr val="accent1"/>
            </a:solidFill>
            <a:prstDash val="solid"/>
          </a:ln>
        </p:spPr>
      </p:sp>
      <p:pic>
        <p:nvPicPr>
          <p:cNvPr id="26" name="icon-183" descr="preencoded.png"/>
          <p:cNvPicPr>
            <a:picLocks noChangeAspect="1"/>
          </p:cNvPicPr>
          <p:nvPr/>
        </p:nvPicPr>
        <p:blipFill>
          <a:blip r:embed="rId7"/>
          <a:stretch>
            <a:fillRect/>
          </a:stretch>
        </p:blipFill>
        <p:spPr>
          <a:xfrm>
            <a:off x="4639666" y="4155034"/>
            <a:ext cx="285293" cy="285293"/>
          </a:xfrm>
          <a:prstGeom prst="rect">
            <a:avLst/>
          </a:prstGeom>
        </p:spPr>
      </p:pic>
      <p:sp>
        <p:nvSpPr>
          <p:cNvPr id="27" name="Text 19"/>
          <p:cNvSpPr txBox="1"/>
          <p:nvPr/>
        </p:nvSpPr>
        <p:spPr>
          <a:xfrm>
            <a:off x="5193792" y="402336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Mechanical</a:t>
            </a:r>
            <a:endParaRPr lang="en-US" sz="1800" dirty="0"/>
          </a:p>
        </p:txBody>
      </p:sp>
      <p:sp>
        <p:nvSpPr>
          <p:cNvPr id="28" name="Text 20"/>
          <p:cNvSpPr txBox="1"/>
          <p:nvPr/>
        </p:nvSpPr>
        <p:spPr>
          <a:xfrm>
            <a:off x="4507992" y="470916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SpotMicro base (CC-BY) · PLA+ and TPU · Python generators for the custom mounts</a:t>
            </a:r>
            <a:endParaRPr lang="en-US" sz="1500" dirty="0"/>
          </a:p>
        </p:txBody>
      </p:sp>
      <p:sp>
        <p:nvSpPr>
          <p:cNvPr id="29" name="panel-184"/>
          <p:cNvSpPr/>
          <p:nvPr/>
        </p:nvSpPr>
        <p:spPr>
          <a:xfrm>
            <a:off x="8010144" y="3794760"/>
            <a:ext cx="3529584" cy="2286000"/>
          </a:xfrm>
          <a:prstGeom prst="roundRect">
            <a:avLst>
              <a:gd name="adj" fmla="val 4000"/>
            </a:avLst>
          </a:prstGeom>
          <a:solidFill>
            <a:schemeClr val="bg2"/>
          </a:solidFill>
          <a:ln w="12700">
            <a:solidFill>
              <a:schemeClr val="bg2"/>
            </a:solidFill>
            <a:prstDash val="solid"/>
          </a:ln>
        </p:spPr>
      </p:sp>
      <p:sp>
        <p:nvSpPr>
          <p:cNvPr id="30" name="icon-bg-185"/>
          <p:cNvSpPr/>
          <p:nvPr/>
        </p:nvSpPr>
        <p:spPr>
          <a:xfrm>
            <a:off x="8238744" y="4023360"/>
            <a:ext cx="548640" cy="548640"/>
          </a:xfrm>
          <a:prstGeom prst="ellipse">
            <a:avLst/>
          </a:prstGeom>
          <a:solidFill>
            <a:schemeClr val="accent1"/>
          </a:solidFill>
          <a:ln w="12700">
            <a:solidFill>
              <a:schemeClr val="accent1"/>
            </a:solidFill>
            <a:prstDash val="solid"/>
          </a:ln>
        </p:spPr>
      </p:sp>
      <p:pic>
        <p:nvPicPr>
          <p:cNvPr id="31" name="icon-186" descr="preencoded.png"/>
          <p:cNvPicPr>
            <a:picLocks noChangeAspect="1"/>
          </p:cNvPicPr>
          <p:nvPr/>
        </p:nvPicPr>
        <p:blipFill>
          <a:blip r:embed="rId8"/>
          <a:stretch>
            <a:fillRect/>
          </a:stretch>
        </p:blipFill>
        <p:spPr>
          <a:xfrm>
            <a:off x="8370418" y="4155034"/>
            <a:ext cx="285293" cy="285293"/>
          </a:xfrm>
          <a:prstGeom prst="rect">
            <a:avLst/>
          </a:prstGeom>
        </p:spPr>
      </p:pic>
      <p:sp>
        <p:nvSpPr>
          <p:cNvPr id="32" name="Text 23"/>
          <p:cNvSpPr txBox="1"/>
          <p:nvPr/>
        </p:nvSpPr>
        <p:spPr>
          <a:xfrm>
            <a:off x="8924544" y="402336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Collaboration</a:t>
            </a:r>
            <a:endParaRPr lang="en-US" sz="1800" dirty="0"/>
          </a:p>
        </p:txBody>
      </p:sp>
      <p:sp>
        <p:nvSpPr>
          <p:cNvPr id="33" name="Text 24"/>
          <p:cNvSpPr txBox="1"/>
          <p:nvPr/>
        </p:nvSpPr>
        <p:spPr>
          <a:xfrm>
            <a:off x="8238744" y="4709160"/>
            <a:ext cx="3072384" cy="12344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Git and GitHub: firmware, dashboard, simulation and print files in one repository</a:t>
            </a:r>
            <a:endParaRPr lang="en-US" sz="15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417320"/>
            <a:ext cx="3657600" cy="1371600"/>
          </a:xfrm>
          <a:prstGeom prst="rect">
            <a:avLst/>
          </a:prstGeom>
          <a:noFill/>
          <a:ln/>
        </p:spPr>
        <p:txBody>
          <a:bodyPr wrap="square" lIns="0" tIns="0" rIns="0" bIns="0" rtlCol="0" anchor="b"/>
          <a:lstStyle/>
          <a:p>
            <a:pPr marL="0" indent="0" algn="l">
              <a:buNone/>
            </a:pPr>
            <a:r>
              <a:rPr lang="en-US" sz="8800" b="1" dirty="0">
                <a:solidFill>
                  <a:schemeClr val="accent2"/>
                </a:solidFill>
                <a:latin typeface="Cambria" pitchFamily="34" charset="0"/>
                <a:ea typeface="Cambria" pitchFamily="34" charset="-122"/>
                <a:cs typeface="Cambria" pitchFamily="34" charset="-120"/>
              </a:rPr>
              <a:t>03</a:t>
            </a:r>
            <a:endParaRPr lang="en-US" sz="8800" dirty="0"/>
          </a:p>
        </p:txBody>
      </p:sp>
      <p:sp>
        <p:nvSpPr>
          <p:cNvPr id="3" name="Text 0"/>
          <p:cNvSpPr>
            <a:spLocks noGrp="1"/>
          </p:cNvSpPr>
          <p:nvPr>
            <p:ph type="title" idx="101" hasCustomPrompt="1"/>
          </p:nvPr>
        </p:nvSpPr>
        <p:spPr>
          <a:xfrm>
            <a:off x="731520" y="2834640"/>
            <a:ext cx="7863840" cy="1097280"/>
          </a:xfrm>
          <a:prstGeom prst="rect">
            <a:avLst/>
          </a:prstGeom>
          <a:noFill/>
          <a:ln/>
        </p:spPr>
        <p:txBody>
          <a:bodyPr wrap="square" lIns="0" tIns="0" rIns="0" bIns="0" rtlCol="0" anchor="t"/>
          <a:lstStyle/>
          <a:p>
            <a:pPr marL="0" indent="0" algn="l">
              <a:buNone/>
            </a:pPr>
            <a:r>
              <a:rPr lang="en-US" sz="4400" b="1" dirty="0">
                <a:solidFill>
                  <a:schemeClr val="bg1"/>
                </a:solidFill>
              </a:rPr>
              <a:t>Completion and Integration</a:t>
            </a:r>
            <a:endParaRPr lang="en-US" sz="4400" dirty="0"/>
          </a:p>
        </p:txBody>
      </p:sp>
      <p:sp>
        <p:nvSpPr>
          <p:cNvPr id="4" name="Text 0"/>
          <p:cNvSpPr>
            <a:spLocks noGrp="1"/>
          </p:cNvSpPr>
          <p:nvPr>
            <p:ph type="body" idx="102" hasCustomPrompt="1"/>
          </p:nvPr>
        </p:nvSpPr>
        <p:spPr>
          <a:xfrm>
            <a:off x="731520" y="4069080"/>
            <a:ext cx="7680960" cy="1280160"/>
          </a:xfrm>
          <a:prstGeom prst="rect">
            <a:avLst/>
          </a:prstGeom>
          <a:noFill/>
          <a:ln/>
        </p:spPr>
        <p:txBody>
          <a:bodyPr wrap="square" lIns="0" tIns="0" rIns="0" bIns="0" rtlCol="0" anchor="t"/>
          <a:lstStyle/>
          <a:p>
            <a:pPr marL="0" indent="0" algn="l">
              <a:buNone/>
            </a:pPr>
            <a:r>
              <a:rPr lang="en-US" sz="1800" dirty="0">
                <a:solidFill>
                  <a:schemeClr val="bg2"/>
                </a:solidFill>
              </a:rPr>
              <a:t>What was delivered, how the parts work together, and evidence of stable operation, followed by the live demo</a:t>
            </a:r>
            <a:endParaRPr lang="en-US" sz="1800" dirty="0"/>
          </a:p>
        </p:txBody>
      </p:sp>
      <p:pic>
        <p:nvPicPr>
          <p:cNvPr id="5" name="divider-icon-187" descr="preencoded.png"/>
          <p:cNvPicPr>
            <a:picLocks noChangeAspect="1"/>
          </p:cNvPicPr>
          <p:nvPr/>
        </p:nvPicPr>
        <p:blipFill>
          <a:blip r:embed="rId3">
            <a:alphaModFix amt="30000"/>
          </a:blip>
          <a:stretch>
            <a:fillRect/>
          </a:stretch>
        </p:blipFill>
        <p:spPr>
          <a:xfrm>
            <a:off x="8549640" y="1554480"/>
            <a:ext cx="3017520" cy="30175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Scope Delivered</a:t>
            </a:r>
            <a:endParaRPr lang="en-US" sz="3000" dirty="0"/>
          </a:p>
        </p:txBody>
      </p:sp>
      <p:sp>
        <p:nvSpPr>
          <p:cNvPr id="4" name="Text 1"/>
          <p:cNvSpPr txBox="1"/>
          <p:nvPr/>
        </p:nvSpPr>
        <p:spPr>
          <a:xfrm>
            <a:off x="548640" y="1371600"/>
            <a:ext cx="2743200" cy="822960"/>
          </a:xfrm>
          <a:prstGeom prst="rect">
            <a:avLst/>
          </a:prstGeom>
          <a:noFill/>
          <a:ln/>
        </p:spPr>
        <p:txBody>
          <a:bodyPr wrap="square" lIns="0" tIns="0" rIns="0" bIns="0" rtlCol="0" anchor="b"/>
          <a:lstStyle/>
          <a:p>
            <a:pPr marL="0" indent="0">
              <a:buNone/>
            </a:pPr>
            <a:r>
              <a:rPr lang="en-US" sz="5400" b="1" dirty="0">
                <a:solidFill>
                  <a:schemeClr val="accent1"/>
                </a:solidFill>
                <a:latin typeface="Cambria" pitchFamily="34" charset="0"/>
                <a:ea typeface="Cambria" pitchFamily="34" charset="-122"/>
                <a:cs typeface="Cambria" pitchFamily="34" charset="-120"/>
              </a:rPr>
              <a:t>5 / 6</a:t>
            </a:r>
            <a:endParaRPr lang="en-US" sz="5400" dirty="0"/>
          </a:p>
        </p:txBody>
      </p:sp>
      <p:sp>
        <p:nvSpPr>
          <p:cNvPr id="5" name="Text 2"/>
          <p:cNvSpPr txBox="1"/>
          <p:nvPr/>
        </p:nvSpPr>
        <p:spPr>
          <a:xfrm>
            <a:off x="548640" y="2249424"/>
            <a:ext cx="2743200" cy="640080"/>
          </a:xfrm>
          <a:prstGeom prst="rect">
            <a:avLst/>
          </a:prstGeom>
          <a:noFill/>
          <a:ln/>
        </p:spPr>
        <p:txBody>
          <a:bodyPr wrap="square" lIns="0" tIns="0" rIns="0" bIns="0" rtlCol="0" anchor="t"/>
          <a:lstStyle/>
          <a:p>
            <a:pPr marL="0" indent="0">
              <a:buNone/>
            </a:pPr>
            <a:r>
              <a:rPr lang="en-US" sz="1400" dirty="0">
                <a:solidFill>
                  <a:schemeClr val="accent6"/>
                </a:solidFill>
              </a:rPr>
              <a:t>objectives fully achieved</a:t>
            </a:r>
            <a:endParaRPr lang="en-US" sz="1400" dirty="0"/>
          </a:p>
        </p:txBody>
      </p:sp>
      <p:graphicFrame>
        <p:nvGraphicFramePr>
          <p:cNvPr id="22" name="table-188"/>
          <p:cNvGraphicFramePr>
            <a:graphicFrameLocks noGrp="1"/>
          </p:cNvGraphicFramePr>
          <p:nvPr>
            <p:extLst>
              <p:ext uri="{D42A27DB-BD31-4B8C-83A1-F6EECF244321}">
                <p14:modId xmlns:p14="http://schemas.microsoft.com/office/powerpoint/2010/main" val="2838012302"/>
              </p:ext>
            </p:extLst>
          </p:nvPr>
        </p:nvGraphicFramePr>
        <p:xfrm>
          <a:off x="3520440" y="1325880"/>
          <a:ext cx="8092440" cy="4572000"/>
        </p:xfrm>
        <a:graphic>
          <a:graphicData uri="http://schemas.openxmlformats.org/drawingml/2006/table">
            <a:tbl>
              <a:tblPr/>
              <a:tblGrid>
                <a:gridCol w="32918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457200">
                <a:tc>
                  <a:txBody>
                    <a:bodyPr/>
                    <a:lstStyle/>
                    <a:p>
                      <a:pPr marL="0" indent="0">
                        <a:buNone/>
                      </a:pPr>
                      <a:r>
                        <a:rPr lang="en-US" sz="1400" b="1" dirty="0">
                          <a:solidFill>
                            <a:schemeClr val="bg1"/>
                          </a:solidFill>
                        </a:rPr>
                        <a:t>Objective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Status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Evidence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85800">
                <a:tc>
                  <a:txBody>
                    <a:bodyPr/>
                    <a:lstStyle/>
                    <a:p>
                      <a:pPr marL="0" indent="0">
                        <a:buNone/>
                      </a:pPr>
                      <a:r>
                        <a:rPr lang="en-US" sz="1400" dirty="0">
                          <a:solidFill>
                            <a:schemeClr val="tx1"/>
                          </a:solidFill>
                        </a:rPr>
                        <a:t>Print and adapt the chassis; measure its geometry</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b="1" dirty="0">
                          <a:solidFill>
                            <a:schemeClr val="accent1"/>
                          </a:solidFill>
                        </a:rPr>
                        <a:t>Achieved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35 parts printed; four custom parts; measured geometry</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buNone/>
                      </a:pPr>
                      <a:r>
                        <a:rPr lang="en-US" sz="1400" dirty="0">
                          <a:solidFill>
                            <a:schemeClr val="tx1"/>
                          </a:solidFill>
                        </a:rPr>
                        <a:t>Wireless sensing payload, robust to faults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b="1" dirty="0">
                          <a:solidFill>
                            <a:schemeClr val="accent1"/>
                          </a:solidFill>
                        </a:rPr>
                        <a:t>Achieved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Gas, dust, temperature live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buNone/>
                      </a:pPr>
                      <a:r>
                        <a:rPr lang="en-US" sz="1400" dirty="0">
                          <a:solidFill>
                            <a:schemeClr val="tx1"/>
                          </a:solidFill>
                        </a:rPr>
                        <a:t>Camera streaming and gated classification</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b="1" dirty="0">
                          <a:solidFill>
                            <a:schemeClr val="accent1"/>
                          </a:solidFill>
                        </a:rPr>
                        <a:t>Achieved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16–20 fps; gate rejects non-leaf frames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buNone/>
                      </a:pPr>
                      <a:r>
                        <a:rPr lang="en-US" sz="1400" dirty="0">
                          <a:solidFill>
                            <a:schemeClr val="tx1"/>
                          </a:solidFill>
                        </a:rPr>
                        <a:t>Live dashboard with logging and tagging</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b="1" dirty="0">
                          <a:solidFill>
                            <a:schemeClr val="accent1"/>
                          </a:solidFill>
                        </a:rPr>
                        <a:t>Achieved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Logged sessions; tagged captures with readings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685800">
                <a:tc>
                  <a:txBody>
                    <a:bodyPr/>
                    <a:lstStyle/>
                    <a:p>
                      <a:pPr marL="0" indent="0">
                        <a:buNone/>
                      </a:pPr>
                      <a:r>
                        <a:rPr lang="en-US" sz="1400" dirty="0">
                          <a:solidFill>
                            <a:schemeClr val="tx1"/>
                          </a:solidFill>
                        </a:rPr>
                        <a:t>Verified kinematics; gait feasible in simulation</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b="1" dirty="0">
                          <a:solidFill>
                            <a:schemeClr val="accent1"/>
                          </a:solidFill>
                        </a:rPr>
                        <a:t>Achieved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IK error &lt; 10⁻⁷ m; full survey, no fall</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85800">
                <a:tc>
                  <a:txBody>
                    <a:bodyPr/>
                    <a:lstStyle/>
                    <a:p>
                      <a:pPr marL="0" indent="0">
                        <a:buNone/>
                      </a:pPr>
                      <a:r>
                        <a:rPr lang="en-US" sz="1400" dirty="0">
                          <a:solidFill>
                            <a:schemeClr val="tx1"/>
                          </a:solidFill>
                        </a:rPr>
                        <a:t>Walking on the physical robot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b="1" dirty="0">
                          <a:solidFill>
                            <a:schemeClr val="accent3"/>
                          </a:solidFill>
                        </a:rPr>
                        <a:t>Partly</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Legs actuate and it stands; no steps yet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The Assembled Robot</a:t>
            </a:r>
            <a:endParaRPr lang="en-US" sz="3000" dirty="0"/>
          </a:p>
        </p:txBody>
      </p:sp>
      <p:pic>
        <p:nvPicPr>
          <p:cNvPr id="4" name="image-189" descr="photo_robot.jpg"/>
          <p:cNvPicPr>
            <a:picLocks noChangeAspect="1"/>
          </p:cNvPicPr>
          <p:nvPr/>
        </p:nvPicPr>
        <p:blipFill>
          <a:blip r:embed="rId3"/>
          <a:stretch>
            <a:fillRect/>
          </a:stretch>
        </p:blipFill>
        <p:spPr>
          <a:xfrm>
            <a:off x="548640" y="1280160"/>
            <a:ext cx="6949440" cy="4119728"/>
          </a:xfrm>
          <a:prstGeom prst="rect">
            <a:avLst/>
          </a:prstGeom>
        </p:spPr>
      </p:pic>
      <p:sp>
        <p:nvSpPr>
          <p:cNvPr id="5" name="Text 1"/>
          <p:cNvSpPr txBox="1"/>
          <p:nvPr/>
        </p:nvSpPr>
        <p:spPr>
          <a:xfrm>
            <a:off x="548640" y="5473040"/>
            <a:ext cx="6949440" cy="274320"/>
          </a:xfrm>
          <a:prstGeom prst="rect">
            <a:avLst/>
          </a:prstGeom>
          <a:noFill/>
          <a:ln/>
        </p:spPr>
        <p:txBody>
          <a:bodyPr wrap="square" lIns="0" tIns="0" rIns="0" bIns="0" rtlCol="0" anchor="t"/>
          <a:lstStyle/>
          <a:p>
            <a:pPr marL="0" indent="0">
              <a:buNone/>
            </a:pPr>
            <a:r>
              <a:rPr lang="en-US" sz="1200" i="1" dirty="0">
                <a:solidFill>
                  <a:schemeClr val="accent6"/>
                </a:solidFill>
              </a:rPr>
              <a:t>The assembled robot standing outdoors</a:t>
            </a:r>
            <a:endParaRPr lang="en-US" sz="1200" dirty="0"/>
          </a:p>
        </p:txBody>
      </p:sp>
      <p:sp>
        <p:nvSpPr>
          <p:cNvPr id="6" name="icon-bg-190"/>
          <p:cNvSpPr/>
          <p:nvPr/>
        </p:nvSpPr>
        <p:spPr>
          <a:xfrm>
            <a:off x="7818120" y="1325880"/>
            <a:ext cx="530352" cy="530352"/>
          </a:xfrm>
          <a:prstGeom prst="ellipse">
            <a:avLst/>
          </a:prstGeom>
          <a:solidFill>
            <a:schemeClr val="accent1"/>
          </a:solidFill>
          <a:ln w="12700">
            <a:solidFill>
              <a:schemeClr val="accent1"/>
            </a:solidFill>
            <a:prstDash val="solid"/>
          </a:ln>
        </p:spPr>
      </p:sp>
      <p:pic>
        <p:nvPicPr>
          <p:cNvPr id="7" name="icon-191" descr="preencoded.png"/>
          <p:cNvPicPr>
            <a:picLocks noChangeAspect="1"/>
          </p:cNvPicPr>
          <p:nvPr/>
        </p:nvPicPr>
        <p:blipFill>
          <a:blip r:embed="rId4"/>
          <a:stretch>
            <a:fillRect/>
          </a:stretch>
        </p:blipFill>
        <p:spPr>
          <a:xfrm>
            <a:off x="7945404" y="1453164"/>
            <a:ext cx="275783" cy="275783"/>
          </a:xfrm>
          <a:prstGeom prst="rect">
            <a:avLst/>
          </a:prstGeom>
        </p:spPr>
      </p:pic>
      <p:sp>
        <p:nvSpPr>
          <p:cNvPr id="8" name="Text 3"/>
          <p:cNvSpPr txBox="1"/>
          <p:nvPr/>
        </p:nvSpPr>
        <p:spPr>
          <a:xfrm>
            <a:off x="8503920" y="1307592"/>
            <a:ext cx="3108960" cy="384048"/>
          </a:xfrm>
          <a:prstGeom prst="rect">
            <a:avLst/>
          </a:prstGeom>
          <a:noFill/>
          <a:ln/>
        </p:spPr>
        <p:txBody>
          <a:bodyPr wrap="square" lIns="0" tIns="0" rIns="0" bIns="0" rtlCol="0" anchor="t"/>
          <a:lstStyle/>
          <a:p>
            <a:pPr marL="0" indent="0">
              <a:buNone/>
            </a:pPr>
            <a:r>
              <a:rPr lang="en-US" sz="1700" b="1" dirty="0">
                <a:solidFill>
                  <a:schemeClr val="tx2"/>
                </a:solidFill>
              </a:rPr>
              <a:t>35 printed parts</a:t>
            </a:r>
            <a:endParaRPr lang="en-US" sz="1700" dirty="0"/>
          </a:p>
        </p:txBody>
      </p:sp>
      <p:sp>
        <p:nvSpPr>
          <p:cNvPr id="9" name="Text 4"/>
          <p:cNvSpPr txBox="1"/>
          <p:nvPr/>
        </p:nvSpPr>
        <p:spPr>
          <a:xfrm>
            <a:off x="8503920" y="1691640"/>
            <a:ext cx="3108960" cy="777240"/>
          </a:xfrm>
          <a:prstGeom prst="rect">
            <a:avLst/>
          </a:prstGeom>
          <a:noFill/>
          <a:ln/>
        </p:spPr>
        <p:txBody>
          <a:bodyPr wrap="square" lIns="0" tIns="0" rIns="0" bIns="0" rtlCol="0" anchor="t"/>
          <a:lstStyle/>
          <a:p>
            <a:pPr marL="0" indent="0">
              <a:buNone/>
            </a:pPr>
            <a:r>
              <a:rPr lang="en-US" sz="1450" dirty="0">
                <a:solidFill>
                  <a:schemeClr val="tx1"/>
                </a:solidFill>
              </a:rPr>
              <a:t>SpotMicro base adapted for the payload; ~700 g PLA+ with TPU feet; ₹5,200 to print</a:t>
            </a:r>
            <a:endParaRPr lang="en-US" sz="1450" dirty="0"/>
          </a:p>
        </p:txBody>
      </p:sp>
      <p:sp>
        <p:nvSpPr>
          <p:cNvPr id="10" name="icon-bg-192"/>
          <p:cNvSpPr/>
          <p:nvPr/>
        </p:nvSpPr>
        <p:spPr>
          <a:xfrm>
            <a:off x="7818120" y="2532888"/>
            <a:ext cx="530352" cy="530352"/>
          </a:xfrm>
          <a:prstGeom prst="ellipse">
            <a:avLst/>
          </a:prstGeom>
          <a:solidFill>
            <a:schemeClr val="accent1"/>
          </a:solidFill>
          <a:ln w="12700">
            <a:solidFill>
              <a:schemeClr val="accent1"/>
            </a:solidFill>
            <a:prstDash val="solid"/>
          </a:ln>
        </p:spPr>
      </p:sp>
      <p:pic>
        <p:nvPicPr>
          <p:cNvPr id="11" name="icon-193" descr="preencoded.png"/>
          <p:cNvPicPr>
            <a:picLocks noChangeAspect="1"/>
          </p:cNvPicPr>
          <p:nvPr/>
        </p:nvPicPr>
        <p:blipFill>
          <a:blip r:embed="rId5"/>
          <a:stretch>
            <a:fillRect/>
          </a:stretch>
        </p:blipFill>
        <p:spPr>
          <a:xfrm>
            <a:off x="7945404" y="2660172"/>
            <a:ext cx="275783" cy="275783"/>
          </a:xfrm>
          <a:prstGeom prst="rect">
            <a:avLst/>
          </a:prstGeom>
        </p:spPr>
      </p:pic>
      <p:sp>
        <p:nvSpPr>
          <p:cNvPr id="12" name="Text 6"/>
          <p:cNvSpPr txBox="1"/>
          <p:nvPr/>
        </p:nvSpPr>
        <p:spPr>
          <a:xfrm>
            <a:off x="8503920" y="2514600"/>
            <a:ext cx="3108960" cy="384048"/>
          </a:xfrm>
          <a:prstGeom prst="rect">
            <a:avLst/>
          </a:prstGeom>
          <a:noFill/>
          <a:ln/>
        </p:spPr>
        <p:txBody>
          <a:bodyPr wrap="square" lIns="0" tIns="0" rIns="0" bIns="0" rtlCol="0" anchor="t"/>
          <a:lstStyle/>
          <a:p>
            <a:pPr marL="0" indent="0">
              <a:buNone/>
            </a:pPr>
            <a:r>
              <a:rPr lang="en-US" sz="1700" b="1" dirty="0">
                <a:solidFill>
                  <a:schemeClr val="tx2"/>
                </a:solidFill>
              </a:rPr>
              <a:t>Sensor node on the top cover</a:t>
            </a:r>
            <a:endParaRPr lang="en-US" sz="1700" dirty="0"/>
          </a:p>
        </p:txBody>
      </p:sp>
      <p:sp>
        <p:nvSpPr>
          <p:cNvPr id="13" name="Text 7"/>
          <p:cNvSpPr txBox="1"/>
          <p:nvPr/>
        </p:nvSpPr>
        <p:spPr>
          <a:xfrm>
            <a:off x="8503920" y="2898648"/>
            <a:ext cx="3108960" cy="777240"/>
          </a:xfrm>
          <a:prstGeom prst="rect">
            <a:avLst/>
          </a:prstGeom>
          <a:noFill/>
          <a:ln/>
        </p:spPr>
        <p:txBody>
          <a:bodyPr wrap="square" lIns="0" tIns="0" rIns="0" bIns="0" rtlCol="0" anchor="t"/>
          <a:lstStyle/>
          <a:p>
            <a:pPr marL="0" indent="0">
              <a:buNone/>
            </a:pPr>
            <a:r>
              <a:rPr lang="en-US" sz="1450" dirty="0">
                <a:solidFill>
                  <a:schemeClr val="tx1"/>
                </a:solidFill>
              </a:rPr>
              <a:t>XIAO, breadboard and sensors, with the external antenna on a standoff</a:t>
            </a:r>
            <a:endParaRPr lang="en-US" sz="1450" dirty="0"/>
          </a:p>
        </p:txBody>
      </p:sp>
      <p:sp>
        <p:nvSpPr>
          <p:cNvPr id="14" name="icon-bg-194"/>
          <p:cNvSpPr/>
          <p:nvPr/>
        </p:nvSpPr>
        <p:spPr>
          <a:xfrm>
            <a:off x="7818120" y="3739896"/>
            <a:ext cx="530352" cy="530352"/>
          </a:xfrm>
          <a:prstGeom prst="ellipse">
            <a:avLst/>
          </a:prstGeom>
          <a:solidFill>
            <a:schemeClr val="accent1"/>
          </a:solidFill>
          <a:ln w="12700">
            <a:solidFill>
              <a:schemeClr val="accent1"/>
            </a:solidFill>
            <a:prstDash val="solid"/>
          </a:ln>
        </p:spPr>
      </p:sp>
      <p:pic>
        <p:nvPicPr>
          <p:cNvPr id="15" name="icon-195" descr="preencoded.png"/>
          <p:cNvPicPr>
            <a:picLocks noChangeAspect="1"/>
          </p:cNvPicPr>
          <p:nvPr/>
        </p:nvPicPr>
        <p:blipFill>
          <a:blip r:embed="rId6"/>
          <a:stretch>
            <a:fillRect/>
          </a:stretch>
        </p:blipFill>
        <p:spPr>
          <a:xfrm>
            <a:off x="7945404" y="3867180"/>
            <a:ext cx="275783" cy="275783"/>
          </a:xfrm>
          <a:prstGeom prst="rect">
            <a:avLst/>
          </a:prstGeom>
        </p:spPr>
      </p:pic>
      <p:sp>
        <p:nvSpPr>
          <p:cNvPr id="16" name="Text 9"/>
          <p:cNvSpPr txBox="1"/>
          <p:nvPr/>
        </p:nvSpPr>
        <p:spPr>
          <a:xfrm>
            <a:off x="8503920" y="3721608"/>
            <a:ext cx="3108960" cy="384048"/>
          </a:xfrm>
          <a:prstGeom prst="rect">
            <a:avLst/>
          </a:prstGeom>
          <a:noFill/>
          <a:ln/>
        </p:spPr>
        <p:txBody>
          <a:bodyPr wrap="square" lIns="0" tIns="0" rIns="0" bIns="0" rtlCol="0" anchor="t"/>
          <a:lstStyle/>
          <a:p>
            <a:pPr marL="0" indent="0">
              <a:buNone/>
            </a:pPr>
            <a:r>
              <a:rPr lang="en-US" sz="1700" b="1" dirty="0">
                <a:solidFill>
                  <a:schemeClr val="tx2"/>
                </a:solidFill>
              </a:rPr>
              <a:t>Camera in the head</a:t>
            </a:r>
            <a:endParaRPr lang="en-US" sz="1700" dirty="0"/>
          </a:p>
        </p:txBody>
      </p:sp>
      <p:sp>
        <p:nvSpPr>
          <p:cNvPr id="17" name="Text 10"/>
          <p:cNvSpPr txBox="1"/>
          <p:nvPr/>
        </p:nvSpPr>
        <p:spPr>
          <a:xfrm>
            <a:off x="8503920" y="4105656"/>
            <a:ext cx="3108960" cy="777240"/>
          </a:xfrm>
          <a:prstGeom prst="rect">
            <a:avLst/>
          </a:prstGeom>
          <a:noFill/>
          <a:ln/>
        </p:spPr>
        <p:txBody>
          <a:bodyPr wrap="square" lIns="0" tIns="0" rIns="0" bIns="0" rtlCol="0" anchor="t"/>
          <a:lstStyle/>
          <a:p>
            <a:pPr marL="0" indent="0">
              <a:buNone/>
            </a:pPr>
            <a:r>
              <a:rPr lang="en-US" sz="1450" dirty="0">
                <a:solidFill>
                  <a:schemeClr val="tx1"/>
                </a:solidFill>
              </a:rPr>
              <a:t>ESP32-CAM looks out through the printed nose</a:t>
            </a:r>
            <a:endParaRPr lang="en-US" sz="1450" dirty="0"/>
          </a:p>
        </p:txBody>
      </p:sp>
      <p:sp>
        <p:nvSpPr>
          <p:cNvPr id="18" name="icon-bg-196"/>
          <p:cNvSpPr/>
          <p:nvPr/>
        </p:nvSpPr>
        <p:spPr>
          <a:xfrm>
            <a:off x="7818120" y="4946904"/>
            <a:ext cx="530352" cy="530352"/>
          </a:xfrm>
          <a:prstGeom prst="ellipse">
            <a:avLst/>
          </a:prstGeom>
          <a:solidFill>
            <a:schemeClr val="accent1"/>
          </a:solidFill>
          <a:ln w="12700">
            <a:solidFill>
              <a:schemeClr val="accent1"/>
            </a:solidFill>
            <a:prstDash val="solid"/>
          </a:ln>
        </p:spPr>
      </p:sp>
      <p:pic>
        <p:nvPicPr>
          <p:cNvPr id="19" name="icon-197" descr="preencoded.png"/>
          <p:cNvPicPr>
            <a:picLocks noChangeAspect="1"/>
          </p:cNvPicPr>
          <p:nvPr/>
        </p:nvPicPr>
        <p:blipFill>
          <a:blip r:embed="rId7"/>
          <a:stretch>
            <a:fillRect/>
          </a:stretch>
        </p:blipFill>
        <p:spPr>
          <a:xfrm>
            <a:off x="7945404" y="5074188"/>
            <a:ext cx="275783" cy="275783"/>
          </a:xfrm>
          <a:prstGeom prst="rect">
            <a:avLst/>
          </a:prstGeom>
        </p:spPr>
      </p:pic>
      <p:sp>
        <p:nvSpPr>
          <p:cNvPr id="20" name="Text 12"/>
          <p:cNvSpPr txBox="1"/>
          <p:nvPr/>
        </p:nvSpPr>
        <p:spPr>
          <a:xfrm>
            <a:off x="8503920" y="4928616"/>
            <a:ext cx="3108960" cy="384048"/>
          </a:xfrm>
          <a:prstGeom prst="rect">
            <a:avLst/>
          </a:prstGeom>
          <a:noFill/>
          <a:ln/>
        </p:spPr>
        <p:txBody>
          <a:bodyPr wrap="square" lIns="0" tIns="0" rIns="0" bIns="0" rtlCol="0" anchor="t"/>
          <a:lstStyle/>
          <a:p>
            <a:pPr marL="0" indent="0">
              <a:buNone/>
            </a:pPr>
            <a:r>
              <a:rPr lang="en-US" sz="1700" b="1" dirty="0">
                <a:solidFill>
                  <a:schemeClr val="tx2"/>
                </a:solidFill>
              </a:rPr>
              <a:t>No battery on board</a:t>
            </a:r>
            <a:endParaRPr lang="en-US" sz="1700" dirty="0"/>
          </a:p>
        </p:txBody>
      </p:sp>
      <p:sp>
        <p:nvSpPr>
          <p:cNvPr id="21" name="Text 13"/>
          <p:cNvSpPr txBox="1"/>
          <p:nvPr/>
        </p:nvSpPr>
        <p:spPr>
          <a:xfrm>
            <a:off x="8503920" y="5312664"/>
            <a:ext cx="3108960" cy="777240"/>
          </a:xfrm>
          <a:prstGeom prst="rect">
            <a:avLst/>
          </a:prstGeom>
          <a:noFill/>
          <a:ln/>
        </p:spPr>
        <p:txBody>
          <a:bodyPr wrap="square" lIns="0" tIns="0" rIns="0" bIns="0" rtlCol="0" anchor="t"/>
          <a:lstStyle/>
          <a:p>
            <a:pPr marL="0" indent="0">
              <a:buNone/>
            </a:pPr>
            <a:r>
              <a:rPr lang="en-US" sz="1450" dirty="0">
                <a:solidFill>
                  <a:schemeClr val="tx1"/>
                </a:solidFill>
              </a:rPr>
              <a:t>Payload runs from a USB power bank beside the robot</a:t>
            </a:r>
            <a:endParaRPr lang="en-US" sz="145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Integrated Dashboard</a:t>
            </a:r>
            <a:endParaRPr lang="en-US" sz="3000" dirty="0"/>
          </a:p>
        </p:txBody>
      </p:sp>
      <p:pic>
        <p:nvPicPr>
          <p:cNvPr id="4" name="image-198" descr="dash_cards.jpg"/>
          <p:cNvPicPr>
            <a:picLocks noChangeAspect="1"/>
          </p:cNvPicPr>
          <p:nvPr/>
        </p:nvPicPr>
        <p:blipFill>
          <a:blip r:embed="rId3"/>
          <a:stretch>
            <a:fillRect/>
          </a:stretch>
        </p:blipFill>
        <p:spPr>
          <a:xfrm>
            <a:off x="548640" y="1280160"/>
            <a:ext cx="11064240" cy="2076638"/>
          </a:xfrm>
          <a:prstGeom prst="rect">
            <a:avLst/>
          </a:prstGeom>
        </p:spPr>
      </p:pic>
      <p:sp>
        <p:nvSpPr>
          <p:cNvPr id="5" name="Text 1"/>
          <p:cNvSpPr txBox="1"/>
          <p:nvPr/>
        </p:nvSpPr>
        <p:spPr>
          <a:xfrm>
            <a:off x="548640" y="3429950"/>
            <a:ext cx="11064240" cy="274320"/>
          </a:xfrm>
          <a:prstGeom prst="rect">
            <a:avLst/>
          </a:prstGeom>
          <a:noFill/>
          <a:ln/>
        </p:spPr>
        <p:txBody>
          <a:bodyPr wrap="square" lIns="0" tIns="0" rIns="0" bIns="0" rtlCol="0" anchor="t"/>
          <a:lstStyle/>
          <a:p>
            <a:pPr marL="0" indent="0">
              <a:buNone/>
            </a:pPr>
            <a:r>
              <a:rPr lang="en-US" sz="1200" i="1" dirty="0">
                <a:solidFill>
                  <a:schemeClr val="accent6"/>
                </a:solidFill>
              </a:rPr>
              <a:t>Dashboard on 18 October 2026: live eCO₂, TVOC, dust and temperature from the sensor node</a:t>
            </a:r>
            <a:endParaRPr lang="en-US" sz="1200" dirty="0"/>
          </a:p>
        </p:txBody>
      </p:sp>
      <p:sp>
        <p:nvSpPr>
          <p:cNvPr id="6" name="panel-199"/>
          <p:cNvSpPr/>
          <p:nvPr/>
        </p:nvSpPr>
        <p:spPr>
          <a:xfrm>
            <a:off x="548640" y="3977640"/>
            <a:ext cx="3529584" cy="2194560"/>
          </a:xfrm>
          <a:prstGeom prst="roundRect">
            <a:avLst>
              <a:gd name="adj" fmla="val 4167"/>
            </a:avLst>
          </a:prstGeom>
          <a:solidFill>
            <a:schemeClr val="bg2"/>
          </a:solidFill>
          <a:ln w="12700">
            <a:solidFill>
              <a:schemeClr val="bg2"/>
            </a:solidFill>
            <a:prstDash val="solid"/>
          </a:ln>
        </p:spPr>
      </p:sp>
      <p:sp>
        <p:nvSpPr>
          <p:cNvPr id="7" name="icon-bg-200"/>
          <p:cNvSpPr/>
          <p:nvPr/>
        </p:nvSpPr>
        <p:spPr>
          <a:xfrm>
            <a:off x="777240" y="4206240"/>
            <a:ext cx="548640" cy="548640"/>
          </a:xfrm>
          <a:prstGeom prst="ellipse">
            <a:avLst/>
          </a:prstGeom>
          <a:solidFill>
            <a:schemeClr val="accent1"/>
          </a:solidFill>
          <a:ln w="12700">
            <a:solidFill>
              <a:schemeClr val="accent1"/>
            </a:solidFill>
            <a:prstDash val="solid"/>
          </a:ln>
        </p:spPr>
      </p:sp>
      <p:pic>
        <p:nvPicPr>
          <p:cNvPr id="8" name="icon-201" descr="preencoded.png"/>
          <p:cNvPicPr>
            <a:picLocks noChangeAspect="1"/>
          </p:cNvPicPr>
          <p:nvPr/>
        </p:nvPicPr>
        <p:blipFill>
          <a:blip r:embed="rId4"/>
          <a:stretch>
            <a:fillRect/>
          </a:stretch>
        </p:blipFill>
        <p:spPr>
          <a:xfrm>
            <a:off x="908914" y="4337914"/>
            <a:ext cx="285293" cy="285293"/>
          </a:xfrm>
          <a:prstGeom prst="rect">
            <a:avLst/>
          </a:prstGeom>
        </p:spPr>
      </p:pic>
      <p:sp>
        <p:nvSpPr>
          <p:cNvPr id="9" name="Text 4"/>
          <p:cNvSpPr txBox="1"/>
          <p:nvPr/>
        </p:nvSpPr>
        <p:spPr>
          <a:xfrm>
            <a:off x="1463040" y="420624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Status bands</a:t>
            </a:r>
            <a:endParaRPr lang="en-US" sz="1800" dirty="0"/>
          </a:p>
        </p:txBody>
      </p:sp>
      <p:sp>
        <p:nvSpPr>
          <p:cNvPr id="10" name="Text 5"/>
          <p:cNvSpPr txBox="1"/>
          <p:nvPr/>
        </p:nvSpPr>
        <p:spPr>
          <a:xfrm>
            <a:off x="777240" y="4892040"/>
            <a:ext cx="3072384" cy="114300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TVOC 220 / 660 ppb (German UBA guideline); eCO₂ 1,000 / 2,000 ppm; node marked offline after 15 s of silence</a:t>
            </a:r>
            <a:endParaRPr lang="en-US" sz="1500" dirty="0"/>
          </a:p>
        </p:txBody>
      </p:sp>
      <p:sp>
        <p:nvSpPr>
          <p:cNvPr id="11" name="panel-202"/>
          <p:cNvSpPr/>
          <p:nvPr/>
        </p:nvSpPr>
        <p:spPr>
          <a:xfrm>
            <a:off x="4279392" y="3977640"/>
            <a:ext cx="3529584" cy="2194560"/>
          </a:xfrm>
          <a:prstGeom prst="roundRect">
            <a:avLst>
              <a:gd name="adj" fmla="val 4167"/>
            </a:avLst>
          </a:prstGeom>
          <a:solidFill>
            <a:schemeClr val="bg2"/>
          </a:solidFill>
          <a:ln w="12700">
            <a:solidFill>
              <a:schemeClr val="bg2"/>
            </a:solidFill>
            <a:prstDash val="solid"/>
          </a:ln>
        </p:spPr>
      </p:sp>
      <p:sp>
        <p:nvSpPr>
          <p:cNvPr id="12" name="icon-bg-203"/>
          <p:cNvSpPr/>
          <p:nvPr/>
        </p:nvSpPr>
        <p:spPr>
          <a:xfrm>
            <a:off x="4507992" y="4206240"/>
            <a:ext cx="548640" cy="548640"/>
          </a:xfrm>
          <a:prstGeom prst="ellipse">
            <a:avLst/>
          </a:prstGeom>
          <a:solidFill>
            <a:schemeClr val="accent1"/>
          </a:solidFill>
          <a:ln w="12700">
            <a:solidFill>
              <a:schemeClr val="accent1"/>
            </a:solidFill>
            <a:prstDash val="solid"/>
          </a:ln>
        </p:spPr>
      </p:sp>
      <p:pic>
        <p:nvPicPr>
          <p:cNvPr id="13" name="icon-204" descr="preencoded.png"/>
          <p:cNvPicPr>
            <a:picLocks noChangeAspect="1"/>
          </p:cNvPicPr>
          <p:nvPr/>
        </p:nvPicPr>
        <p:blipFill>
          <a:blip r:embed="rId5"/>
          <a:stretch>
            <a:fillRect/>
          </a:stretch>
        </p:blipFill>
        <p:spPr>
          <a:xfrm>
            <a:off x="4639666" y="4337914"/>
            <a:ext cx="285293" cy="285293"/>
          </a:xfrm>
          <a:prstGeom prst="rect">
            <a:avLst/>
          </a:prstGeom>
        </p:spPr>
      </p:pic>
      <p:sp>
        <p:nvSpPr>
          <p:cNvPr id="14" name="Text 8"/>
          <p:cNvSpPr txBox="1"/>
          <p:nvPr/>
        </p:nvSpPr>
        <p:spPr>
          <a:xfrm>
            <a:off x="5193792" y="420624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Logging</a:t>
            </a:r>
            <a:endParaRPr lang="en-US" sz="1800" dirty="0"/>
          </a:p>
        </p:txBody>
      </p:sp>
      <p:sp>
        <p:nvSpPr>
          <p:cNvPr id="15" name="Text 9"/>
          <p:cNvSpPr txBox="1"/>
          <p:nvPr/>
        </p:nvSpPr>
        <p:spPr>
          <a:xfrm>
            <a:off x="4507992" y="4892040"/>
            <a:ext cx="3072384" cy="114300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Every reading to a daily CSV; every scan saved as a tagged image with the readings at capture</a:t>
            </a:r>
            <a:endParaRPr lang="en-US" sz="1500" dirty="0"/>
          </a:p>
        </p:txBody>
      </p:sp>
      <p:sp>
        <p:nvSpPr>
          <p:cNvPr id="16" name="panel-205"/>
          <p:cNvSpPr/>
          <p:nvPr/>
        </p:nvSpPr>
        <p:spPr>
          <a:xfrm>
            <a:off x="8010144" y="3977640"/>
            <a:ext cx="3529584" cy="2194560"/>
          </a:xfrm>
          <a:prstGeom prst="roundRect">
            <a:avLst>
              <a:gd name="adj" fmla="val 4167"/>
            </a:avLst>
          </a:prstGeom>
          <a:solidFill>
            <a:schemeClr val="bg2"/>
          </a:solidFill>
          <a:ln w="12700">
            <a:solidFill>
              <a:schemeClr val="bg2"/>
            </a:solidFill>
            <a:prstDash val="solid"/>
          </a:ln>
        </p:spPr>
      </p:sp>
      <p:sp>
        <p:nvSpPr>
          <p:cNvPr id="17" name="icon-bg-206"/>
          <p:cNvSpPr/>
          <p:nvPr/>
        </p:nvSpPr>
        <p:spPr>
          <a:xfrm>
            <a:off x="8238744" y="4206240"/>
            <a:ext cx="548640" cy="548640"/>
          </a:xfrm>
          <a:prstGeom prst="ellipse">
            <a:avLst/>
          </a:prstGeom>
          <a:solidFill>
            <a:schemeClr val="accent1"/>
          </a:solidFill>
          <a:ln w="12700">
            <a:solidFill>
              <a:schemeClr val="accent1"/>
            </a:solidFill>
            <a:prstDash val="solid"/>
          </a:ln>
        </p:spPr>
      </p:sp>
      <p:pic>
        <p:nvPicPr>
          <p:cNvPr id="18" name="icon-207" descr="preencoded.png"/>
          <p:cNvPicPr>
            <a:picLocks noChangeAspect="1"/>
          </p:cNvPicPr>
          <p:nvPr/>
        </p:nvPicPr>
        <p:blipFill>
          <a:blip r:embed="rId6"/>
          <a:stretch>
            <a:fillRect/>
          </a:stretch>
        </p:blipFill>
        <p:spPr>
          <a:xfrm>
            <a:off x="8370418" y="4337914"/>
            <a:ext cx="285293" cy="285293"/>
          </a:xfrm>
          <a:prstGeom prst="rect">
            <a:avLst/>
          </a:prstGeom>
        </p:spPr>
      </p:pic>
      <p:sp>
        <p:nvSpPr>
          <p:cNvPr id="19" name="Text 12"/>
          <p:cNvSpPr txBox="1"/>
          <p:nvPr/>
        </p:nvSpPr>
        <p:spPr>
          <a:xfrm>
            <a:off x="8924544" y="4206240"/>
            <a:ext cx="2432304" cy="548640"/>
          </a:xfrm>
          <a:prstGeom prst="rect">
            <a:avLst/>
          </a:prstGeom>
          <a:noFill/>
          <a:ln/>
        </p:spPr>
        <p:txBody>
          <a:bodyPr wrap="square" lIns="0" tIns="0" rIns="0" bIns="0" rtlCol="0" anchor="ctr"/>
          <a:lstStyle/>
          <a:p>
            <a:pPr marL="0" indent="0">
              <a:buNone/>
            </a:pPr>
            <a:r>
              <a:rPr lang="en-US" sz="1800" b="1" dirty="0">
                <a:solidFill>
                  <a:schemeClr val="tx2"/>
                </a:solidFill>
              </a:rPr>
              <a:t>Camera and diagnosis</a:t>
            </a:r>
            <a:endParaRPr lang="en-US" sz="1800" dirty="0"/>
          </a:p>
        </p:txBody>
      </p:sp>
      <p:sp>
        <p:nvSpPr>
          <p:cNvPr id="20" name="Text 13"/>
          <p:cNvSpPr txBox="1"/>
          <p:nvPr/>
        </p:nvSpPr>
        <p:spPr>
          <a:xfrm>
            <a:off x="8238744" y="4892040"/>
            <a:ext cx="3072384" cy="114300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Live MJPEG video, one-click scan or image upload, top three classes with confidence</a:t>
            </a:r>
            <a:endParaRPr lang="en-US" sz="15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Stable Operation over Wi-Fi</a:t>
            </a:r>
            <a:endParaRPr lang="en-US" sz="3000" dirty="0"/>
          </a:p>
        </p:txBody>
      </p:sp>
      <p:graphicFrame>
        <p:nvGraphicFramePr>
          <p:cNvPr id="4" name="tvoc-session-chart"/>
          <p:cNvGraphicFramePr/>
          <p:nvPr/>
        </p:nvGraphicFramePr>
        <p:xfrm>
          <a:off x="548640" y="1280160"/>
          <a:ext cx="722376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1"/>
          <p:cNvSpPr txBox="1"/>
          <p:nvPr/>
        </p:nvSpPr>
        <p:spPr>
          <a:xfrm>
            <a:off x="8183880" y="1325880"/>
            <a:ext cx="3429000" cy="579120"/>
          </a:xfrm>
          <a:prstGeom prst="rect">
            <a:avLst/>
          </a:prstGeom>
          <a:noFill/>
          <a:ln/>
        </p:spPr>
        <p:txBody>
          <a:bodyPr wrap="square" lIns="0" tIns="0" rIns="0" bIns="0" rtlCol="0" anchor="b"/>
          <a:lstStyle/>
          <a:p>
            <a:pPr marL="0" indent="0">
              <a:buNone/>
            </a:pPr>
            <a:r>
              <a:rPr lang="en-US" sz="3800" b="1" dirty="0">
                <a:solidFill>
                  <a:schemeClr val="accent1"/>
                </a:solidFill>
                <a:latin typeface="Cambria" pitchFamily="34" charset="0"/>
                <a:ea typeface="Cambria" pitchFamily="34" charset="-122"/>
                <a:cs typeface="Cambria" pitchFamily="34" charset="-120"/>
              </a:rPr>
              <a:t>321 + 199</a:t>
            </a:r>
            <a:endParaRPr lang="en-US" sz="3800" dirty="0"/>
          </a:p>
        </p:txBody>
      </p:sp>
      <p:sp>
        <p:nvSpPr>
          <p:cNvPr id="6" name="Text 2"/>
          <p:cNvSpPr txBox="1"/>
          <p:nvPr/>
        </p:nvSpPr>
        <p:spPr>
          <a:xfrm>
            <a:off x="8183880" y="1959864"/>
            <a:ext cx="3429000" cy="640080"/>
          </a:xfrm>
          <a:prstGeom prst="rect">
            <a:avLst/>
          </a:prstGeom>
          <a:noFill/>
          <a:ln/>
        </p:spPr>
        <p:txBody>
          <a:bodyPr wrap="square" lIns="0" tIns="0" rIns="0" bIns="0" rtlCol="0" anchor="t"/>
          <a:lstStyle/>
          <a:p>
            <a:pPr marL="0" indent="0">
              <a:buNone/>
            </a:pPr>
            <a:r>
              <a:rPr lang="en-US" sz="1400" dirty="0">
                <a:solidFill>
                  <a:schemeClr val="accent6"/>
                </a:solidFill>
              </a:rPr>
              <a:t>readings in two sessions (28 and 17 min), no records lost</a:t>
            </a:r>
            <a:endParaRPr lang="en-US" sz="1400" dirty="0"/>
          </a:p>
        </p:txBody>
      </p:sp>
      <p:sp>
        <p:nvSpPr>
          <p:cNvPr id="7" name="Text 3"/>
          <p:cNvSpPr txBox="1"/>
          <p:nvPr/>
        </p:nvSpPr>
        <p:spPr>
          <a:xfrm>
            <a:off x="8183880" y="2880360"/>
            <a:ext cx="3429000" cy="579120"/>
          </a:xfrm>
          <a:prstGeom prst="rect">
            <a:avLst/>
          </a:prstGeom>
          <a:noFill/>
          <a:ln/>
        </p:spPr>
        <p:txBody>
          <a:bodyPr wrap="square" lIns="0" tIns="0" rIns="0" bIns="0" rtlCol="0" anchor="b"/>
          <a:lstStyle/>
          <a:p>
            <a:pPr marL="0" indent="0">
              <a:buNone/>
            </a:pPr>
            <a:r>
              <a:rPr lang="en-US" sz="3800" b="1" dirty="0">
                <a:solidFill>
                  <a:schemeClr val="accent4"/>
                </a:solidFill>
                <a:latin typeface="Cambria" pitchFamily="34" charset="0"/>
                <a:ea typeface="Cambria" pitchFamily="34" charset="-122"/>
                <a:cs typeface="Cambria" pitchFamily="34" charset="-120"/>
              </a:rPr>
              <a:t>1,764 ppb</a:t>
            </a:r>
            <a:endParaRPr lang="en-US" sz="3800" dirty="0"/>
          </a:p>
        </p:txBody>
      </p:sp>
      <p:sp>
        <p:nvSpPr>
          <p:cNvPr id="8" name="Text 4"/>
          <p:cNvSpPr txBox="1"/>
          <p:nvPr/>
        </p:nvSpPr>
        <p:spPr>
          <a:xfrm>
            <a:off x="8183880" y="3514344"/>
            <a:ext cx="3429000" cy="640080"/>
          </a:xfrm>
          <a:prstGeom prst="rect">
            <a:avLst/>
          </a:prstGeom>
          <a:noFill/>
          <a:ln/>
        </p:spPr>
        <p:txBody>
          <a:bodyPr wrap="square" lIns="0" tIns="0" rIns="0" bIns="0" rtlCol="0" anchor="t"/>
          <a:lstStyle/>
          <a:p>
            <a:pPr marL="0" indent="0">
              <a:buNone/>
            </a:pPr>
            <a:r>
              <a:rPr lang="en-US" sz="1400" dirty="0">
                <a:solidFill>
                  <a:schemeClr val="accent6"/>
                </a:solidFill>
              </a:rPr>
              <a:t>TVOC peak during exposure, back to baseline within tens of seconds</a:t>
            </a:r>
            <a:endParaRPr lang="en-US" sz="1400" dirty="0"/>
          </a:p>
        </p:txBody>
      </p:sp>
      <p:sp>
        <p:nvSpPr>
          <p:cNvPr id="9" name="Text 5"/>
          <p:cNvSpPr txBox="1"/>
          <p:nvPr/>
        </p:nvSpPr>
        <p:spPr>
          <a:xfrm>
            <a:off x="8183880" y="4434840"/>
            <a:ext cx="3429000" cy="579120"/>
          </a:xfrm>
          <a:prstGeom prst="rect">
            <a:avLst/>
          </a:prstGeom>
          <a:noFill/>
          <a:ln/>
        </p:spPr>
        <p:txBody>
          <a:bodyPr wrap="square" lIns="0" tIns="0" rIns="0" bIns="0" rtlCol="0" anchor="b"/>
          <a:lstStyle/>
          <a:p>
            <a:pPr marL="0" indent="0">
              <a:buNone/>
            </a:pPr>
            <a:r>
              <a:rPr lang="en-US" sz="3800" b="1" dirty="0">
                <a:solidFill>
                  <a:schemeClr val="accent5"/>
                </a:solidFill>
                <a:latin typeface="Cambria" pitchFamily="34" charset="0"/>
                <a:ea typeface="Cambria" pitchFamily="34" charset="-122"/>
                <a:cs typeface="Cambria" pitchFamily="34" charset="-120"/>
              </a:rPr>
              <a:t>−26 to −60</a:t>
            </a:r>
            <a:endParaRPr lang="en-US" sz="3800" dirty="0"/>
          </a:p>
        </p:txBody>
      </p:sp>
      <p:sp>
        <p:nvSpPr>
          <p:cNvPr id="10" name="Text 6"/>
          <p:cNvSpPr txBox="1"/>
          <p:nvPr/>
        </p:nvSpPr>
        <p:spPr>
          <a:xfrm>
            <a:off x="8183880" y="5068824"/>
            <a:ext cx="3429000" cy="640080"/>
          </a:xfrm>
          <a:prstGeom prst="rect">
            <a:avLst/>
          </a:prstGeom>
          <a:noFill/>
          <a:ln/>
        </p:spPr>
        <p:txBody>
          <a:bodyPr wrap="square" lIns="0" tIns="0" rIns="0" bIns="0" rtlCol="0" anchor="t"/>
          <a:lstStyle/>
          <a:p>
            <a:pPr marL="0" indent="0">
              <a:buNone/>
            </a:pPr>
            <a:r>
              <a:rPr lang="en-US" sz="1400" dirty="0">
                <a:solidFill>
                  <a:schemeClr val="accent6"/>
                </a:solidFill>
              </a:rPr>
              <a:t>dBm Wi-Fi signal throughout, ample for 5 s telemetry</a:t>
            </a:r>
            <a:endParaRPr lang="en-US" sz="14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Live Demonstration</a:t>
            </a:r>
            <a:endParaRPr lang="en-US" sz="3000" dirty="0"/>
          </a:p>
        </p:txBody>
      </p:sp>
      <p:sp>
        <p:nvSpPr>
          <p:cNvPr id="4" name="panel-208"/>
          <p:cNvSpPr/>
          <p:nvPr/>
        </p:nvSpPr>
        <p:spPr>
          <a:xfrm>
            <a:off x="548640" y="1325880"/>
            <a:ext cx="5440680" cy="1463040"/>
          </a:xfrm>
          <a:prstGeom prst="roundRect">
            <a:avLst>
              <a:gd name="adj" fmla="val 6250"/>
            </a:avLst>
          </a:prstGeom>
          <a:solidFill>
            <a:schemeClr val="bg2"/>
          </a:solidFill>
          <a:ln w="12700">
            <a:solidFill>
              <a:schemeClr val="bg2"/>
            </a:solidFill>
            <a:prstDash val="solid"/>
          </a:ln>
        </p:spPr>
      </p:sp>
      <p:sp>
        <p:nvSpPr>
          <p:cNvPr id="5" name="Text 2"/>
          <p:cNvSpPr txBox="1"/>
          <p:nvPr/>
        </p:nvSpPr>
        <p:spPr>
          <a:xfrm>
            <a:off x="777240" y="1508760"/>
            <a:ext cx="548640" cy="640080"/>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1</a:t>
            </a:r>
            <a:endParaRPr lang="en-US" sz="3400" dirty="0"/>
          </a:p>
        </p:txBody>
      </p:sp>
      <p:sp>
        <p:nvSpPr>
          <p:cNvPr id="6" name="icon-bg-209"/>
          <p:cNvSpPr/>
          <p:nvPr/>
        </p:nvSpPr>
        <p:spPr>
          <a:xfrm>
            <a:off x="1325880" y="1554480"/>
            <a:ext cx="502920" cy="502920"/>
          </a:xfrm>
          <a:prstGeom prst="ellipse">
            <a:avLst/>
          </a:prstGeom>
          <a:solidFill>
            <a:schemeClr val="accent1"/>
          </a:solidFill>
          <a:ln w="12700">
            <a:solidFill>
              <a:schemeClr val="accent1"/>
            </a:solidFill>
            <a:prstDash val="solid"/>
          </a:ln>
        </p:spPr>
      </p:sp>
      <p:pic>
        <p:nvPicPr>
          <p:cNvPr id="7" name="icon-210" descr="preencoded.png"/>
          <p:cNvPicPr>
            <a:picLocks noChangeAspect="1"/>
          </p:cNvPicPr>
          <p:nvPr/>
        </p:nvPicPr>
        <p:blipFill>
          <a:blip r:embed="rId3"/>
          <a:stretch>
            <a:fillRect/>
          </a:stretch>
        </p:blipFill>
        <p:spPr>
          <a:xfrm>
            <a:off x="1446581" y="1675181"/>
            <a:ext cx="261518" cy="261518"/>
          </a:xfrm>
          <a:prstGeom prst="rect">
            <a:avLst/>
          </a:prstGeom>
        </p:spPr>
      </p:pic>
      <p:sp>
        <p:nvSpPr>
          <p:cNvPr id="8" name="Text 4"/>
          <p:cNvSpPr txBox="1"/>
          <p:nvPr/>
        </p:nvSpPr>
        <p:spPr>
          <a:xfrm>
            <a:off x="2011680" y="1508760"/>
            <a:ext cx="3840480" cy="411480"/>
          </a:xfrm>
          <a:prstGeom prst="rect">
            <a:avLst/>
          </a:prstGeom>
          <a:noFill/>
          <a:ln/>
        </p:spPr>
        <p:txBody>
          <a:bodyPr wrap="square" lIns="0" tIns="0" rIns="0" bIns="0" rtlCol="0" anchor="t"/>
          <a:lstStyle/>
          <a:p>
            <a:pPr marL="0" indent="0">
              <a:buNone/>
            </a:pPr>
            <a:r>
              <a:rPr lang="en-US" sz="1800" b="1" dirty="0">
                <a:solidFill>
                  <a:schemeClr val="tx2"/>
                </a:solidFill>
              </a:rPr>
              <a:t>Dashboard live</a:t>
            </a:r>
            <a:endParaRPr lang="en-US" sz="1800" dirty="0"/>
          </a:p>
        </p:txBody>
      </p:sp>
      <p:sp>
        <p:nvSpPr>
          <p:cNvPr id="9" name="Text 5"/>
          <p:cNvSpPr txBox="1"/>
          <p:nvPr/>
        </p:nvSpPr>
        <p:spPr>
          <a:xfrm>
            <a:off x="2011680" y="1929384"/>
            <a:ext cx="3840480" cy="822960"/>
          </a:xfrm>
          <a:prstGeom prst="rect">
            <a:avLst/>
          </a:prstGeom>
          <a:noFill/>
          <a:ln/>
        </p:spPr>
        <p:txBody>
          <a:bodyPr wrap="square" lIns="0" tIns="0" rIns="0" bIns="0" rtlCol="0" anchor="t"/>
          <a:lstStyle/>
          <a:p>
            <a:pPr marL="0" indent="0">
              <a:buNone/>
            </a:pPr>
            <a:r>
              <a:rPr lang="en-US" sz="1450" dirty="0">
                <a:solidFill>
                  <a:schemeClr val="tx1"/>
                </a:solidFill>
              </a:rPr>
              <a:t>Open http://192.168.137.1:5000; status pills show the sensor node, camera and classifier</a:t>
            </a:r>
            <a:endParaRPr lang="en-US" sz="1450" dirty="0"/>
          </a:p>
        </p:txBody>
      </p:sp>
      <p:sp>
        <p:nvSpPr>
          <p:cNvPr id="10" name="panel-211"/>
          <p:cNvSpPr/>
          <p:nvPr/>
        </p:nvSpPr>
        <p:spPr>
          <a:xfrm>
            <a:off x="6172200" y="1325880"/>
            <a:ext cx="5440680" cy="1463040"/>
          </a:xfrm>
          <a:prstGeom prst="roundRect">
            <a:avLst>
              <a:gd name="adj" fmla="val 6250"/>
            </a:avLst>
          </a:prstGeom>
          <a:solidFill>
            <a:schemeClr val="bg2"/>
          </a:solidFill>
          <a:ln w="12700">
            <a:solidFill>
              <a:schemeClr val="bg2"/>
            </a:solidFill>
            <a:prstDash val="solid"/>
          </a:ln>
        </p:spPr>
      </p:sp>
      <p:sp>
        <p:nvSpPr>
          <p:cNvPr id="11" name="Text 7"/>
          <p:cNvSpPr txBox="1"/>
          <p:nvPr/>
        </p:nvSpPr>
        <p:spPr>
          <a:xfrm>
            <a:off x="6400800" y="1508760"/>
            <a:ext cx="548640" cy="640080"/>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2</a:t>
            </a:r>
            <a:endParaRPr lang="en-US" sz="3400" dirty="0"/>
          </a:p>
        </p:txBody>
      </p:sp>
      <p:sp>
        <p:nvSpPr>
          <p:cNvPr id="12" name="icon-bg-212"/>
          <p:cNvSpPr/>
          <p:nvPr/>
        </p:nvSpPr>
        <p:spPr>
          <a:xfrm>
            <a:off x="6949440" y="1554480"/>
            <a:ext cx="502920" cy="502920"/>
          </a:xfrm>
          <a:prstGeom prst="ellipse">
            <a:avLst/>
          </a:prstGeom>
          <a:solidFill>
            <a:schemeClr val="accent1"/>
          </a:solidFill>
          <a:ln w="12700">
            <a:solidFill>
              <a:schemeClr val="accent1"/>
            </a:solidFill>
            <a:prstDash val="solid"/>
          </a:ln>
        </p:spPr>
      </p:sp>
      <p:pic>
        <p:nvPicPr>
          <p:cNvPr id="13" name="icon-213" descr="preencoded.png"/>
          <p:cNvPicPr>
            <a:picLocks noChangeAspect="1"/>
          </p:cNvPicPr>
          <p:nvPr/>
        </p:nvPicPr>
        <p:blipFill>
          <a:blip r:embed="rId4"/>
          <a:stretch>
            <a:fillRect/>
          </a:stretch>
        </p:blipFill>
        <p:spPr>
          <a:xfrm>
            <a:off x="7070141" y="1675181"/>
            <a:ext cx="261518" cy="261518"/>
          </a:xfrm>
          <a:prstGeom prst="rect">
            <a:avLst/>
          </a:prstGeom>
        </p:spPr>
      </p:pic>
      <p:sp>
        <p:nvSpPr>
          <p:cNvPr id="14" name="Text 9"/>
          <p:cNvSpPr txBox="1"/>
          <p:nvPr/>
        </p:nvSpPr>
        <p:spPr>
          <a:xfrm>
            <a:off x="7635240" y="1508760"/>
            <a:ext cx="3840480" cy="411480"/>
          </a:xfrm>
          <a:prstGeom prst="rect">
            <a:avLst/>
          </a:prstGeom>
          <a:noFill/>
          <a:ln/>
        </p:spPr>
        <p:txBody>
          <a:bodyPr wrap="square" lIns="0" tIns="0" rIns="0" bIns="0" rtlCol="0" anchor="t"/>
          <a:lstStyle/>
          <a:p>
            <a:pPr marL="0" indent="0">
              <a:buNone/>
            </a:pPr>
            <a:r>
              <a:rPr lang="en-US" sz="1800" b="1" dirty="0">
                <a:solidFill>
                  <a:schemeClr val="tx2"/>
                </a:solidFill>
              </a:rPr>
              <a:t>Breath test</a:t>
            </a:r>
            <a:endParaRPr lang="en-US" sz="1800" dirty="0"/>
          </a:p>
        </p:txBody>
      </p:sp>
      <p:sp>
        <p:nvSpPr>
          <p:cNvPr id="15" name="Text 10"/>
          <p:cNvSpPr txBox="1"/>
          <p:nvPr/>
        </p:nvSpPr>
        <p:spPr>
          <a:xfrm>
            <a:off x="7635240" y="1929384"/>
            <a:ext cx="3840480" cy="822960"/>
          </a:xfrm>
          <a:prstGeom prst="rect">
            <a:avLst/>
          </a:prstGeom>
          <a:noFill/>
          <a:ln/>
        </p:spPr>
        <p:txBody>
          <a:bodyPr wrap="square" lIns="0" tIns="0" rIns="0" bIns="0" rtlCol="0" anchor="t"/>
          <a:lstStyle/>
          <a:p>
            <a:pPr marL="0" indent="0">
              <a:buNone/>
            </a:pPr>
            <a:r>
              <a:rPr lang="en-US" sz="1450" dirty="0">
                <a:solidFill>
                  <a:schemeClr val="tx1"/>
                </a:solidFill>
              </a:rPr>
              <a:t>Breathe on the SGP30: eCO₂ and TVOC rise within seconds and recover</a:t>
            </a:r>
            <a:endParaRPr lang="en-US" sz="1450" dirty="0"/>
          </a:p>
        </p:txBody>
      </p:sp>
      <p:sp>
        <p:nvSpPr>
          <p:cNvPr id="16" name="panel-214"/>
          <p:cNvSpPr/>
          <p:nvPr/>
        </p:nvSpPr>
        <p:spPr>
          <a:xfrm>
            <a:off x="548640" y="2971800"/>
            <a:ext cx="5440680" cy="1463040"/>
          </a:xfrm>
          <a:prstGeom prst="roundRect">
            <a:avLst>
              <a:gd name="adj" fmla="val 6250"/>
            </a:avLst>
          </a:prstGeom>
          <a:solidFill>
            <a:schemeClr val="bg2"/>
          </a:solidFill>
          <a:ln w="12700">
            <a:solidFill>
              <a:schemeClr val="bg2"/>
            </a:solidFill>
            <a:prstDash val="solid"/>
          </a:ln>
        </p:spPr>
      </p:sp>
      <p:sp>
        <p:nvSpPr>
          <p:cNvPr id="17" name="Text 12"/>
          <p:cNvSpPr txBox="1"/>
          <p:nvPr/>
        </p:nvSpPr>
        <p:spPr>
          <a:xfrm>
            <a:off x="777240" y="3154680"/>
            <a:ext cx="548640" cy="640080"/>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3</a:t>
            </a:r>
            <a:endParaRPr lang="en-US" sz="3400" dirty="0"/>
          </a:p>
        </p:txBody>
      </p:sp>
      <p:sp>
        <p:nvSpPr>
          <p:cNvPr id="18" name="icon-bg-215"/>
          <p:cNvSpPr/>
          <p:nvPr/>
        </p:nvSpPr>
        <p:spPr>
          <a:xfrm>
            <a:off x="1325880" y="3200400"/>
            <a:ext cx="502920" cy="502920"/>
          </a:xfrm>
          <a:prstGeom prst="ellipse">
            <a:avLst/>
          </a:prstGeom>
          <a:solidFill>
            <a:schemeClr val="accent1"/>
          </a:solidFill>
          <a:ln w="12700">
            <a:solidFill>
              <a:schemeClr val="accent1"/>
            </a:solidFill>
            <a:prstDash val="solid"/>
          </a:ln>
        </p:spPr>
      </p:sp>
      <p:pic>
        <p:nvPicPr>
          <p:cNvPr id="19" name="icon-216" descr="preencoded.png"/>
          <p:cNvPicPr>
            <a:picLocks noChangeAspect="1"/>
          </p:cNvPicPr>
          <p:nvPr/>
        </p:nvPicPr>
        <p:blipFill>
          <a:blip r:embed="rId5"/>
          <a:stretch>
            <a:fillRect/>
          </a:stretch>
        </p:blipFill>
        <p:spPr>
          <a:xfrm>
            <a:off x="1446581" y="3321101"/>
            <a:ext cx="261518" cy="261518"/>
          </a:xfrm>
          <a:prstGeom prst="rect">
            <a:avLst/>
          </a:prstGeom>
        </p:spPr>
      </p:pic>
      <p:sp>
        <p:nvSpPr>
          <p:cNvPr id="20" name="Text 14"/>
          <p:cNvSpPr txBox="1"/>
          <p:nvPr/>
        </p:nvSpPr>
        <p:spPr>
          <a:xfrm>
            <a:off x="2011680" y="3154680"/>
            <a:ext cx="3840480" cy="411480"/>
          </a:xfrm>
          <a:prstGeom prst="rect">
            <a:avLst/>
          </a:prstGeom>
          <a:noFill/>
          <a:ln/>
        </p:spPr>
        <p:txBody>
          <a:bodyPr wrap="square" lIns="0" tIns="0" rIns="0" bIns="0" rtlCol="0" anchor="t"/>
          <a:lstStyle/>
          <a:p>
            <a:pPr marL="0" indent="0">
              <a:buNone/>
            </a:pPr>
            <a:r>
              <a:rPr lang="en-US" sz="1800" b="1" dirty="0">
                <a:solidFill>
                  <a:schemeClr val="tx2"/>
                </a:solidFill>
              </a:rPr>
              <a:t>Touch test</a:t>
            </a:r>
            <a:endParaRPr lang="en-US" sz="1800" dirty="0"/>
          </a:p>
        </p:txBody>
      </p:sp>
      <p:sp>
        <p:nvSpPr>
          <p:cNvPr id="21" name="Text 15"/>
          <p:cNvSpPr txBox="1"/>
          <p:nvPr/>
        </p:nvSpPr>
        <p:spPr>
          <a:xfrm>
            <a:off x="2011680" y="3575304"/>
            <a:ext cx="3840480" cy="822960"/>
          </a:xfrm>
          <a:prstGeom prst="rect">
            <a:avLst/>
          </a:prstGeom>
          <a:noFill/>
          <a:ln/>
        </p:spPr>
        <p:txBody>
          <a:bodyPr wrap="square" lIns="0" tIns="0" rIns="0" bIns="0" rtlCol="0" anchor="t"/>
          <a:lstStyle/>
          <a:p>
            <a:pPr marL="0" indent="0">
              <a:buNone/>
            </a:pPr>
            <a:r>
              <a:rPr lang="en-US" sz="1450" dirty="0">
                <a:solidFill>
                  <a:schemeClr val="tx1"/>
                </a:solidFill>
              </a:rPr>
              <a:t>Hold the MCP9808: temperature climbs about 3–4 °C</a:t>
            </a:r>
            <a:endParaRPr lang="en-US" sz="1450" dirty="0"/>
          </a:p>
        </p:txBody>
      </p:sp>
      <p:sp>
        <p:nvSpPr>
          <p:cNvPr id="22" name="panel-217"/>
          <p:cNvSpPr/>
          <p:nvPr/>
        </p:nvSpPr>
        <p:spPr>
          <a:xfrm>
            <a:off x="6172200" y="2971800"/>
            <a:ext cx="5440680" cy="1463040"/>
          </a:xfrm>
          <a:prstGeom prst="roundRect">
            <a:avLst>
              <a:gd name="adj" fmla="val 6250"/>
            </a:avLst>
          </a:prstGeom>
          <a:solidFill>
            <a:schemeClr val="bg2"/>
          </a:solidFill>
          <a:ln w="12700">
            <a:solidFill>
              <a:schemeClr val="bg2"/>
            </a:solidFill>
            <a:prstDash val="solid"/>
          </a:ln>
        </p:spPr>
      </p:sp>
      <p:sp>
        <p:nvSpPr>
          <p:cNvPr id="23" name="Text 17"/>
          <p:cNvSpPr txBox="1"/>
          <p:nvPr/>
        </p:nvSpPr>
        <p:spPr>
          <a:xfrm>
            <a:off x="6400800" y="3154680"/>
            <a:ext cx="548640" cy="640080"/>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4</a:t>
            </a:r>
            <a:endParaRPr lang="en-US" sz="3400" dirty="0"/>
          </a:p>
        </p:txBody>
      </p:sp>
      <p:sp>
        <p:nvSpPr>
          <p:cNvPr id="24" name="icon-bg-218"/>
          <p:cNvSpPr/>
          <p:nvPr/>
        </p:nvSpPr>
        <p:spPr>
          <a:xfrm>
            <a:off x="6949440" y="3200400"/>
            <a:ext cx="502920" cy="502920"/>
          </a:xfrm>
          <a:prstGeom prst="ellipse">
            <a:avLst/>
          </a:prstGeom>
          <a:solidFill>
            <a:schemeClr val="accent1"/>
          </a:solidFill>
          <a:ln w="12700">
            <a:solidFill>
              <a:schemeClr val="accent1"/>
            </a:solidFill>
            <a:prstDash val="solid"/>
          </a:ln>
        </p:spPr>
      </p:sp>
      <p:pic>
        <p:nvPicPr>
          <p:cNvPr id="25" name="icon-219" descr="preencoded.png"/>
          <p:cNvPicPr>
            <a:picLocks noChangeAspect="1"/>
          </p:cNvPicPr>
          <p:nvPr/>
        </p:nvPicPr>
        <p:blipFill>
          <a:blip r:embed="rId6"/>
          <a:stretch>
            <a:fillRect/>
          </a:stretch>
        </p:blipFill>
        <p:spPr>
          <a:xfrm>
            <a:off x="7070141" y="3321101"/>
            <a:ext cx="261518" cy="261518"/>
          </a:xfrm>
          <a:prstGeom prst="rect">
            <a:avLst/>
          </a:prstGeom>
        </p:spPr>
      </p:pic>
      <p:sp>
        <p:nvSpPr>
          <p:cNvPr id="26" name="Text 19"/>
          <p:cNvSpPr txBox="1"/>
          <p:nvPr/>
        </p:nvSpPr>
        <p:spPr>
          <a:xfrm>
            <a:off x="7635240" y="3154680"/>
            <a:ext cx="3840480" cy="411480"/>
          </a:xfrm>
          <a:prstGeom prst="rect">
            <a:avLst/>
          </a:prstGeom>
          <a:noFill/>
          <a:ln/>
        </p:spPr>
        <p:txBody>
          <a:bodyPr wrap="square" lIns="0" tIns="0" rIns="0" bIns="0" rtlCol="0" anchor="t"/>
          <a:lstStyle/>
          <a:p>
            <a:pPr marL="0" indent="0">
              <a:buNone/>
            </a:pPr>
            <a:r>
              <a:rPr lang="en-US" sz="1800" b="1" dirty="0">
                <a:solidFill>
                  <a:schemeClr val="tx2"/>
                </a:solidFill>
              </a:rPr>
              <a:t>Leaf scan</a:t>
            </a:r>
            <a:endParaRPr lang="en-US" sz="1800" dirty="0"/>
          </a:p>
        </p:txBody>
      </p:sp>
      <p:sp>
        <p:nvSpPr>
          <p:cNvPr id="27" name="Text 20"/>
          <p:cNvSpPr txBox="1"/>
          <p:nvPr/>
        </p:nvSpPr>
        <p:spPr>
          <a:xfrm>
            <a:off x="7635240" y="3575304"/>
            <a:ext cx="3840480" cy="822960"/>
          </a:xfrm>
          <a:prstGeom prst="rect">
            <a:avLst/>
          </a:prstGeom>
          <a:noFill/>
          <a:ln/>
        </p:spPr>
        <p:txBody>
          <a:bodyPr wrap="square" lIns="0" tIns="0" rIns="0" bIns="0" rtlCol="0" anchor="t"/>
          <a:lstStyle/>
          <a:p>
            <a:pPr marL="0" indent="0">
              <a:buNone/>
            </a:pPr>
            <a:r>
              <a:rPr lang="en-US" sz="1450" dirty="0">
                <a:solidFill>
                  <a:schemeClr val="tx1"/>
                </a:solidFill>
              </a:rPr>
              <a:t>Show a leaf to the camera, then an empty scene: diagnosis versus no leaf in view</a:t>
            </a:r>
            <a:endParaRPr lang="en-US" sz="1450" dirty="0"/>
          </a:p>
        </p:txBody>
      </p:sp>
      <p:sp>
        <p:nvSpPr>
          <p:cNvPr id="28" name="panel-220"/>
          <p:cNvSpPr/>
          <p:nvPr/>
        </p:nvSpPr>
        <p:spPr>
          <a:xfrm>
            <a:off x="548640" y="4617720"/>
            <a:ext cx="5440680" cy="1463040"/>
          </a:xfrm>
          <a:prstGeom prst="roundRect">
            <a:avLst>
              <a:gd name="adj" fmla="val 6250"/>
            </a:avLst>
          </a:prstGeom>
          <a:solidFill>
            <a:schemeClr val="bg2"/>
          </a:solidFill>
          <a:ln w="12700">
            <a:solidFill>
              <a:schemeClr val="bg2"/>
            </a:solidFill>
            <a:prstDash val="solid"/>
          </a:ln>
        </p:spPr>
      </p:sp>
      <p:sp>
        <p:nvSpPr>
          <p:cNvPr id="29" name="Text 22"/>
          <p:cNvSpPr txBox="1"/>
          <p:nvPr/>
        </p:nvSpPr>
        <p:spPr>
          <a:xfrm>
            <a:off x="777240" y="4800600"/>
            <a:ext cx="548640" cy="640080"/>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5</a:t>
            </a:r>
            <a:endParaRPr lang="en-US" sz="3400" dirty="0"/>
          </a:p>
        </p:txBody>
      </p:sp>
      <p:sp>
        <p:nvSpPr>
          <p:cNvPr id="30" name="icon-bg-221"/>
          <p:cNvSpPr/>
          <p:nvPr/>
        </p:nvSpPr>
        <p:spPr>
          <a:xfrm>
            <a:off x="1325880" y="4846320"/>
            <a:ext cx="502920" cy="502920"/>
          </a:xfrm>
          <a:prstGeom prst="ellipse">
            <a:avLst/>
          </a:prstGeom>
          <a:solidFill>
            <a:schemeClr val="accent1"/>
          </a:solidFill>
          <a:ln w="12700">
            <a:solidFill>
              <a:schemeClr val="accent1"/>
            </a:solidFill>
            <a:prstDash val="solid"/>
          </a:ln>
        </p:spPr>
      </p:sp>
      <p:pic>
        <p:nvPicPr>
          <p:cNvPr id="31" name="icon-222" descr="preencoded.png"/>
          <p:cNvPicPr>
            <a:picLocks noChangeAspect="1"/>
          </p:cNvPicPr>
          <p:nvPr/>
        </p:nvPicPr>
        <p:blipFill>
          <a:blip r:embed="rId7"/>
          <a:stretch>
            <a:fillRect/>
          </a:stretch>
        </p:blipFill>
        <p:spPr>
          <a:xfrm>
            <a:off x="1446581" y="4967021"/>
            <a:ext cx="261518" cy="261518"/>
          </a:xfrm>
          <a:prstGeom prst="rect">
            <a:avLst/>
          </a:prstGeom>
        </p:spPr>
      </p:pic>
      <p:sp>
        <p:nvSpPr>
          <p:cNvPr id="32" name="Text 24"/>
          <p:cNvSpPr txBox="1"/>
          <p:nvPr/>
        </p:nvSpPr>
        <p:spPr>
          <a:xfrm>
            <a:off x="2011680" y="4800600"/>
            <a:ext cx="3840480" cy="411480"/>
          </a:xfrm>
          <a:prstGeom prst="rect">
            <a:avLst/>
          </a:prstGeom>
          <a:noFill/>
          <a:ln/>
        </p:spPr>
        <p:txBody>
          <a:bodyPr wrap="square" lIns="0" tIns="0" rIns="0" bIns="0" rtlCol="0" anchor="t"/>
          <a:lstStyle/>
          <a:p>
            <a:pPr marL="0" indent="0">
              <a:buNone/>
            </a:pPr>
            <a:r>
              <a:rPr lang="en-US" sz="1800" b="1" dirty="0">
                <a:solidFill>
                  <a:schemeClr val="tx2"/>
                </a:solidFill>
              </a:rPr>
              <a:t>Simulation</a:t>
            </a:r>
            <a:endParaRPr lang="en-US" sz="1800" dirty="0"/>
          </a:p>
        </p:txBody>
      </p:sp>
      <p:sp>
        <p:nvSpPr>
          <p:cNvPr id="33" name="Text 25"/>
          <p:cNvSpPr txBox="1"/>
          <p:nvPr/>
        </p:nvSpPr>
        <p:spPr>
          <a:xfrm>
            <a:off x="2011680" y="5221224"/>
            <a:ext cx="3840480" cy="822960"/>
          </a:xfrm>
          <a:prstGeom prst="rect">
            <a:avLst/>
          </a:prstGeom>
          <a:noFill/>
          <a:ln/>
        </p:spPr>
        <p:txBody>
          <a:bodyPr wrap="square" lIns="0" tIns="0" rIns="0" bIns="0" rtlCol="0" anchor="t"/>
          <a:lstStyle/>
          <a:p>
            <a:pPr marL="0" indent="0">
              <a:buNone/>
            </a:pPr>
            <a:r>
              <a:rPr lang="en-US" sz="1450" dirty="0">
                <a:solidFill>
                  <a:schemeClr val="tx1"/>
                </a:solidFill>
              </a:rPr>
              <a:t>Run the MuJoCo survey: rows, turns, TVOC trail over the stressed patch</a:t>
            </a:r>
            <a:endParaRPr lang="en-US" sz="1450" dirty="0"/>
          </a:p>
        </p:txBody>
      </p:sp>
      <p:sp>
        <p:nvSpPr>
          <p:cNvPr id="34" name="panel-223"/>
          <p:cNvSpPr/>
          <p:nvPr/>
        </p:nvSpPr>
        <p:spPr>
          <a:xfrm>
            <a:off x="6172200" y="4617720"/>
            <a:ext cx="5440680" cy="1463040"/>
          </a:xfrm>
          <a:prstGeom prst="roundRect">
            <a:avLst>
              <a:gd name="adj" fmla="val 6250"/>
            </a:avLst>
          </a:prstGeom>
          <a:solidFill>
            <a:schemeClr val="bg2"/>
          </a:solidFill>
          <a:ln w="12700">
            <a:solidFill>
              <a:schemeClr val="bg2"/>
            </a:solidFill>
            <a:prstDash val="solid"/>
          </a:ln>
        </p:spPr>
      </p:sp>
      <p:sp>
        <p:nvSpPr>
          <p:cNvPr id="35" name="Text 27"/>
          <p:cNvSpPr txBox="1"/>
          <p:nvPr/>
        </p:nvSpPr>
        <p:spPr>
          <a:xfrm>
            <a:off x="6400800" y="4800600"/>
            <a:ext cx="548640" cy="640080"/>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6</a:t>
            </a:r>
            <a:endParaRPr lang="en-US" sz="3400" dirty="0"/>
          </a:p>
        </p:txBody>
      </p:sp>
      <p:sp>
        <p:nvSpPr>
          <p:cNvPr id="36" name="icon-bg-224"/>
          <p:cNvSpPr/>
          <p:nvPr/>
        </p:nvSpPr>
        <p:spPr>
          <a:xfrm>
            <a:off x="6949440" y="4846320"/>
            <a:ext cx="502920" cy="502920"/>
          </a:xfrm>
          <a:prstGeom prst="ellipse">
            <a:avLst/>
          </a:prstGeom>
          <a:solidFill>
            <a:schemeClr val="accent1"/>
          </a:solidFill>
          <a:ln w="12700">
            <a:solidFill>
              <a:schemeClr val="accent1"/>
            </a:solidFill>
            <a:prstDash val="solid"/>
          </a:ln>
        </p:spPr>
      </p:sp>
      <p:pic>
        <p:nvPicPr>
          <p:cNvPr id="37" name="icon-225" descr="preencoded.png"/>
          <p:cNvPicPr>
            <a:picLocks noChangeAspect="1"/>
          </p:cNvPicPr>
          <p:nvPr/>
        </p:nvPicPr>
        <p:blipFill>
          <a:blip r:embed="rId8"/>
          <a:stretch>
            <a:fillRect/>
          </a:stretch>
        </p:blipFill>
        <p:spPr>
          <a:xfrm>
            <a:off x="7070141" y="4967021"/>
            <a:ext cx="261518" cy="261518"/>
          </a:xfrm>
          <a:prstGeom prst="rect">
            <a:avLst/>
          </a:prstGeom>
        </p:spPr>
      </p:pic>
      <p:sp>
        <p:nvSpPr>
          <p:cNvPr id="38" name="Text 29"/>
          <p:cNvSpPr txBox="1"/>
          <p:nvPr/>
        </p:nvSpPr>
        <p:spPr>
          <a:xfrm>
            <a:off x="7635240" y="4800600"/>
            <a:ext cx="3840480" cy="411480"/>
          </a:xfrm>
          <a:prstGeom prst="rect">
            <a:avLst/>
          </a:prstGeom>
          <a:noFill/>
          <a:ln/>
        </p:spPr>
        <p:txBody>
          <a:bodyPr wrap="square" lIns="0" tIns="0" rIns="0" bIns="0" rtlCol="0" anchor="t"/>
          <a:lstStyle/>
          <a:p>
            <a:pPr marL="0" indent="0">
              <a:buNone/>
            </a:pPr>
            <a:r>
              <a:rPr lang="en-US" sz="1800" b="1" dirty="0">
                <a:solidFill>
                  <a:schemeClr val="tx2"/>
                </a:solidFill>
              </a:rPr>
              <a:t>Robot</a:t>
            </a:r>
            <a:endParaRPr lang="en-US" sz="1800" dirty="0"/>
          </a:p>
        </p:txBody>
      </p:sp>
      <p:sp>
        <p:nvSpPr>
          <p:cNvPr id="39" name="Text 30"/>
          <p:cNvSpPr txBox="1"/>
          <p:nvPr/>
        </p:nvSpPr>
        <p:spPr>
          <a:xfrm>
            <a:off x="7635240" y="5221224"/>
            <a:ext cx="3840480" cy="822960"/>
          </a:xfrm>
          <a:prstGeom prst="rect">
            <a:avLst/>
          </a:prstGeom>
          <a:noFill/>
          <a:ln/>
        </p:spPr>
        <p:txBody>
          <a:bodyPr wrap="square" lIns="0" tIns="0" rIns="0" bIns="0" rtlCol="0" anchor="t"/>
          <a:lstStyle/>
          <a:p>
            <a:pPr marL="0" indent="0">
              <a:buNone/>
            </a:pPr>
            <a:r>
              <a:rPr lang="en-US" sz="1450" dirty="0">
                <a:solidFill>
                  <a:schemeClr val="tx1"/>
                </a:solidFill>
              </a:rPr>
              <a:t>Power the servos: the robot stands and moves its legs</a:t>
            </a:r>
            <a:endParaRPr lang="en-US" sz="145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417320"/>
            <a:ext cx="3657600" cy="1371600"/>
          </a:xfrm>
          <a:prstGeom prst="rect">
            <a:avLst/>
          </a:prstGeom>
          <a:noFill/>
          <a:ln/>
        </p:spPr>
        <p:txBody>
          <a:bodyPr wrap="square" lIns="0" tIns="0" rIns="0" bIns="0" rtlCol="0" anchor="b"/>
          <a:lstStyle/>
          <a:p>
            <a:pPr marL="0" indent="0" algn="l">
              <a:buNone/>
            </a:pPr>
            <a:r>
              <a:rPr lang="en-US" sz="8800" b="1" dirty="0">
                <a:solidFill>
                  <a:schemeClr val="accent2"/>
                </a:solidFill>
                <a:latin typeface="Cambria" pitchFamily="34" charset="0"/>
                <a:ea typeface="Cambria" pitchFamily="34" charset="-122"/>
                <a:cs typeface="Cambria" pitchFamily="34" charset="-120"/>
              </a:rPr>
              <a:t>04</a:t>
            </a:r>
            <a:endParaRPr lang="en-US" sz="8800" dirty="0"/>
          </a:p>
        </p:txBody>
      </p:sp>
      <p:sp>
        <p:nvSpPr>
          <p:cNvPr id="3" name="Text 0"/>
          <p:cNvSpPr>
            <a:spLocks noGrp="1"/>
          </p:cNvSpPr>
          <p:nvPr>
            <p:ph type="title" idx="101" hasCustomPrompt="1"/>
          </p:nvPr>
        </p:nvSpPr>
        <p:spPr>
          <a:xfrm>
            <a:off x="731520" y="2834640"/>
            <a:ext cx="7863840" cy="1097280"/>
          </a:xfrm>
          <a:prstGeom prst="rect">
            <a:avLst/>
          </a:prstGeom>
          <a:noFill/>
          <a:ln/>
        </p:spPr>
        <p:txBody>
          <a:bodyPr wrap="square" lIns="0" tIns="0" rIns="0" bIns="0" rtlCol="0" anchor="t"/>
          <a:lstStyle/>
          <a:p>
            <a:pPr marL="0" indent="0" algn="l">
              <a:buNone/>
            </a:pPr>
            <a:r>
              <a:rPr lang="en-US" sz="4400" b="1" dirty="0">
                <a:solidFill>
                  <a:schemeClr val="bg1"/>
                </a:solidFill>
              </a:rPr>
              <a:t>Testing and Results</a:t>
            </a:r>
            <a:endParaRPr lang="en-US" sz="4400" dirty="0"/>
          </a:p>
        </p:txBody>
      </p:sp>
      <p:sp>
        <p:nvSpPr>
          <p:cNvPr id="4" name="Text 0"/>
          <p:cNvSpPr>
            <a:spLocks noGrp="1"/>
          </p:cNvSpPr>
          <p:nvPr>
            <p:ph type="body" idx="102" hasCustomPrompt="1"/>
          </p:nvPr>
        </p:nvSpPr>
        <p:spPr>
          <a:xfrm>
            <a:off x="731520" y="4069080"/>
            <a:ext cx="7680960" cy="1280160"/>
          </a:xfrm>
          <a:prstGeom prst="rect">
            <a:avLst/>
          </a:prstGeom>
          <a:noFill/>
          <a:ln/>
        </p:spPr>
        <p:txBody>
          <a:bodyPr wrap="square" lIns="0" tIns="0" rIns="0" bIns="0" rtlCol="0" anchor="t"/>
          <a:lstStyle/>
          <a:p>
            <a:pPr marL="0" indent="0" algn="l">
              <a:buNone/>
            </a:pPr>
            <a:r>
              <a:rPr lang="en-US" sz="1800" dirty="0">
                <a:solidFill>
                  <a:schemeClr val="bg2"/>
                </a:solidFill>
              </a:rPr>
              <a:t>Test procedures and measured results on the hardware, then the simulation metrics and their interpretation</a:t>
            </a:r>
            <a:endParaRPr lang="en-US" sz="1800" dirty="0"/>
          </a:p>
        </p:txBody>
      </p:sp>
      <p:pic>
        <p:nvPicPr>
          <p:cNvPr id="5" name="divider-icon-226" descr="preencoded.png"/>
          <p:cNvPicPr>
            <a:picLocks noChangeAspect="1"/>
          </p:cNvPicPr>
          <p:nvPr/>
        </p:nvPicPr>
        <p:blipFill>
          <a:blip r:embed="rId3">
            <a:alphaModFix amt="30000"/>
          </a:blip>
          <a:stretch>
            <a:fillRect/>
          </a:stretch>
        </p:blipFill>
        <p:spPr>
          <a:xfrm>
            <a:off x="8549640" y="1554480"/>
            <a:ext cx="3017520" cy="301752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Bench Validation of the Hardware</a:t>
            </a:r>
            <a:endParaRPr lang="en-US" sz="3000" dirty="0"/>
          </a:p>
        </p:txBody>
      </p:sp>
      <p:graphicFrame>
        <p:nvGraphicFramePr>
          <p:cNvPr id="28" name="table-227"/>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814316"/>
        </p:xfrm>
        <a:graphic>
          <a:graphicData uri="http://schemas.openxmlformats.org/drawingml/2006/table">
            <a:tbl>
              <a:tblPr/>
              <a:tblGrid>
                <a:gridCol w="283464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534924">
                <a:tc>
                  <a:txBody>
                    <a:bodyPr/>
                    <a:lstStyle/>
                    <a:p>
                      <a:pPr marL="0" indent="0">
                        <a:buNone/>
                      </a:pPr>
                      <a:r>
                        <a:rPr lang="en-US" sz="1400" b="1" dirty="0">
                          <a:solidFill>
                            <a:schemeClr val="bg1"/>
                          </a:solidFill>
                        </a:rPr>
                        <a:t>Test procedure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Measured result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What it shows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34924">
                <a:tc>
                  <a:txBody>
                    <a:bodyPr/>
                    <a:lstStyle/>
                    <a:p>
                      <a:pPr marL="0" indent="0">
                        <a:buNone/>
                      </a:pPr>
                      <a:r>
                        <a:rPr lang="en-US" sz="1400" dirty="0">
                          <a:solidFill>
                            <a:schemeClr val="tx1"/>
                          </a:solidFill>
                        </a:rPr>
                        <a:t>Breathe on the SGP30</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eCO₂ 400 → 746 ppm, TVOC 0 → 210 ppb within 5 s; back to baseline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Gas sensing responds and recovers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34924">
                <a:tc>
                  <a:txBody>
                    <a:bodyPr/>
                    <a:lstStyle/>
                    <a:p>
                      <a:pPr marL="0" indent="0">
                        <a:buNone/>
                      </a:pPr>
                      <a:r>
                        <a:rPr lang="en-US" sz="1400" dirty="0">
                          <a:solidFill>
                            <a:schemeClr val="tx1"/>
                          </a:solidFill>
                        </a:rPr>
                        <a:t>Finger on the MCP9808</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31.5 → 35.0 °C in about 10 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Temperature tracks a real change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34924">
                <a:tc>
                  <a:txBody>
                    <a:bodyPr/>
                    <a:lstStyle/>
                    <a:p>
                      <a:pPr marL="0" indent="0">
                        <a:buNone/>
                      </a:pPr>
                      <a:r>
                        <a:rPr lang="en-US" sz="1400" dirty="0">
                          <a:solidFill>
                            <a:schemeClr val="tx1"/>
                          </a:solidFill>
                        </a:rPr>
                        <a:t>PPD42 in room air</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0–5,065 particles / 0.01 ft³ per 30 s window</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Dust sensing live</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34924">
                <a:tc>
                  <a:txBody>
                    <a:bodyPr/>
                    <a:lstStyle/>
                    <a:p>
                      <a:pPr marL="0" indent="0">
                        <a:buNone/>
                      </a:pPr>
                      <a:r>
                        <a:rPr lang="en-US" sz="1400" dirty="0">
                          <a:solidFill>
                            <a:schemeClr val="tx1"/>
                          </a:solidFill>
                        </a:rPr>
                        <a:t>PPD42 unplugged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Reported as absent instead of 1.1 million</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No false alarms from wiring faults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34924">
                <a:tc>
                  <a:txBody>
                    <a:bodyPr/>
                    <a:lstStyle/>
                    <a:p>
                      <a:pPr marL="0" indent="0">
                        <a:buNone/>
                      </a:pPr>
                      <a:r>
                        <a:rPr lang="en-US" sz="1400" dirty="0">
                          <a:solidFill>
                            <a:schemeClr val="tx1"/>
                          </a:solidFill>
                        </a:rPr>
                        <a:t>Wi-Fi link of the XIAO</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−78 dBm with time-outs → −26 dBm with antenna</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Diagnostics found the fault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534924">
                <a:tc>
                  <a:txBody>
                    <a:bodyPr/>
                    <a:lstStyle/>
                    <a:p>
                      <a:pPr marL="0" indent="0">
                        <a:buNone/>
                      </a:pPr>
                      <a:r>
                        <a:rPr lang="en-US" sz="1400" dirty="0">
                          <a:solidFill>
                            <a:schemeClr val="tx1"/>
                          </a:solidFill>
                        </a:rPr>
                        <a:t>Camera video</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≈0.5 → 16–20 fps after moving to MJPEG</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Live view usable for scanning</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534924">
                <a:tc>
                  <a:txBody>
                    <a:bodyPr/>
                    <a:lstStyle/>
                    <a:p>
                      <a:pPr marL="0" indent="0">
                        <a:buNone/>
                      </a:pPr>
                      <a:r>
                        <a:rPr lang="en-US" sz="1400" dirty="0">
                          <a:solidFill>
                            <a:schemeClr val="tx1"/>
                          </a:solidFill>
                        </a:rPr>
                        <a:t>Servos, robot on its back</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All four legs follow commanded angles</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Wiring and servo control work</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534924">
                <a:tc>
                  <a:txBody>
                    <a:bodyPr/>
                    <a:lstStyle/>
                    <a:p>
                      <a:pPr marL="0" indent="0">
                        <a:buNone/>
                      </a:pPr>
                      <a:r>
                        <a:rPr lang="en-US" sz="1400" dirty="0">
                          <a:solidFill>
                            <a:schemeClr val="tx1"/>
                          </a:solidFill>
                        </a:rPr>
                        <a:t>Servos, robot standing</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Holds a stance and shifts its legs, slowly</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Torque margin is thin, as predicted</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Classifier Validation: The Gate Prevents False Diagnoses</a:t>
            </a:r>
            <a:endParaRPr lang="en-US" sz="3000" dirty="0"/>
          </a:p>
        </p:txBody>
      </p:sp>
      <p:sp>
        <p:nvSpPr>
          <p:cNvPr id="4" name="panel-228"/>
          <p:cNvSpPr/>
          <p:nvPr/>
        </p:nvSpPr>
        <p:spPr>
          <a:xfrm>
            <a:off x="548640" y="1325880"/>
            <a:ext cx="5440680" cy="2377440"/>
          </a:xfrm>
          <a:prstGeom prst="roundRect">
            <a:avLst>
              <a:gd name="adj" fmla="val 3846"/>
            </a:avLst>
          </a:prstGeom>
          <a:solidFill>
            <a:schemeClr val="bg2"/>
          </a:solidFill>
          <a:ln w="12700">
            <a:solidFill>
              <a:schemeClr val="bg2"/>
            </a:solidFill>
            <a:prstDash val="solid"/>
          </a:ln>
        </p:spPr>
      </p:sp>
      <p:sp>
        <p:nvSpPr>
          <p:cNvPr id="5" name="Text 2"/>
          <p:cNvSpPr txBox="1"/>
          <p:nvPr/>
        </p:nvSpPr>
        <p:spPr>
          <a:xfrm>
            <a:off x="777240" y="1463040"/>
            <a:ext cx="5029200" cy="365760"/>
          </a:xfrm>
          <a:prstGeom prst="rect">
            <a:avLst/>
          </a:prstGeom>
          <a:noFill/>
          <a:ln/>
        </p:spPr>
        <p:txBody>
          <a:bodyPr wrap="square" lIns="0" tIns="0" rIns="0" bIns="0" rtlCol="0" anchor="t"/>
          <a:lstStyle/>
          <a:p>
            <a:pPr marL="0" indent="0">
              <a:buNone/>
            </a:pPr>
            <a:r>
              <a:rPr lang="en-US" sz="1600" b="1" dirty="0">
                <a:solidFill>
                  <a:schemeClr val="accent4"/>
                </a:solidFill>
              </a:rPr>
              <a:t>Without the gate</a:t>
            </a:r>
            <a:endParaRPr lang="en-US" sz="1600" dirty="0"/>
          </a:p>
        </p:txBody>
      </p:sp>
      <p:sp>
        <p:nvSpPr>
          <p:cNvPr id="6" name="Text 3"/>
          <p:cNvSpPr txBox="1"/>
          <p:nvPr/>
        </p:nvSpPr>
        <p:spPr>
          <a:xfrm>
            <a:off x="777240" y="1828800"/>
            <a:ext cx="5029200" cy="914400"/>
          </a:xfrm>
          <a:prstGeom prst="rect">
            <a:avLst/>
          </a:prstGeom>
          <a:noFill/>
          <a:ln/>
        </p:spPr>
        <p:txBody>
          <a:bodyPr wrap="square" lIns="0" tIns="0" rIns="0" bIns="0" rtlCol="0" anchor="t"/>
          <a:lstStyle/>
          <a:p>
            <a:pPr marL="0" indent="0">
              <a:buNone/>
            </a:pPr>
            <a:r>
              <a:rPr lang="en-US" sz="5200" b="1" dirty="0">
                <a:solidFill>
                  <a:schemeClr val="accent4"/>
                </a:solidFill>
                <a:latin typeface="Cambria" pitchFamily="34" charset="0"/>
                <a:ea typeface="Cambria" pitchFamily="34" charset="-122"/>
                <a:cs typeface="Cambria" pitchFamily="34" charset="-120"/>
              </a:rPr>
              <a:t>82–90 %</a:t>
            </a:r>
            <a:endParaRPr lang="en-US" sz="5200" dirty="0"/>
          </a:p>
        </p:txBody>
      </p:sp>
      <p:sp>
        <p:nvSpPr>
          <p:cNvPr id="7" name="Text 4"/>
          <p:cNvSpPr txBox="1"/>
          <p:nvPr/>
        </p:nvSpPr>
        <p:spPr>
          <a:xfrm>
            <a:off x="777240" y="2788920"/>
            <a:ext cx="5029200" cy="731520"/>
          </a:xfrm>
          <a:prstGeom prst="rect">
            <a:avLst/>
          </a:prstGeom>
          <a:noFill/>
          <a:ln/>
        </p:spPr>
        <p:txBody>
          <a:bodyPr wrap="square" lIns="0" tIns="0" rIns="0" bIns="0" rtlCol="0" anchor="t"/>
          <a:lstStyle/>
          <a:p>
            <a:pPr marL="0" indent="0">
              <a:buNone/>
            </a:pPr>
            <a:r>
              <a:rPr lang="en-US" sz="1500" dirty="0">
                <a:solidFill>
                  <a:schemeClr val="tx1"/>
                </a:solidFill>
              </a:rPr>
              <a:t>confidence for “citrus greening” on a photo of an empty room</a:t>
            </a:r>
            <a:endParaRPr lang="en-US" sz="1500" dirty="0"/>
          </a:p>
        </p:txBody>
      </p:sp>
      <p:sp>
        <p:nvSpPr>
          <p:cNvPr id="8" name="panel-229"/>
          <p:cNvSpPr/>
          <p:nvPr/>
        </p:nvSpPr>
        <p:spPr>
          <a:xfrm>
            <a:off x="6172200" y="1325880"/>
            <a:ext cx="5440680" cy="2377440"/>
          </a:xfrm>
          <a:prstGeom prst="roundRect">
            <a:avLst>
              <a:gd name="adj" fmla="val 3846"/>
            </a:avLst>
          </a:prstGeom>
          <a:solidFill>
            <a:schemeClr val="tx2"/>
          </a:solidFill>
          <a:ln w="12700">
            <a:solidFill>
              <a:schemeClr val="tx2"/>
            </a:solidFill>
            <a:prstDash val="solid"/>
          </a:ln>
        </p:spPr>
      </p:sp>
      <p:sp>
        <p:nvSpPr>
          <p:cNvPr id="9" name="Text 6"/>
          <p:cNvSpPr txBox="1"/>
          <p:nvPr/>
        </p:nvSpPr>
        <p:spPr>
          <a:xfrm>
            <a:off x="6400800" y="1463040"/>
            <a:ext cx="5029200" cy="365760"/>
          </a:xfrm>
          <a:prstGeom prst="rect">
            <a:avLst/>
          </a:prstGeom>
          <a:noFill/>
          <a:ln/>
        </p:spPr>
        <p:txBody>
          <a:bodyPr wrap="square" lIns="0" tIns="0" rIns="0" bIns="0" rtlCol="0" anchor="t"/>
          <a:lstStyle/>
          <a:p>
            <a:pPr marL="0" indent="0">
              <a:buNone/>
            </a:pPr>
            <a:r>
              <a:rPr lang="en-US" sz="1600" b="1" dirty="0">
                <a:solidFill>
                  <a:schemeClr val="accent2"/>
                </a:solidFill>
              </a:rPr>
              <a:t>With the gate</a:t>
            </a:r>
            <a:endParaRPr lang="en-US" sz="1600" dirty="0"/>
          </a:p>
        </p:txBody>
      </p:sp>
      <p:sp>
        <p:nvSpPr>
          <p:cNvPr id="10" name="Text 7"/>
          <p:cNvSpPr txBox="1"/>
          <p:nvPr/>
        </p:nvSpPr>
        <p:spPr>
          <a:xfrm>
            <a:off x="6400800" y="1828800"/>
            <a:ext cx="5029200" cy="914400"/>
          </a:xfrm>
          <a:prstGeom prst="rect">
            <a:avLst/>
          </a:prstGeom>
          <a:noFill/>
          <a:ln/>
        </p:spPr>
        <p:txBody>
          <a:bodyPr wrap="square" lIns="0" tIns="0" rIns="0" bIns="0" rtlCol="0" anchor="t"/>
          <a:lstStyle/>
          <a:p>
            <a:pPr marL="0" indent="0">
              <a:buNone/>
            </a:pPr>
            <a:r>
              <a:rPr lang="en-US" sz="5200" b="1" dirty="0">
                <a:solidFill>
                  <a:schemeClr val="bg1"/>
                </a:solidFill>
                <a:latin typeface="Cambria" pitchFamily="34" charset="0"/>
                <a:ea typeface="Cambria" pitchFamily="34" charset="-122"/>
                <a:cs typeface="Cambria" pitchFamily="34" charset="-120"/>
              </a:rPr>
              <a:t>Rejected</a:t>
            </a:r>
            <a:endParaRPr lang="en-US" sz="5200" dirty="0"/>
          </a:p>
        </p:txBody>
      </p:sp>
      <p:sp>
        <p:nvSpPr>
          <p:cNvPr id="11" name="Text 8"/>
          <p:cNvSpPr txBox="1"/>
          <p:nvPr/>
        </p:nvSpPr>
        <p:spPr>
          <a:xfrm>
            <a:off x="6400800" y="2788920"/>
            <a:ext cx="5029200" cy="731520"/>
          </a:xfrm>
          <a:prstGeom prst="rect">
            <a:avLst/>
          </a:prstGeom>
          <a:noFill/>
          <a:ln/>
        </p:spPr>
        <p:txBody>
          <a:bodyPr wrap="square" lIns="0" tIns="0" rIns="0" bIns="0" rtlCol="0" anchor="t"/>
          <a:lstStyle/>
          <a:p>
            <a:pPr marL="0" indent="0">
              <a:buNone/>
            </a:pPr>
            <a:r>
              <a:rPr lang="en-US" sz="1500" dirty="0">
                <a:solidFill>
                  <a:schemeClr val="bg2"/>
                </a:solidFill>
              </a:rPr>
              <a:t>0–0.1 % leaf coverage measured: “no leaf in view”, no diagnosis shown</a:t>
            </a:r>
            <a:endParaRPr lang="en-US" sz="1500" dirty="0"/>
          </a:p>
        </p:txBody>
      </p:sp>
      <p:sp>
        <p:nvSpPr>
          <p:cNvPr id="12" name="Text 9"/>
          <p:cNvSpPr txBox="1"/>
          <p:nvPr/>
        </p:nvSpPr>
        <p:spPr>
          <a:xfrm>
            <a:off x="548640" y="4069080"/>
            <a:ext cx="3474720" cy="609600"/>
          </a:xfrm>
          <a:prstGeom prst="rect">
            <a:avLst/>
          </a:prstGeom>
          <a:noFill/>
          <a:ln/>
        </p:spPr>
        <p:txBody>
          <a:bodyPr wrap="square" lIns="0" tIns="0" rIns="0" bIns="0" rtlCol="0" anchor="b"/>
          <a:lstStyle/>
          <a:p>
            <a:pPr marL="0" indent="0">
              <a:buNone/>
            </a:pPr>
            <a:r>
              <a:rPr lang="en-US" sz="4000" b="1" dirty="0">
                <a:solidFill>
                  <a:schemeClr val="accent1"/>
                </a:solidFill>
                <a:latin typeface="Cambria" pitchFamily="34" charset="0"/>
                <a:ea typeface="Cambria" pitchFamily="34" charset="-122"/>
                <a:cs typeface="Cambria" pitchFamily="34" charset="-120"/>
              </a:rPr>
              <a:t>12 / 12</a:t>
            </a:r>
            <a:endParaRPr lang="en-US" sz="4000" dirty="0"/>
          </a:p>
        </p:txBody>
      </p:sp>
      <p:sp>
        <p:nvSpPr>
          <p:cNvPr id="13" name="Text 10"/>
          <p:cNvSpPr txBox="1"/>
          <p:nvPr/>
        </p:nvSpPr>
        <p:spPr>
          <a:xfrm>
            <a:off x="548640" y="4733544"/>
            <a:ext cx="3474720" cy="640080"/>
          </a:xfrm>
          <a:prstGeom prst="rect">
            <a:avLst/>
          </a:prstGeom>
          <a:noFill/>
          <a:ln/>
        </p:spPr>
        <p:txBody>
          <a:bodyPr wrap="square" lIns="0" tIns="0" rIns="0" bIns="0" rtlCol="0" anchor="t"/>
          <a:lstStyle/>
          <a:p>
            <a:pPr marL="0" indent="0">
              <a:buNone/>
            </a:pPr>
            <a:r>
              <a:rPr lang="en-US" sz="1400" dirty="0">
                <a:solidFill>
                  <a:schemeClr val="accent6"/>
                </a:solidFill>
              </a:rPr>
              <a:t>PlantVillage leaves accepted by the gate (27–76 % coverage)</a:t>
            </a:r>
            <a:endParaRPr lang="en-US" sz="1400" dirty="0"/>
          </a:p>
        </p:txBody>
      </p:sp>
      <p:sp>
        <p:nvSpPr>
          <p:cNvPr id="14" name="Text 11"/>
          <p:cNvSpPr txBox="1"/>
          <p:nvPr/>
        </p:nvSpPr>
        <p:spPr>
          <a:xfrm>
            <a:off x="4279392" y="4069080"/>
            <a:ext cx="3474720" cy="609600"/>
          </a:xfrm>
          <a:prstGeom prst="rect">
            <a:avLst/>
          </a:prstGeom>
          <a:noFill/>
          <a:ln/>
        </p:spPr>
        <p:txBody>
          <a:bodyPr wrap="square" lIns="0" tIns="0" rIns="0" bIns="0" rtlCol="0" anchor="b"/>
          <a:lstStyle/>
          <a:p>
            <a:pPr marL="0" indent="0">
              <a:buNone/>
            </a:pPr>
            <a:r>
              <a:rPr lang="en-US" sz="4000" b="1" dirty="0">
                <a:solidFill>
                  <a:schemeClr val="accent1"/>
                </a:solidFill>
                <a:latin typeface="Cambria" pitchFamily="34" charset="0"/>
                <a:ea typeface="Cambria" pitchFamily="34" charset="-122"/>
                <a:cs typeface="Cambria" pitchFamily="34" charset="-120"/>
              </a:rPr>
              <a:t>8 / 10</a:t>
            </a:r>
            <a:endParaRPr lang="en-US" sz="4000" dirty="0"/>
          </a:p>
        </p:txBody>
      </p:sp>
      <p:sp>
        <p:nvSpPr>
          <p:cNvPr id="15" name="Text 12"/>
          <p:cNvSpPr txBox="1"/>
          <p:nvPr/>
        </p:nvSpPr>
        <p:spPr>
          <a:xfrm>
            <a:off x="4279392" y="4733544"/>
            <a:ext cx="3474720" cy="640080"/>
          </a:xfrm>
          <a:prstGeom prst="rect">
            <a:avLst/>
          </a:prstGeom>
          <a:noFill/>
          <a:ln/>
        </p:spPr>
        <p:txBody>
          <a:bodyPr wrap="square" lIns="0" tIns="0" rIns="0" bIns="0" rtlCol="0" anchor="t"/>
          <a:lstStyle/>
          <a:p>
            <a:pPr marL="0" indent="0">
              <a:buNone/>
            </a:pPr>
            <a:r>
              <a:rPr lang="en-US" sz="1400" dirty="0">
                <a:solidFill>
                  <a:schemeClr val="accent6"/>
                </a:solidFill>
              </a:rPr>
              <a:t>spot-check images classified correctly above 92 %; 1 uncertain, 1 wrong</a:t>
            </a:r>
            <a:endParaRPr lang="en-US" sz="1400" dirty="0"/>
          </a:p>
        </p:txBody>
      </p:sp>
      <p:sp>
        <p:nvSpPr>
          <p:cNvPr id="16" name="Text 13"/>
          <p:cNvSpPr txBox="1"/>
          <p:nvPr/>
        </p:nvSpPr>
        <p:spPr>
          <a:xfrm>
            <a:off x="8010144" y="4069080"/>
            <a:ext cx="3474720" cy="609600"/>
          </a:xfrm>
          <a:prstGeom prst="rect">
            <a:avLst/>
          </a:prstGeom>
          <a:noFill/>
          <a:ln/>
        </p:spPr>
        <p:txBody>
          <a:bodyPr wrap="square" lIns="0" tIns="0" rIns="0" bIns="0" rtlCol="0" anchor="b"/>
          <a:lstStyle/>
          <a:p>
            <a:pPr marL="0" indent="0">
              <a:buNone/>
            </a:pPr>
            <a:r>
              <a:rPr lang="en-US" sz="4000" b="1" dirty="0">
                <a:solidFill>
                  <a:schemeClr val="accent5"/>
                </a:solidFill>
                <a:latin typeface="Cambria" pitchFamily="34" charset="0"/>
                <a:ea typeface="Cambria" pitchFamily="34" charset="-122"/>
                <a:cs typeface="Cambria" pitchFamily="34" charset="-120"/>
              </a:rPr>
              <a:t>30–80 ms</a:t>
            </a:r>
            <a:endParaRPr lang="en-US" sz="4000" dirty="0"/>
          </a:p>
        </p:txBody>
      </p:sp>
      <p:sp>
        <p:nvSpPr>
          <p:cNvPr id="17" name="Text 14"/>
          <p:cNvSpPr txBox="1"/>
          <p:nvPr/>
        </p:nvSpPr>
        <p:spPr>
          <a:xfrm>
            <a:off x="8010144" y="4733544"/>
            <a:ext cx="3474720" cy="640080"/>
          </a:xfrm>
          <a:prstGeom prst="rect">
            <a:avLst/>
          </a:prstGeom>
          <a:noFill/>
          <a:ln/>
        </p:spPr>
        <p:txBody>
          <a:bodyPr wrap="square" lIns="0" tIns="0" rIns="0" bIns="0" rtlCol="0" anchor="t"/>
          <a:lstStyle/>
          <a:p>
            <a:pPr marL="0" indent="0">
              <a:buNone/>
            </a:pPr>
            <a:r>
              <a:rPr lang="en-US" sz="1400" dirty="0">
                <a:solidFill>
                  <a:schemeClr val="accent6"/>
                </a:solidFill>
              </a:rPr>
              <a:t>inference per image on the laptop CPU</a:t>
            </a:r>
            <a:endParaRPr lang="en-US" sz="14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Live Scans Outdoors with the Robot's Camera</a:t>
            </a:r>
            <a:endParaRPr lang="en-US" sz="3000" dirty="0"/>
          </a:p>
        </p:txBody>
      </p:sp>
      <p:pic>
        <p:nvPicPr>
          <p:cNvPr id="4" name="image-230" descr="diag_hedge.jpg"/>
          <p:cNvPicPr>
            <a:picLocks noChangeAspect="1"/>
          </p:cNvPicPr>
          <p:nvPr/>
        </p:nvPicPr>
        <p:blipFill>
          <a:blip r:embed="rId3"/>
          <a:stretch>
            <a:fillRect/>
          </a:stretch>
        </p:blipFill>
        <p:spPr>
          <a:xfrm>
            <a:off x="1034456" y="1280160"/>
            <a:ext cx="2557952" cy="3291840"/>
          </a:xfrm>
          <a:prstGeom prst="rect">
            <a:avLst/>
          </a:prstGeom>
        </p:spPr>
      </p:pic>
      <p:sp>
        <p:nvSpPr>
          <p:cNvPr id="5" name="Text 1"/>
          <p:cNvSpPr txBox="1"/>
          <p:nvPr/>
        </p:nvSpPr>
        <p:spPr>
          <a:xfrm>
            <a:off x="548640" y="4709160"/>
            <a:ext cx="3529584" cy="411480"/>
          </a:xfrm>
          <a:prstGeom prst="rect">
            <a:avLst/>
          </a:prstGeom>
          <a:noFill/>
          <a:ln/>
        </p:spPr>
        <p:txBody>
          <a:bodyPr wrap="square" lIns="0" tIns="0" rIns="0" bIns="0" rtlCol="0" anchor="t"/>
          <a:lstStyle/>
          <a:p>
            <a:pPr marL="0" indent="0">
              <a:buNone/>
            </a:pPr>
            <a:r>
              <a:rPr lang="en-US" sz="1700" b="1" dirty="0">
                <a:solidFill>
                  <a:schemeClr val="accent3"/>
                </a:solidFill>
              </a:rPr>
              <a:t>Hedge at ~1 m: no leaf in view</a:t>
            </a:r>
            <a:endParaRPr lang="en-US" sz="1700" dirty="0"/>
          </a:p>
        </p:txBody>
      </p:sp>
      <p:sp>
        <p:nvSpPr>
          <p:cNvPr id="6" name="Text 2"/>
          <p:cNvSpPr txBox="1"/>
          <p:nvPr/>
        </p:nvSpPr>
        <p:spPr>
          <a:xfrm>
            <a:off x="548640" y="5120640"/>
            <a:ext cx="3529584" cy="731520"/>
          </a:xfrm>
          <a:prstGeom prst="rect">
            <a:avLst/>
          </a:prstGeom>
          <a:noFill/>
          <a:ln/>
        </p:spPr>
        <p:txBody>
          <a:bodyPr wrap="square" lIns="0" tIns="0" rIns="0" bIns="0" rtlCol="0" anchor="t"/>
          <a:lstStyle/>
          <a:p>
            <a:pPr marL="0" indent="0">
              <a:buNone/>
            </a:pPr>
            <a:r>
              <a:rPr lang="en-US" sz="1450" dirty="0">
                <a:solidFill>
                  <a:schemeClr val="tx1"/>
                </a:solidFill>
              </a:rPr>
              <a:t>11 % coverage, so the model's 75.5 % “black rot” is withheld</a:t>
            </a:r>
            <a:endParaRPr lang="en-US" sz="1450" dirty="0"/>
          </a:p>
        </p:txBody>
      </p:sp>
      <p:pic>
        <p:nvPicPr>
          <p:cNvPr id="7" name="image-231" descr="diag_plant.jpg"/>
          <p:cNvPicPr>
            <a:picLocks noChangeAspect="1"/>
          </p:cNvPicPr>
          <p:nvPr/>
        </p:nvPicPr>
        <p:blipFill>
          <a:blip r:embed="rId4"/>
          <a:stretch>
            <a:fillRect/>
          </a:stretch>
        </p:blipFill>
        <p:spPr>
          <a:xfrm>
            <a:off x="4762003" y="1280160"/>
            <a:ext cx="2564362" cy="3291840"/>
          </a:xfrm>
          <a:prstGeom prst="rect">
            <a:avLst/>
          </a:prstGeom>
        </p:spPr>
      </p:pic>
      <p:sp>
        <p:nvSpPr>
          <p:cNvPr id="8" name="Text 3"/>
          <p:cNvSpPr txBox="1"/>
          <p:nvPr/>
        </p:nvSpPr>
        <p:spPr>
          <a:xfrm>
            <a:off x="4279392" y="4709160"/>
            <a:ext cx="3529584" cy="411480"/>
          </a:xfrm>
          <a:prstGeom prst="rect">
            <a:avLst/>
          </a:prstGeom>
          <a:noFill/>
          <a:ln/>
        </p:spPr>
        <p:txBody>
          <a:bodyPr wrap="square" lIns="0" tIns="0" rIns="0" bIns="0" rtlCol="0" anchor="t"/>
          <a:lstStyle/>
          <a:p>
            <a:pPr marL="0" indent="0">
              <a:buNone/>
            </a:pPr>
            <a:r>
              <a:rPr lang="en-US" sz="1700" b="1" dirty="0">
                <a:solidFill>
                  <a:schemeClr val="accent5"/>
                </a:solidFill>
              </a:rPr>
              <a:t>Potted plant: low confidence</a:t>
            </a:r>
            <a:endParaRPr lang="en-US" sz="1700" dirty="0"/>
          </a:p>
        </p:txBody>
      </p:sp>
      <p:sp>
        <p:nvSpPr>
          <p:cNvPr id="9" name="Text 4"/>
          <p:cNvSpPr txBox="1"/>
          <p:nvPr/>
        </p:nvSpPr>
        <p:spPr>
          <a:xfrm>
            <a:off x="4279392" y="5120640"/>
            <a:ext cx="3529584" cy="731520"/>
          </a:xfrm>
          <a:prstGeom prst="rect">
            <a:avLst/>
          </a:prstGeom>
          <a:noFill/>
          <a:ln/>
        </p:spPr>
        <p:txBody>
          <a:bodyPr wrap="square" lIns="0" tIns="0" rIns="0" bIns="0" rtlCol="0" anchor="t"/>
          <a:lstStyle/>
          <a:p>
            <a:pPr marL="0" indent="0">
              <a:buNone/>
            </a:pPr>
            <a:r>
              <a:rPr lang="en-US" sz="1450" dirty="0">
                <a:solidFill>
                  <a:schemeClr val="tx1"/>
                </a:solidFill>
              </a:rPr>
              <a:t>60 % coverage; “healthy corn” at 53.4 %, just above the 50 % threshold</a:t>
            </a:r>
            <a:endParaRPr lang="en-US" sz="1450" dirty="0"/>
          </a:p>
        </p:txBody>
      </p:sp>
      <p:pic>
        <p:nvPicPr>
          <p:cNvPr id="10" name="image-232" descr="diag_spots.jpg"/>
          <p:cNvPicPr>
            <a:picLocks noChangeAspect="1"/>
          </p:cNvPicPr>
          <p:nvPr/>
        </p:nvPicPr>
        <p:blipFill>
          <a:blip r:embed="rId5"/>
          <a:stretch>
            <a:fillRect/>
          </a:stretch>
        </p:blipFill>
        <p:spPr>
          <a:xfrm>
            <a:off x="8460048" y="1280160"/>
            <a:ext cx="2629777" cy="3291840"/>
          </a:xfrm>
          <a:prstGeom prst="rect">
            <a:avLst/>
          </a:prstGeom>
        </p:spPr>
      </p:pic>
      <p:sp>
        <p:nvSpPr>
          <p:cNvPr id="11" name="Text 5"/>
          <p:cNvSpPr txBox="1"/>
          <p:nvPr/>
        </p:nvSpPr>
        <p:spPr>
          <a:xfrm>
            <a:off x="8010144" y="4709160"/>
            <a:ext cx="3529584" cy="411480"/>
          </a:xfrm>
          <a:prstGeom prst="rect">
            <a:avLst/>
          </a:prstGeom>
          <a:noFill/>
          <a:ln/>
        </p:spPr>
        <p:txBody>
          <a:bodyPr wrap="square" lIns="0" tIns="0" rIns="0" bIns="0" rtlCol="0" anchor="t"/>
          <a:lstStyle/>
          <a:p>
            <a:pPr marL="0" indent="0">
              <a:buNone/>
            </a:pPr>
            <a:r>
              <a:rPr lang="en-US" sz="1700" b="1" dirty="0">
                <a:solidFill>
                  <a:schemeClr val="accent4"/>
                </a:solidFill>
              </a:rPr>
              <a:t>Spotted leaves: flagged</a:t>
            </a:r>
            <a:endParaRPr lang="en-US" sz="1700" dirty="0"/>
          </a:p>
        </p:txBody>
      </p:sp>
      <p:sp>
        <p:nvSpPr>
          <p:cNvPr id="12" name="Text 6"/>
          <p:cNvSpPr txBox="1"/>
          <p:nvPr/>
        </p:nvSpPr>
        <p:spPr>
          <a:xfrm>
            <a:off x="8010144" y="5120640"/>
            <a:ext cx="3529584" cy="731520"/>
          </a:xfrm>
          <a:prstGeom prst="rect">
            <a:avLst/>
          </a:prstGeom>
          <a:noFill/>
          <a:ln/>
        </p:spPr>
        <p:txBody>
          <a:bodyPr wrap="square" lIns="0" tIns="0" rIns="0" bIns="0" rtlCol="0" anchor="t"/>
          <a:lstStyle/>
          <a:p>
            <a:pPr marL="0" indent="0">
              <a:buNone/>
            </a:pPr>
            <a:r>
              <a:rPr lang="en-US" sz="1450" dirty="0">
                <a:solidFill>
                  <a:schemeClr val="tx1"/>
                </a:solidFill>
              </a:rPr>
              <a:t>26 % coverage; “grape black rot” at 80.5 %, readings saved with the image</a:t>
            </a:r>
            <a:endParaRPr lang="en-US" sz="1450" dirty="0"/>
          </a:p>
        </p:txBody>
      </p:sp>
      <p:sp>
        <p:nvSpPr>
          <p:cNvPr id="13" name="Text 7"/>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300" i="1" dirty="0">
                <a:solidFill>
                  <a:schemeClr val="accent6"/>
                </a:solidFill>
              </a:rPr>
              <a:t>Washed-out camera colours put some real foliage near the 12 % threshold; holding the leaf close fixes it.</a:t>
            </a:r>
            <a:endParaRPr lang="en-US" sz="13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Actuation Trials on the Physical Robot</a:t>
            </a:r>
            <a:endParaRPr lang="en-US" sz="3000" dirty="0"/>
          </a:p>
        </p:txBody>
      </p:sp>
      <p:pic>
        <p:nvPicPr>
          <p:cNvPr id="3" name="video-23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280160"/>
            <a:ext cx="5440680" cy="3060383"/>
          </a:xfrm>
          <a:prstGeom prst="rect">
            <a:avLst/>
          </a:prstGeom>
        </p:spPr>
      </p:pic>
      <p:pic>
        <p:nvPicPr>
          <p:cNvPr id="6" name="video-23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72200" y="1280160"/>
            <a:ext cx="5440680" cy="3060383"/>
          </a:xfrm>
          <a:prstGeom prst="rect">
            <a:avLst/>
          </a:prstGeom>
        </p:spPr>
      </p:pic>
      <p:sp>
        <p:nvSpPr>
          <p:cNvPr id="4" name="Text 1"/>
          <p:cNvSpPr txBox="1"/>
          <p:nvPr/>
        </p:nvSpPr>
        <p:spPr>
          <a:xfrm>
            <a:off x="548640" y="4413694"/>
            <a:ext cx="5440680" cy="274320"/>
          </a:xfrm>
          <a:prstGeom prst="rect">
            <a:avLst/>
          </a:prstGeom>
          <a:noFill/>
          <a:ln/>
        </p:spPr>
        <p:txBody>
          <a:bodyPr wrap="square" lIns="0" tIns="0" rIns="0" bIns="0" rtlCol="0" anchor="t"/>
          <a:lstStyle/>
          <a:p>
            <a:pPr marL="0" indent="0">
              <a:buNone/>
            </a:pPr>
            <a:r>
              <a:rPr lang="en-US" sz="1200" i="1" dirty="0">
                <a:solidFill>
                  <a:schemeClr val="accent6"/>
                </a:solidFill>
              </a:rPr>
              <a:t>On its back: all four legs follow their commanded angles</a:t>
            </a:r>
            <a:endParaRPr lang="en-US" sz="1200" dirty="0"/>
          </a:p>
        </p:txBody>
      </p:sp>
      <p:sp>
        <p:nvSpPr>
          <p:cNvPr id="7" name="Text 2"/>
          <p:cNvSpPr txBox="1"/>
          <p:nvPr/>
        </p:nvSpPr>
        <p:spPr>
          <a:xfrm>
            <a:off x="6172200" y="4413694"/>
            <a:ext cx="5440680" cy="274320"/>
          </a:xfrm>
          <a:prstGeom prst="rect">
            <a:avLst/>
          </a:prstGeom>
          <a:noFill/>
          <a:ln/>
        </p:spPr>
        <p:txBody>
          <a:bodyPr wrap="square" lIns="0" tIns="0" rIns="0" bIns="0" rtlCol="0" anchor="t"/>
          <a:lstStyle/>
          <a:p>
            <a:pPr marL="0" indent="0">
              <a:buNone/>
            </a:pPr>
            <a:r>
              <a:rPr lang="en-US" sz="1200" i="1" dirty="0">
                <a:solidFill>
                  <a:schemeClr val="accent6"/>
                </a:solidFill>
              </a:rPr>
              <a:t>Standing: supports its weight and shifts its legs, but weakly</a:t>
            </a:r>
            <a:endParaRPr lang="en-US" sz="1200" dirty="0"/>
          </a:p>
        </p:txBody>
      </p:sp>
      <p:sp>
        <p:nvSpPr>
          <p:cNvPr id="8" name="panel-235"/>
          <p:cNvSpPr/>
          <p:nvPr/>
        </p:nvSpPr>
        <p:spPr>
          <a:xfrm>
            <a:off x="548640" y="4846320"/>
            <a:ext cx="5440680" cy="1325880"/>
          </a:xfrm>
          <a:prstGeom prst="roundRect">
            <a:avLst>
              <a:gd name="adj" fmla="val 6897"/>
            </a:avLst>
          </a:prstGeom>
          <a:solidFill>
            <a:schemeClr val="bg2"/>
          </a:solidFill>
          <a:ln w="12700">
            <a:solidFill>
              <a:schemeClr val="bg2"/>
            </a:solidFill>
            <a:prstDash val="solid"/>
          </a:ln>
        </p:spPr>
      </p:sp>
      <p:sp>
        <p:nvSpPr>
          <p:cNvPr id="9" name="Text 4"/>
          <p:cNvSpPr txBox="1"/>
          <p:nvPr/>
        </p:nvSpPr>
        <p:spPr>
          <a:xfrm>
            <a:off x="777240" y="4937760"/>
            <a:ext cx="5029200" cy="1188720"/>
          </a:xfrm>
          <a:prstGeom prst="rect">
            <a:avLst/>
          </a:prstGeom>
          <a:noFill/>
          <a:ln/>
        </p:spPr>
        <p:txBody>
          <a:bodyPr wrap="square" lIns="0" tIns="0" rIns="0" bIns="0" rtlCol="0" anchor="t"/>
          <a:lstStyle/>
          <a:p>
            <a:pPr marL="0" indent="0">
              <a:buNone/>
            </a:pPr>
            <a:r>
              <a:rPr lang="en-US" sz="1450" b="1" dirty="0">
                <a:solidFill>
                  <a:schemeClr val="accent4"/>
                </a:solidFill>
              </a:rPr>
              <a:t>Why it is weak  </a:t>
            </a:r>
            <a:endParaRPr lang="en-US" sz="1450" dirty="0"/>
          </a:p>
          <a:p>
            <a:pPr marL="0" indent="0">
              <a:buNone/>
            </a:pPr>
            <a:r>
              <a:rPr lang="en-US" sz="1450" dirty="0">
                <a:solidFill>
                  <a:schemeClr val="tx1"/>
                </a:solidFill>
              </a:rPr>
              <a:t>Stance knee torque is 36–52 % of a genuine MG996R's rating and rises when a leg lifts; copies deliver less, and a sagging supply cuts torque further.</a:t>
            </a:r>
            <a:endParaRPr lang="en-US" sz="1450" dirty="0"/>
          </a:p>
        </p:txBody>
      </p:sp>
      <p:sp>
        <p:nvSpPr>
          <p:cNvPr id="10" name="panel-236"/>
          <p:cNvSpPr/>
          <p:nvPr/>
        </p:nvSpPr>
        <p:spPr>
          <a:xfrm>
            <a:off x="6172200" y="4846320"/>
            <a:ext cx="5440680" cy="1325880"/>
          </a:xfrm>
          <a:prstGeom prst="roundRect">
            <a:avLst>
              <a:gd name="adj" fmla="val 6897"/>
            </a:avLst>
          </a:prstGeom>
          <a:solidFill>
            <a:schemeClr val="tx2"/>
          </a:solidFill>
          <a:ln w="12700">
            <a:solidFill>
              <a:schemeClr val="tx2"/>
            </a:solidFill>
            <a:prstDash val="solid"/>
          </a:ln>
        </p:spPr>
      </p:sp>
      <p:sp>
        <p:nvSpPr>
          <p:cNvPr id="11" name="Text 6"/>
          <p:cNvSpPr txBox="1"/>
          <p:nvPr/>
        </p:nvSpPr>
        <p:spPr>
          <a:xfrm>
            <a:off x="6400800" y="4937760"/>
            <a:ext cx="5029200" cy="1188720"/>
          </a:xfrm>
          <a:prstGeom prst="rect">
            <a:avLst/>
          </a:prstGeom>
          <a:noFill/>
          <a:ln/>
        </p:spPr>
        <p:txBody>
          <a:bodyPr wrap="square" lIns="0" tIns="0" rIns="0" bIns="0" rtlCol="0" anchor="t"/>
          <a:lstStyle/>
          <a:p>
            <a:pPr marL="0" indent="0">
              <a:buNone/>
            </a:pPr>
            <a:r>
              <a:rPr lang="en-US" sz="1450" b="1" dirty="0">
                <a:solidFill>
                  <a:schemeClr val="accent2"/>
                </a:solidFill>
              </a:rPr>
              <a:t>Next step  </a:t>
            </a:r>
            <a:endParaRPr lang="en-US" sz="1450" dirty="0"/>
          </a:p>
          <a:p>
            <a:pPr marL="0" indent="0">
              <a:buNone/>
            </a:pPr>
            <a:r>
              <a:rPr lang="en-US" sz="1450" dirty="0">
                <a:solidFill>
                  <a:schemeClr val="bg1"/>
                </a:solidFill>
              </a:rPr>
              <a:t>Dedicated 6 V servo supply, CoM-centred footholds and a lower stance; stronger servos if the margin is still thin.</a:t>
            </a:r>
            <a:endParaRPr lang="en-US" sz="145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Simulated Autonomous Field Survey</a:t>
            </a:r>
            <a:endParaRPr lang="en-US" sz="3000" dirty="0"/>
          </a:p>
        </p:txBody>
      </p:sp>
      <p:pic>
        <p:nvPicPr>
          <p:cNvPr id="4" name="image-237" descr="survey_map.jpg"/>
          <p:cNvPicPr>
            <a:picLocks noChangeAspect="1"/>
          </p:cNvPicPr>
          <p:nvPr/>
        </p:nvPicPr>
        <p:blipFill>
          <a:blip r:embed="rId3"/>
          <a:stretch>
            <a:fillRect/>
          </a:stretch>
        </p:blipFill>
        <p:spPr>
          <a:xfrm>
            <a:off x="548640" y="1280160"/>
            <a:ext cx="7589520" cy="3491179"/>
          </a:xfrm>
          <a:prstGeom prst="rect">
            <a:avLst/>
          </a:prstGeom>
        </p:spPr>
      </p:pic>
      <p:sp>
        <p:nvSpPr>
          <p:cNvPr id="5" name="Text 1"/>
          <p:cNvSpPr txBox="1"/>
          <p:nvPr/>
        </p:nvSpPr>
        <p:spPr>
          <a:xfrm>
            <a:off x="548640" y="4844491"/>
            <a:ext cx="7589520" cy="502920"/>
          </a:xfrm>
          <a:prstGeom prst="rect">
            <a:avLst/>
          </a:prstGeom>
          <a:noFill/>
          <a:ln/>
        </p:spPr>
        <p:txBody>
          <a:bodyPr wrap="square" lIns="0" tIns="0" rIns="0" bIns="0" rtlCol="0" anchor="t"/>
          <a:lstStyle/>
          <a:p>
            <a:pPr marL="0" indent="0">
              <a:buNone/>
            </a:pPr>
            <a:r>
              <a:rPr lang="en-US" sz="1200" i="1" dirty="0">
                <a:solidFill>
                  <a:schemeClr val="accent6"/>
                </a:solidFill>
              </a:rPr>
              <a:t>Route coloured by measured TVOC over the modelled VOC field; squares mark row ends detected by the front ultrasonic sensor</a:t>
            </a:r>
            <a:endParaRPr lang="en-US" sz="1200" dirty="0"/>
          </a:p>
        </p:txBody>
      </p:sp>
      <p:sp>
        <p:nvSpPr>
          <p:cNvPr id="6" name="Text 2"/>
          <p:cNvSpPr txBox="1"/>
          <p:nvPr/>
        </p:nvSpPr>
        <p:spPr>
          <a:xfrm>
            <a:off x="8503920" y="1325880"/>
            <a:ext cx="3108960" cy="609600"/>
          </a:xfrm>
          <a:prstGeom prst="rect">
            <a:avLst/>
          </a:prstGeom>
          <a:noFill/>
          <a:ln/>
        </p:spPr>
        <p:txBody>
          <a:bodyPr wrap="square" lIns="0" tIns="0" rIns="0" bIns="0" rtlCol="0" anchor="b"/>
          <a:lstStyle/>
          <a:p>
            <a:pPr marL="0" indent="0">
              <a:buNone/>
            </a:pPr>
            <a:r>
              <a:rPr lang="en-US" sz="4000" b="1" dirty="0">
                <a:solidFill>
                  <a:schemeClr val="accent1"/>
                </a:solidFill>
                <a:latin typeface="Cambria" pitchFamily="34" charset="0"/>
                <a:ea typeface="Cambria" pitchFamily="34" charset="-122"/>
                <a:cs typeface="Cambria" pitchFamily="34" charset="-120"/>
              </a:rPr>
              <a:t>16.7 m</a:t>
            </a:r>
            <a:endParaRPr lang="en-US" sz="4000" dirty="0"/>
          </a:p>
        </p:txBody>
      </p:sp>
      <p:sp>
        <p:nvSpPr>
          <p:cNvPr id="7" name="Text 3"/>
          <p:cNvSpPr txBox="1"/>
          <p:nvPr/>
        </p:nvSpPr>
        <p:spPr>
          <a:xfrm>
            <a:off x="8503920" y="1990344"/>
            <a:ext cx="3108960" cy="640080"/>
          </a:xfrm>
          <a:prstGeom prst="rect">
            <a:avLst/>
          </a:prstGeom>
          <a:noFill/>
          <a:ln/>
        </p:spPr>
        <p:txBody>
          <a:bodyPr wrap="square" lIns="0" tIns="0" rIns="0" bIns="0" rtlCol="0" anchor="t"/>
          <a:lstStyle/>
          <a:p>
            <a:pPr marL="0" indent="0">
              <a:buNone/>
            </a:pPr>
            <a:r>
              <a:rPr lang="en-US" sz="1400" dirty="0">
                <a:solidFill>
                  <a:schemeClr val="accent6"/>
                </a:solidFill>
              </a:rPr>
              <a:t>in 129 s: all three row gaps, no falls</a:t>
            </a:r>
            <a:endParaRPr lang="en-US" sz="1400" dirty="0"/>
          </a:p>
        </p:txBody>
      </p:sp>
      <p:sp>
        <p:nvSpPr>
          <p:cNvPr id="8" name="Text 4"/>
          <p:cNvSpPr txBox="1"/>
          <p:nvPr/>
        </p:nvSpPr>
        <p:spPr>
          <a:xfrm>
            <a:off x="8503920" y="2514600"/>
            <a:ext cx="3108960" cy="609600"/>
          </a:xfrm>
          <a:prstGeom prst="rect">
            <a:avLst/>
          </a:prstGeom>
          <a:noFill/>
          <a:ln/>
        </p:spPr>
        <p:txBody>
          <a:bodyPr wrap="square" lIns="0" tIns="0" rIns="0" bIns="0" rtlCol="0" anchor="b"/>
          <a:lstStyle/>
          <a:p>
            <a:pPr marL="0" indent="0">
              <a:buNone/>
            </a:pPr>
            <a:r>
              <a:rPr lang="en-US" sz="4000" b="1" dirty="0">
                <a:solidFill>
                  <a:schemeClr val="accent1"/>
                </a:solidFill>
                <a:latin typeface="Cambria" pitchFamily="34" charset="0"/>
                <a:ea typeface="Cambria" pitchFamily="34" charset="-122"/>
                <a:cs typeface="Cambria" pitchFamily="34" charset="-120"/>
              </a:rPr>
              <a:t>3 / 3</a:t>
            </a:r>
            <a:endParaRPr lang="en-US" sz="4000" dirty="0"/>
          </a:p>
        </p:txBody>
      </p:sp>
      <p:sp>
        <p:nvSpPr>
          <p:cNvPr id="9" name="Text 5"/>
          <p:cNvSpPr txBox="1"/>
          <p:nvPr/>
        </p:nvSpPr>
        <p:spPr>
          <a:xfrm>
            <a:off x="8503920" y="3179064"/>
            <a:ext cx="3108960" cy="640080"/>
          </a:xfrm>
          <a:prstGeom prst="rect">
            <a:avLst/>
          </a:prstGeom>
          <a:noFill/>
          <a:ln/>
        </p:spPr>
        <p:txBody>
          <a:bodyPr wrap="square" lIns="0" tIns="0" rIns="0" bIns="0" rtlCol="0" anchor="t"/>
          <a:lstStyle/>
          <a:p>
            <a:pPr marL="0" indent="0">
              <a:buNone/>
            </a:pPr>
            <a:r>
              <a:rPr lang="en-US" sz="1400" dirty="0">
                <a:solidFill>
                  <a:schemeClr val="accent6"/>
                </a:solidFill>
              </a:rPr>
              <a:t>row ends detected by the ultrasonic sensor</a:t>
            </a:r>
            <a:endParaRPr lang="en-US" sz="1400" dirty="0"/>
          </a:p>
        </p:txBody>
      </p:sp>
      <p:sp>
        <p:nvSpPr>
          <p:cNvPr id="10" name="Text 6"/>
          <p:cNvSpPr txBox="1"/>
          <p:nvPr/>
        </p:nvSpPr>
        <p:spPr>
          <a:xfrm>
            <a:off x="8503920" y="3703320"/>
            <a:ext cx="3108960" cy="609600"/>
          </a:xfrm>
          <a:prstGeom prst="rect">
            <a:avLst/>
          </a:prstGeom>
          <a:noFill/>
          <a:ln/>
        </p:spPr>
        <p:txBody>
          <a:bodyPr wrap="square" lIns="0" tIns="0" rIns="0" bIns="0" rtlCol="0" anchor="b"/>
          <a:lstStyle/>
          <a:p>
            <a:pPr marL="0" indent="0">
              <a:buNone/>
            </a:pPr>
            <a:r>
              <a:rPr lang="en-US" sz="4000" b="1" dirty="0">
                <a:solidFill>
                  <a:schemeClr val="accent5"/>
                </a:solidFill>
                <a:latin typeface="Cambria" pitchFamily="34" charset="0"/>
                <a:ea typeface="Cambria" pitchFamily="34" charset="-122"/>
                <a:cs typeface="Cambria" pitchFamily="34" charset="-120"/>
              </a:rPr>
              <a:t>≤ 2.7°</a:t>
            </a:r>
            <a:endParaRPr lang="en-US" sz="4000" dirty="0"/>
          </a:p>
        </p:txBody>
      </p:sp>
      <p:sp>
        <p:nvSpPr>
          <p:cNvPr id="11" name="Text 7"/>
          <p:cNvSpPr txBox="1"/>
          <p:nvPr/>
        </p:nvSpPr>
        <p:spPr>
          <a:xfrm>
            <a:off x="8503920" y="4367784"/>
            <a:ext cx="3108960" cy="640080"/>
          </a:xfrm>
          <a:prstGeom prst="rect">
            <a:avLst/>
          </a:prstGeom>
          <a:noFill/>
          <a:ln/>
        </p:spPr>
        <p:txBody>
          <a:bodyPr wrap="square" lIns="0" tIns="0" rIns="0" bIns="0" rtlCol="0" anchor="t"/>
          <a:lstStyle/>
          <a:p>
            <a:pPr marL="0" indent="0">
              <a:buNone/>
            </a:pPr>
            <a:r>
              <a:rPr lang="en-US" sz="1400" dirty="0">
                <a:solidFill>
                  <a:schemeClr val="accent6"/>
                </a:solidFill>
              </a:rPr>
              <a:t>body tilt; a servo at its limit 1.3 % of the time</a:t>
            </a:r>
            <a:endParaRPr lang="en-US" sz="1400" dirty="0"/>
          </a:p>
        </p:txBody>
      </p:sp>
      <p:sp>
        <p:nvSpPr>
          <p:cNvPr id="12" name="Text 8"/>
          <p:cNvSpPr txBox="1"/>
          <p:nvPr/>
        </p:nvSpPr>
        <p:spPr>
          <a:xfrm>
            <a:off x="8503920" y="4892040"/>
            <a:ext cx="3108960" cy="609600"/>
          </a:xfrm>
          <a:prstGeom prst="rect">
            <a:avLst/>
          </a:prstGeom>
          <a:noFill/>
          <a:ln/>
        </p:spPr>
        <p:txBody>
          <a:bodyPr wrap="square" lIns="0" tIns="0" rIns="0" bIns="0" rtlCol="0" anchor="b"/>
          <a:lstStyle/>
          <a:p>
            <a:pPr marL="0" indent="0">
              <a:buNone/>
            </a:pPr>
            <a:r>
              <a:rPr lang="en-US" sz="4000" b="1" dirty="0">
                <a:solidFill>
                  <a:schemeClr val="accent4"/>
                </a:solidFill>
                <a:latin typeface="Cambria" pitchFamily="34" charset="0"/>
                <a:ea typeface="Cambria" pitchFamily="34" charset="-122"/>
                <a:cs typeface="Cambria" pitchFamily="34" charset="-120"/>
              </a:rPr>
              <a:t>535 ppb</a:t>
            </a:r>
            <a:endParaRPr lang="en-US" sz="4000" dirty="0"/>
          </a:p>
        </p:txBody>
      </p:sp>
      <p:sp>
        <p:nvSpPr>
          <p:cNvPr id="13" name="Text 9"/>
          <p:cNvSpPr txBox="1"/>
          <p:nvPr/>
        </p:nvSpPr>
        <p:spPr>
          <a:xfrm>
            <a:off x="8503920" y="5556504"/>
            <a:ext cx="3108960" cy="640080"/>
          </a:xfrm>
          <a:prstGeom prst="rect">
            <a:avLst/>
          </a:prstGeom>
          <a:noFill/>
          <a:ln/>
        </p:spPr>
        <p:txBody>
          <a:bodyPr wrap="square" lIns="0" tIns="0" rIns="0" bIns="0" rtlCol="0" anchor="t"/>
          <a:lstStyle/>
          <a:p>
            <a:pPr marL="0" indent="0">
              <a:buNone/>
            </a:pPr>
            <a:r>
              <a:rPr lang="en-US" sz="1400" dirty="0">
                <a:solidFill>
                  <a:schemeClr val="accent6"/>
                </a:solidFill>
              </a:rPr>
              <a:t>TVOC peak, 0.2 m from the source (sensor lag)</a:t>
            </a:r>
            <a:endParaRPr lang="en-US" sz="14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Gait Stability and the Servo Speed Limit</a:t>
            </a:r>
            <a:endParaRPr lang="en-US" sz="3000" dirty="0"/>
          </a:p>
        </p:txBody>
      </p:sp>
      <p:graphicFrame>
        <p:nvGraphicFramePr>
          <p:cNvPr id="4" name="speed-chart"/>
          <p:cNvGraphicFramePr/>
          <p:nvPr/>
        </p:nvGraphicFramePr>
        <p:xfrm>
          <a:off x="548640" y="1280160"/>
          <a:ext cx="4206240" cy="35661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saturation-chart"/>
          <p:cNvGraphicFramePr/>
          <p:nvPr/>
        </p:nvGraphicFramePr>
        <p:xfrm>
          <a:off x="4892040" y="1280160"/>
          <a:ext cx="4206240"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6" name="panel-238"/>
          <p:cNvSpPr/>
          <p:nvPr/>
        </p:nvSpPr>
        <p:spPr>
          <a:xfrm>
            <a:off x="9326880" y="1280160"/>
            <a:ext cx="2286000" cy="3566160"/>
          </a:xfrm>
          <a:prstGeom prst="roundRect">
            <a:avLst>
              <a:gd name="adj" fmla="val 4000"/>
            </a:avLst>
          </a:prstGeom>
          <a:solidFill>
            <a:schemeClr val="tx2"/>
          </a:solidFill>
          <a:ln w="12700">
            <a:solidFill>
              <a:schemeClr val="tx2"/>
            </a:solidFill>
            <a:prstDash val="solid"/>
          </a:ln>
        </p:spPr>
      </p:sp>
      <p:sp>
        <p:nvSpPr>
          <p:cNvPr id="7" name="Text 2"/>
          <p:cNvSpPr txBox="1"/>
          <p:nvPr/>
        </p:nvSpPr>
        <p:spPr>
          <a:xfrm>
            <a:off x="9509760" y="1463040"/>
            <a:ext cx="1965960" cy="3200400"/>
          </a:xfrm>
          <a:prstGeom prst="rect">
            <a:avLst/>
          </a:prstGeom>
          <a:noFill/>
          <a:ln/>
        </p:spPr>
        <p:txBody>
          <a:bodyPr wrap="square" lIns="0" tIns="0" rIns="0" bIns="0" rtlCol="0" anchor="t"/>
          <a:lstStyle/>
          <a:p>
            <a:pPr marL="0" indent="0">
              <a:buNone/>
            </a:pPr>
            <a:r>
              <a:rPr lang="en-US" sz="3000" b="1" dirty="0">
                <a:solidFill>
                  <a:schemeClr val="accent2"/>
                </a:solidFill>
              </a:rPr>
              <a:t>0.18 m/s</a:t>
            </a:r>
            <a:endParaRPr lang="en-US" sz="1600" dirty="0"/>
          </a:p>
          <a:p>
            <a:pPr marL="0" indent="0">
              <a:buNone/>
            </a:pPr>
            <a:r>
              <a:rPr lang="en-US" sz="1450" dirty="0">
                <a:solidFill>
                  <a:schemeClr val="bg1"/>
                </a:solidFill>
              </a:rPr>
              <a:t>usable ceiling with MG996R servos; tracks the command within 7 % from 0.08 m/s up</a:t>
            </a:r>
            <a:endParaRPr lang="en-US" sz="1600" dirty="0"/>
          </a:p>
        </p:txBody>
      </p:sp>
      <p:sp>
        <p:nvSpPr>
          <p:cNvPr id="8" name="panel-239"/>
          <p:cNvSpPr/>
          <p:nvPr/>
        </p:nvSpPr>
        <p:spPr>
          <a:xfrm>
            <a:off x="548640" y="5074920"/>
            <a:ext cx="11064240" cy="1097280"/>
          </a:xfrm>
          <a:prstGeom prst="roundRect">
            <a:avLst>
              <a:gd name="adj" fmla="val 8333"/>
            </a:avLst>
          </a:prstGeom>
          <a:solidFill>
            <a:schemeClr val="bg2"/>
          </a:solidFill>
          <a:ln w="12700">
            <a:solidFill>
              <a:schemeClr val="bg2"/>
            </a:solidFill>
            <a:prstDash val="solid"/>
          </a:ln>
        </p:spPr>
      </p:sp>
      <p:sp>
        <p:nvSpPr>
          <p:cNvPr id="9" name="Text 4"/>
          <p:cNvSpPr txBox="1"/>
          <p:nvPr/>
        </p:nvSpPr>
        <p:spPr>
          <a:xfrm>
            <a:off x="777240" y="5074920"/>
            <a:ext cx="10607040" cy="1097280"/>
          </a:xfrm>
          <a:prstGeom prst="rect">
            <a:avLst/>
          </a:prstGeom>
          <a:noFill/>
          <a:ln/>
        </p:spPr>
        <p:txBody>
          <a:bodyPr wrap="square" lIns="0" tIns="0" rIns="0" bIns="0" rtlCol="0" anchor="ctr"/>
          <a:lstStyle/>
          <a:p>
            <a:pPr marL="0" indent="0">
              <a:buNone/>
            </a:pPr>
            <a:r>
              <a:rPr lang="en-US" sz="1550" b="1" dirty="0">
                <a:solidFill>
                  <a:schemeClr val="tx2"/>
                </a:solidFill>
              </a:rPr>
              <a:t>Centre of mass 12 mm aft  </a:t>
            </a:r>
            <a:r>
              <a:rPr lang="en-US" sz="1550" dirty="0">
                <a:solidFill>
                  <a:schemeClr val="tx1"/>
                </a:solidFill>
              </a:rPr>
              <a:t>With footholds centred on the body, all 24 gait settings fell within 0.8–3.0 s. Centred on the measured centre of mass, the trot held tilt below 0.7°.</a:t>
            </a:r>
            <a:endParaRPr lang="en-US" sz="155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Outcome Against Review III Expectations</a:t>
            </a:r>
            <a:endParaRPr lang="en-US" sz="3000" dirty="0"/>
          </a:p>
        </p:txBody>
      </p:sp>
      <p:graphicFrame>
        <p:nvGraphicFramePr>
          <p:cNvPr id="34" name="table-24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343400"/>
        </p:xfrm>
        <a:graphic>
          <a:graphicData uri="http://schemas.openxmlformats.org/drawingml/2006/table">
            <a:tbl>
              <a:tblPr/>
              <a:tblGrid>
                <a:gridCol w="32918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457200">
                <a:tc>
                  <a:txBody>
                    <a:bodyPr/>
                    <a:lstStyle/>
                    <a:p>
                      <a:pPr marL="0" indent="0">
                        <a:buNone/>
                      </a:pPr>
                      <a:r>
                        <a:rPr lang="en-US" sz="1500" b="1" dirty="0">
                          <a:solidFill>
                            <a:schemeClr val="bg1"/>
                          </a:solidFill>
                        </a:rPr>
                        <a:t>Review III expectation</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Outcome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Interpretation</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77240">
                <a:tc>
                  <a:txBody>
                    <a:bodyPr/>
                    <a:lstStyle/>
                    <a:p>
                      <a:pPr marL="0" indent="0">
                        <a:buNone/>
                      </a:pPr>
                      <a:r>
                        <a:rPr lang="en-US" sz="1500" dirty="0">
                          <a:solidFill>
                            <a:schemeClr val="tx1"/>
                          </a:solidFill>
                        </a:rPr>
                        <a:t>Onboard inference on a Jetson</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Inference on a laptop over Wi-Fi</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Cheaper and safer; depends on the network link</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777240">
                <a:tc>
                  <a:txBody>
                    <a:bodyPr/>
                    <a:lstStyle/>
                    <a:p>
                      <a:pPr marL="0" indent="0">
                        <a:buNone/>
                      </a:pPr>
                      <a:r>
                        <a:rPr lang="en-US" sz="1500" dirty="0">
                          <a:solidFill>
                            <a:schemeClr val="tx1"/>
                          </a:solidFill>
                        </a:rPr>
                        <a:t>Above 90 % disease accuracy (literature figure)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Functional demonstration; field accuracy not measured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Lab-trained models are expected to drop on field images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77240">
                <a:tc>
                  <a:txBody>
                    <a:bodyPr/>
                    <a:lstStyle/>
                    <a:p>
                      <a:pPr marL="0" indent="0">
                        <a:buNone/>
                      </a:pPr>
                      <a:r>
                        <a:rPr lang="en-US" sz="1500" dirty="0">
                          <a:solidFill>
                            <a:schemeClr val="tx1"/>
                          </a:solidFill>
                        </a:rPr>
                        <a:t>Static torque margin is thin</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Confirmed in simulation (0.18 m/s ceiling) and on hardware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Analysis, simulation and robot agree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777240">
                <a:tc>
                  <a:txBody>
                    <a:bodyPr/>
                    <a:lstStyle/>
                    <a:p>
                      <a:pPr marL="0" indent="0">
                        <a:buNone/>
                      </a:pPr>
                      <a:r>
                        <a:rPr lang="en-US" sz="1500" dirty="0">
                          <a:solidFill>
                            <a:schemeClr val="tx1"/>
                          </a:solidFill>
                        </a:rPr>
                        <a:t>Walking robot with sensing</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Robot stands and moves its legs; walking shown in simulation</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Hardware walking is the next phase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777240">
                <a:tc>
                  <a:txBody>
                    <a:bodyPr/>
                    <a:lstStyle/>
                    <a:p>
                      <a:pPr marL="0" indent="0">
                        <a:buNone/>
                      </a:pPr>
                      <a:r>
                        <a:rPr lang="en-US" sz="1500" dirty="0">
                          <a:solidFill>
                            <a:schemeClr val="tx1"/>
                          </a:solidFill>
                        </a:rPr>
                        <a:t>Environmental sensing payload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Gas, dust, temperature live; ultrasonic firmware ready</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Sensing payload essentially complete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417320"/>
            <a:ext cx="3657600" cy="1371600"/>
          </a:xfrm>
          <a:prstGeom prst="rect">
            <a:avLst/>
          </a:prstGeom>
          <a:noFill/>
          <a:ln/>
        </p:spPr>
        <p:txBody>
          <a:bodyPr wrap="square" lIns="0" tIns="0" rIns="0" bIns="0" rtlCol="0" anchor="b"/>
          <a:lstStyle/>
          <a:p>
            <a:pPr marL="0" indent="0" algn="l">
              <a:buNone/>
            </a:pPr>
            <a:r>
              <a:rPr lang="en-US" sz="8800" b="1" dirty="0">
                <a:solidFill>
                  <a:schemeClr val="accent2"/>
                </a:solidFill>
                <a:latin typeface="Cambria" pitchFamily="34" charset="0"/>
                <a:ea typeface="Cambria" pitchFamily="34" charset="-122"/>
                <a:cs typeface="Cambria" pitchFamily="34" charset="-120"/>
              </a:rPr>
              <a:t>05</a:t>
            </a:r>
            <a:endParaRPr lang="en-US" sz="8800" dirty="0"/>
          </a:p>
        </p:txBody>
      </p:sp>
      <p:sp>
        <p:nvSpPr>
          <p:cNvPr id="3" name="Text 0"/>
          <p:cNvSpPr>
            <a:spLocks noGrp="1"/>
          </p:cNvSpPr>
          <p:nvPr>
            <p:ph type="title" idx="101" hasCustomPrompt="1"/>
          </p:nvPr>
        </p:nvSpPr>
        <p:spPr>
          <a:xfrm>
            <a:off x="731520" y="2834640"/>
            <a:ext cx="7863840" cy="1097280"/>
          </a:xfrm>
          <a:prstGeom prst="rect">
            <a:avLst/>
          </a:prstGeom>
          <a:noFill/>
          <a:ln/>
        </p:spPr>
        <p:txBody>
          <a:bodyPr wrap="square" lIns="0" tIns="0" rIns="0" bIns="0" rtlCol="0" anchor="t"/>
          <a:lstStyle/>
          <a:p>
            <a:pPr marL="0" indent="0" algn="l">
              <a:buNone/>
            </a:pPr>
            <a:r>
              <a:rPr lang="en-US" sz="4400" b="1" dirty="0">
                <a:solidFill>
                  <a:schemeClr val="bg1"/>
                </a:solidFill>
              </a:rPr>
              <a:t>Innovation and Relevance</a:t>
            </a:r>
            <a:endParaRPr lang="en-US" sz="4400" dirty="0"/>
          </a:p>
        </p:txBody>
      </p:sp>
      <p:sp>
        <p:nvSpPr>
          <p:cNvPr id="4" name="Text 0"/>
          <p:cNvSpPr>
            <a:spLocks noGrp="1"/>
          </p:cNvSpPr>
          <p:nvPr>
            <p:ph type="body" idx="102" hasCustomPrompt="1"/>
          </p:nvPr>
        </p:nvSpPr>
        <p:spPr>
          <a:xfrm>
            <a:off x="731520" y="4069080"/>
            <a:ext cx="7680960" cy="1280160"/>
          </a:xfrm>
          <a:prstGeom prst="rect">
            <a:avLst/>
          </a:prstGeom>
          <a:noFill/>
          <a:ln/>
        </p:spPr>
        <p:txBody>
          <a:bodyPr wrap="square" lIns="0" tIns="0" rIns="0" bIns="0" rtlCol="0" anchor="t"/>
          <a:lstStyle/>
          <a:p>
            <a:pPr marL="0" indent="0" algn="l">
              <a:buNone/>
            </a:pPr>
            <a:r>
              <a:rPr lang="en-US" sz="1800" dirty="0">
                <a:solidFill>
                  <a:schemeClr val="bg2"/>
                </a:solidFill>
              </a:rPr>
              <a:t>What is new, whether it is feasible and affordable, how it is used responsibly, and where it goes next</a:t>
            </a:r>
            <a:endParaRPr lang="en-US" sz="1800" dirty="0"/>
          </a:p>
        </p:txBody>
      </p:sp>
      <p:pic>
        <p:nvPicPr>
          <p:cNvPr id="5" name="divider-icon-241" descr="preencoded.png"/>
          <p:cNvPicPr>
            <a:picLocks noChangeAspect="1"/>
          </p:cNvPicPr>
          <p:nvPr/>
        </p:nvPicPr>
        <p:blipFill>
          <a:blip r:embed="rId3">
            <a:alphaModFix amt="30000"/>
          </a:blip>
          <a:stretch>
            <a:fillRect/>
          </a:stretch>
        </p:blipFill>
        <p:spPr>
          <a:xfrm>
            <a:off x="8549640" y="1554480"/>
            <a:ext cx="3017520" cy="30175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Contributions</a:t>
            </a:r>
            <a:endParaRPr lang="en-US" sz="3000" dirty="0"/>
          </a:p>
        </p:txBody>
      </p:sp>
      <p:sp>
        <p:nvSpPr>
          <p:cNvPr id="4" name="panel-242"/>
          <p:cNvSpPr/>
          <p:nvPr/>
        </p:nvSpPr>
        <p:spPr>
          <a:xfrm>
            <a:off x="548640" y="1325880"/>
            <a:ext cx="5440680" cy="2286000"/>
          </a:xfrm>
          <a:prstGeom prst="roundRect">
            <a:avLst>
              <a:gd name="adj" fmla="val 4000"/>
            </a:avLst>
          </a:prstGeom>
          <a:solidFill>
            <a:schemeClr val="bg2"/>
          </a:solidFill>
          <a:ln w="12700">
            <a:solidFill>
              <a:schemeClr val="bg2"/>
            </a:solidFill>
            <a:prstDash val="solid"/>
          </a:ln>
        </p:spPr>
      </p:sp>
      <p:sp>
        <p:nvSpPr>
          <p:cNvPr id="5" name="icon-bg-243"/>
          <p:cNvSpPr/>
          <p:nvPr/>
        </p:nvSpPr>
        <p:spPr>
          <a:xfrm>
            <a:off x="777240" y="1554480"/>
            <a:ext cx="548640" cy="548640"/>
          </a:xfrm>
          <a:prstGeom prst="ellipse">
            <a:avLst/>
          </a:prstGeom>
          <a:solidFill>
            <a:schemeClr val="accent1"/>
          </a:solidFill>
          <a:ln w="12700">
            <a:solidFill>
              <a:schemeClr val="accent1"/>
            </a:solidFill>
            <a:prstDash val="solid"/>
          </a:ln>
        </p:spPr>
      </p:sp>
      <p:pic>
        <p:nvPicPr>
          <p:cNvPr id="6" name="icon-244" descr="preencoded.png"/>
          <p:cNvPicPr>
            <a:picLocks noChangeAspect="1"/>
          </p:cNvPicPr>
          <p:nvPr/>
        </p:nvPicPr>
        <p:blipFill>
          <a:blip r:embed="rId3"/>
          <a:stretch>
            <a:fillRect/>
          </a:stretch>
        </p:blipFill>
        <p:spPr>
          <a:xfrm>
            <a:off x="908914" y="1686154"/>
            <a:ext cx="285293" cy="285293"/>
          </a:xfrm>
          <a:prstGeom prst="rect">
            <a:avLst/>
          </a:prstGeom>
        </p:spPr>
      </p:pic>
      <p:sp>
        <p:nvSpPr>
          <p:cNvPr id="7" name="Text 3"/>
          <p:cNvSpPr txBox="1"/>
          <p:nvPr/>
        </p:nvSpPr>
        <p:spPr>
          <a:xfrm>
            <a:off x="1463040" y="1554480"/>
            <a:ext cx="4343400" cy="548640"/>
          </a:xfrm>
          <a:prstGeom prst="rect">
            <a:avLst/>
          </a:prstGeom>
          <a:noFill/>
          <a:ln/>
        </p:spPr>
        <p:txBody>
          <a:bodyPr wrap="square" lIns="0" tIns="0" rIns="0" bIns="0" rtlCol="0" anchor="ctr"/>
          <a:lstStyle/>
          <a:p>
            <a:pPr marL="0" indent="0">
              <a:buNone/>
            </a:pPr>
            <a:r>
              <a:rPr lang="en-US" sz="1750" b="1" dirty="0">
                <a:solidFill>
                  <a:schemeClr val="tx2"/>
                </a:solidFill>
              </a:rPr>
              <a:t>Legged platform with a crop-sensing payload</a:t>
            </a:r>
            <a:endParaRPr lang="en-US" sz="1750" dirty="0"/>
          </a:p>
        </p:txBody>
      </p:sp>
      <p:sp>
        <p:nvSpPr>
          <p:cNvPr id="8" name="Text 4"/>
          <p:cNvSpPr txBox="1"/>
          <p:nvPr/>
        </p:nvSpPr>
        <p:spPr>
          <a:xfrm>
            <a:off x="777240" y="2240280"/>
            <a:ext cx="4983480" cy="1234440"/>
          </a:xfrm>
          <a:prstGeom prst="rect">
            <a:avLst/>
          </a:prstGeom>
          <a:noFill/>
          <a:ln/>
        </p:spPr>
        <p:txBody>
          <a:bodyPr wrap="square" lIns="0" tIns="0" rIns="0" bIns="0" rtlCol="0" anchor="t"/>
          <a:lstStyle/>
          <a:p>
            <a:pPr marL="0" indent="0">
              <a:spcAft>
                <a:spcPts val="400"/>
              </a:spcAft>
              <a:buNone/>
            </a:pPr>
            <a:r>
              <a:rPr lang="en-US" sz="1600" dirty="0">
                <a:solidFill>
                  <a:schemeClr val="tx1"/>
                </a:solidFill>
              </a:rPr>
              <a:t>A printed 12-DOF quadruped carrying two Wi-Fi sensing nodes for gas, dust, temperature, range and video</a:t>
            </a:r>
            <a:endParaRPr lang="en-US" sz="1600" dirty="0"/>
          </a:p>
        </p:txBody>
      </p:sp>
      <p:sp>
        <p:nvSpPr>
          <p:cNvPr id="9" name="panel-245"/>
          <p:cNvSpPr/>
          <p:nvPr/>
        </p:nvSpPr>
        <p:spPr>
          <a:xfrm>
            <a:off x="6172200" y="1325880"/>
            <a:ext cx="5440680" cy="2286000"/>
          </a:xfrm>
          <a:prstGeom prst="roundRect">
            <a:avLst>
              <a:gd name="adj" fmla="val 4000"/>
            </a:avLst>
          </a:prstGeom>
          <a:solidFill>
            <a:schemeClr val="bg2"/>
          </a:solidFill>
          <a:ln w="12700">
            <a:solidFill>
              <a:schemeClr val="bg2"/>
            </a:solidFill>
            <a:prstDash val="solid"/>
          </a:ln>
        </p:spPr>
      </p:sp>
      <p:sp>
        <p:nvSpPr>
          <p:cNvPr id="10" name="icon-bg-246"/>
          <p:cNvSpPr/>
          <p:nvPr/>
        </p:nvSpPr>
        <p:spPr>
          <a:xfrm>
            <a:off x="6400800" y="1554480"/>
            <a:ext cx="548640" cy="548640"/>
          </a:xfrm>
          <a:prstGeom prst="ellipse">
            <a:avLst/>
          </a:prstGeom>
          <a:solidFill>
            <a:schemeClr val="accent1"/>
          </a:solidFill>
          <a:ln w="12700">
            <a:solidFill>
              <a:schemeClr val="accent1"/>
            </a:solidFill>
            <a:prstDash val="solid"/>
          </a:ln>
        </p:spPr>
      </p:sp>
      <p:pic>
        <p:nvPicPr>
          <p:cNvPr id="11" name="icon-247" descr="preencoded.png"/>
          <p:cNvPicPr>
            <a:picLocks noChangeAspect="1"/>
          </p:cNvPicPr>
          <p:nvPr/>
        </p:nvPicPr>
        <p:blipFill>
          <a:blip r:embed="rId4"/>
          <a:stretch>
            <a:fillRect/>
          </a:stretch>
        </p:blipFill>
        <p:spPr>
          <a:xfrm>
            <a:off x="6532474" y="1686154"/>
            <a:ext cx="285293" cy="285293"/>
          </a:xfrm>
          <a:prstGeom prst="rect">
            <a:avLst/>
          </a:prstGeom>
        </p:spPr>
      </p:pic>
      <p:sp>
        <p:nvSpPr>
          <p:cNvPr id="12" name="Text 7"/>
          <p:cNvSpPr txBox="1"/>
          <p:nvPr/>
        </p:nvSpPr>
        <p:spPr>
          <a:xfrm>
            <a:off x="7086600" y="1554480"/>
            <a:ext cx="4343400" cy="548640"/>
          </a:xfrm>
          <a:prstGeom prst="rect">
            <a:avLst/>
          </a:prstGeom>
          <a:noFill/>
          <a:ln/>
        </p:spPr>
        <p:txBody>
          <a:bodyPr wrap="square" lIns="0" tIns="0" rIns="0" bIns="0" rtlCol="0" anchor="ctr"/>
          <a:lstStyle/>
          <a:p>
            <a:pPr marL="0" indent="0">
              <a:buNone/>
            </a:pPr>
            <a:r>
              <a:rPr lang="en-US" sz="1750" b="1" dirty="0">
                <a:solidFill>
                  <a:schemeClr val="tx2"/>
                </a:solidFill>
              </a:rPr>
              <a:t>Vegetation gate for a closed-set classifier</a:t>
            </a:r>
            <a:endParaRPr lang="en-US" sz="1750" dirty="0"/>
          </a:p>
        </p:txBody>
      </p:sp>
      <p:sp>
        <p:nvSpPr>
          <p:cNvPr id="13" name="Text 8"/>
          <p:cNvSpPr txBox="1"/>
          <p:nvPr/>
        </p:nvSpPr>
        <p:spPr>
          <a:xfrm>
            <a:off x="6400800" y="2240280"/>
            <a:ext cx="4983480" cy="1234440"/>
          </a:xfrm>
          <a:prstGeom prst="rect">
            <a:avLst/>
          </a:prstGeom>
          <a:noFill/>
          <a:ln/>
        </p:spPr>
        <p:txBody>
          <a:bodyPr wrap="square" lIns="0" tIns="0" rIns="0" bIns="0" rtlCol="0" anchor="t"/>
          <a:lstStyle/>
          <a:p>
            <a:pPr marL="0" indent="0">
              <a:spcAft>
                <a:spcPts val="400"/>
              </a:spcAft>
              <a:buNone/>
            </a:pPr>
            <a:r>
              <a:rPr lang="en-US" sz="1600" dirty="0">
                <a:solidFill>
                  <a:schemeClr val="tx1"/>
                </a:solidFill>
              </a:rPr>
              <a:t>A simple, explainable leaf check that stops confident disease reports for frames without a plant</a:t>
            </a:r>
            <a:endParaRPr lang="en-US" sz="1600" dirty="0"/>
          </a:p>
        </p:txBody>
      </p:sp>
      <p:sp>
        <p:nvSpPr>
          <p:cNvPr id="14" name="panel-248"/>
          <p:cNvSpPr/>
          <p:nvPr/>
        </p:nvSpPr>
        <p:spPr>
          <a:xfrm>
            <a:off x="548640" y="3794760"/>
            <a:ext cx="5440680" cy="2286000"/>
          </a:xfrm>
          <a:prstGeom prst="roundRect">
            <a:avLst>
              <a:gd name="adj" fmla="val 4000"/>
            </a:avLst>
          </a:prstGeom>
          <a:solidFill>
            <a:schemeClr val="bg2"/>
          </a:solidFill>
          <a:ln w="12700">
            <a:solidFill>
              <a:schemeClr val="bg2"/>
            </a:solidFill>
            <a:prstDash val="solid"/>
          </a:ln>
        </p:spPr>
      </p:sp>
      <p:sp>
        <p:nvSpPr>
          <p:cNvPr id="15" name="icon-bg-249"/>
          <p:cNvSpPr/>
          <p:nvPr/>
        </p:nvSpPr>
        <p:spPr>
          <a:xfrm>
            <a:off x="777240" y="4023360"/>
            <a:ext cx="548640" cy="548640"/>
          </a:xfrm>
          <a:prstGeom prst="ellipse">
            <a:avLst/>
          </a:prstGeom>
          <a:solidFill>
            <a:schemeClr val="accent1"/>
          </a:solidFill>
          <a:ln w="12700">
            <a:solidFill>
              <a:schemeClr val="accent1"/>
            </a:solidFill>
            <a:prstDash val="solid"/>
          </a:ln>
        </p:spPr>
      </p:sp>
      <p:pic>
        <p:nvPicPr>
          <p:cNvPr id="16" name="icon-250" descr="preencoded.png"/>
          <p:cNvPicPr>
            <a:picLocks noChangeAspect="1"/>
          </p:cNvPicPr>
          <p:nvPr/>
        </p:nvPicPr>
        <p:blipFill>
          <a:blip r:embed="rId5"/>
          <a:stretch>
            <a:fillRect/>
          </a:stretch>
        </p:blipFill>
        <p:spPr>
          <a:xfrm>
            <a:off x="908914" y="4155034"/>
            <a:ext cx="285293" cy="285293"/>
          </a:xfrm>
          <a:prstGeom prst="rect">
            <a:avLst/>
          </a:prstGeom>
        </p:spPr>
      </p:pic>
      <p:sp>
        <p:nvSpPr>
          <p:cNvPr id="17" name="Text 11"/>
          <p:cNvSpPr txBox="1"/>
          <p:nvPr/>
        </p:nvSpPr>
        <p:spPr>
          <a:xfrm>
            <a:off x="1463040" y="4023360"/>
            <a:ext cx="4343400" cy="548640"/>
          </a:xfrm>
          <a:prstGeom prst="rect">
            <a:avLst/>
          </a:prstGeom>
          <a:noFill/>
          <a:ln/>
        </p:spPr>
        <p:txBody>
          <a:bodyPr wrap="square" lIns="0" tIns="0" rIns="0" bIns="0" rtlCol="0" anchor="ctr"/>
          <a:lstStyle/>
          <a:p>
            <a:pPr marL="0" indent="0">
              <a:buNone/>
            </a:pPr>
            <a:r>
              <a:rPr lang="en-US" sz="1750" b="1" dirty="0">
                <a:solidFill>
                  <a:schemeClr val="tx2"/>
                </a:solidFill>
              </a:rPr>
              <a:t>Locomotion validated with real servo limits</a:t>
            </a:r>
            <a:endParaRPr lang="en-US" sz="1750" dirty="0"/>
          </a:p>
        </p:txBody>
      </p:sp>
      <p:sp>
        <p:nvSpPr>
          <p:cNvPr id="18" name="Text 12"/>
          <p:cNvSpPr txBox="1"/>
          <p:nvPr/>
        </p:nvSpPr>
        <p:spPr>
          <a:xfrm>
            <a:off x="777240" y="4709160"/>
            <a:ext cx="4983480" cy="1234440"/>
          </a:xfrm>
          <a:prstGeom prst="rect">
            <a:avLst/>
          </a:prstGeom>
          <a:noFill/>
          <a:ln/>
        </p:spPr>
        <p:txBody>
          <a:bodyPr wrap="square" lIns="0" tIns="0" rIns="0" bIns="0" rtlCol="0" anchor="t"/>
          <a:lstStyle/>
          <a:p>
            <a:pPr marL="0" indent="0">
              <a:spcAft>
                <a:spcPts val="400"/>
              </a:spcAft>
              <a:buNone/>
            </a:pPr>
            <a:r>
              <a:rPr lang="en-US" sz="1600" dirty="0">
                <a:solidFill>
                  <a:schemeClr val="tx1"/>
                </a:solidFill>
              </a:rPr>
              <a:t>A MuJoCo model from measured geometry, torque capped at MG996R stall, completing an autonomous row survey</a:t>
            </a:r>
            <a:endParaRPr lang="en-US" sz="1600" dirty="0"/>
          </a:p>
        </p:txBody>
      </p:sp>
      <p:sp>
        <p:nvSpPr>
          <p:cNvPr id="19" name="panel-251"/>
          <p:cNvSpPr/>
          <p:nvPr/>
        </p:nvSpPr>
        <p:spPr>
          <a:xfrm>
            <a:off x="6172200" y="3794760"/>
            <a:ext cx="5440680" cy="2286000"/>
          </a:xfrm>
          <a:prstGeom prst="roundRect">
            <a:avLst>
              <a:gd name="adj" fmla="val 4000"/>
            </a:avLst>
          </a:prstGeom>
          <a:solidFill>
            <a:schemeClr val="bg2"/>
          </a:solidFill>
          <a:ln w="12700">
            <a:solidFill>
              <a:schemeClr val="bg2"/>
            </a:solidFill>
            <a:prstDash val="solid"/>
          </a:ln>
        </p:spPr>
      </p:sp>
      <p:sp>
        <p:nvSpPr>
          <p:cNvPr id="20" name="icon-bg-252"/>
          <p:cNvSpPr/>
          <p:nvPr/>
        </p:nvSpPr>
        <p:spPr>
          <a:xfrm>
            <a:off x="6400800" y="4023360"/>
            <a:ext cx="548640" cy="548640"/>
          </a:xfrm>
          <a:prstGeom prst="ellipse">
            <a:avLst/>
          </a:prstGeom>
          <a:solidFill>
            <a:schemeClr val="accent1"/>
          </a:solidFill>
          <a:ln w="12700">
            <a:solidFill>
              <a:schemeClr val="accent1"/>
            </a:solidFill>
            <a:prstDash val="solid"/>
          </a:ln>
        </p:spPr>
      </p:sp>
      <p:pic>
        <p:nvPicPr>
          <p:cNvPr id="21" name="icon-253" descr="preencoded.png"/>
          <p:cNvPicPr>
            <a:picLocks noChangeAspect="1"/>
          </p:cNvPicPr>
          <p:nvPr/>
        </p:nvPicPr>
        <p:blipFill>
          <a:blip r:embed="rId6"/>
          <a:stretch>
            <a:fillRect/>
          </a:stretch>
        </p:blipFill>
        <p:spPr>
          <a:xfrm>
            <a:off x="6532474" y="4155034"/>
            <a:ext cx="285293" cy="285293"/>
          </a:xfrm>
          <a:prstGeom prst="rect">
            <a:avLst/>
          </a:prstGeom>
        </p:spPr>
      </p:pic>
      <p:sp>
        <p:nvSpPr>
          <p:cNvPr id="22" name="Text 15"/>
          <p:cNvSpPr txBox="1"/>
          <p:nvPr/>
        </p:nvSpPr>
        <p:spPr>
          <a:xfrm>
            <a:off x="7086600" y="4023360"/>
            <a:ext cx="4343400" cy="548640"/>
          </a:xfrm>
          <a:prstGeom prst="rect">
            <a:avLst/>
          </a:prstGeom>
          <a:noFill/>
          <a:ln/>
        </p:spPr>
        <p:txBody>
          <a:bodyPr wrap="square" lIns="0" tIns="0" rIns="0" bIns="0" rtlCol="0" anchor="ctr"/>
          <a:lstStyle/>
          <a:p>
            <a:pPr marL="0" indent="0">
              <a:buNone/>
            </a:pPr>
            <a:r>
              <a:rPr lang="en-US" sz="1750" b="1" dirty="0">
                <a:solidFill>
                  <a:schemeClr val="tx2"/>
                </a:solidFill>
              </a:rPr>
              <a:t>Design rules for printed quadrupeds</a:t>
            </a:r>
            <a:endParaRPr lang="en-US" sz="1750" dirty="0"/>
          </a:p>
        </p:txBody>
      </p:sp>
      <p:sp>
        <p:nvSpPr>
          <p:cNvPr id="23" name="Text 16"/>
          <p:cNvSpPr txBox="1"/>
          <p:nvPr/>
        </p:nvSpPr>
        <p:spPr>
          <a:xfrm>
            <a:off x="6400800" y="4709160"/>
            <a:ext cx="4983480" cy="1234440"/>
          </a:xfrm>
          <a:prstGeom prst="rect">
            <a:avLst/>
          </a:prstGeom>
          <a:noFill/>
          <a:ln/>
        </p:spPr>
        <p:txBody>
          <a:bodyPr wrap="square" lIns="0" tIns="0" rIns="0" bIns="0" rtlCol="0" anchor="t"/>
          <a:lstStyle/>
          <a:p>
            <a:pPr marL="0" indent="0">
              <a:spcAft>
                <a:spcPts val="400"/>
              </a:spcAft>
              <a:buNone/>
            </a:pPr>
            <a:r>
              <a:rPr lang="en-US" sz="1600" dirty="0">
                <a:solidFill>
                  <a:schemeClr val="tx1"/>
                </a:solidFill>
              </a:rPr>
              <a:t>Centre footholds on the measured centre of mass (12 mm aft); expect about 0.18 m/s from MG996R servos</a:t>
            </a:r>
            <a:endParaRPr lang="en-US" sz="16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Cost and Feasibility</a:t>
            </a:r>
            <a:endParaRPr lang="en-US" sz="3000" dirty="0"/>
          </a:p>
        </p:txBody>
      </p:sp>
      <p:graphicFrame>
        <p:nvGraphicFramePr>
          <p:cNvPr id="4" name="cost-chart"/>
          <p:cNvGraphicFramePr/>
          <p:nvPr/>
        </p:nvGraphicFramePr>
        <p:xfrm>
          <a:off x="548640" y="1280160"/>
          <a:ext cx="658368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5" name="panel-254"/>
          <p:cNvSpPr/>
          <p:nvPr/>
        </p:nvSpPr>
        <p:spPr>
          <a:xfrm>
            <a:off x="7406640" y="1280160"/>
            <a:ext cx="4206240" cy="1874520"/>
          </a:xfrm>
          <a:prstGeom prst="roundRect">
            <a:avLst>
              <a:gd name="adj" fmla="val 4878"/>
            </a:avLst>
          </a:prstGeom>
          <a:solidFill>
            <a:schemeClr val="tx2"/>
          </a:solidFill>
          <a:ln w="12700">
            <a:solidFill>
              <a:schemeClr val="tx2"/>
            </a:solidFill>
            <a:prstDash val="solid"/>
          </a:ln>
        </p:spPr>
      </p:sp>
      <p:sp>
        <p:nvSpPr>
          <p:cNvPr id="6" name="Text 2"/>
          <p:cNvSpPr txBox="1"/>
          <p:nvPr/>
        </p:nvSpPr>
        <p:spPr>
          <a:xfrm>
            <a:off x="7635240" y="1417320"/>
            <a:ext cx="3840480" cy="1645920"/>
          </a:xfrm>
          <a:prstGeom prst="rect">
            <a:avLst/>
          </a:prstGeom>
          <a:noFill/>
          <a:ln/>
        </p:spPr>
        <p:txBody>
          <a:bodyPr wrap="square" lIns="0" tIns="0" rIns="0" bIns="0" rtlCol="0" anchor="t"/>
          <a:lstStyle/>
          <a:p>
            <a:pPr marL="0" indent="0">
              <a:buNone/>
            </a:pPr>
            <a:r>
              <a:rPr lang="en-US" sz="4000" b="1" dirty="0">
                <a:solidFill>
                  <a:schemeClr val="accent2"/>
                </a:solidFill>
              </a:rPr>
              <a:t>≈ ₹10,250</a:t>
            </a:r>
            <a:endParaRPr lang="en-US" sz="1600" dirty="0"/>
          </a:p>
          <a:p>
            <a:pPr marL="0" indent="0">
              <a:buNone/>
            </a:pPr>
            <a:r>
              <a:rPr lang="en-US" sz="1500" dirty="0">
                <a:solidFill>
                  <a:schemeClr val="bg1"/>
                </a:solidFill>
              </a:rPr>
              <a:t>total purchased and listed cost of the platform</a:t>
            </a:r>
            <a:endParaRPr lang="en-US" sz="1600" dirty="0"/>
          </a:p>
        </p:txBody>
      </p:sp>
      <p:sp>
        <p:nvSpPr>
          <p:cNvPr id="7" name="Text 3"/>
          <p:cNvSpPr txBox="1"/>
          <p:nvPr/>
        </p:nvSpPr>
        <p:spPr>
          <a:xfrm>
            <a:off x="7406640" y="3383280"/>
            <a:ext cx="4206240" cy="365760"/>
          </a:xfrm>
          <a:prstGeom prst="rect">
            <a:avLst/>
          </a:prstGeom>
          <a:noFill/>
          <a:ln/>
        </p:spPr>
        <p:txBody>
          <a:bodyPr wrap="square" lIns="0" tIns="0" rIns="0" bIns="0" rtlCol="0" anchor="t"/>
          <a:lstStyle/>
          <a:p>
            <a:pPr marL="0" indent="0">
              <a:buNone/>
            </a:pPr>
            <a:r>
              <a:rPr lang="en-US" sz="1500" b="1" dirty="0">
                <a:solidFill>
                  <a:schemeClr val="tx2"/>
                </a:solidFill>
              </a:rPr>
              <a:t>Reported cost of research quadrupeds</a:t>
            </a:r>
            <a:endParaRPr lang="en-US" sz="1500" dirty="0"/>
          </a:p>
        </p:txBody>
      </p:sp>
      <p:graphicFrame>
        <p:nvGraphicFramePr>
          <p:cNvPr id="37" name="table-255"/>
          <p:cNvGraphicFramePr>
            <a:graphicFrameLocks noGrp="1"/>
          </p:cNvGraphicFramePr>
          <p:nvPr>
            <p:extLst>
              <p:ext uri="{D42A27DB-BD31-4B8C-83A1-F6EECF244321}">
                <p14:modId xmlns:p14="http://schemas.microsoft.com/office/powerpoint/2010/main" val="1579011935"/>
              </p:ext>
            </p:extLst>
          </p:nvPr>
        </p:nvGraphicFramePr>
        <p:xfrm>
          <a:off x="7406640" y="3794760"/>
          <a:ext cx="4206240" cy="1536192"/>
        </p:xfrm>
        <a:graphic>
          <a:graphicData uri="http://schemas.openxmlformats.org/drawingml/2006/table">
            <a:tbl>
              <a:tblPr/>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84048">
                <a:tc>
                  <a:txBody>
                    <a:bodyPr/>
                    <a:lstStyle/>
                    <a:p>
                      <a:pPr marL="0" indent="0">
                        <a:buNone/>
                      </a:pPr>
                      <a:r>
                        <a:rPr lang="en-US" sz="1400" b="1" dirty="0">
                          <a:solidFill>
                            <a:schemeClr val="bg1"/>
                          </a:solidFill>
                        </a:rPr>
                        <a:t>Platform</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Reported cost</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84048">
                <a:tc>
                  <a:txBody>
                    <a:bodyPr/>
                    <a:lstStyle/>
                    <a:p>
                      <a:pPr marL="0" indent="0">
                        <a:buNone/>
                      </a:pPr>
                      <a:r>
                        <a:rPr lang="en-US" sz="1400" dirty="0">
                          <a:solidFill>
                            <a:schemeClr val="tx1"/>
                          </a:solidFill>
                        </a:rPr>
                        <a:t>Stanford Doggo [2]</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&lt; US$3,000</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84048">
                <a:tc>
                  <a:txBody>
                    <a:bodyPr/>
                    <a:lstStyle/>
                    <a:p>
                      <a:pPr marL="0" indent="0">
                        <a:buNone/>
                      </a:pPr>
                      <a:r>
                        <a:rPr lang="en-US" sz="1400" dirty="0">
                          <a:solidFill>
                            <a:schemeClr val="tx1"/>
                          </a:solidFill>
                        </a:rPr>
                        <a:t>MIT Cheetah 3 [1]</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~US$50,000+</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buNone/>
                      </a:pPr>
                      <a:r>
                        <a:rPr lang="en-US" sz="1400" dirty="0">
                          <a:solidFill>
                            <a:schemeClr val="tx1"/>
                          </a:solidFill>
                        </a:rPr>
                        <a:t>ANYmal [4]</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US$100,000+</a:t>
                      </a:r>
                      <a:endParaRPr lang="en-US" sz="14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sp>
        <p:nvSpPr>
          <p:cNvPr id="9" name="Text 4"/>
          <p:cNvSpPr txBox="1"/>
          <p:nvPr/>
        </p:nvSpPr>
        <p:spPr>
          <a:xfrm>
            <a:off x="548640" y="5349240"/>
            <a:ext cx="6583680" cy="548640"/>
          </a:xfrm>
          <a:prstGeom prst="rect">
            <a:avLst/>
          </a:prstGeom>
          <a:noFill/>
          <a:ln/>
        </p:spPr>
        <p:txBody>
          <a:bodyPr wrap="square" lIns="0" tIns="0" rIns="0" bIns="0" rtlCol="0" anchor="t"/>
          <a:lstStyle/>
          <a:p>
            <a:pPr marL="0" indent="0">
              <a:buNone/>
            </a:pPr>
            <a:r>
              <a:rPr lang="en-US" sz="1300" i="1" dirty="0">
                <a:solidFill>
                  <a:schemeClr val="accent6"/>
                </a:solidFill>
              </a:rPr>
              <a:t>The XIAO, sensors, resistors and cables were already available to the team and are not costed.</a:t>
            </a:r>
            <a:endParaRPr lang="en-US" sz="13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Ethical and Responsible Use</a:t>
            </a:r>
            <a:endParaRPr lang="en-US" sz="3000" dirty="0"/>
          </a:p>
        </p:txBody>
      </p:sp>
      <p:sp>
        <p:nvSpPr>
          <p:cNvPr id="4" name="panel-256"/>
          <p:cNvSpPr/>
          <p:nvPr/>
        </p:nvSpPr>
        <p:spPr>
          <a:xfrm>
            <a:off x="548640" y="1325880"/>
            <a:ext cx="3529584" cy="2286000"/>
          </a:xfrm>
          <a:prstGeom prst="roundRect">
            <a:avLst>
              <a:gd name="adj" fmla="val 4000"/>
            </a:avLst>
          </a:prstGeom>
          <a:solidFill>
            <a:schemeClr val="bg2"/>
          </a:solidFill>
          <a:ln w="12700">
            <a:solidFill>
              <a:schemeClr val="bg2"/>
            </a:solidFill>
            <a:prstDash val="solid"/>
          </a:ln>
        </p:spPr>
      </p:sp>
      <p:sp>
        <p:nvSpPr>
          <p:cNvPr id="5" name="icon-bg-257"/>
          <p:cNvSpPr/>
          <p:nvPr/>
        </p:nvSpPr>
        <p:spPr>
          <a:xfrm>
            <a:off x="777240" y="1554480"/>
            <a:ext cx="548640" cy="548640"/>
          </a:xfrm>
          <a:prstGeom prst="ellipse">
            <a:avLst/>
          </a:prstGeom>
          <a:solidFill>
            <a:schemeClr val="accent1"/>
          </a:solidFill>
          <a:ln w="12700">
            <a:solidFill>
              <a:schemeClr val="accent1"/>
            </a:solidFill>
            <a:prstDash val="solid"/>
          </a:ln>
        </p:spPr>
      </p:sp>
      <p:pic>
        <p:nvPicPr>
          <p:cNvPr id="6" name="icon-258" descr="preencoded.png"/>
          <p:cNvPicPr>
            <a:picLocks noChangeAspect="1"/>
          </p:cNvPicPr>
          <p:nvPr/>
        </p:nvPicPr>
        <p:blipFill>
          <a:blip r:embed="rId3"/>
          <a:stretch>
            <a:fillRect/>
          </a:stretch>
        </p:blipFill>
        <p:spPr>
          <a:xfrm>
            <a:off x="908914" y="1686154"/>
            <a:ext cx="285293" cy="285293"/>
          </a:xfrm>
          <a:prstGeom prst="rect">
            <a:avLst/>
          </a:prstGeom>
        </p:spPr>
      </p:pic>
      <p:sp>
        <p:nvSpPr>
          <p:cNvPr id="7" name="Text 3"/>
          <p:cNvSpPr txBox="1"/>
          <p:nvPr/>
        </p:nvSpPr>
        <p:spPr>
          <a:xfrm>
            <a:off x="1463040" y="1554480"/>
            <a:ext cx="2432304" cy="548640"/>
          </a:xfrm>
          <a:prstGeom prst="rect">
            <a:avLst/>
          </a:prstGeom>
          <a:noFill/>
          <a:ln/>
        </p:spPr>
        <p:txBody>
          <a:bodyPr wrap="square" lIns="0" tIns="0" rIns="0" bIns="0" rtlCol="0" anchor="ctr"/>
          <a:lstStyle/>
          <a:p>
            <a:pPr marL="0" indent="0">
              <a:buNone/>
            </a:pPr>
            <a:r>
              <a:rPr lang="en-US" sz="1700" b="1" dirty="0">
                <a:solidFill>
                  <a:schemeClr val="tx2"/>
                </a:solidFill>
              </a:rPr>
              <a:t>Data stays local</a:t>
            </a:r>
            <a:endParaRPr lang="en-US" sz="1700" dirty="0"/>
          </a:p>
        </p:txBody>
      </p:sp>
      <p:sp>
        <p:nvSpPr>
          <p:cNvPr id="8" name="Text 4"/>
          <p:cNvSpPr txBox="1"/>
          <p:nvPr/>
        </p:nvSpPr>
        <p:spPr>
          <a:xfrm>
            <a:off x="777240" y="2240280"/>
            <a:ext cx="3072384" cy="1234440"/>
          </a:xfrm>
          <a:prstGeom prst="rect">
            <a:avLst/>
          </a:prstGeom>
          <a:noFill/>
          <a:ln/>
        </p:spPr>
        <p:txBody>
          <a:bodyPr wrap="square" lIns="0" tIns="0" rIns="0" bIns="0" rtlCol="0" anchor="t"/>
          <a:lstStyle/>
          <a:p>
            <a:pPr marL="0" indent="0">
              <a:spcAft>
                <a:spcPts val="400"/>
              </a:spcAft>
              <a:buNone/>
            </a:pPr>
            <a:r>
              <a:rPr lang="en-US" sz="1450" dirty="0">
                <a:solidFill>
                  <a:schemeClr val="tx1"/>
                </a:solidFill>
              </a:rPr>
              <a:t>All readings and images stay on the laptop's own hotspot; no cloud service, no personal data, camera aimed at crops</a:t>
            </a:r>
            <a:endParaRPr lang="en-US" sz="1450" dirty="0"/>
          </a:p>
        </p:txBody>
      </p:sp>
      <p:sp>
        <p:nvSpPr>
          <p:cNvPr id="9" name="panel-259"/>
          <p:cNvSpPr/>
          <p:nvPr/>
        </p:nvSpPr>
        <p:spPr>
          <a:xfrm>
            <a:off x="4279392" y="1325880"/>
            <a:ext cx="3529584" cy="2286000"/>
          </a:xfrm>
          <a:prstGeom prst="roundRect">
            <a:avLst>
              <a:gd name="adj" fmla="val 4000"/>
            </a:avLst>
          </a:prstGeom>
          <a:solidFill>
            <a:schemeClr val="bg2"/>
          </a:solidFill>
          <a:ln w="12700">
            <a:solidFill>
              <a:schemeClr val="bg2"/>
            </a:solidFill>
            <a:prstDash val="solid"/>
          </a:ln>
        </p:spPr>
      </p:sp>
      <p:sp>
        <p:nvSpPr>
          <p:cNvPr id="10" name="icon-bg-260"/>
          <p:cNvSpPr/>
          <p:nvPr/>
        </p:nvSpPr>
        <p:spPr>
          <a:xfrm>
            <a:off x="4507992" y="1554480"/>
            <a:ext cx="548640" cy="548640"/>
          </a:xfrm>
          <a:prstGeom prst="ellipse">
            <a:avLst/>
          </a:prstGeom>
          <a:solidFill>
            <a:schemeClr val="accent1"/>
          </a:solidFill>
          <a:ln w="12700">
            <a:solidFill>
              <a:schemeClr val="accent1"/>
            </a:solidFill>
            <a:prstDash val="solid"/>
          </a:ln>
        </p:spPr>
      </p:sp>
      <p:pic>
        <p:nvPicPr>
          <p:cNvPr id="11" name="icon-261" descr="preencoded.png"/>
          <p:cNvPicPr>
            <a:picLocks noChangeAspect="1"/>
          </p:cNvPicPr>
          <p:nvPr/>
        </p:nvPicPr>
        <p:blipFill>
          <a:blip r:embed="rId4"/>
          <a:stretch>
            <a:fillRect/>
          </a:stretch>
        </p:blipFill>
        <p:spPr>
          <a:xfrm>
            <a:off x="4639666" y="1686154"/>
            <a:ext cx="285293" cy="285293"/>
          </a:xfrm>
          <a:prstGeom prst="rect">
            <a:avLst/>
          </a:prstGeom>
        </p:spPr>
      </p:pic>
      <p:sp>
        <p:nvSpPr>
          <p:cNvPr id="12" name="Text 7"/>
          <p:cNvSpPr txBox="1"/>
          <p:nvPr/>
        </p:nvSpPr>
        <p:spPr>
          <a:xfrm>
            <a:off x="5193792" y="1554480"/>
            <a:ext cx="2432304" cy="548640"/>
          </a:xfrm>
          <a:prstGeom prst="rect">
            <a:avLst/>
          </a:prstGeom>
          <a:noFill/>
          <a:ln/>
        </p:spPr>
        <p:txBody>
          <a:bodyPr wrap="square" lIns="0" tIns="0" rIns="0" bIns="0" rtlCol="0" anchor="ctr"/>
          <a:lstStyle/>
          <a:p>
            <a:pPr marL="0" indent="0">
              <a:buNone/>
            </a:pPr>
            <a:r>
              <a:rPr lang="en-US" sz="1700" b="1" dirty="0">
                <a:solidFill>
                  <a:schemeClr val="tx2"/>
                </a:solidFill>
              </a:rPr>
              <a:t>No false certainty</a:t>
            </a:r>
            <a:endParaRPr lang="en-US" sz="1700" dirty="0"/>
          </a:p>
        </p:txBody>
      </p:sp>
      <p:sp>
        <p:nvSpPr>
          <p:cNvPr id="13" name="Text 8"/>
          <p:cNvSpPr txBox="1"/>
          <p:nvPr/>
        </p:nvSpPr>
        <p:spPr>
          <a:xfrm>
            <a:off x="4507992" y="2240280"/>
            <a:ext cx="3072384" cy="1234440"/>
          </a:xfrm>
          <a:prstGeom prst="rect">
            <a:avLst/>
          </a:prstGeom>
          <a:noFill/>
          <a:ln/>
        </p:spPr>
        <p:txBody>
          <a:bodyPr wrap="square" lIns="0" tIns="0" rIns="0" bIns="0" rtlCol="0" anchor="t"/>
          <a:lstStyle/>
          <a:p>
            <a:pPr marL="0" indent="0">
              <a:spcAft>
                <a:spcPts val="400"/>
              </a:spcAft>
              <a:buNone/>
            </a:pPr>
            <a:r>
              <a:rPr lang="en-US" sz="1450" dirty="0">
                <a:solidFill>
                  <a:schemeClr val="tx1"/>
                </a:solidFill>
              </a:rPr>
              <a:t>Gate and 50 % threshold suppress unreliable labels; results are indications for an agronomist, not a spray decision</a:t>
            </a:r>
            <a:endParaRPr lang="en-US" sz="1450" dirty="0"/>
          </a:p>
        </p:txBody>
      </p:sp>
      <p:sp>
        <p:nvSpPr>
          <p:cNvPr id="14" name="panel-262"/>
          <p:cNvSpPr/>
          <p:nvPr/>
        </p:nvSpPr>
        <p:spPr>
          <a:xfrm>
            <a:off x="8010144" y="1325880"/>
            <a:ext cx="3529584" cy="2286000"/>
          </a:xfrm>
          <a:prstGeom prst="roundRect">
            <a:avLst>
              <a:gd name="adj" fmla="val 4000"/>
            </a:avLst>
          </a:prstGeom>
          <a:solidFill>
            <a:schemeClr val="bg2"/>
          </a:solidFill>
          <a:ln w="12700">
            <a:solidFill>
              <a:schemeClr val="bg2"/>
            </a:solidFill>
            <a:prstDash val="solid"/>
          </a:ln>
        </p:spPr>
      </p:sp>
      <p:sp>
        <p:nvSpPr>
          <p:cNvPr id="15" name="icon-bg-263"/>
          <p:cNvSpPr/>
          <p:nvPr/>
        </p:nvSpPr>
        <p:spPr>
          <a:xfrm>
            <a:off x="8238744" y="1554480"/>
            <a:ext cx="548640" cy="548640"/>
          </a:xfrm>
          <a:prstGeom prst="ellipse">
            <a:avLst/>
          </a:prstGeom>
          <a:solidFill>
            <a:schemeClr val="accent1"/>
          </a:solidFill>
          <a:ln w="12700">
            <a:solidFill>
              <a:schemeClr val="accent1"/>
            </a:solidFill>
            <a:prstDash val="solid"/>
          </a:ln>
        </p:spPr>
      </p:sp>
      <p:pic>
        <p:nvPicPr>
          <p:cNvPr id="16" name="icon-264" descr="preencoded.png"/>
          <p:cNvPicPr>
            <a:picLocks noChangeAspect="1"/>
          </p:cNvPicPr>
          <p:nvPr/>
        </p:nvPicPr>
        <p:blipFill>
          <a:blip r:embed="rId5"/>
          <a:stretch>
            <a:fillRect/>
          </a:stretch>
        </p:blipFill>
        <p:spPr>
          <a:xfrm>
            <a:off x="8370418" y="1686154"/>
            <a:ext cx="285293" cy="285293"/>
          </a:xfrm>
          <a:prstGeom prst="rect">
            <a:avLst/>
          </a:prstGeom>
        </p:spPr>
      </p:pic>
      <p:sp>
        <p:nvSpPr>
          <p:cNvPr id="17" name="Text 11"/>
          <p:cNvSpPr txBox="1"/>
          <p:nvPr/>
        </p:nvSpPr>
        <p:spPr>
          <a:xfrm>
            <a:off x="8924544" y="1554480"/>
            <a:ext cx="2432304" cy="548640"/>
          </a:xfrm>
          <a:prstGeom prst="rect">
            <a:avLst/>
          </a:prstGeom>
          <a:noFill/>
          <a:ln/>
        </p:spPr>
        <p:txBody>
          <a:bodyPr wrap="square" lIns="0" tIns="0" rIns="0" bIns="0" rtlCol="0" anchor="ctr"/>
          <a:lstStyle/>
          <a:p>
            <a:pPr marL="0" indent="0">
              <a:buNone/>
            </a:pPr>
            <a:r>
              <a:rPr lang="en-US" sz="1700" b="1" dirty="0">
                <a:solidFill>
                  <a:schemeClr val="tx2"/>
                </a:solidFill>
              </a:rPr>
              <a:t>Electrical and physical safety</a:t>
            </a:r>
            <a:endParaRPr lang="en-US" sz="1700" dirty="0"/>
          </a:p>
        </p:txBody>
      </p:sp>
      <p:sp>
        <p:nvSpPr>
          <p:cNvPr id="18" name="Text 12"/>
          <p:cNvSpPr txBox="1"/>
          <p:nvPr/>
        </p:nvSpPr>
        <p:spPr>
          <a:xfrm>
            <a:off x="8238744" y="2240280"/>
            <a:ext cx="3072384" cy="1234440"/>
          </a:xfrm>
          <a:prstGeom prst="rect">
            <a:avLst/>
          </a:prstGeom>
          <a:noFill/>
          <a:ln/>
        </p:spPr>
        <p:txBody>
          <a:bodyPr wrap="square" lIns="0" tIns="0" rIns="0" bIns="0" rtlCol="0" anchor="t"/>
          <a:lstStyle/>
          <a:p>
            <a:pPr marL="0" indent="0">
              <a:spcAft>
                <a:spcPts val="400"/>
              </a:spcAft>
              <a:buNone/>
            </a:pPr>
            <a:r>
              <a:rPr lang="en-US" sz="1450" dirty="0">
                <a:solidFill>
                  <a:schemeClr val="tx1"/>
                </a:solidFill>
              </a:rPr>
              <a:t>Low-voltage USB payload, no LiPo on board, slow-moving robot, separate servo supply</a:t>
            </a:r>
            <a:endParaRPr lang="en-US" sz="1450" dirty="0"/>
          </a:p>
        </p:txBody>
      </p:sp>
      <p:sp>
        <p:nvSpPr>
          <p:cNvPr id="19" name="panel-265"/>
          <p:cNvSpPr/>
          <p:nvPr/>
        </p:nvSpPr>
        <p:spPr>
          <a:xfrm>
            <a:off x="548640" y="3794760"/>
            <a:ext cx="3529584" cy="2286000"/>
          </a:xfrm>
          <a:prstGeom prst="roundRect">
            <a:avLst>
              <a:gd name="adj" fmla="val 4000"/>
            </a:avLst>
          </a:prstGeom>
          <a:solidFill>
            <a:schemeClr val="bg2"/>
          </a:solidFill>
          <a:ln w="12700">
            <a:solidFill>
              <a:schemeClr val="bg2"/>
            </a:solidFill>
            <a:prstDash val="solid"/>
          </a:ln>
        </p:spPr>
      </p:sp>
      <p:sp>
        <p:nvSpPr>
          <p:cNvPr id="20" name="icon-bg-266"/>
          <p:cNvSpPr/>
          <p:nvPr/>
        </p:nvSpPr>
        <p:spPr>
          <a:xfrm>
            <a:off x="777240" y="4023360"/>
            <a:ext cx="548640" cy="548640"/>
          </a:xfrm>
          <a:prstGeom prst="ellipse">
            <a:avLst/>
          </a:prstGeom>
          <a:solidFill>
            <a:schemeClr val="accent1"/>
          </a:solidFill>
          <a:ln w="12700">
            <a:solidFill>
              <a:schemeClr val="accent1"/>
            </a:solidFill>
            <a:prstDash val="solid"/>
          </a:ln>
        </p:spPr>
      </p:sp>
      <p:pic>
        <p:nvPicPr>
          <p:cNvPr id="21" name="icon-267" descr="preencoded.png"/>
          <p:cNvPicPr>
            <a:picLocks noChangeAspect="1"/>
          </p:cNvPicPr>
          <p:nvPr/>
        </p:nvPicPr>
        <p:blipFill>
          <a:blip r:embed="rId6"/>
          <a:stretch>
            <a:fillRect/>
          </a:stretch>
        </p:blipFill>
        <p:spPr>
          <a:xfrm>
            <a:off x="908914" y="4155034"/>
            <a:ext cx="285293" cy="285293"/>
          </a:xfrm>
          <a:prstGeom prst="rect">
            <a:avLst/>
          </a:prstGeom>
        </p:spPr>
      </p:pic>
      <p:sp>
        <p:nvSpPr>
          <p:cNvPr id="22" name="Text 15"/>
          <p:cNvSpPr txBox="1"/>
          <p:nvPr/>
        </p:nvSpPr>
        <p:spPr>
          <a:xfrm>
            <a:off x="1463040" y="4023360"/>
            <a:ext cx="2432304" cy="548640"/>
          </a:xfrm>
          <a:prstGeom prst="rect">
            <a:avLst/>
          </a:prstGeom>
          <a:noFill/>
          <a:ln/>
        </p:spPr>
        <p:txBody>
          <a:bodyPr wrap="square" lIns="0" tIns="0" rIns="0" bIns="0" rtlCol="0" anchor="ctr"/>
          <a:lstStyle/>
          <a:p>
            <a:pPr marL="0" indent="0">
              <a:buNone/>
            </a:pPr>
            <a:r>
              <a:rPr lang="en-US" sz="1700" b="1" dirty="0">
                <a:solidFill>
                  <a:schemeClr val="tx2"/>
                </a:solidFill>
              </a:rPr>
              <a:t>Honest sensor claims</a:t>
            </a:r>
            <a:endParaRPr lang="en-US" sz="1700" dirty="0"/>
          </a:p>
        </p:txBody>
      </p:sp>
      <p:sp>
        <p:nvSpPr>
          <p:cNvPr id="23" name="Text 16"/>
          <p:cNvSpPr txBox="1"/>
          <p:nvPr/>
        </p:nvSpPr>
        <p:spPr>
          <a:xfrm>
            <a:off x="777240" y="4709160"/>
            <a:ext cx="3072384" cy="1234440"/>
          </a:xfrm>
          <a:prstGeom prst="rect">
            <a:avLst/>
          </a:prstGeom>
          <a:noFill/>
          <a:ln/>
        </p:spPr>
        <p:txBody>
          <a:bodyPr wrap="square" lIns="0" tIns="0" rIns="0" bIns="0" rtlCol="0" anchor="t"/>
          <a:lstStyle/>
          <a:p>
            <a:pPr marL="0" indent="0">
              <a:spcAft>
                <a:spcPts val="400"/>
              </a:spcAft>
              <a:buNone/>
            </a:pPr>
            <a:r>
              <a:rPr lang="en-US" sz="1450" dirty="0">
                <a:solidFill>
                  <a:schemeClr val="tx1"/>
                </a:solidFill>
              </a:rPr>
              <a:t>eCO₂ is estimated and the dust sensor uncalibrated; used for trends and alerts, not regulatory values</a:t>
            </a:r>
            <a:endParaRPr lang="en-US" sz="1450" dirty="0"/>
          </a:p>
        </p:txBody>
      </p:sp>
      <p:sp>
        <p:nvSpPr>
          <p:cNvPr id="24" name="panel-268"/>
          <p:cNvSpPr/>
          <p:nvPr/>
        </p:nvSpPr>
        <p:spPr>
          <a:xfrm>
            <a:off x="4279392" y="3794760"/>
            <a:ext cx="3529584" cy="2286000"/>
          </a:xfrm>
          <a:prstGeom prst="roundRect">
            <a:avLst>
              <a:gd name="adj" fmla="val 4000"/>
            </a:avLst>
          </a:prstGeom>
          <a:solidFill>
            <a:schemeClr val="bg2"/>
          </a:solidFill>
          <a:ln w="12700">
            <a:solidFill>
              <a:schemeClr val="bg2"/>
            </a:solidFill>
            <a:prstDash val="solid"/>
          </a:ln>
        </p:spPr>
      </p:sp>
      <p:sp>
        <p:nvSpPr>
          <p:cNvPr id="25" name="icon-bg-269"/>
          <p:cNvSpPr/>
          <p:nvPr/>
        </p:nvSpPr>
        <p:spPr>
          <a:xfrm>
            <a:off x="4507992" y="4023360"/>
            <a:ext cx="548640" cy="548640"/>
          </a:xfrm>
          <a:prstGeom prst="ellipse">
            <a:avLst/>
          </a:prstGeom>
          <a:solidFill>
            <a:schemeClr val="accent1"/>
          </a:solidFill>
          <a:ln w="12700">
            <a:solidFill>
              <a:schemeClr val="accent1"/>
            </a:solidFill>
            <a:prstDash val="solid"/>
          </a:ln>
        </p:spPr>
      </p:sp>
      <p:pic>
        <p:nvPicPr>
          <p:cNvPr id="26" name="icon-270" descr="preencoded.png"/>
          <p:cNvPicPr>
            <a:picLocks noChangeAspect="1"/>
          </p:cNvPicPr>
          <p:nvPr/>
        </p:nvPicPr>
        <p:blipFill>
          <a:blip r:embed="rId7"/>
          <a:stretch>
            <a:fillRect/>
          </a:stretch>
        </p:blipFill>
        <p:spPr>
          <a:xfrm>
            <a:off x="4639666" y="4155034"/>
            <a:ext cx="285293" cy="285293"/>
          </a:xfrm>
          <a:prstGeom prst="rect">
            <a:avLst/>
          </a:prstGeom>
        </p:spPr>
      </p:pic>
      <p:sp>
        <p:nvSpPr>
          <p:cNvPr id="27" name="Text 19"/>
          <p:cNvSpPr txBox="1"/>
          <p:nvPr/>
        </p:nvSpPr>
        <p:spPr>
          <a:xfrm>
            <a:off x="5193792" y="4023360"/>
            <a:ext cx="2432304" cy="548640"/>
          </a:xfrm>
          <a:prstGeom prst="rect">
            <a:avLst/>
          </a:prstGeom>
          <a:noFill/>
          <a:ln/>
        </p:spPr>
        <p:txBody>
          <a:bodyPr wrap="square" lIns="0" tIns="0" rIns="0" bIns="0" rtlCol="0" anchor="ctr"/>
          <a:lstStyle/>
          <a:p>
            <a:pPr marL="0" indent="0">
              <a:buNone/>
            </a:pPr>
            <a:r>
              <a:rPr lang="en-US" sz="1700" b="1" dirty="0">
                <a:solidFill>
                  <a:schemeClr val="tx2"/>
                </a:solidFill>
              </a:rPr>
              <a:t>Open source and attribution</a:t>
            </a:r>
            <a:endParaRPr lang="en-US" sz="1700" dirty="0"/>
          </a:p>
        </p:txBody>
      </p:sp>
      <p:sp>
        <p:nvSpPr>
          <p:cNvPr id="28" name="Text 20"/>
          <p:cNvSpPr txBox="1"/>
          <p:nvPr/>
        </p:nvSpPr>
        <p:spPr>
          <a:xfrm>
            <a:off x="4507992" y="4709160"/>
            <a:ext cx="3072384" cy="1234440"/>
          </a:xfrm>
          <a:prstGeom prst="rect">
            <a:avLst/>
          </a:prstGeom>
          <a:noFill/>
          <a:ln/>
        </p:spPr>
        <p:txBody>
          <a:bodyPr wrap="square" lIns="0" tIns="0" rIns="0" bIns="0" rtlCol="0" anchor="t"/>
          <a:lstStyle/>
          <a:p>
            <a:pPr marL="0" indent="0">
              <a:spcAft>
                <a:spcPts val="400"/>
              </a:spcAft>
              <a:buNone/>
            </a:pPr>
            <a:r>
              <a:rPr lang="en-US" sz="1450" dirty="0">
                <a:solidFill>
                  <a:schemeClr val="tx1"/>
                </a:solidFill>
              </a:rPr>
              <a:t>SpotMicro design credited under CC-BY; our code and print files are public</a:t>
            </a:r>
            <a:endParaRPr lang="en-US" sz="1450" dirty="0"/>
          </a:p>
        </p:txBody>
      </p:sp>
      <p:sp>
        <p:nvSpPr>
          <p:cNvPr id="29" name="panel-271"/>
          <p:cNvSpPr/>
          <p:nvPr/>
        </p:nvSpPr>
        <p:spPr>
          <a:xfrm>
            <a:off x="8010144" y="3794760"/>
            <a:ext cx="3529584" cy="2286000"/>
          </a:xfrm>
          <a:prstGeom prst="roundRect">
            <a:avLst>
              <a:gd name="adj" fmla="val 4000"/>
            </a:avLst>
          </a:prstGeom>
          <a:solidFill>
            <a:schemeClr val="bg2"/>
          </a:solidFill>
          <a:ln w="12700">
            <a:solidFill>
              <a:schemeClr val="bg2"/>
            </a:solidFill>
            <a:prstDash val="solid"/>
          </a:ln>
        </p:spPr>
      </p:sp>
      <p:sp>
        <p:nvSpPr>
          <p:cNvPr id="30" name="icon-bg-272"/>
          <p:cNvSpPr/>
          <p:nvPr/>
        </p:nvSpPr>
        <p:spPr>
          <a:xfrm>
            <a:off x="8238744" y="4023360"/>
            <a:ext cx="548640" cy="548640"/>
          </a:xfrm>
          <a:prstGeom prst="ellipse">
            <a:avLst/>
          </a:prstGeom>
          <a:solidFill>
            <a:schemeClr val="accent1"/>
          </a:solidFill>
          <a:ln w="12700">
            <a:solidFill>
              <a:schemeClr val="accent1"/>
            </a:solidFill>
            <a:prstDash val="solid"/>
          </a:ln>
        </p:spPr>
      </p:sp>
      <p:pic>
        <p:nvPicPr>
          <p:cNvPr id="31" name="icon-273" descr="preencoded.png"/>
          <p:cNvPicPr>
            <a:picLocks noChangeAspect="1"/>
          </p:cNvPicPr>
          <p:nvPr/>
        </p:nvPicPr>
        <p:blipFill>
          <a:blip r:embed="rId8"/>
          <a:stretch>
            <a:fillRect/>
          </a:stretch>
        </p:blipFill>
        <p:spPr>
          <a:xfrm>
            <a:off x="8370418" y="4155034"/>
            <a:ext cx="285293" cy="285293"/>
          </a:xfrm>
          <a:prstGeom prst="rect">
            <a:avLst/>
          </a:prstGeom>
        </p:spPr>
      </p:pic>
      <p:sp>
        <p:nvSpPr>
          <p:cNvPr id="32" name="Text 23"/>
          <p:cNvSpPr txBox="1"/>
          <p:nvPr/>
        </p:nvSpPr>
        <p:spPr>
          <a:xfrm>
            <a:off x="8924544" y="4023360"/>
            <a:ext cx="2432304" cy="548640"/>
          </a:xfrm>
          <a:prstGeom prst="rect">
            <a:avLst/>
          </a:prstGeom>
          <a:noFill/>
          <a:ln/>
        </p:spPr>
        <p:txBody>
          <a:bodyPr wrap="square" lIns="0" tIns="0" rIns="0" bIns="0" rtlCol="0" anchor="ctr"/>
          <a:lstStyle/>
          <a:p>
            <a:pPr marL="0" indent="0">
              <a:buNone/>
            </a:pPr>
            <a:r>
              <a:rPr lang="en-US" sz="1700" b="1" dirty="0">
                <a:solidFill>
                  <a:schemeClr val="tx2"/>
                </a:solidFill>
              </a:rPr>
              <a:t>Built for small farms</a:t>
            </a:r>
            <a:endParaRPr lang="en-US" sz="1700" dirty="0"/>
          </a:p>
        </p:txBody>
      </p:sp>
      <p:sp>
        <p:nvSpPr>
          <p:cNvPr id="33" name="Text 24"/>
          <p:cNvSpPr txBox="1"/>
          <p:nvPr/>
        </p:nvSpPr>
        <p:spPr>
          <a:xfrm>
            <a:off x="8238744" y="4709160"/>
            <a:ext cx="3072384" cy="1234440"/>
          </a:xfrm>
          <a:prstGeom prst="rect">
            <a:avLst/>
          </a:prstGeom>
          <a:noFill/>
          <a:ln/>
        </p:spPr>
        <p:txBody>
          <a:bodyPr wrap="square" lIns="0" tIns="0" rIns="0" bIns="0" rtlCol="0" anchor="t"/>
          <a:lstStyle/>
          <a:p>
            <a:pPr marL="0" indent="0">
              <a:spcAft>
                <a:spcPts val="400"/>
              </a:spcAft>
              <a:buNone/>
            </a:pPr>
            <a:r>
              <a:rPr lang="en-US" sz="1450" dirty="0">
                <a:solidFill>
                  <a:schemeClr val="tx1"/>
                </a:solidFill>
              </a:rPr>
              <a:t>Low-cost parts and no internet needed, so the approach is within reach of smallholders</a:t>
            </a:r>
            <a:endParaRPr lang="en-US" sz="145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Practical Applicability</a:t>
            </a:r>
            <a:endParaRPr lang="en-US" sz="3000" dirty="0"/>
          </a:p>
        </p:txBody>
      </p:sp>
      <p:sp>
        <p:nvSpPr>
          <p:cNvPr id="4" name="icon-bg-274"/>
          <p:cNvSpPr/>
          <p:nvPr/>
        </p:nvSpPr>
        <p:spPr>
          <a:xfrm>
            <a:off x="548640" y="1325880"/>
            <a:ext cx="603504" cy="603504"/>
          </a:xfrm>
          <a:prstGeom prst="ellipse">
            <a:avLst/>
          </a:prstGeom>
          <a:solidFill>
            <a:schemeClr val="accent1"/>
          </a:solidFill>
          <a:ln w="12700">
            <a:solidFill>
              <a:schemeClr val="accent1"/>
            </a:solidFill>
            <a:prstDash val="solid"/>
          </a:ln>
        </p:spPr>
      </p:sp>
      <p:pic>
        <p:nvPicPr>
          <p:cNvPr id="5" name="icon-275" descr="preencoded.png"/>
          <p:cNvPicPr>
            <a:picLocks noChangeAspect="1"/>
          </p:cNvPicPr>
          <p:nvPr/>
        </p:nvPicPr>
        <p:blipFill>
          <a:blip r:embed="rId3"/>
          <a:stretch>
            <a:fillRect/>
          </a:stretch>
        </p:blipFill>
        <p:spPr>
          <a:xfrm>
            <a:off x="693481" y="1470721"/>
            <a:ext cx="313822" cy="313822"/>
          </a:xfrm>
          <a:prstGeom prst="rect">
            <a:avLst/>
          </a:prstGeom>
        </p:spPr>
      </p:pic>
      <p:sp>
        <p:nvSpPr>
          <p:cNvPr id="6" name="Text 2"/>
          <p:cNvSpPr txBox="1"/>
          <p:nvPr/>
        </p:nvSpPr>
        <p:spPr>
          <a:xfrm>
            <a:off x="1371600" y="1307592"/>
            <a:ext cx="5120640" cy="411480"/>
          </a:xfrm>
          <a:prstGeom prst="rect">
            <a:avLst/>
          </a:prstGeom>
          <a:noFill/>
          <a:ln/>
        </p:spPr>
        <p:txBody>
          <a:bodyPr wrap="square" lIns="0" tIns="0" rIns="0" bIns="0" rtlCol="0" anchor="t"/>
          <a:lstStyle/>
          <a:p>
            <a:pPr marL="0" indent="0">
              <a:buNone/>
            </a:pPr>
            <a:r>
              <a:rPr lang="en-US" sz="1800" b="1" dirty="0">
                <a:solidFill>
                  <a:schemeClr val="tx2"/>
                </a:solidFill>
              </a:rPr>
              <a:t>Row-by-row scouting</a:t>
            </a:r>
            <a:endParaRPr lang="en-US" sz="1800" dirty="0"/>
          </a:p>
        </p:txBody>
      </p:sp>
      <p:sp>
        <p:nvSpPr>
          <p:cNvPr id="7" name="Text 3"/>
          <p:cNvSpPr txBox="1"/>
          <p:nvPr/>
        </p:nvSpPr>
        <p:spPr>
          <a:xfrm>
            <a:off x="1371600" y="1737360"/>
            <a:ext cx="5120640" cy="685800"/>
          </a:xfrm>
          <a:prstGeom prst="rect">
            <a:avLst/>
          </a:prstGeom>
          <a:noFill/>
          <a:ln/>
        </p:spPr>
        <p:txBody>
          <a:bodyPr wrap="square" lIns="0" tIns="0" rIns="0" bIns="0" rtlCol="0" anchor="t"/>
          <a:lstStyle/>
          <a:p>
            <a:pPr marL="0" indent="0">
              <a:buNone/>
            </a:pPr>
            <a:r>
              <a:rPr lang="en-US" sz="1500" dirty="0">
                <a:solidFill>
                  <a:schemeClr val="tx1"/>
                </a:solidFill>
              </a:rPr>
              <a:t>Walk the rows, log gas, dust and temperature, and scan suspicious leaves on the way</a:t>
            </a:r>
            <a:endParaRPr lang="en-US" sz="1500" dirty="0"/>
          </a:p>
        </p:txBody>
      </p:sp>
      <p:sp>
        <p:nvSpPr>
          <p:cNvPr id="8" name="icon-bg-276"/>
          <p:cNvSpPr/>
          <p:nvPr/>
        </p:nvSpPr>
        <p:spPr>
          <a:xfrm>
            <a:off x="548640" y="2532888"/>
            <a:ext cx="603504" cy="603504"/>
          </a:xfrm>
          <a:prstGeom prst="ellipse">
            <a:avLst/>
          </a:prstGeom>
          <a:solidFill>
            <a:schemeClr val="accent1"/>
          </a:solidFill>
          <a:ln w="12700">
            <a:solidFill>
              <a:schemeClr val="accent1"/>
            </a:solidFill>
            <a:prstDash val="solid"/>
          </a:ln>
        </p:spPr>
      </p:sp>
      <p:pic>
        <p:nvPicPr>
          <p:cNvPr id="9" name="icon-277" descr="preencoded.png"/>
          <p:cNvPicPr>
            <a:picLocks noChangeAspect="1"/>
          </p:cNvPicPr>
          <p:nvPr/>
        </p:nvPicPr>
        <p:blipFill>
          <a:blip r:embed="rId4"/>
          <a:stretch>
            <a:fillRect/>
          </a:stretch>
        </p:blipFill>
        <p:spPr>
          <a:xfrm>
            <a:off x="693481" y="2677729"/>
            <a:ext cx="313822" cy="313822"/>
          </a:xfrm>
          <a:prstGeom prst="rect">
            <a:avLst/>
          </a:prstGeom>
        </p:spPr>
      </p:pic>
      <p:sp>
        <p:nvSpPr>
          <p:cNvPr id="10" name="Text 5"/>
          <p:cNvSpPr txBox="1"/>
          <p:nvPr/>
        </p:nvSpPr>
        <p:spPr>
          <a:xfrm>
            <a:off x="1371600" y="2514600"/>
            <a:ext cx="5120640" cy="411480"/>
          </a:xfrm>
          <a:prstGeom prst="rect">
            <a:avLst/>
          </a:prstGeom>
          <a:noFill/>
          <a:ln/>
        </p:spPr>
        <p:txBody>
          <a:bodyPr wrap="square" lIns="0" tIns="0" rIns="0" bIns="0" rtlCol="0" anchor="t"/>
          <a:lstStyle/>
          <a:p>
            <a:pPr marL="0" indent="0">
              <a:buNone/>
            </a:pPr>
            <a:r>
              <a:rPr lang="en-US" sz="1800" b="1" dirty="0">
                <a:solidFill>
                  <a:schemeClr val="tx2"/>
                </a:solidFill>
              </a:rPr>
              <a:t>Early-warning hotspots</a:t>
            </a:r>
            <a:endParaRPr lang="en-US" sz="1800" dirty="0"/>
          </a:p>
        </p:txBody>
      </p:sp>
      <p:sp>
        <p:nvSpPr>
          <p:cNvPr id="11" name="Text 6"/>
          <p:cNvSpPr txBox="1"/>
          <p:nvPr/>
        </p:nvSpPr>
        <p:spPr>
          <a:xfrm>
            <a:off x="1371600" y="2944368"/>
            <a:ext cx="5120640" cy="685800"/>
          </a:xfrm>
          <a:prstGeom prst="rect">
            <a:avLst/>
          </a:prstGeom>
          <a:noFill/>
          <a:ln/>
        </p:spPr>
        <p:txBody>
          <a:bodyPr wrap="square" lIns="0" tIns="0" rIns="0" bIns="0" rtlCol="0" anchor="t"/>
          <a:lstStyle/>
          <a:p>
            <a:pPr marL="0" indent="0">
              <a:buNone/>
            </a:pPr>
            <a:r>
              <a:rPr lang="en-US" sz="1500" dirty="0">
                <a:solidFill>
                  <a:schemeClr val="tx1"/>
                </a:solidFill>
              </a:rPr>
              <a:t>Rising VOC readings along a row point to stressed plants before symptoms spread</a:t>
            </a:r>
            <a:endParaRPr lang="en-US" sz="1500" dirty="0"/>
          </a:p>
        </p:txBody>
      </p:sp>
      <p:sp>
        <p:nvSpPr>
          <p:cNvPr id="12" name="icon-bg-278"/>
          <p:cNvSpPr/>
          <p:nvPr/>
        </p:nvSpPr>
        <p:spPr>
          <a:xfrm>
            <a:off x="548640" y="3739896"/>
            <a:ext cx="603504" cy="603504"/>
          </a:xfrm>
          <a:prstGeom prst="ellipse">
            <a:avLst/>
          </a:prstGeom>
          <a:solidFill>
            <a:schemeClr val="accent1"/>
          </a:solidFill>
          <a:ln w="12700">
            <a:solidFill>
              <a:schemeClr val="accent1"/>
            </a:solidFill>
            <a:prstDash val="solid"/>
          </a:ln>
        </p:spPr>
      </p:sp>
      <p:pic>
        <p:nvPicPr>
          <p:cNvPr id="13" name="icon-279" descr="preencoded.png"/>
          <p:cNvPicPr>
            <a:picLocks noChangeAspect="1"/>
          </p:cNvPicPr>
          <p:nvPr/>
        </p:nvPicPr>
        <p:blipFill>
          <a:blip r:embed="rId5"/>
          <a:stretch>
            <a:fillRect/>
          </a:stretch>
        </p:blipFill>
        <p:spPr>
          <a:xfrm>
            <a:off x="693481" y="3884737"/>
            <a:ext cx="313822" cy="313822"/>
          </a:xfrm>
          <a:prstGeom prst="rect">
            <a:avLst/>
          </a:prstGeom>
        </p:spPr>
      </p:pic>
      <p:sp>
        <p:nvSpPr>
          <p:cNvPr id="14" name="Text 8"/>
          <p:cNvSpPr txBox="1"/>
          <p:nvPr/>
        </p:nvSpPr>
        <p:spPr>
          <a:xfrm>
            <a:off x="1371600" y="3721608"/>
            <a:ext cx="5120640" cy="411480"/>
          </a:xfrm>
          <a:prstGeom prst="rect">
            <a:avLst/>
          </a:prstGeom>
          <a:noFill/>
          <a:ln/>
        </p:spPr>
        <p:txBody>
          <a:bodyPr wrap="square" lIns="0" tIns="0" rIns="0" bIns="0" rtlCol="0" anchor="t"/>
          <a:lstStyle/>
          <a:p>
            <a:pPr marL="0" indent="0">
              <a:buNone/>
            </a:pPr>
            <a:r>
              <a:rPr lang="en-US" sz="1800" b="1" dirty="0">
                <a:solidFill>
                  <a:schemeClr val="tx2"/>
                </a:solidFill>
              </a:rPr>
              <a:t>Nurseries and greenhouses</a:t>
            </a:r>
            <a:endParaRPr lang="en-US" sz="1800" dirty="0"/>
          </a:p>
        </p:txBody>
      </p:sp>
      <p:sp>
        <p:nvSpPr>
          <p:cNvPr id="15" name="Text 9"/>
          <p:cNvSpPr txBox="1"/>
          <p:nvPr/>
        </p:nvSpPr>
        <p:spPr>
          <a:xfrm>
            <a:off x="1371600" y="4151376"/>
            <a:ext cx="5120640" cy="685800"/>
          </a:xfrm>
          <a:prstGeom prst="rect">
            <a:avLst/>
          </a:prstGeom>
          <a:noFill/>
          <a:ln/>
        </p:spPr>
        <p:txBody>
          <a:bodyPr wrap="square" lIns="0" tIns="0" rIns="0" bIns="0" rtlCol="0" anchor="t"/>
          <a:lstStyle/>
          <a:p>
            <a:pPr marL="0" indent="0">
              <a:buNone/>
            </a:pPr>
            <a:r>
              <a:rPr lang="en-US" sz="1500" dirty="0">
                <a:solidFill>
                  <a:schemeClr val="tx1"/>
                </a:solidFill>
              </a:rPr>
              <a:t>Repeated inspection of seedlings in narrow aisles where wheels struggle</a:t>
            </a:r>
            <a:endParaRPr lang="en-US" sz="1500" dirty="0"/>
          </a:p>
        </p:txBody>
      </p:sp>
      <p:sp>
        <p:nvSpPr>
          <p:cNvPr id="16" name="icon-bg-280"/>
          <p:cNvSpPr/>
          <p:nvPr/>
        </p:nvSpPr>
        <p:spPr>
          <a:xfrm>
            <a:off x="548640" y="4946904"/>
            <a:ext cx="603504" cy="603504"/>
          </a:xfrm>
          <a:prstGeom prst="ellipse">
            <a:avLst/>
          </a:prstGeom>
          <a:solidFill>
            <a:schemeClr val="accent1"/>
          </a:solidFill>
          <a:ln w="12700">
            <a:solidFill>
              <a:schemeClr val="accent1"/>
            </a:solidFill>
            <a:prstDash val="solid"/>
          </a:ln>
        </p:spPr>
      </p:sp>
      <p:pic>
        <p:nvPicPr>
          <p:cNvPr id="17" name="icon-281" descr="preencoded.png"/>
          <p:cNvPicPr>
            <a:picLocks noChangeAspect="1"/>
          </p:cNvPicPr>
          <p:nvPr/>
        </p:nvPicPr>
        <p:blipFill>
          <a:blip r:embed="rId6"/>
          <a:stretch>
            <a:fillRect/>
          </a:stretch>
        </p:blipFill>
        <p:spPr>
          <a:xfrm>
            <a:off x="693481" y="5091745"/>
            <a:ext cx="313822" cy="313822"/>
          </a:xfrm>
          <a:prstGeom prst="rect">
            <a:avLst/>
          </a:prstGeom>
        </p:spPr>
      </p:pic>
      <p:sp>
        <p:nvSpPr>
          <p:cNvPr id="18" name="Text 11"/>
          <p:cNvSpPr txBox="1"/>
          <p:nvPr/>
        </p:nvSpPr>
        <p:spPr>
          <a:xfrm>
            <a:off x="1371600" y="4928616"/>
            <a:ext cx="5120640" cy="411480"/>
          </a:xfrm>
          <a:prstGeom prst="rect">
            <a:avLst/>
          </a:prstGeom>
          <a:noFill/>
          <a:ln/>
        </p:spPr>
        <p:txBody>
          <a:bodyPr wrap="square" lIns="0" tIns="0" rIns="0" bIns="0" rtlCol="0" anchor="t"/>
          <a:lstStyle/>
          <a:p>
            <a:pPr marL="0" indent="0">
              <a:buNone/>
            </a:pPr>
            <a:r>
              <a:rPr lang="en-US" sz="1800" b="1" dirty="0">
                <a:solidFill>
                  <a:schemeClr val="tx2"/>
                </a:solidFill>
              </a:rPr>
              <a:t>Records for agronomists</a:t>
            </a:r>
            <a:endParaRPr lang="en-US" sz="1800" dirty="0"/>
          </a:p>
        </p:txBody>
      </p:sp>
      <p:sp>
        <p:nvSpPr>
          <p:cNvPr id="19" name="Text 12"/>
          <p:cNvSpPr txBox="1"/>
          <p:nvPr/>
        </p:nvSpPr>
        <p:spPr>
          <a:xfrm>
            <a:off x="1371600" y="5358384"/>
            <a:ext cx="5120640" cy="685800"/>
          </a:xfrm>
          <a:prstGeom prst="rect">
            <a:avLst/>
          </a:prstGeom>
          <a:noFill/>
          <a:ln/>
        </p:spPr>
        <p:txBody>
          <a:bodyPr wrap="square" lIns="0" tIns="0" rIns="0" bIns="0" rtlCol="0" anchor="t"/>
          <a:lstStyle/>
          <a:p>
            <a:pPr marL="0" indent="0">
              <a:buNone/>
            </a:pPr>
            <a:r>
              <a:rPr lang="en-US" sz="1500" dirty="0">
                <a:solidFill>
                  <a:schemeClr val="tx1"/>
                </a:solidFill>
              </a:rPr>
              <a:t>Tagged images with the conditions at capture give an evidence trail for advice</a:t>
            </a:r>
            <a:endParaRPr lang="en-US" sz="1500" dirty="0"/>
          </a:p>
        </p:txBody>
      </p:sp>
      <p:sp>
        <p:nvSpPr>
          <p:cNvPr id="20" name="panel-282"/>
          <p:cNvSpPr/>
          <p:nvPr/>
        </p:nvSpPr>
        <p:spPr>
          <a:xfrm>
            <a:off x="6903720" y="1325880"/>
            <a:ext cx="4709160" cy="4846320"/>
          </a:xfrm>
          <a:prstGeom prst="roundRect">
            <a:avLst>
              <a:gd name="adj" fmla="val 1942"/>
            </a:avLst>
          </a:prstGeom>
          <a:solidFill>
            <a:schemeClr val="tx2"/>
          </a:solidFill>
          <a:ln w="12700">
            <a:solidFill>
              <a:schemeClr val="tx2"/>
            </a:solidFill>
            <a:prstDash val="solid"/>
          </a:ln>
        </p:spPr>
      </p:sp>
      <p:sp>
        <p:nvSpPr>
          <p:cNvPr id="21" name="Text 14"/>
          <p:cNvSpPr txBox="1"/>
          <p:nvPr/>
        </p:nvSpPr>
        <p:spPr>
          <a:xfrm>
            <a:off x="7178040" y="1554480"/>
            <a:ext cx="4206240" cy="457200"/>
          </a:xfrm>
          <a:prstGeom prst="rect">
            <a:avLst/>
          </a:prstGeom>
          <a:noFill/>
          <a:ln/>
        </p:spPr>
        <p:txBody>
          <a:bodyPr wrap="square" lIns="0" tIns="0" rIns="0" bIns="0" rtlCol="0" anchor="t"/>
          <a:lstStyle/>
          <a:p>
            <a:pPr marL="0" indent="0">
              <a:buNone/>
            </a:pPr>
            <a:r>
              <a:rPr lang="en-US" sz="1900" b="1" dirty="0">
                <a:solidFill>
                  <a:schemeClr val="accent2"/>
                </a:solidFill>
              </a:rPr>
              <a:t>What a farm needs to run it</a:t>
            </a:r>
            <a:endParaRPr lang="en-US" sz="1900" dirty="0"/>
          </a:p>
        </p:txBody>
      </p:sp>
      <p:sp>
        <p:nvSpPr>
          <p:cNvPr id="22" name="Text 15"/>
          <p:cNvSpPr txBox="1"/>
          <p:nvPr/>
        </p:nvSpPr>
        <p:spPr>
          <a:xfrm>
            <a:off x="7178040" y="2148840"/>
            <a:ext cx="4206240" cy="274320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chemeClr val="bg1"/>
                </a:solidFill>
              </a:rPr>
              <a:t>A laptop with Wi-Fi hotspot</a:t>
            </a:r>
            <a:endParaRPr lang="en-US" sz="1700" dirty="0"/>
          </a:p>
          <a:p>
            <a:pPr marL="228600" indent="-228600">
              <a:spcAft>
                <a:spcPts val="1000"/>
              </a:spcAft>
              <a:buSzPct val="100000"/>
              <a:buChar char="•"/>
            </a:pPr>
            <a:r>
              <a:rPr lang="en-US" sz="1700" dirty="0">
                <a:solidFill>
                  <a:schemeClr val="bg1"/>
                </a:solidFill>
              </a:rPr>
              <a:t>The robot with its two nodes</a:t>
            </a:r>
            <a:endParaRPr lang="en-US" sz="1700" dirty="0"/>
          </a:p>
          <a:p>
            <a:pPr marL="228600" indent="-228600">
              <a:spcAft>
                <a:spcPts val="1000"/>
              </a:spcAft>
              <a:buSzPct val="100000"/>
              <a:buChar char="•"/>
            </a:pPr>
            <a:r>
              <a:rPr lang="en-US" sz="1700" dirty="0">
                <a:solidFill>
                  <a:schemeClr val="bg1"/>
                </a:solidFill>
              </a:rPr>
              <a:t>A USB power bank</a:t>
            </a:r>
            <a:endParaRPr lang="en-US" sz="1700" dirty="0"/>
          </a:p>
          <a:p>
            <a:pPr marL="228600" indent="-228600">
              <a:spcAft>
                <a:spcPts val="1000"/>
              </a:spcAft>
              <a:buSzPct val="100000"/>
              <a:buChar char="•"/>
            </a:pPr>
            <a:r>
              <a:rPr lang="en-US" sz="1700" dirty="0">
                <a:solidFill>
                  <a:schemeClr val="bg1"/>
                </a:solidFill>
              </a:rPr>
              <a:t>Any phone to view the dashboard</a:t>
            </a:r>
            <a:endParaRPr lang="en-US" sz="1700" dirty="0"/>
          </a:p>
          <a:p>
            <a:pPr marL="228600" indent="-228600">
              <a:spcAft>
                <a:spcPts val="1000"/>
              </a:spcAft>
              <a:buSzPct val="100000"/>
              <a:buChar char="•"/>
            </a:pPr>
            <a:r>
              <a:rPr lang="en-US" sz="1700" dirty="0">
                <a:solidFill>
                  <a:schemeClr val="bg1"/>
                </a:solidFill>
              </a:rPr>
              <a:t>No internet, no cloud account</a:t>
            </a:r>
            <a:endParaRPr lang="en-US" sz="1700" dirty="0"/>
          </a:p>
        </p:txBody>
      </p:sp>
      <p:sp>
        <p:nvSpPr>
          <p:cNvPr id="23" name="Text 16"/>
          <p:cNvSpPr txBox="1"/>
          <p:nvPr/>
        </p:nvSpPr>
        <p:spPr>
          <a:xfrm>
            <a:off x="7178040" y="5074920"/>
            <a:ext cx="4206240" cy="822960"/>
          </a:xfrm>
          <a:prstGeom prst="rect">
            <a:avLst/>
          </a:prstGeom>
          <a:noFill/>
          <a:ln/>
        </p:spPr>
        <p:txBody>
          <a:bodyPr wrap="square" lIns="0" tIns="0" rIns="0" bIns="0" rtlCol="0" anchor="t"/>
          <a:lstStyle/>
          <a:p>
            <a:pPr marL="0" indent="0">
              <a:buNone/>
            </a:pPr>
            <a:r>
              <a:rPr lang="en-US" sz="1600" b="1" dirty="0">
                <a:solidFill>
                  <a:schemeClr val="accent2"/>
                </a:solidFill>
              </a:rPr>
              <a:t>Dashboard address  </a:t>
            </a:r>
            <a:endParaRPr lang="en-US" sz="1600" dirty="0"/>
          </a:p>
          <a:p>
            <a:pPr marL="0" indent="0">
              <a:buNone/>
            </a:pPr>
            <a:r>
              <a:rPr lang="en-US" sz="1600" dirty="0">
                <a:solidFill>
                  <a:schemeClr val="bg1"/>
                </a:solidFill>
              </a:rPr>
              <a:t>http://192.168.137.1:5000</a:t>
            </a:r>
            <a:endParaRPr lang="en-US" sz="16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Limitations</a:t>
            </a:r>
            <a:endParaRPr lang="en-US" sz="3000" dirty="0"/>
          </a:p>
        </p:txBody>
      </p:sp>
      <p:graphicFrame>
        <p:nvGraphicFramePr>
          <p:cNvPr id="40" name="table-283"/>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343400"/>
        </p:xfrm>
        <a:graphic>
          <a:graphicData uri="http://schemas.openxmlformats.org/drawingml/2006/table">
            <a:tbl>
              <a:tblPr/>
              <a:tblGrid>
                <a:gridCol w="33832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457200">
                <a:tc>
                  <a:txBody>
                    <a:bodyPr/>
                    <a:lstStyle/>
                    <a:p>
                      <a:pPr marL="0" indent="0">
                        <a:buNone/>
                      </a:pPr>
                      <a:r>
                        <a:rPr lang="en-US" sz="1500" b="1" dirty="0">
                          <a:solidFill>
                            <a:schemeClr val="bg1"/>
                          </a:solidFill>
                        </a:rPr>
                        <a:t>Limitation</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Effect</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500" b="1" dirty="0">
                          <a:solidFill>
                            <a:schemeClr val="bg1"/>
                          </a:solidFill>
                        </a:rPr>
                        <a:t>How it is handled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77240">
                <a:tc>
                  <a:txBody>
                    <a:bodyPr/>
                    <a:lstStyle/>
                    <a:p>
                      <a:pPr marL="0" indent="0">
                        <a:buNone/>
                      </a:pPr>
                      <a:r>
                        <a:rPr lang="en-US" sz="1500" dirty="0">
                          <a:solidFill>
                            <a:schemeClr val="tx1"/>
                          </a:solidFill>
                        </a:rPr>
                        <a:t>Real servos lack torque reserve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Robot stands and moves its legs but does not step</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Dedicated supply, CoM footholds, lower stance, stronger servos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777240">
                <a:tc>
                  <a:txBody>
                    <a:bodyPr/>
                    <a:lstStyle/>
                    <a:p>
                      <a:pPr marL="0" indent="0">
                        <a:buNone/>
                      </a:pPr>
                      <a:r>
                        <a:rPr lang="en-US" sz="1500" dirty="0">
                          <a:solidFill>
                            <a:schemeClr val="tx1"/>
                          </a:solidFill>
                        </a:rPr>
                        <a:t>Classifier trained on lab photos, 14 crops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Lower accuracy on field images; any plant passes the gate</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Gate and 50 % threshold; fine-tuning on field images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77240">
                <a:tc>
                  <a:txBody>
                    <a:bodyPr/>
                    <a:lstStyle/>
                    <a:p>
                      <a:pPr marL="0" indent="0">
                        <a:buNone/>
                      </a:pPr>
                      <a:r>
                        <a:rPr lang="en-US" sz="1500" dirty="0">
                          <a:solidFill>
                            <a:schemeClr val="tx1"/>
                          </a:solidFill>
                        </a:rPr>
                        <a:t>Washed-out ESP32-CAM colours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Some real foliage falls below the 12 % threshold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Hold the leaf close; tune the threshold to this camera</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777240">
                <a:tc>
                  <a:txBody>
                    <a:bodyPr/>
                    <a:lstStyle/>
                    <a:p>
                      <a:pPr marL="0" indent="0">
                        <a:buNone/>
                      </a:pPr>
                      <a:r>
                        <a:rPr lang="en-US" sz="1500" dirty="0">
                          <a:solidFill>
                            <a:schemeClr val="tx1"/>
                          </a:solidFill>
                        </a:rPr>
                        <a:t>eCO₂ estimated; PPD42 uncalibrated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Relative readings, not regulatory values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Used for trends and alerts</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777240">
                <a:tc>
                  <a:txBody>
                    <a:bodyPr/>
                    <a:lstStyle/>
                    <a:p>
                      <a:pPr marL="0" indent="0">
                        <a:buNone/>
                      </a:pPr>
                      <a:r>
                        <a:rPr lang="en-US" sz="1500" dirty="0">
                          <a:solidFill>
                            <a:schemeClr val="tx1"/>
                          </a:solidFill>
                        </a:rPr>
                        <a:t>Simulated fields are modelled</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Simulation shows the method, not field data</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Hardware sensors validated on the bench</a:t>
                      </a:r>
                      <a:endParaRPr lang="en-US" sz="1500" dirty="0"/>
                    </a:p>
                  </a:txBody>
                  <a:tcPr marL="101600" marR="101600" marT="50800" marB="50800" anchor="ctr">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Future Work</a:t>
            </a:r>
            <a:endParaRPr lang="en-US" sz="3000" dirty="0"/>
          </a:p>
        </p:txBody>
      </p:sp>
      <p:sp>
        <p:nvSpPr>
          <p:cNvPr id="4" name="panel-284"/>
          <p:cNvSpPr/>
          <p:nvPr/>
        </p:nvSpPr>
        <p:spPr>
          <a:xfrm>
            <a:off x="548640" y="1280160"/>
            <a:ext cx="11064240" cy="841248"/>
          </a:xfrm>
          <a:prstGeom prst="roundRect">
            <a:avLst>
              <a:gd name="adj" fmla="val 10870"/>
            </a:avLst>
          </a:prstGeom>
          <a:solidFill>
            <a:schemeClr val="bg2"/>
          </a:solidFill>
          <a:ln w="12700">
            <a:solidFill>
              <a:schemeClr val="bg2"/>
            </a:solidFill>
            <a:prstDash val="solid"/>
          </a:ln>
        </p:spPr>
      </p:sp>
      <p:sp>
        <p:nvSpPr>
          <p:cNvPr id="5" name="Text 2"/>
          <p:cNvSpPr txBox="1"/>
          <p:nvPr/>
        </p:nvSpPr>
        <p:spPr>
          <a:xfrm>
            <a:off x="777240" y="1280160"/>
            <a:ext cx="731520" cy="841248"/>
          </a:xfrm>
          <a:prstGeom prst="rect">
            <a:avLst/>
          </a:prstGeom>
          <a:noFill/>
          <a:ln/>
        </p:spPr>
        <p:txBody>
          <a:bodyPr wrap="square" lIns="0" tIns="0" rIns="0" bIns="0" rtlCol="0" anchor="ctr"/>
          <a:lstStyle/>
          <a:p>
            <a:pPr marL="0" indent="0">
              <a:buNone/>
            </a:pPr>
            <a:r>
              <a:rPr lang="en-US" sz="2600" b="1" dirty="0">
                <a:solidFill>
                  <a:schemeClr val="accent2"/>
                </a:solidFill>
                <a:latin typeface="Cambria" pitchFamily="34" charset="0"/>
                <a:ea typeface="Cambria" pitchFamily="34" charset="-122"/>
                <a:cs typeface="Cambria" pitchFamily="34" charset="-120"/>
              </a:rPr>
              <a:t>01</a:t>
            </a:r>
            <a:endParaRPr lang="en-US" sz="2600" dirty="0"/>
          </a:p>
        </p:txBody>
      </p:sp>
      <p:sp>
        <p:nvSpPr>
          <p:cNvPr id="6" name="icon-bg-285"/>
          <p:cNvSpPr/>
          <p:nvPr/>
        </p:nvSpPr>
        <p:spPr>
          <a:xfrm>
            <a:off x="1554480" y="1444752"/>
            <a:ext cx="512064" cy="512064"/>
          </a:xfrm>
          <a:prstGeom prst="ellipse">
            <a:avLst/>
          </a:prstGeom>
          <a:solidFill>
            <a:schemeClr val="accent1"/>
          </a:solidFill>
          <a:ln w="12700">
            <a:solidFill>
              <a:schemeClr val="accent1"/>
            </a:solidFill>
            <a:prstDash val="solid"/>
          </a:ln>
        </p:spPr>
      </p:sp>
      <p:pic>
        <p:nvPicPr>
          <p:cNvPr id="7" name="icon-286" descr="preencoded.png"/>
          <p:cNvPicPr>
            <a:picLocks noChangeAspect="1"/>
          </p:cNvPicPr>
          <p:nvPr/>
        </p:nvPicPr>
        <p:blipFill>
          <a:blip r:embed="rId3"/>
          <a:stretch>
            <a:fillRect/>
          </a:stretch>
        </p:blipFill>
        <p:spPr>
          <a:xfrm>
            <a:off x="1677375" y="1567647"/>
            <a:ext cx="266273" cy="266273"/>
          </a:xfrm>
          <a:prstGeom prst="rect">
            <a:avLst/>
          </a:prstGeom>
        </p:spPr>
      </p:pic>
      <p:sp>
        <p:nvSpPr>
          <p:cNvPr id="8" name="Text 4"/>
          <p:cNvSpPr txBox="1"/>
          <p:nvPr/>
        </p:nvSpPr>
        <p:spPr>
          <a:xfrm>
            <a:off x="2286000" y="1280160"/>
            <a:ext cx="3017520" cy="841248"/>
          </a:xfrm>
          <a:prstGeom prst="rect">
            <a:avLst/>
          </a:prstGeom>
          <a:noFill/>
          <a:ln/>
        </p:spPr>
        <p:txBody>
          <a:bodyPr wrap="square" lIns="0" tIns="0" rIns="0" bIns="0" rtlCol="0" anchor="ctr"/>
          <a:lstStyle/>
          <a:p>
            <a:pPr marL="0" indent="0">
              <a:buNone/>
            </a:pPr>
            <a:r>
              <a:rPr lang="en-US" sz="1800" b="1" dirty="0">
                <a:solidFill>
                  <a:schemeClr val="tx2"/>
                </a:solidFill>
              </a:rPr>
              <a:t>Walking on hardware</a:t>
            </a:r>
            <a:endParaRPr lang="en-US" sz="1800" dirty="0"/>
          </a:p>
        </p:txBody>
      </p:sp>
      <p:sp>
        <p:nvSpPr>
          <p:cNvPr id="9" name="Text 5"/>
          <p:cNvSpPr txBox="1"/>
          <p:nvPr/>
        </p:nvSpPr>
        <p:spPr>
          <a:xfrm>
            <a:off x="5349240" y="1280160"/>
            <a:ext cx="6126480" cy="841248"/>
          </a:xfrm>
          <a:prstGeom prst="rect">
            <a:avLst/>
          </a:prstGeom>
          <a:noFill/>
          <a:ln/>
        </p:spPr>
        <p:txBody>
          <a:bodyPr wrap="square" lIns="0" tIns="0" rIns="0" bIns="0" rtlCol="0" anchor="ctr"/>
          <a:lstStyle/>
          <a:p>
            <a:pPr marL="0" indent="0">
              <a:buNone/>
            </a:pPr>
            <a:r>
              <a:rPr lang="en-US" sz="1500" dirty="0">
                <a:solidFill>
                  <a:schemeClr val="tx1"/>
                </a:solidFill>
              </a:rPr>
              <a:t>Dedicated 6 V servo supply; measure torque and voltage under load; CoM footholds and a lower stance; step in place, then walk below 0.18 m/s</a:t>
            </a:r>
            <a:endParaRPr lang="en-US" sz="1500" dirty="0"/>
          </a:p>
        </p:txBody>
      </p:sp>
      <p:sp>
        <p:nvSpPr>
          <p:cNvPr id="10" name="panel-287"/>
          <p:cNvSpPr/>
          <p:nvPr/>
        </p:nvSpPr>
        <p:spPr>
          <a:xfrm>
            <a:off x="548640" y="2258568"/>
            <a:ext cx="11064240" cy="841248"/>
          </a:xfrm>
          <a:prstGeom prst="roundRect">
            <a:avLst>
              <a:gd name="adj" fmla="val 10870"/>
            </a:avLst>
          </a:prstGeom>
          <a:solidFill>
            <a:schemeClr val="bg1"/>
          </a:solidFill>
          <a:ln w="12700">
            <a:solidFill>
              <a:schemeClr val="bg1"/>
            </a:solidFill>
            <a:prstDash val="solid"/>
          </a:ln>
        </p:spPr>
      </p:sp>
      <p:sp>
        <p:nvSpPr>
          <p:cNvPr id="11" name="Text 7"/>
          <p:cNvSpPr txBox="1"/>
          <p:nvPr/>
        </p:nvSpPr>
        <p:spPr>
          <a:xfrm>
            <a:off x="777240" y="2258568"/>
            <a:ext cx="731520" cy="841248"/>
          </a:xfrm>
          <a:prstGeom prst="rect">
            <a:avLst/>
          </a:prstGeom>
          <a:noFill/>
          <a:ln/>
        </p:spPr>
        <p:txBody>
          <a:bodyPr wrap="square" lIns="0" tIns="0" rIns="0" bIns="0" rtlCol="0" anchor="ctr"/>
          <a:lstStyle/>
          <a:p>
            <a:pPr marL="0" indent="0">
              <a:buNone/>
            </a:pPr>
            <a:r>
              <a:rPr lang="en-US" sz="2600" b="1" dirty="0">
                <a:solidFill>
                  <a:schemeClr val="accent2"/>
                </a:solidFill>
                <a:latin typeface="Cambria" pitchFamily="34" charset="0"/>
                <a:ea typeface="Cambria" pitchFamily="34" charset="-122"/>
                <a:cs typeface="Cambria" pitchFamily="34" charset="-120"/>
              </a:rPr>
              <a:t>02</a:t>
            </a:r>
            <a:endParaRPr lang="en-US" sz="2600" dirty="0"/>
          </a:p>
        </p:txBody>
      </p:sp>
      <p:sp>
        <p:nvSpPr>
          <p:cNvPr id="12" name="icon-bg-288"/>
          <p:cNvSpPr/>
          <p:nvPr/>
        </p:nvSpPr>
        <p:spPr>
          <a:xfrm>
            <a:off x="1554480" y="2423160"/>
            <a:ext cx="512064" cy="512064"/>
          </a:xfrm>
          <a:prstGeom prst="ellipse">
            <a:avLst/>
          </a:prstGeom>
          <a:solidFill>
            <a:schemeClr val="accent1"/>
          </a:solidFill>
          <a:ln w="12700">
            <a:solidFill>
              <a:schemeClr val="accent1"/>
            </a:solidFill>
            <a:prstDash val="solid"/>
          </a:ln>
        </p:spPr>
      </p:sp>
      <p:pic>
        <p:nvPicPr>
          <p:cNvPr id="13" name="icon-289" descr="preencoded.png"/>
          <p:cNvPicPr>
            <a:picLocks noChangeAspect="1"/>
          </p:cNvPicPr>
          <p:nvPr/>
        </p:nvPicPr>
        <p:blipFill>
          <a:blip r:embed="rId4"/>
          <a:stretch>
            <a:fillRect/>
          </a:stretch>
        </p:blipFill>
        <p:spPr>
          <a:xfrm>
            <a:off x="1677375" y="2546055"/>
            <a:ext cx="266273" cy="266273"/>
          </a:xfrm>
          <a:prstGeom prst="rect">
            <a:avLst/>
          </a:prstGeom>
        </p:spPr>
      </p:pic>
      <p:sp>
        <p:nvSpPr>
          <p:cNvPr id="14" name="Text 9"/>
          <p:cNvSpPr txBox="1"/>
          <p:nvPr/>
        </p:nvSpPr>
        <p:spPr>
          <a:xfrm>
            <a:off x="2286000" y="2258568"/>
            <a:ext cx="3017520" cy="841248"/>
          </a:xfrm>
          <a:prstGeom prst="rect">
            <a:avLst/>
          </a:prstGeom>
          <a:noFill/>
          <a:ln/>
        </p:spPr>
        <p:txBody>
          <a:bodyPr wrap="square" lIns="0" tIns="0" rIns="0" bIns="0" rtlCol="0" anchor="ctr"/>
          <a:lstStyle/>
          <a:p>
            <a:pPr marL="0" indent="0">
              <a:buNone/>
            </a:pPr>
            <a:r>
              <a:rPr lang="en-US" sz="1800" b="1" dirty="0">
                <a:solidFill>
                  <a:schemeClr val="tx2"/>
                </a:solidFill>
              </a:rPr>
              <a:t>Complete the sensor set</a:t>
            </a:r>
            <a:endParaRPr lang="en-US" sz="1800" dirty="0"/>
          </a:p>
        </p:txBody>
      </p:sp>
      <p:sp>
        <p:nvSpPr>
          <p:cNvPr id="15" name="Text 10"/>
          <p:cNvSpPr txBox="1"/>
          <p:nvPr/>
        </p:nvSpPr>
        <p:spPr>
          <a:xfrm>
            <a:off x="5349240" y="2258568"/>
            <a:ext cx="6126480" cy="841248"/>
          </a:xfrm>
          <a:prstGeom prst="rect">
            <a:avLst/>
          </a:prstGeom>
          <a:noFill/>
          <a:ln/>
        </p:spPr>
        <p:txBody>
          <a:bodyPr wrap="square" lIns="0" tIns="0" rIns="0" bIns="0" rtlCol="0" anchor="ctr"/>
          <a:lstStyle/>
          <a:p>
            <a:pPr marL="0" indent="0">
              <a:buNone/>
            </a:pPr>
            <a:r>
              <a:rPr lang="en-US" sz="1500" dirty="0">
                <a:solidFill>
                  <a:schemeClr val="tx1"/>
                </a:solidFill>
              </a:rPr>
              <a:t>Wire both ultrasonic sensors; add a soil-moisture probe; calibrate gas and dust against reference instruments</a:t>
            </a:r>
            <a:endParaRPr lang="en-US" sz="1500" dirty="0"/>
          </a:p>
        </p:txBody>
      </p:sp>
      <p:sp>
        <p:nvSpPr>
          <p:cNvPr id="16" name="panel-290"/>
          <p:cNvSpPr/>
          <p:nvPr/>
        </p:nvSpPr>
        <p:spPr>
          <a:xfrm>
            <a:off x="548640" y="3236976"/>
            <a:ext cx="11064240" cy="841248"/>
          </a:xfrm>
          <a:prstGeom prst="roundRect">
            <a:avLst>
              <a:gd name="adj" fmla="val 10870"/>
            </a:avLst>
          </a:prstGeom>
          <a:solidFill>
            <a:schemeClr val="bg2"/>
          </a:solidFill>
          <a:ln w="12700">
            <a:solidFill>
              <a:schemeClr val="bg2"/>
            </a:solidFill>
            <a:prstDash val="solid"/>
          </a:ln>
        </p:spPr>
      </p:sp>
      <p:sp>
        <p:nvSpPr>
          <p:cNvPr id="17" name="Text 12"/>
          <p:cNvSpPr txBox="1"/>
          <p:nvPr/>
        </p:nvSpPr>
        <p:spPr>
          <a:xfrm>
            <a:off x="777240" y="3236976"/>
            <a:ext cx="731520" cy="841248"/>
          </a:xfrm>
          <a:prstGeom prst="rect">
            <a:avLst/>
          </a:prstGeom>
          <a:noFill/>
          <a:ln/>
        </p:spPr>
        <p:txBody>
          <a:bodyPr wrap="square" lIns="0" tIns="0" rIns="0" bIns="0" rtlCol="0" anchor="ctr"/>
          <a:lstStyle/>
          <a:p>
            <a:pPr marL="0" indent="0">
              <a:buNone/>
            </a:pPr>
            <a:r>
              <a:rPr lang="en-US" sz="2600" b="1" dirty="0">
                <a:solidFill>
                  <a:schemeClr val="accent2"/>
                </a:solidFill>
                <a:latin typeface="Cambria" pitchFamily="34" charset="0"/>
                <a:ea typeface="Cambria" pitchFamily="34" charset="-122"/>
                <a:cs typeface="Cambria" pitchFamily="34" charset="-120"/>
              </a:rPr>
              <a:t>03</a:t>
            </a:r>
            <a:endParaRPr lang="en-US" sz="2600" dirty="0"/>
          </a:p>
        </p:txBody>
      </p:sp>
      <p:sp>
        <p:nvSpPr>
          <p:cNvPr id="18" name="icon-bg-291"/>
          <p:cNvSpPr/>
          <p:nvPr/>
        </p:nvSpPr>
        <p:spPr>
          <a:xfrm>
            <a:off x="1554480" y="3401568"/>
            <a:ext cx="512064" cy="512064"/>
          </a:xfrm>
          <a:prstGeom prst="ellipse">
            <a:avLst/>
          </a:prstGeom>
          <a:solidFill>
            <a:schemeClr val="accent1"/>
          </a:solidFill>
          <a:ln w="12700">
            <a:solidFill>
              <a:schemeClr val="accent1"/>
            </a:solidFill>
            <a:prstDash val="solid"/>
          </a:ln>
        </p:spPr>
      </p:sp>
      <p:pic>
        <p:nvPicPr>
          <p:cNvPr id="19" name="icon-292" descr="preencoded.png"/>
          <p:cNvPicPr>
            <a:picLocks noChangeAspect="1"/>
          </p:cNvPicPr>
          <p:nvPr/>
        </p:nvPicPr>
        <p:blipFill>
          <a:blip r:embed="rId5"/>
          <a:stretch>
            <a:fillRect/>
          </a:stretch>
        </p:blipFill>
        <p:spPr>
          <a:xfrm>
            <a:off x="1677375" y="3524463"/>
            <a:ext cx="266273" cy="266273"/>
          </a:xfrm>
          <a:prstGeom prst="rect">
            <a:avLst/>
          </a:prstGeom>
        </p:spPr>
      </p:pic>
      <p:sp>
        <p:nvSpPr>
          <p:cNvPr id="20" name="Text 14"/>
          <p:cNvSpPr txBox="1"/>
          <p:nvPr/>
        </p:nvSpPr>
        <p:spPr>
          <a:xfrm>
            <a:off x="2286000" y="3236976"/>
            <a:ext cx="3017520" cy="841248"/>
          </a:xfrm>
          <a:prstGeom prst="rect">
            <a:avLst/>
          </a:prstGeom>
          <a:noFill/>
          <a:ln/>
        </p:spPr>
        <p:txBody>
          <a:bodyPr wrap="square" lIns="0" tIns="0" rIns="0" bIns="0" rtlCol="0" anchor="ctr"/>
          <a:lstStyle/>
          <a:p>
            <a:pPr marL="0" indent="0">
              <a:buNone/>
            </a:pPr>
            <a:r>
              <a:rPr lang="en-US" sz="1800" b="1" dirty="0">
                <a:solidFill>
                  <a:schemeClr val="tx2"/>
                </a:solidFill>
              </a:rPr>
              <a:t>Act on measurements</a:t>
            </a:r>
            <a:endParaRPr lang="en-US" sz="1800" dirty="0"/>
          </a:p>
        </p:txBody>
      </p:sp>
      <p:sp>
        <p:nvSpPr>
          <p:cNvPr id="21" name="Text 15"/>
          <p:cNvSpPr txBox="1"/>
          <p:nvPr/>
        </p:nvSpPr>
        <p:spPr>
          <a:xfrm>
            <a:off x="5349240" y="3236976"/>
            <a:ext cx="6126480" cy="841248"/>
          </a:xfrm>
          <a:prstGeom prst="rect">
            <a:avLst/>
          </a:prstGeom>
          <a:noFill/>
          <a:ln/>
        </p:spPr>
        <p:txBody>
          <a:bodyPr wrap="square" lIns="0" tIns="0" rIns="0" bIns="0" rtlCol="0" anchor="ctr"/>
          <a:lstStyle/>
          <a:p>
            <a:pPr marL="0" indent="0">
              <a:buNone/>
            </a:pPr>
            <a:r>
              <a:rPr lang="en-US" sz="1500" dirty="0">
                <a:solidFill>
                  <a:schemeClr val="tx1"/>
                </a:solidFill>
              </a:rPr>
              <a:t>Grove relay to switch an irrigation pump or raise a gas alarm from the dashboard</a:t>
            </a:r>
            <a:endParaRPr lang="en-US" sz="1500" dirty="0"/>
          </a:p>
        </p:txBody>
      </p:sp>
      <p:sp>
        <p:nvSpPr>
          <p:cNvPr id="22" name="panel-293"/>
          <p:cNvSpPr/>
          <p:nvPr/>
        </p:nvSpPr>
        <p:spPr>
          <a:xfrm>
            <a:off x="548640" y="4215384"/>
            <a:ext cx="11064240" cy="841248"/>
          </a:xfrm>
          <a:prstGeom prst="roundRect">
            <a:avLst>
              <a:gd name="adj" fmla="val 10870"/>
            </a:avLst>
          </a:prstGeom>
          <a:solidFill>
            <a:schemeClr val="bg1"/>
          </a:solidFill>
          <a:ln w="12700">
            <a:solidFill>
              <a:schemeClr val="bg1"/>
            </a:solidFill>
            <a:prstDash val="solid"/>
          </a:ln>
        </p:spPr>
      </p:sp>
      <p:sp>
        <p:nvSpPr>
          <p:cNvPr id="23" name="Text 17"/>
          <p:cNvSpPr txBox="1"/>
          <p:nvPr/>
        </p:nvSpPr>
        <p:spPr>
          <a:xfrm>
            <a:off x="777240" y="4215384"/>
            <a:ext cx="731520" cy="841248"/>
          </a:xfrm>
          <a:prstGeom prst="rect">
            <a:avLst/>
          </a:prstGeom>
          <a:noFill/>
          <a:ln/>
        </p:spPr>
        <p:txBody>
          <a:bodyPr wrap="square" lIns="0" tIns="0" rIns="0" bIns="0" rtlCol="0" anchor="ctr"/>
          <a:lstStyle/>
          <a:p>
            <a:pPr marL="0" indent="0">
              <a:buNone/>
            </a:pPr>
            <a:r>
              <a:rPr lang="en-US" sz="2600" b="1" dirty="0">
                <a:solidFill>
                  <a:schemeClr val="accent2"/>
                </a:solidFill>
                <a:latin typeface="Cambria" pitchFamily="34" charset="0"/>
                <a:ea typeface="Cambria" pitchFamily="34" charset="-122"/>
                <a:cs typeface="Cambria" pitchFamily="34" charset="-120"/>
              </a:rPr>
              <a:t>04</a:t>
            </a:r>
            <a:endParaRPr lang="en-US" sz="2600" dirty="0"/>
          </a:p>
        </p:txBody>
      </p:sp>
      <p:sp>
        <p:nvSpPr>
          <p:cNvPr id="24" name="icon-bg-294"/>
          <p:cNvSpPr/>
          <p:nvPr/>
        </p:nvSpPr>
        <p:spPr>
          <a:xfrm>
            <a:off x="1554480" y="4379976"/>
            <a:ext cx="512064" cy="512064"/>
          </a:xfrm>
          <a:prstGeom prst="ellipse">
            <a:avLst/>
          </a:prstGeom>
          <a:solidFill>
            <a:schemeClr val="accent1"/>
          </a:solidFill>
          <a:ln w="12700">
            <a:solidFill>
              <a:schemeClr val="accent1"/>
            </a:solidFill>
            <a:prstDash val="solid"/>
          </a:ln>
        </p:spPr>
      </p:sp>
      <p:pic>
        <p:nvPicPr>
          <p:cNvPr id="25" name="icon-295" descr="preencoded.png"/>
          <p:cNvPicPr>
            <a:picLocks noChangeAspect="1"/>
          </p:cNvPicPr>
          <p:nvPr/>
        </p:nvPicPr>
        <p:blipFill>
          <a:blip r:embed="rId6"/>
          <a:stretch>
            <a:fillRect/>
          </a:stretch>
        </p:blipFill>
        <p:spPr>
          <a:xfrm>
            <a:off x="1677375" y="4502871"/>
            <a:ext cx="266273" cy="266273"/>
          </a:xfrm>
          <a:prstGeom prst="rect">
            <a:avLst/>
          </a:prstGeom>
        </p:spPr>
      </p:pic>
      <p:sp>
        <p:nvSpPr>
          <p:cNvPr id="26" name="Text 19"/>
          <p:cNvSpPr txBox="1"/>
          <p:nvPr/>
        </p:nvSpPr>
        <p:spPr>
          <a:xfrm>
            <a:off x="2286000" y="4215384"/>
            <a:ext cx="3017520" cy="841248"/>
          </a:xfrm>
          <a:prstGeom prst="rect">
            <a:avLst/>
          </a:prstGeom>
          <a:noFill/>
          <a:ln/>
        </p:spPr>
        <p:txBody>
          <a:bodyPr wrap="square" lIns="0" tIns="0" rIns="0" bIns="0" rtlCol="0" anchor="ctr"/>
          <a:lstStyle/>
          <a:p>
            <a:pPr marL="0" indent="0">
              <a:buNone/>
            </a:pPr>
            <a:r>
              <a:rPr lang="en-US" sz="1800" b="1" dirty="0">
                <a:solidFill>
                  <a:schemeClr val="tx2"/>
                </a:solidFill>
              </a:rPr>
              <a:t>Field-ready classification</a:t>
            </a:r>
            <a:endParaRPr lang="en-US" sz="1800" dirty="0"/>
          </a:p>
        </p:txBody>
      </p:sp>
      <p:sp>
        <p:nvSpPr>
          <p:cNvPr id="27" name="Text 20"/>
          <p:cNvSpPr txBox="1"/>
          <p:nvPr/>
        </p:nvSpPr>
        <p:spPr>
          <a:xfrm>
            <a:off x="5349240" y="4215384"/>
            <a:ext cx="6126480" cy="841248"/>
          </a:xfrm>
          <a:prstGeom prst="rect">
            <a:avLst/>
          </a:prstGeom>
          <a:noFill/>
          <a:ln/>
        </p:spPr>
        <p:txBody>
          <a:bodyPr wrap="square" lIns="0" tIns="0" rIns="0" bIns="0" rtlCol="0" anchor="ctr"/>
          <a:lstStyle/>
          <a:p>
            <a:pPr marL="0" indent="0">
              <a:buNone/>
            </a:pPr>
            <a:r>
              <a:rPr lang="en-US" sz="1500" dirty="0">
                <a:solidFill>
                  <a:schemeClr val="tx1"/>
                </a:solidFill>
              </a:rPr>
              <a:t>Fine-tune on images from the robot's camera; replace the colour gate with a learned open-set detector</a:t>
            </a:r>
            <a:endParaRPr lang="en-US" sz="1500" dirty="0"/>
          </a:p>
        </p:txBody>
      </p:sp>
      <p:sp>
        <p:nvSpPr>
          <p:cNvPr id="28" name="panel-296"/>
          <p:cNvSpPr/>
          <p:nvPr/>
        </p:nvSpPr>
        <p:spPr>
          <a:xfrm>
            <a:off x="548640" y="5193792"/>
            <a:ext cx="11064240" cy="841248"/>
          </a:xfrm>
          <a:prstGeom prst="roundRect">
            <a:avLst>
              <a:gd name="adj" fmla="val 10870"/>
            </a:avLst>
          </a:prstGeom>
          <a:solidFill>
            <a:schemeClr val="bg2"/>
          </a:solidFill>
          <a:ln w="12700">
            <a:solidFill>
              <a:schemeClr val="bg2"/>
            </a:solidFill>
            <a:prstDash val="solid"/>
          </a:ln>
        </p:spPr>
      </p:sp>
      <p:sp>
        <p:nvSpPr>
          <p:cNvPr id="29" name="Text 22"/>
          <p:cNvSpPr txBox="1"/>
          <p:nvPr/>
        </p:nvSpPr>
        <p:spPr>
          <a:xfrm>
            <a:off x="777240" y="5193792"/>
            <a:ext cx="731520" cy="841248"/>
          </a:xfrm>
          <a:prstGeom prst="rect">
            <a:avLst/>
          </a:prstGeom>
          <a:noFill/>
          <a:ln/>
        </p:spPr>
        <p:txBody>
          <a:bodyPr wrap="square" lIns="0" tIns="0" rIns="0" bIns="0" rtlCol="0" anchor="ctr"/>
          <a:lstStyle/>
          <a:p>
            <a:pPr marL="0" indent="0">
              <a:buNone/>
            </a:pPr>
            <a:r>
              <a:rPr lang="en-US" sz="2600" b="1" dirty="0">
                <a:solidFill>
                  <a:schemeClr val="accent2"/>
                </a:solidFill>
                <a:latin typeface="Cambria" pitchFamily="34" charset="0"/>
                <a:ea typeface="Cambria" pitchFamily="34" charset="-122"/>
                <a:cs typeface="Cambria" pitchFamily="34" charset="-120"/>
              </a:rPr>
              <a:t>05</a:t>
            </a:r>
            <a:endParaRPr lang="en-US" sz="2600" dirty="0"/>
          </a:p>
        </p:txBody>
      </p:sp>
      <p:sp>
        <p:nvSpPr>
          <p:cNvPr id="30" name="icon-bg-297"/>
          <p:cNvSpPr/>
          <p:nvPr/>
        </p:nvSpPr>
        <p:spPr>
          <a:xfrm>
            <a:off x="1554480" y="5358384"/>
            <a:ext cx="512064" cy="512064"/>
          </a:xfrm>
          <a:prstGeom prst="ellipse">
            <a:avLst/>
          </a:prstGeom>
          <a:solidFill>
            <a:schemeClr val="accent1"/>
          </a:solidFill>
          <a:ln w="12700">
            <a:solidFill>
              <a:schemeClr val="accent1"/>
            </a:solidFill>
            <a:prstDash val="solid"/>
          </a:ln>
        </p:spPr>
      </p:sp>
      <p:pic>
        <p:nvPicPr>
          <p:cNvPr id="31" name="icon-298" descr="preencoded.png"/>
          <p:cNvPicPr>
            <a:picLocks noChangeAspect="1"/>
          </p:cNvPicPr>
          <p:nvPr/>
        </p:nvPicPr>
        <p:blipFill>
          <a:blip r:embed="rId7"/>
          <a:stretch>
            <a:fillRect/>
          </a:stretch>
        </p:blipFill>
        <p:spPr>
          <a:xfrm>
            <a:off x="1677375" y="5481279"/>
            <a:ext cx="266273" cy="266273"/>
          </a:xfrm>
          <a:prstGeom prst="rect">
            <a:avLst/>
          </a:prstGeom>
        </p:spPr>
      </p:pic>
      <p:sp>
        <p:nvSpPr>
          <p:cNvPr id="32" name="Text 24"/>
          <p:cNvSpPr txBox="1"/>
          <p:nvPr/>
        </p:nvSpPr>
        <p:spPr>
          <a:xfrm>
            <a:off x="2286000" y="5193792"/>
            <a:ext cx="3017520" cy="841248"/>
          </a:xfrm>
          <a:prstGeom prst="rect">
            <a:avLst/>
          </a:prstGeom>
          <a:noFill/>
          <a:ln/>
        </p:spPr>
        <p:txBody>
          <a:bodyPr wrap="square" lIns="0" tIns="0" rIns="0" bIns="0" rtlCol="0" anchor="ctr"/>
          <a:lstStyle/>
          <a:p>
            <a:pPr marL="0" indent="0">
              <a:buNone/>
            </a:pPr>
            <a:r>
              <a:rPr lang="en-US" sz="1800" b="1" dirty="0">
                <a:solidFill>
                  <a:schemeClr val="tx2"/>
                </a:solidFill>
              </a:rPr>
              <a:t>Mapping and autonomy</a:t>
            </a:r>
            <a:endParaRPr lang="en-US" sz="1800" dirty="0"/>
          </a:p>
        </p:txBody>
      </p:sp>
      <p:sp>
        <p:nvSpPr>
          <p:cNvPr id="33" name="Text 25"/>
          <p:cNvSpPr txBox="1"/>
          <p:nvPr/>
        </p:nvSpPr>
        <p:spPr>
          <a:xfrm>
            <a:off x="5349240" y="5193792"/>
            <a:ext cx="6126480" cy="841248"/>
          </a:xfrm>
          <a:prstGeom prst="rect">
            <a:avLst/>
          </a:prstGeom>
          <a:noFill/>
          <a:ln/>
        </p:spPr>
        <p:txBody>
          <a:bodyPr wrap="square" lIns="0" tIns="0" rIns="0" bIns="0" rtlCol="0" anchor="ctr"/>
          <a:lstStyle/>
          <a:p>
            <a:pPr marL="0" indent="0">
              <a:buNone/>
            </a:pPr>
            <a:r>
              <a:rPr lang="en-US" sz="1500" dirty="0">
                <a:solidFill>
                  <a:schemeClr val="tx1"/>
                </a:solidFill>
              </a:rPr>
              <a:t>Compensate for the SGP30's lag; log positions to build field maps; battery for untethered runs</a:t>
            </a:r>
            <a:endParaRPr lang="en-US" sz="1500" dirty="0"/>
          </a:p>
        </p:txBody>
      </p:sp>
      <p:sp>
        <p:nvSpPr>
          <p:cNvPr id="3"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Conclusion</a:t>
            </a:r>
            <a:endParaRPr lang="en-US" sz="3000" dirty="0"/>
          </a:p>
        </p:txBody>
      </p:sp>
      <p:sp>
        <p:nvSpPr>
          <p:cNvPr id="4" name="icon-bg-299"/>
          <p:cNvSpPr/>
          <p:nvPr/>
        </p:nvSpPr>
        <p:spPr>
          <a:xfrm>
            <a:off x="548640" y="1325880"/>
            <a:ext cx="603504" cy="603504"/>
          </a:xfrm>
          <a:prstGeom prst="ellipse">
            <a:avLst/>
          </a:prstGeom>
          <a:solidFill>
            <a:schemeClr val="accent1"/>
          </a:solidFill>
          <a:ln w="12700">
            <a:solidFill>
              <a:schemeClr val="accent1"/>
            </a:solidFill>
            <a:prstDash val="solid"/>
          </a:ln>
        </p:spPr>
      </p:sp>
      <p:pic>
        <p:nvPicPr>
          <p:cNvPr id="5" name="icon-300" descr="preencoded.png"/>
          <p:cNvPicPr>
            <a:picLocks noChangeAspect="1"/>
          </p:cNvPicPr>
          <p:nvPr/>
        </p:nvPicPr>
        <p:blipFill>
          <a:blip r:embed="rId3"/>
          <a:stretch>
            <a:fillRect/>
          </a:stretch>
        </p:blipFill>
        <p:spPr>
          <a:xfrm>
            <a:off x="693481" y="1470721"/>
            <a:ext cx="313822" cy="313822"/>
          </a:xfrm>
          <a:prstGeom prst="rect">
            <a:avLst/>
          </a:prstGeom>
        </p:spPr>
      </p:pic>
      <p:sp>
        <p:nvSpPr>
          <p:cNvPr id="6" name="Text 2"/>
          <p:cNvSpPr txBox="1"/>
          <p:nvPr/>
        </p:nvSpPr>
        <p:spPr>
          <a:xfrm>
            <a:off x="1371600" y="1307592"/>
            <a:ext cx="10058400" cy="411480"/>
          </a:xfrm>
          <a:prstGeom prst="rect">
            <a:avLst/>
          </a:prstGeom>
          <a:noFill/>
          <a:ln/>
        </p:spPr>
        <p:txBody>
          <a:bodyPr wrap="square" lIns="0" tIns="0" rIns="0" bIns="0" rtlCol="0" anchor="t"/>
          <a:lstStyle/>
          <a:p>
            <a:pPr marL="0" indent="0">
              <a:buNone/>
            </a:pPr>
            <a:r>
              <a:rPr lang="en-US" sz="1900" b="1" dirty="0">
                <a:solidFill>
                  <a:schemeClr val="tx2"/>
                </a:solidFill>
              </a:rPr>
              <a:t>Sensing works end to end</a:t>
            </a:r>
            <a:endParaRPr lang="en-US" sz="1900" dirty="0"/>
          </a:p>
        </p:txBody>
      </p:sp>
      <p:sp>
        <p:nvSpPr>
          <p:cNvPr id="7" name="Text 3"/>
          <p:cNvSpPr txBox="1"/>
          <p:nvPr/>
        </p:nvSpPr>
        <p:spPr>
          <a:xfrm>
            <a:off x="1371600" y="1737360"/>
            <a:ext cx="10058400" cy="548640"/>
          </a:xfrm>
          <a:prstGeom prst="rect">
            <a:avLst/>
          </a:prstGeom>
          <a:noFill/>
          <a:ln/>
        </p:spPr>
        <p:txBody>
          <a:bodyPr wrap="square" lIns="0" tIns="0" rIns="0" bIns="0" rtlCol="0" anchor="t"/>
          <a:lstStyle/>
          <a:p>
            <a:pPr marL="0" indent="0">
              <a:buNone/>
            </a:pPr>
            <a:r>
              <a:rPr lang="en-US" sz="1600" dirty="0">
                <a:solidFill>
                  <a:schemeClr val="tx1"/>
                </a:solidFill>
              </a:rPr>
              <a:t>Two wireless nodes, a live dashboard with logging, and leaf-disease classification that refuses to guess without a leaf</a:t>
            </a:r>
            <a:endParaRPr lang="en-US" sz="1600" dirty="0"/>
          </a:p>
        </p:txBody>
      </p:sp>
      <p:sp>
        <p:nvSpPr>
          <p:cNvPr id="8" name="icon-bg-301"/>
          <p:cNvSpPr/>
          <p:nvPr/>
        </p:nvSpPr>
        <p:spPr>
          <a:xfrm>
            <a:off x="548640" y="2404872"/>
            <a:ext cx="603504" cy="603504"/>
          </a:xfrm>
          <a:prstGeom prst="ellipse">
            <a:avLst/>
          </a:prstGeom>
          <a:solidFill>
            <a:schemeClr val="accent1"/>
          </a:solidFill>
          <a:ln w="12700">
            <a:solidFill>
              <a:schemeClr val="accent1"/>
            </a:solidFill>
            <a:prstDash val="solid"/>
          </a:ln>
        </p:spPr>
      </p:sp>
      <p:pic>
        <p:nvPicPr>
          <p:cNvPr id="9" name="icon-302" descr="preencoded.png"/>
          <p:cNvPicPr>
            <a:picLocks noChangeAspect="1"/>
          </p:cNvPicPr>
          <p:nvPr/>
        </p:nvPicPr>
        <p:blipFill>
          <a:blip r:embed="rId4"/>
          <a:stretch>
            <a:fillRect/>
          </a:stretch>
        </p:blipFill>
        <p:spPr>
          <a:xfrm>
            <a:off x="693481" y="2549713"/>
            <a:ext cx="313822" cy="313822"/>
          </a:xfrm>
          <a:prstGeom prst="rect">
            <a:avLst/>
          </a:prstGeom>
        </p:spPr>
      </p:pic>
      <p:sp>
        <p:nvSpPr>
          <p:cNvPr id="10" name="Text 5"/>
          <p:cNvSpPr txBox="1"/>
          <p:nvPr/>
        </p:nvSpPr>
        <p:spPr>
          <a:xfrm>
            <a:off x="1371600" y="2386584"/>
            <a:ext cx="10058400" cy="411480"/>
          </a:xfrm>
          <a:prstGeom prst="rect">
            <a:avLst/>
          </a:prstGeom>
          <a:noFill/>
          <a:ln/>
        </p:spPr>
        <p:txBody>
          <a:bodyPr wrap="square" lIns="0" tIns="0" rIns="0" bIns="0" rtlCol="0" anchor="t"/>
          <a:lstStyle/>
          <a:p>
            <a:pPr marL="0" indent="0">
              <a:buNone/>
            </a:pPr>
            <a:r>
              <a:rPr lang="en-US" sz="1900" b="1" dirty="0">
                <a:solidFill>
                  <a:schemeClr val="tx2"/>
                </a:solidFill>
              </a:rPr>
              <a:t>Locomotion validated in physics</a:t>
            </a:r>
            <a:endParaRPr lang="en-US" sz="1900" dirty="0"/>
          </a:p>
        </p:txBody>
      </p:sp>
      <p:sp>
        <p:nvSpPr>
          <p:cNvPr id="11" name="Text 6"/>
          <p:cNvSpPr txBox="1"/>
          <p:nvPr/>
        </p:nvSpPr>
        <p:spPr>
          <a:xfrm>
            <a:off x="1371600" y="2816352"/>
            <a:ext cx="10058400" cy="548640"/>
          </a:xfrm>
          <a:prstGeom prst="rect">
            <a:avLst/>
          </a:prstGeom>
          <a:noFill/>
          <a:ln/>
        </p:spPr>
        <p:txBody>
          <a:bodyPr wrap="square" lIns="0" tIns="0" rIns="0" bIns="0" rtlCol="0" anchor="t"/>
          <a:lstStyle/>
          <a:p>
            <a:pPr marL="0" indent="0">
              <a:buNone/>
            </a:pPr>
            <a:r>
              <a:rPr lang="en-US" sz="1600" dirty="0">
                <a:solidFill>
                  <a:schemeClr val="tx1"/>
                </a:solidFill>
              </a:rPr>
              <a:t>A full autonomous row survey without a fall, with servos capped at their real torque</a:t>
            </a:r>
            <a:endParaRPr lang="en-US" sz="1600" dirty="0"/>
          </a:p>
        </p:txBody>
      </p:sp>
      <p:sp>
        <p:nvSpPr>
          <p:cNvPr id="12" name="icon-bg-303"/>
          <p:cNvSpPr/>
          <p:nvPr/>
        </p:nvSpPr>
        <p:spPr>
          <a:xfrm>
            <a:off x="548640" y="3483864"/>
            <a:ext cx="603504" cy="603504"/>
          </a:xfrm>
          <a:prstGeom prst="ellipse">
            <a:avLst/>
          </a:prstGeom>
          <a:solidFill>
            <a:schemeClr val="accent1"/>
          </a:solidFill>
          <a:ln w="12700">
            <a:solidFill>
              <a:schemeClr val="accent1"/>
            </a:solidFill>
            <a:prstDash val="solid"/>
          </a:ln>
        </p:spPr>
      </p:sp>
      <p:pic>
        <p:nvPicPr>
          <p:cNvPr id="13" name="icon-304" descr="preencoded.png"/>
          <p:cNvPicPr>
            <a:picLocks noChangeAspect="1"/>
          </p:cNvPicPr>
          <p:nvPr/>
        </p:nvPicPr>
        <p:blipFill>
          <a:blip r:embed="rId5"/>
          <a:stretch>
            <a:fillRect/>
          </a:stretch>
        </p:blipFill>
        <p:spPr>
          <a:xfrm>
            <a:off x="693481" y="3628705"/>
            <a:ext cx="313822" cy="313822"/>
          </a:xfrm>
          <a:prstGeom prst="rect">
            <a:avLst/>
          </a:prstGeom>
        </p:spPr>
      </p:pic>
      <p:sp>
        <p:nvSpPr>
          <p:cNvPr id="14" name="Text 8"/>
          <p:cNvSpPr txBox="1"/>
          <p:nvPr/>
        </p:nvSpPr>
        <p:spPr>
          <a:xfrm>
            <a:off x="1371600" y="3465576"/>
            <a:ext cx="10058400" cy="411480"/>
          </a:xfrm>
          <a:prstGeom prst="rect">
            <a:avLst/>
          </a:prstGeom>
          <a:noFill/>
          <a:ln/>
        </p:spPr>
        <p:txBody>
          <a:bodyPr wrap="square" lIns="0" tIns="0" rIns="0" bIns="0" rtlCol="0" anchor="t"/>
          <a:lstStyle/>
          <a:p>
            <a:pPr marL="0" indent="0">
              <a:buNone/>
            </a:pPr>
            <a:r>
              <a:rPr lang="en-US" sz="1900" b="1" dirty="0">
                <a:solidFill>
                  <a:schemeClr val="tx2"/>
                </a:solidFill>
              </a:rPr>
              <a:t>The printed robot moves</a:t>
            </a:r>
            <a:endParaRPr lang="en-US" sz="1900" dirty="0"/>
          </a:p>
        </p:txBody>
      </p:sp>
      <p:sp>
        <p:nvSpPr>
          <p:cNvPr id="15" name="Text 9"/>
          <p:cNvSpPr txBox="1"/>
          <p:nvPr/>
        </p:nvSpPr>
        <p:spPr>
          <a:xfrm>
            <a:off x="1371600" y="3895344"/>
            <a:ext cx="10058400" cy="548640"/>
          </a:xfrm>
          <a:prstGeom prst="rect">
            <a:avLst/>
          </a:prstGeom>
          <a:noFill/>
          <a:ln/>
        </p:spPr>
        <p:txBody>
          <a:bodyPr wrap="square" lIns="0" tIns="0" rIns="0" bIns="0" rtlCol="0" anchor="t"/>
          <a:lstStyle/>
          <a:p>
            <a:pPr marL="0" indent="0">
              <a:buNone/>
            </a:pPr>
            <a:r>
              <a:rPr lang="en-US" sz="1600" dirty="0">
                <a:solidFill>
                  <a:schemeClr val="tx1"/>
                </a:solidFill>
              </a:rPr>
              <a:t>All twelve servos drive the legs and it stands, with too little torque reserve to step, as predicted</a:t>
            </a:r>
            <a:endParaRPr lang="en-US" sz="1600" dirty="0"/>
          </a:p>
        </p:txBody>
      </p:sp>
      <p:sp>
        <p:nvSpPr>
          <p:cNvPr id="16" name="icon-bg-305"/>
          <p:cNvSpPr/>
          <p:nvPr/>
        </p:nvSpPr>
        <p:spPr>
          <a:xfrm>
            <a:off x="548640" y="4562856"/>
            <a:ext cx="603504" cy="603504"/>
          </a:xfrm>
          <a:prstGeom prst="ellipse">
            <a:avLst/>
          </a:prstGeom>
          <a:solidFill>
            <a:schemeClr val="accent1"/>
          </a:solidFill>
          <a:ln w="12700">
            <a:solidFill>
              <a:schemeClr val="accent1"/>
            </a:solidFill>
            <a:prstDash val="solid"/>
          </a:ln>
        </p:spPr>
      </p:sp>
      <p:pic>
        <p:nvPicPr>
          <p:cNvPr id="17" name="icon-306" descr="preencoded.png"/>
          <p:cNvPicPr>
            <a:picLocks noChangeAspect="1"/>
          </p:cNvPicPr>
          <p:nvPr/>
        </p:nvPicPr>
        <p:blipFill>
          <a:blip r:embed="rId6"/>
          <a:stretch>
            <a:fillRect/>
          </a:stretch>
        </p:blipFill>
        <p:spPr>
          <a:xfrm>
            <a:off x="693481" y="4707697"/>
            <a:ext cx="313822" cy="313822"/>
          </a:xfrm>
          <a:prstGeom prst="rect">
            <a:avLst/>
          </a:prstGeom>
        </p:spPr>
      </p:pic>
      <p:sp>
        <p:nvSpPr>
          <p:cNvPr id="18" name="Text 11"/>
          <p:cNvSpPr txBox="1"/>
          <p:nvPr/>
        </p:nvSpPr>
        <p:spPr>
          <a:xfrm>
            <a:off x="1371600" y="4544568"/>
            <a:ext cx="10058400" cy="411480"/>
          </a:xfrm>
          <a:prstGeom prst="rect">
            <a:avLst/>
          </a:prstGeom>
          <a:noFill/>
          <a:ln/>
        </p:spPr>
        <p:txBody>
          <a:bodyPr wrap="square" lIns="0" tIns="0" rIns="0" bIns="0" rtlCol="0" anchor="t"/>
          <a:lstStyle/>
          <a:p>
            <a:pPr marL="0" indent="0">
              <a:buNone/>
            </a:pPr>
            <a:r>
              <a:rPr lang="en-US" sz="1900" b="1" dirty="0">
                <a:solidFill>
                  <a:schemeClr val="tx2"/>
                </a:solidFill>
              </a:rPr>
              <a:t>Design rules for the next build</a:t>
            </a:r>
            <a:endParaRPr lang="en-US" sz="1900" dirty="0"/>
          </a:p>
        </p:txBody>
      </p:sp>
      <p:sp>
        <p:nvSpPr>
          <p:cNvPr id="19" name="Text 12"/>
          <p:cNvSpPr txBox="1"/>
          <p:nvPr/>
        </p:nvSpPr>
        <p:spPr>
          <a:xfrm>
            <a:off x="1371600" y="4974336"/>
            <a:ext cx="10058400" cy="548640"/>
          </a:xfrm>
          <a:prstGeom prst="rect">
            <a:avLst/>
          </a:prstGeom>
          <a:noFill/>
          <a:ln/>
        </p:spPr>
        <p:txBody>
          <a:bodyPr wrap="square" lIns="0" tIns="0" rIns="0" bIns="0" rtlCol="0" anchor="t"/>
          <a:lstStyle/>
          <a:p>
            <a:pPr marL="0" indent="0">
              <a:buNone/>
            </a:pPr>
            <a:r>
              <a:rPr lang="en-US" sz="1600" dirty="0">
                <a:solidFill>
                  <a:schemeClr val="tx1"/>
                </a:solidFill>
              </a:rPr>
              <a:t>Centre footholds on the centre of mass; expect about 0.18 m/s from MG996R servos</a:t>
            </a:r>
            <a:endParaRPr lang="en-US" sz="1600" dirty="0"/>
          </a:p>
        </p:txBody>
      </p:sp>
      <p:sp>
        <p:nvSpPr>
          <p:cNvPr id="20" name="panel-307"/>
          <p:cNvSpPr/>
          <p:nvPr/>
        </p:nvSpPr>
        <p:spPr>
          <a:xfrm>
            <a:off x="548640" y="5577840"/>
            <a:ext cx="11064240" cy="658368"/>
          </a:xfrm>
          <a:prstGeom prst="roundRect">
            <a:avLst>
              <a:gd name="adj" fmla="val 13889"/>
            </a:avLst>
          </a:prstGeom>
          <a:solidFill>
            <a:schemeClr val="bg2"/>
          </a:solidFill>
          <a:ln w="12700">
            <a:solidFill>
              <a:schemeClr val="bg2"/>
            </a:solidFill>
            <a:prstDash val="solid"/>
          </a:ln>
        </p:spPr>
      </p:sp>
      <p:sp>
        <p:nvSpPr>
          <p:cNvPr id="21" name="Text 14"/>
          <p:cNvSpPr txBox="1"/>
          <p:nvPr/>
        </p:nvSpPr>
        <p:spPr>
          <a:xfrm>
            <a:off x="777240" y="5577840"/>
            <a:ext cx="10607040" cy="658368"/>
          </a:xfrm>
          <a:prstGeom prst="rect">
            <a:avLst/>
          </a:prstGeom>
          <a:noFill/>
          <a:ln/>
        </p:spPr>
        <p:txBody>
          <a:bodyPr wrap="square" lIns="0" tIns="0" rIns="0" bIns="0" rtlCol="0" anchor="ctr"/>
          <a:lstStyle/>
          <a:p>
            <a:pPr marL="0" indent="0">
              <a:buNone/>
            </a:pPr>
            <a:r>
              <a:rPr lang="en-US" sz="1600" b="1" dirty="0">
                <a:solidFill>
                  <a:schemeClr val="tx2"/>
                </a:solidFill>
              </a:rPr>
              <a:t>Repository  </a:t>
            </a:r>
            <a:r>
              <a:rPr lang="en-US" sz="1600" dirty="0">
                <a:solidFill>
                  <a:schemeClr val="accent5"/>
                </a:solidFill>
              </a:rPr>
              <a:t>github.com/AdithyaSM31/Precision-Agriculture-Monitoring-Quadruped-Robot-Dog</a:t>
            </a:r>
            <a:endParaRPr lang="en-US" sz="160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References</a:t>
            </a:r>
            <a:endParaRPr lang="en-US" sz="3000" dirty="0"/>
          </a:p>
        </p:txBody>
      </p:sp>
      <p:sp>
        <p:nvSpPr>
          <p:cNvPr id="3" name="Text 1"/>
          <p:cNvSpPr txBox="1"/>
          <p:nvPr/>
        </p:nvSpPr>
        <p:spPr>
          <a:xfrm>
            <a:off x="548640" y="1188720"/>
            <a:ext cx="5440680" cy="5120640"/>
          </a:xfrm>
          <a:prstGeom prst="rect">
            <a:avLst/>
          </a:prstGeom>
          <a:noFill/>
          <a:ln/>
        </p:spPr>
        <p:txBody>
          <a:bodyPr wrap="square" lIns="0" tIns="0" rIns="0" bIns="0" rtlCol="0" anchor="t"/>
          <a:lstStyle/>
          <a:p>
            <a:pPr marL="0" indent="0">
              <a:spcAft>
                <a:spcPts val="400"/>
              </a:spcAft>
              <a:buNone/>
            </a:pPr>
            <a:r>
              <a:rPr lang="en-US" sz="1050" dirty="0">
                <a:solidFill>
                  <a:schemeClr val="tx1"/>
                </a:solidFill>
              </a:rPr>
              <a:t>[1] Bledt, G., et al. (2018). MIT Cheetah 3: Design and Control of a Robust, Dynamic Quadruped Robot. IEEE/RSJ IROS. DOI: 10.1109/IROS.2018.8593885</a:t>
            </a:r>
            <a:endParaRPr lang="en-US" sz="1050" dirty="0"/>
          </a:p>
          <a:p>
            <a:pPr marL="0" indent="0">
              <a:spcAft>
                <a:spcPts val="400"/>
              </a:spcAft>
              <a:buNone/>
            </a:pPr>
            <a:r>
              <a:rPr lang="en-US" sz="1050" dirty="0">
                <a:solidFill>
                  <a:schemeClr val="tx1"/>
                </a:solidFill>
              </a:rPr>
              <a:t>[2] Kau, N., et al. (2019). Stanford Doggo: An Open-Source, Quasi-Direct-Drive Quadruped. IEEE ICRA. DOI: 10.1109/ICRA.2019.8794436</a:t>
            </a:r>
            <a:endParaRPr lang="en-US" sz="1050" dirty="0"/>
          </a:p>
          <a:p>
            <a:pPr marL="0" indent="0">
              <a:spcAft>
                <a:spcPts val="400"/>
              </a:spcAft>
              <a:buNone/>
            </a:pPr>
            <a:r>
              <a:rPr lang="en-US" sz="1050" dirty="0">
                <a:solidFill>
                  <a:schemeClr val="tx1"/>
                </a:solidFill>
              </a:rPr>
              <a:t>[3] Katz, B., et al. (2019). Mini Cheetah: A Hardware Design for Extremity Locomotion. IEEE ICRA. DOI: 10.1109/ICRA.2019.8793865</a:t>
            </a:r>
            <a:endParaRPr lang="en-US" sz="1050" dirty="0"/>
          </a:p>
          <a:p>
            <a:pPr marL="0" indent="0">
              <a:spcAft>
                <a:spcPts val="400"/>
              </a:spcAft>
              <a:buNone/>
            </a:pPr>
            <a:r>
              <a:rPr lang="en-US" sz="1050" dirty="0">
                <a:solidFill>
                  <a:schemeClr val="tx1"/>
                </a:solidFill>
              </a:rPr>
              <a:t>[4] Hutter, M., et al. (2016). ANYmal — A Unique Quadruped Robot for Autonomous Operation. IEEE/RSJ IROS. DOI: 10.1109/IROS.2016.7758092</a:t>
            </a:r>
            <a:endParaRPr lang="en-US" sz="1050" dirty="0"/>
          </a:p>
          <a:p>
            <a:pPr marL="0" indent="0">
              <a:spcAft>
                <a:spcPts val="400"/>
              </a:spcAft>
              <a:buNone/>
            </a:pPr>
            <a:r>
              <a:rPr lang="en-US" sz="1050" dirty="0">
                <a:solidFill>
                  <a:schemeClr val="tx1"/>
                </a:solidFill>
              </a:rPr>
              <a:t>[5] Ding, Z., et al. (2021). Learning to Walk on Uneven Terrain for Quadrupedal Robots using RL. IEEE Transactions on Robotics, 37(4), 1120–1134.</a:t>
            </a:r>
            <a:endParaRPr lang="en-US" sz="1050" dirty="0"/>
          </a:p>
          <a:p>
            <a:pPr marL="0" indent="0">
              <a:spcAft>
                <a:spcPts val="400"/>
              </a:spcAft>
              <a:buNone/>
            </a:pPr>
            <a:r>
              <a:rPr lang="en-US" sz="1050" dirty="0">
                <a:solidFill>
                  <a:schemeClr val="tx1"/>
                </a:solidFill>
              </a:rPr>
              <a:t>[6] Bellicoso, C. D., et al. (2018). Dynamic Locomotion Through Online Nonlinear MPC for Quadrupedal Robots. IEEE Robotics and Automation Letters, 3(4). DOI: 10.1109/LRA.2018.2848303</a:t>
            </a:r>
            <a:endParaRPr lang="en-US" sz="1050" dirty="0"/>
          </a:p>
          <a:p>
            <a:pPr marL="0" indent="0">
              <a:spcAft>
                <a:spcPts val="400"/>
              </a:spcAft>
              <a:buNone/>
            </a:pPr>
            <a:r>
              <a:rPr lang="en-US" sz="1050" dirty="0">
                <a:solidFill>
                  <a:schemeClr val="tx1"/>
                </a:solidFill>
              </a:rPr>
              <a:t>[7] Fehlmann, S., et al. (2023). Precision Agriculture Using Autonomous Ground Robots: A Review. Springer Precision Agriculture, 24(2), 520–549.</a:t>
            </a:r>
            <a:endParaRPr lang="en-US" sz="1050" dirty="0"/>
          </a:p>
          <a:p>
            <a:pPr marL="0" indent="0">
              <a:spcAft>
                <a:spcPts val="400"/>
              </a:spcAft>
              <a:buNone/>
            </a:pPr>
            <a:r>
              <a:rPr lang="en-US" sz="1050" dirty="0">
                <a:solidFill>
                  <a:schemeClr val="tx1"/>
                </a:solidFill>
              </a:rPr>
              <a:t>[8] Roldán, J. J., et al. (2018). Robots in Agriculture: State of the Art and Future Directions. Computers and Electronics in Agriculture, 146, 76–89.</a:t>
            </a:r>
            <a:endParaRPr lang="en-US" sz="1050" dirty="0"/>
          </a:p>
          <a:p>
            <a:pPr marL="0" indent="0">
              <a:spcAft>
                <a:spcPts val="400"/>
              </a:spcAft>
              <a:buNone/>
            </a:pPr>
            <a:r>
              <a:rPr lang="en-US" sz="1050" dirty="0">
                <a:solidFill>
                  <a:schemeClr val="tx1"/>
                </a:solidFill>
              </a:rPr>
              <a:t>[9] Bogue, R. (2016). Robots in Agriculture: State of the Art and Future Directions. Industrial Robot, 43(1), 1–6.</a:t>
            </a:r>
            <a:endParaRPr lang="en-US" sz="1050" dirty="0"/>
          </a:p>
          <a:p>
            <a:pPr marL="0" indent="0">
              <a:spcAft>
                <a:spcPts val="400"/>
              </a:spcAft>
              <a:buNone/>
            </a:pPr>
            <a:r>
              <a:rPr lang="en-US" sz="1050" dirty="0">
                <a:solidFill>
                  <a:schemeClr val="tx1"/>
                </a:solidFill>
              </a:rPr>
              <a:t>[10] Vasconez, J. P., et al. (2020). Human–Robot Interaction in Agriculture: A Survey and Review. Computers and Electronics in Agriculture, 175, 105500.</a:t>
            </a:r>
            <a:endParaRPr lang="en-US" sz="1050" dirty="0"/>
          </a:p>
          <a:p>
            <a:pPr marL="0" indent="0">
              <a:spcAft>
                <a:spcPts val="400"/>
              </a:spcAft>
              <a:buNone/>
            </a:pPr>
            <a:r>
              <a:rPr lang="en-US" sz="1050" dirty="0">
                <a:solidFill>
                  <a:schemeClr val="tx1"/>
                </a:solidFill>
              </a:rPr>
              <a:t>[11] Mohanty, S. P., et al. (2016). Using Deep Learning for Image-Based Plant Disease Detection. Frontiers in Plant Science, 7, 1419. DOI: 10.3389/fpls.2016.01419</a:t>
            </a:r>
            <a:endParaRPr lang="en-US" sz="1050" dirty="0"/>
          </a:p>
          <a:p>
            <a:pPr marL="0" indent="0">
              <a:spcAft>
                <a:spcPts val="400"/>
              </a:spcAft>
              <a:buNone/>
            </a:pPr>
            <a:r>
              <a:rPr lang="en-US" sz="1050" dirty="0">
                <a:solidFill>
                  <a:schemeClr val="tx1"/>
                </a:solidFill>
              </a:rPr>
              <a:t>[12] Ferentinos, K. P. (2018). Deep Learning Models for Plant Disease Detection and Diagnosis. Computers and Electronics in Agriculture, 145, 311–318.</a:t>
            </a:r>
            <a:endParaRPr lang="en-US" sz="1050" dirty="0"/>
          </a:p>
        </p:txBody>
      </p:sp>
      <p:sp>
        <p:nvSpPr>
          <p:cNvPr id="4" name="Text 2"/>
          <p:cNvSpPr txBox="1"/>
          <p:nvPr/>
        </p:nvSpPr>
        <p:spPr>
          <a:xfrm>
            <a:off x="6172200" y="1188720"/>
            <a:ext cx="5440680" cy="5120640"/>
          </a:xfrm>
          <a:prstGeom prst="rect">
            <a:avLst/>
          </a:prstGeom>
          <a:noFill/>
          <a:ln/>
        </p:spPr>
        <p:txBody>
          <a:bodyPr wrap="square" lIns="0" tIns="0" rIns="0" bIns="0" rtlCol="0" anchor="t"/>
          <a:lstStyle/>
          <a:p>
            <a:pPr marL="0" indent="0">
              <a:spcAft>
                <a:spcPts val="400"/>
              </a:spcAft>
              <a:buNone/>
            </a:pPr>
            <a:r>
              <a:rPr lang="en-US" sz="1050" dirty="0">
                <a:solidFill>
                  <a:schemeClr val="tx1"/>
                </a:solidFill>
              </a:rPr>
              <a:t>[13] Too, E. C., et al. (2019). A Comparative Study of Fine-Tuning Deep Learning Architectures for Plant Disease Identification. Computers and Electronics in Agriculture, 161, 272–279.</a:t>
            </a:r>
            <a:endParaRPr lang="en-US" sz="1050" dirty="0"/>
          </a:p>
          <a:p>
            <a:pPr marL="0" indent="0">
              <a:spcAft>
                <a:spcPts val="400"/>
              </a:spcAft>
              <a:buNone/>
            </a:pPr>
            <a:r>
              <a:rPr lang="en-US" sz="1050" dirty="0">
                <a:solidFill>
                  <a:schemeClr val="tx1"/>
                </a:solidFill>
              </a:rPr>
              <a:t>[14] Chen, J., et al. (2020). Using Deep Transfer Learning for Image-Based Plant Disease Identification on Embedded Devices. Computers and Electronics in Agriculture, 176, 105653.</a:t>
            </a:r>
            <a:endParaRPr lang="en-US" sz="1050" dirty="0"/>
          </a:p>
          <a:p>
            <a:pPr marL="0" indent="0">
              <a:spcAft>
                <a:spcPts val="400"/>
              </a:spcAft>
              <a:buNone/>
            </a:pPr>
            <a:r>
              <a:rPr lang="en-US" sz="1050" dirty="0">
                <a:solidFill>
                  <a:schemeClr val="tx1"/>
                </a:solidFill>
              </a:rPr>
              <a:t>[15] Saleem, M. H., et al. (2019). Plant Disease Detection and Classification by Deep Learning: A Review. Computers and Electronics in Agriculture, 164, 104902.</a:t>
            </a:r>
            <a:endParaRPr lang="en-US" sz="1050" dirty="0"/>
          </a:p>
          <a:p>
            <a:pPr marL="0" indent="0">
              <a:spcAft>
                <a:spcPts val="400"/>
              </a:spcAft>
              <a:buNone/>
            </a:pPr>
            <a:r>
              <a:rPr lang="en-US" sz="1050" dirty="0">
                <a:solidFill>
                  <a:schemeClr val="tx1"/>
                </a:solidFill>
              </a:rPr>
              <a:t>[16] Ray, P. P. (2017). Internet of Things for Smart Agriculture: Technologies, Practices and Future Direction. Journal of Ambient Intelligence and Smart Environments, 9(4), 395–420.</a:t>
            </a:r>
            <a:endParaRPr lang="en-US" sz="1050" dirty="0"/>
          </a:p>
          <a:p>
            <a:pPr marL="0" indent="0">
              <a:spcAft>
                <a:spcPts val="400"/>
              </a:spcAft>
              <a:buNone/>
            </a:pPr>
            <a:r>
              <a:rPr lang="en-US" sz="1050" dirty="0">
                <a:solidFill>
                  <a:schemeClr val="tx1"/>
                </a:solidFill>
              </a:rPr>
              <a:t>[17] Elijah, O., et al. (2018). An Overview of Internet of Things (IoT) and Data Analytics in Smart Agriculture. IEEE Internet of Things Journal, 5(5), 3758–3773.</a:t>
            </a:r>
            <a:endParaRPr lang="en-US" sz="1050" dirty="0"/>
          </a:p>
          <a:p>
            <a:pPr marL="0" indent="0">
              <a:spcAft>
                <a:spcPts val="400"/>
              </a:spcAft>
              <a:buNone/>
            </a:pPr>
            <a:r>
              <a:rPr lang="en-US" sz="1050" dirty="0">
                <a:solidFill>
                  <a:schemeClr val="tx1"/>
                </a:solidFill>
              </a:rPr>
              <a:t>[18] Bacco, M., et al. (2019). Smart Farming: Technologies, Applications and Challenges. Computers and Electronics in Agriculture, 164, 104908.</a:t>
            </a:r>
            <a:endParaRPr lang="en-US" sz="1050" dirty="0"/>
          </a:p>
          <a:p>
            <a:pPr marL="0" indent="0">
              <a:spcAft>
                <a:spcPts val="400"/>
              </a:spcAft>
              <a:buNone/>
            </a:pPr>
            <a:r>
              <a:rPr lang="en-US" sz="1050" dirty="0">
                <a:solidFill>
                  <a:schemeClr val="tx1"/>
                </a:solidFill>
              </a:rPr>
              <a:t>[19] S. Savary et al. (2019). The global burden of pathogens and pests on major food crops. Nature Ecology &amp; Evolution, 3(3), 430–439.</a:t>
            </a:r>
            <a:endParaRPr lang="en-US" sz="1050" dirty="0"/>
          </a:p>
          <a:p>
            <a:pPr marL="0" indent="0">
              <a:spcAft>
                <a:spcPts val="400"/>
              </a:spcAft>
              <a:buNone/>
            </a:pPr>
            <a:r>
              <a:rPr lang="en-US" sz="1050" dirty="0">
                <a:solidFill>
                  <a:schemeClr val="tx1"/>
                </a:solidFill>
              </a:rPr>
              <a:t>[20] D. P. Hughes and M. Salathé (2015). An open access repository of images on plant health to enable the development of mobile disease diagnostics. arXiv:1511.08060.</a:t>
            </a:r>
            <a:endParaRPr lang="en-US" sz="1050" dirty="0"/>
          </a:p>
          <a:p>
            <a:pPr marL="0" indent="0">
              <a:spcAft>
                <a:spcPts val="400"/>
              </a:spcAft>
              <a:buNone/>
            </a:pPr>
            <a:r>
              <a:rPr lang="en-US" sz="1050" dirty="0">
                <a:solidFill>
                  <a:schemeClr val="tx1"/>
                </a:solidFill>
              </a:rPr>
              <a:t>[21] M. Sandler et al. (2018). MobileNetV2: Inverted residuals and linear bottlenecks. Proc. IEEE/CVF CVPR, 4510–4520.</a:t>
            </a:r>
            <a:endParaRPr lang="en-US" sz="1050" dirty="0"/>
          </a:p>
          <a:p>
            <a:pPr marL="0" indent="0">
              <a:spcAft>
                <a:spcPts val="400"/>
              </a:spcAft>
              <a:buNone/>
            </a:pPr>
            <a:r>
              <a:rPr lang="en-US" sz="1050" dirty="0">
                <a:solidFill>
                  <a:schemeClr val="tx1"/>
                </a:solidFill>
              </a:rPr>
              <a:t>[22] E. Todorov, T. Erez and Y. Tassa (2012). MuJoCo: A physics engine for model-based control. Proc. IEEE/RSJ IROS, 5026–5033.</a:t>
            </a:r>
            <a:endParaRPr lang="en-US" sz="1050" dirty="0"/>
          </a:p>
          <a:p>
            <a:pPr marL="0" indent="0">
              <a:spcAft>
                <a:spcPts val="400"/>
              </a:spcAft>
              <a:buNone/>
            </a:pPr>
            <a:r>
              <a:rPr lang="en-US" sz="1050" dirty="0">
                <a:solidFill>
                  <a:schemeClr val="tx1"/>
                </a:solidFill>
              </a:rPr>
              <a:t>[23] D. M. Woebbecke et al. (1995). Color indices for weed identification under various soil, residue, and lighting conditions. Trans. ASAE, 38(1), 259–269.</a:t>
            </a:r>
            <a:endParaRPr lang="en-US" sz="1050" dirty="0"/>
          </a:p>
          <a:p>
            <a:pPr marL="0" indent="0">
              <a:spcAft>
                <a:spcPts val="400"/>
              </a:spcAft>
              <a:buNone/>
            </a:pPr>
            <a:r>
              <a:rPr lang="en-US" sz="1050" dirty="0">
                <a:solidFill>
                  <a:schemeClr val="tx1"/>
                </a:solidFill>
              </a:rPr>
              <a:t>[24] KDY0523 (2018). SpotMicro – robot dog. Thingiverse 3445283, CC-BY.</a:t>
            </a:r>
            <a:endParaRPr lang="en-US" sz="1050" dirty="0"/>
          </a:p>
        </p:txBody>
      </p:sp>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3" name="Text 0"/>
          <p:cNvSpPr txBox="1"/>
          <p:nvPr/>
        </p:nvSpPr>
        <p:spPr>
          <a:xfrm>
            <a:off x="640080" y="2011680"/>
            <a:ext cx="5852160" cy="1188720"/>
          </a:xfrm>
          <a:prstGeom prst="rect">
            <a:avLst/>
          </a:prstGeom>
          <a:noFill/>
          <a:ln/>
        </p:spPr>
        <p:txBody>
          <a:bodyPr wrap="square" lIns="0" tIns="0" rIns="0" bIns="0" rtlCol="0" anchor="t"/>
          <a:lstStyle/>
          <a:p>
            <a:pPr marL="0" indent="0">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p>
        </p:txBody>
      </p:sp>
      <p:sp>
        <p:nvSpPr>
          <p:cNvPr id="4" name="Text 1"/>
          <p:cNvSpPr txBox="1"/>
          <p:nvPr/>
        </p:nvSpPr>
        <p:spPr>
          <a:xfrm>
            <a:off x="640080" y="3246120"/>
            <a:ext cx="5852160" cy="548640"/>
          </a:xfrm>
          <a:prstGeom prst="rect">
            <a:avLst/>
          </a:prstGeom>
          <a:noFill/>
          <a:ln/>
        </p:spPr>
        <p:txBody>
          <a:bodyPr wrap="square" lIns="0" tIns="0" rIns="0" bIns="0" rtlCol="0" anchor="t"/>
          <a:lstStyle/>
          <a:p>
            <a:pPr marL="0" indent="0">
              <a:buNone/>
            </a:pPr>
            <a:r>
              <a:rPr lang="en-US" sz="2200" dirty="0">
                <a:solidFill>
                  <a:schemeClr val="accent2"/>
                </a:solidFill>
              </a:rPr>
              <a:t>Questions and live demonstration</a:t>
            </a:r>
            <a:endParaRPr lang="en-US" sz="2200" dirty="0"/>
          </a:p>
        </p:txBody>
      </p:sp>
      <p:sp>
        <p:nvSpPr>
          <p:cNvPr id="5" name="Text 2"/>
          <p:cNvSpPr txBox="1"/>
          <p:nvPr/>
        </p:nvSpPr>
        <p:spPr>
          <a:xfrm>
            <a:off x="640080" y="4937760"/>
            <a:ext cx="5852160" cy="822960"/>
          </a:xfrm>
          <a:prstGeom prst="rect">
            <a:avLst/>
          </a:prstGeom>
          <a:noFill/>
          <a:ln/>
        </p:spPr>
        <p:txBody>
          <a:bodyPr wrap="square" lIns="0" tIns="0" rIns="0" bIns="0" rtlCol="0" anchor="t"/>
          <a:lstStyle/>
          <a:p>
            <a:pPr marL="0" indent="0">
              <a:lnSpc>
                <a:spcPct val="120000"/>
              </a:lnSpc>
              <a:buNone/>
            </a:pPr>
            <a:r>
              <a:rPr lang="en-US" sz="1500" dirty="0">
                <a:solidFill>
                  <a:schemeClr val="bg2"/>
                </a:solidFill>
              </a:rPr>
              <a:t>Adithya Sankar Menon  ·  Siddhesh Pushkraj Shinde  ·  Rachit Gupta</a:t>
            </a:r>
            <a:endParaRPr lang="en-US" sz="1500" dirty="0"/>
          </a:p>
          <a:p>
            <a:pPr marL="0" indent="0">
              <a:lnSpc>
                <a:spcPct val="120000"/>
              </a:lnSpc>
              <a:buNone/>
            </a:pPr>
            <a:r>
              <a:rPr lang="en-US" sz="1500" dirty="0">
                <a:solidFill>
                  <a:schemeClr val="bg2"/>
                </a:solidFill>
              </a:rPr>
              <a:t>Guide: Dr. Lakshmanan K</a:t>
            </a:r>
            <a:endParaRPr lang="en-US" sz="1500" dirty="0"/>
          </a:p>
        </p:txBody>
      </p:sp>
      <p:pic>
        <p:nvPicPr>
          <p:cNvPr id="7" name="hero-photo" descr="The assembled robot standing outdoors">
            <a:extLst>
              <a:ext uri="{FF2B5EF4-FFF2-40B4-BE49-F238E27FC236}">
                <a16:creationId xmlns:a16="http://schemas.microsoft.com/office/drawing/2014/main" id="{61033907-7277-54C2-89DC-8D25B5C31A9D}"/>
              </a:ext>
            </a:extLst>
          </p:cNvPr>
          <p:cNvPicPr>
            <a:picLocks noChangeAspect="1"/>
          </p:cNvPicPr>
          <p:nvPr/>
        </p:nvPicPr>
        <p:blipFill>
          <a:blip r:embed="rId3"/>
          <a:srcRect/>
          <a:stretch/>
        </p:blipFill>
        <p:spPr>
          <a:xfrm>
            <a:off x="6444641" y="1600200"/>
            <a:ext cx="5496985" cy="3811044"/>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Literature Review, Papers 1–6</a:t>
            </a:r>
            <a:endParaRPr lang="en-US" sz="3000" dirty="0"/>
          </a:p>
        </p:txBody>
      </p:sp>
      <p:graphicFrame>
        <p:nvGraphicFramePr>
          <p:cNvPr id="45" name="table-308"/>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4956048"/>
        </p:xfrm>
        <a:graphic>
          <a:graphicData uri="http://schemas.openxmlformats.org/drawingml/2006/table">
            <a:tbl>
              <a:tblPr/>
              <a:tblGrid>
                <a:gridCol w="4114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347472">
                <a:tc>
                  <a:txBody>
                    <a:bodyPr/>
                    <a:lstStyle/>
                    <a:p>
                      <a:pPr marL="0" indent="0">
                        <a:buNone/>
                      </a:pPr>
                      <a:r>
                        <a:rPr lang="en-US" sz="1100" b="1" dirty="0">
                          <a:solidFill>
                            <a:schemeClr val="bg1"/>
                          </a:solidFill>
                        </a:rPr>
                        <a:t>#</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Authors and year</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Title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Key contribution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Research gap</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68096">
                <a:tc>
                  <a:txBody>
                    <a:bodyPr/>
                    <a:lstStyle/>
                    <a:p>
                      <a:pPr marL="0" indent="0">
                        <a:buNone/>
                      </a:pPr>
                      <a:r>
                        <a:rPr lang="en-US" sz="1100" dirty="0">
                          <a:solidFill>
                            <a:schemeClr val="tx1"/>
                          </a:solidFill>
                        </a:rPr>
                        <a:t>1</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Bledt et al. (2018)</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MIT Cheetah 3: Design and Control of a Robust, Dynamic Quadruped Robot</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Designed high-torque density proprioceptive actuators and Model Predictive Control (MPC) for dynamic walking over rough terrain without vision.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High cost (~$50k+), complex custom planetary gearing, no environmental/agricultural sensing payload.</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768096">
                <a:tc>
                  <a:txBody>
                    <a:bodyPr/>
                    <a:lstStyle/>
                    <a:p>
                      <a:pPr marL="0" indent="0">
                        <a:buNone/>
                      </a:pPr>
                      <a:r>
                        <a:rPr lang="en-US" sz="1100" dirty="0">
                          <a:solidFill>
                            <a:schemeClr val="tx1"/>
                          </a:solidFill>
                        </a:rPr>
                        <a:t>2</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Kau et al. (2019)</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Stanford Doggo: An Open-Source, Quasi-Direct-Drive Quadruped</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Developed an open-source 3D-printed quadruped platform using quasi-direct drive brushless motors for dynamic bounding.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Optimized purely for acrobatic jumps/speed; lacks on-board compute for perception and has &lt;10 min battery life.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68096">
                <a:tc>
                  <a:txBody>
                    <a:bodyPr/>
                    <a:lstStyle/>
                    <a:p>
                      <a:pPr marL="0" indent="0">
                        <a:buNone/>
                      </a:pPr>
                      <a:r>
                        <a:rPr lang="en-US" sz="1100" dirty="0">
                          <a:solidFill>
                            <a:schemeClr val="tx1"/>
                          </a:solidFill>
                        </a:rPr>
                        <a:t>3</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Katz et al. (2019)</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Mini Cheetah: A Hardware Design for Extremity Locomotion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Modular 3-DOF leg design using low-cost backdrivable BLDC motors enabling agile omnidirectional gaits.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Focuses strictly on mechanical agility in laboratory environments; no autonomous navigation or edge AI pipeline.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768096">
                <a:tc>
                  <a:txBody>
                    <a:bodyPr/>
                    <a:lstStyle/>
                    <a:p>
                      <a:pPr marL="0" indent="0">
                        <a:buNone/>
                      </a:pPr>
                      <a:r>
                        <a:rPr lang="en-US" sz="1100" dirty="0">
                          <a:solidFill>
                            <a:schemeClr val="tx1"/>
                          </a:solidFill>
                        </a:rPr>
                        <a:t>4</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Hutter et al. (2016)</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ANYmal - A Unique Quadruped Robot for Autonomous Operation in Harsh Environments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Industrial-grade quadruped with series elastic actuators (SEAs) and IP67 ruggedized body for outdoor inspection.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Prohibitively expensive ($100k+), heavy industrial form-factor unsuitable for smallholder precision farming.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768096">
                <a:tc>
                  <a:txBody>
                    <a:bodyPr/>
                    <a:lstStyle/>
                    <a:p>
                      <a:pPr marL="0" indent="0">
                        <a:buNone/>
                      </a:pPr>
                      <a:r>
                        <a:rPr lang="en-US" sz="1100" dirty="0">
                          <a:solidFill>
                            <a:schemeClr val="tx1"/>
                          </a:solidFill>
                        </a:rPr>
                        <a:t>5</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Ding et al. (2021)</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Learning to Walk on Uneven Terrain for Quadrupedal Robots using Reinforcement Learning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Trained neural network locomotion policies in simulation (Isaac Gym) with robust sim-to-real transfer over rugged slopes.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High computational training overhead; policy does not integrate multi-sensor agronomic payloads or path tracking.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768096">
                <a:tc>
                  <a:txBody>
                    <a:bodyPr/>
                    <a:lstStyle/>
                    <a:p>
                      <a:pPr marL="0" indent="0">
                        <a:buNone/>
                      </a:pPr>
                      <a:r>
                        <a:rPr lang="en-US" sz="1100" dirty="0">
                          <a:solidFill>
                            <a:schemeClr val="tx1"/>
                          </a:solidFill>
                        </a:rPr>
                        <a:t>6</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Bellicoso et al. (2018)</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Dynamic Locomotion Through Online Nonlinear Model Predictive Control for Quadrupedal Robots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Real-time ZMP and CoM trajectory optimization enabling adaptive crawl and trot gaits over unmodeled obstacles.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Requires high-end x86 computer boards; difficult to run concurrently with edge vision models on low-power platforms.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Literature Review, Papers 7–12</a:t>
            </a:r>
            <a:endParaRPr lang="en-US" sz="3000" dirty="0"/>
          </a:p>
        </p:txBody>
      </p:sp>
      <p:graphicFrame>
        <p:nvGraphicFramePr>
          <p:cNvPr id="46" name="table-309"/>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4956048"/>
        </p:xfrm>
        <a:graphic>
          <a:graphicData uri="http://schemas.openxmlformats.org/drawingml/2006/table">
            <a:tbl>
              <a:tblPr/>
              <a:tblGrid>
                <a:gridCol w="4114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347472">
                <a:tc>
                  <a:txBody>
                    <a:bodyPr/>
                    <a:lstStyle/>
                    <a:p>
                      <a:pPr marL="0" indent="0">
                        <a:buNone/>
                      </a:pPr>
                      <a:r>
                        <a:rPr lang="en-US" sz="1100" b="1" dirty="0">
                          <a:solidFill>
                            <a:schemeClr val="bg1"/>
                          </a:solidFill>
                        </a:rPr>
                        <a:t>#</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Authors and year</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Title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Key contribution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Research gap</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68096">
                <a:tc>
                  <a:txBody>
                    <a:bodyPr/>
                    <a:lstStyle/>
                    <a:p>
                      <a:pPr marL="0" indent="0">
                        <a:buNone/>
                      </a:pPr>
                      <a:r>
                        <a:rPr lang="en-US" sz="1100" dirty="0">
                          <a:solidFill>
                            <a:schemeClr val="tx1"/>
                          </a:solidFill>
                        </a:rPr>
                        <a:t>7</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Fehlmann et al. (2023)</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Precision Agriculture Using Autonomous Ground Robots: A Review</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Systematic review of wheeled and tracked agricultural rovers for weed control, phenotyping, and soil sampling.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Identifies severe mobility failure of wheeled rovers in wet mud, soft soil, and high-crop canopy furrows.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768096">
                <a:tc>
                  <a:txBody>
                    <a:bodyPr/>
                    <a:lstStyle/>
                    <a:p>
                      <a:pPr marL="0" indent="0">
                        <a:buNone/>
                      </a:pPr>
                      <a:r>
                        <a:rPr lang="en-US" sz="1100" dirty="0">
                          <a:solidFill>
                            <a:schemeClr val="tx1"/>
                          </a:solidFill>
                        </a:rPr>
                        <a:t>8</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Roldán et al. (2018)</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Mini-UAVs and Mobile Robots for Precision Agriculture: A Review of Multi-Robot Systems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Analyzed complementary roles of aerial drones (macro-surveys) and ground robots (micro-inspection).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Highlighted drone limitations: 20-min flight time, inability to inspect leaf undersides, and blind spots beneath crop canopies.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68096">
                <a:tc>
                  <a:txBody>
                    <a:bodyPr/>
                    <a:lstStyle/>
                    <a:p>
                      <a:pPr marL="0" indent="0">
                        <a:buNone/>
                      </a:pPr>
                      <a:r>
                        <a:rPr lang="en-US" sz="1100" dirty="0">
                          <a:solidFill>
                            <a:schemeClr val="tx1"/>
                          </a:solidFill>
                        </a:rPr>
                        <a:t>9</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Bogue, R. (2016)</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Robots in Agriculture: State of the Art and Future Directions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Surveyed commercial adoption of agricultural robotics, highlighting high ROI in crop health monitoring.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Commercial units are bulky, heavy, cause soil compaction, and require flat structured greenhouse tracks.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768096">
                <a:tc>
                  <a:txBody>
                    <a:bodyPr/>
                    <a:lstStyle/>
                    <a:p>
                      <a:pPr marL="0" indent="0">
                        <a:buNone/>
                      </a:pPr>
                      <a:r>
                        <a:rPr lang="en-US" sz="1100" dirty="0">
                          <a:solidFill>
                            <a:schemeClr val="tx1"/>
                          </a:solidFill>
                        </a:rPr>
                        <a:t>10</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Vasconez et al. (2020)</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Human–Robot Interaction in Agriculture: A Survey and Review</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Investigated telemetry, UX dashboards, and safety mechanisms for farmer-robot interfaces in open fields.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Found most agricultural robotic interfaces are academic prototypes lacking real-time edge telemetry and alert maps.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768096">
                <a:tc>
                  <a:txBody>
                    <a:bodyPr/>
                    <a:lstStyle/>
                    <a:p>
                      <a:pPr marL="0" indent="0">
                        <a:buNone/>
                      </a:pPr>
                      <a:r>
                        <a:rPr lang="en-US" sz="1100" dirty="0">
                          <a:solidFill>
                            <a:schemeClr val="tx1"/>
                          </a:solidFill>
                        </a:rPr>
                        <a:t>11</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Mohanty et al. (2016)</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Using Deep Learning for Image-Based Plant Disease Detection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Trained AlexNet and GoogLeNet on 54,306 images across 26 diseases with 99.35% classification accuracy.</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Tested only on static laboratory-controlled leaf images with uniform backgrounds; lacks edge device deployment.</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768096">
                <a:tc>
                  <a:txBody>
                    <a:bodyPr/>
                    <a:lstStyle/>
                    <a:p>
                      <a:pPr marL="0" indent="0">
                        <a:buNone/>
                      </a:pPr>
                      <a:r>
                        <a:rPr lang="en-US" sz="1100" dirty="0">
                          <a:solidFill>
                            <a:schemeClr val="tx1"/>
                          </a:solidFill>
                        </a:rPr>
                        <a:t>12</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Ferentinos, K. P. (2018)</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Deep Learning Models for Plant Disease Detection and Diagnosis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Evaluated VGG, ResNet, and AlexNet on 87,848 leaf images with real-world noise variations (99.5% accuracy).</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High parameter count (VGG/ResNet) causes severe latency and memory bottlenecks on embedded single-board computers.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292608"/>
            <a:ext cx="9784080" cy="731520"/>
          </a:xfrm>
          <a:prstGeom prst="rect">
            <a:avLst/>
          </a:prstGeom>
          <a:noFill/>
          <a:ln/>
        </p:spPr>
        <p:txBody>
          <a:bodyPr wrap="square" lIns="0" tIns="0" rIns="0" bIns="0" rtlCol="0" anchor="ctr"/>
          <a:lstStyle/>
          <a:p>
            <a:pPr marL="0" indent="0" algn="l">
              <a:buNone/>
            </a:pPr>
            <a:r>
              <a:rPr lang="en-US" sz="3000" b="1" dirty="0">
                <a:solidFill>
                  <a:schemeClr val="tx2"/>
                </a:solidFill>
              </a:rPr>
              <a:t>Literature Review, Papers 13–18</a:t>
            </a:r>
            <a:endParaRPr lang="en-US" sz="3000" dirty="0"/>
          </a:p>
        </p:txBody>
      </p:sp>
      <p:graphicFrame>
        <p:nvGraphicFramePr>
          <p:cNvPr id="47" name="table-31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4956048"/>
        </p:xfrm>
        <a:graphic>
          <a:graphicData uri="http://schemas.openxmlformats.org/drawingml/2006/table">
            <a:tbl>
              <a:tblPr/>
              <a:tblGrid>
                <a:gridCol w="4114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347472">
                <a:tc>
                  <a:txBody>
                    <a:bodyPr/>
                    <a:lstStyle/>
                    <a:p>
                      <a:pPr marL="0" indent="0">
                        <a:buNone/>
                      </a:pPr>
                      <a:r>
                        <a:rPr lang="en-US" sz="1100" b="1" dirty="0">
                          <a:solidFill>
                            <a:schemeClr val="bg1"/>
                          </a:solidFill>
                        </a:rPr>
                        <a:t>#</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Authors and year</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Title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Key contribution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Research gap</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68096">
                <a:tc>
                  <a:txBody>
                    <a:bodyPr/>
                    <a:lstStyle/>
                    <a:p>
                      <a:pPr marL="0" indent="0">
                        <a:buNone/>
                      </a:pPr>
                      <a:r>
                        <a:rPr lang="en-US" sz="1100" dirty="0">
                          <a:solidFill>
                            <a:schemeClr val="tx1"/>
                          </a:solidFill>
                        </a:rPr>
                        <a:t>13</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Too et al. (2019)</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A Comparative Study of Fine-Tuning Deep Learning Architectures for Plant Disease Identification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Benchmarked MobileNetV2, DenseNet-121, and InceptionV3; proved MobileNetV2 achieves 97.4% accuracy with 10× fewer FLOPs.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Did not perform hardware-specific quantization (TensorRT / ONNX) or test real-time video stream ingestion.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768096">
                <a:tc>
                  <a:txBody>
                    <a:bodyPr/>
                    <a:lstStyle/>
                    <a:p>
                      <a:pPr marL="0" indent="0">
                        <a:buNone/>
                      </a:pPr>
                      <a:r>
                        <a:rPr lang="en-US" sz="1100" dirty="0">
                          <a:solidFill>
                            <a:schemeClr val="tx1"/>
                          </a:solidFill>
                        </a:rPr>
                        <a:t>14</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Chen et al. (2020)</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Using Deep Transfer Learning for Image-Based Plant Disease Identification on Embedded Devices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Deployed lightweight CNN on Raspberry Pi 3B+ using INT8 quantization, achieving 12 FPS at 92.1% accuracy.</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Insufficient FPS for continuous mobile robot navigation; no integration with robotic gait or sensor fusion.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68096">
                <a:tc>
                  <a:txBody>
                    <a:bodyPr/>
                    <a:lstStyle/>
                    <a:p>
                      <a:pPr marL="0" indent="0">
                        <a:buNone/>
                      </a:pPr>
                      <a:r>
                        <a:rPr lang="en-US" sz="1100" dirty="0">
                          <a:solidFill>
                            <a:schemeClr val="tx1"/>
                          </a:solidFill>
                        </a:rPr>
                        <a:t>15</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Saleem et al. (2019)</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Plant Disease Detection and Classification by Deep Learning: A Review</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Comprehensive meta-analysis of deep learning architectures, dataset biases, and real-time field challenges.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Concluded that field-ready solutions require mobile ground robots that bring cameras within 0.5m of plant leaves.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768096">
                <a:tc>
                  <a:txBody>
                    <a:bodyPr/>
                    <a:lstStyle/>
                    <a:p>
                      <a:pPr marL="0" indent="0">
                        <a:buNone/>
                      </a:pPr>
                      <a:r>
                        <a:rPr lang="en-US" sz="1100" dirty="0">
                          <a:solidFill>
                            <a:schemeClr val="tx1"/>
                          </a:solidFill>
                        </a:rPr>
                        <a:t>16</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Ray, P. P. (2017)</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Internet of Things for Smart Agriculture: Technologies, Practices and Future Direction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Proposed layered IoT architecture for soil moisture, microclimate, and particulate monitoring in precision farming.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Relied exclusively on stationary sensor nodes (motes), creating spatial coverage gaps across large farm tracts.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768096">
                <a:tc>
                  <a:txBody>
                    <a:bodyPr/>
                    <a:lstStyle/>
                    <a:p>
                      <a:pPr marL="0" indent="0">
                        <a:buNone/>
                      </a:pPr>
                      <a:r>
                        <a:rPr lang="en-US" sz="1100" dirty="0">
                          <a:solidFill>
                            <a:schemeClr val="tx1"/>
                          </a:solidFill>
                        </a:rPr>
                        <a:t>17</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Elijah et al. (2018)</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An Overview of Internet of Things (IoT) and Data Analytics in Smart Agriculture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Investigated wireless sensor networks (WSNs) and cloud data pipelines for environmental anomaly detection.</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tc>
                  <a:txBody>
                    <a:bodyPr/>
                    <a:lstStyle/>
                    <a:p>
                      <a:pPr marL="0" indent="0">
                        <a:buNone/>
                      </a:pPr>
                      <a:r>
                        <a:rPr lang="en-US" sz="1100" dirty="0">
                          <a:solidFill>
                            <a:schemeClr val="tx1"/>
                          </a:solidFill>
                        </a:rPr>
                        <a:t>High infrastructure cost of deploying hundreds of stationary nodes; vulnerable to field vandalism and weather damage.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768096">
                <a:tc>
                  <a:txBody>
                    <a:bodyPr/>
                    <a:lstStyle/>
                    <a:p>
                      <a:pPr marL="0" indent="0">
                        <a:buNone/>
                      </a:pPr>
                      <a:r>
                        <a:rPr lang="en-US" sz="1100" dirty="0">
                          <a:solidFill>
                            <a:schemeClr val="tx1"/>
                          </a:solidFill>
                        </a:rPr>
                        <a:t>18</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Bacco et al. (2019)</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Smart Farming: Technologies, Applications and Challenges in Precision Agriculture</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Explored multi-sensor data fusion (temperature, humidity, organic gases, optical imagery) for soil health profiling.</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Lacked mobile autonomous platforms to transport multi-sensor payloads dynamically throughout crop rows.</a:t>
                      </a:r>
                      <a:endParaRPr lang="en-US" sz="1100" dirty="0"/>
                    </a:p>
                  </a:txBody>
                  <a:tcPr marL="76200" marR="76200" marT="50800" marB="50800">
                    <a:lnL w="9525" cap="flat" cmpd="sng" algn="ctr">
                      <a:solidFill>
                        <a:srgbClr val="D3DED0"/>
                      </a:solidFill>
                      <a:prstDash val="solid"/>
                      <a:round/>
                      <a:headEnd type="none" w="med" len="med"/>
                      <a:tailEnd type="none" w="med" len="med"/>
                    </a:lnL>
                    <a:lnR w="9525" cap="flat" cmpd="sng" algn="ctr">
                      <a:solidFill>
                        <a:srgbClr val="D3DED0"/>
                      </a:solidFill>
                      <a:prstDash val="solid"/>
                      <a:round/>
                      <a:headEnd type="none" w="med" len="med"/>
                      <a:tailEnd type="none" w="med" len="med"/>
                    </a:lnR>
                    <a:lnT w="9525" cap="flat" cmpd="sng" algn="ctr">
                      <a:solidFill>
                        <a:srgbClr val="D3DED0"/>
                      </a:solidFill>
                      <a:prstDash val="solid"/>
                      <a:round/>
                      <a:headEnd type="none" w="med" len="med"/>
                      <a:tailEnd type="none" w="med" len="med"/>
                    </a:lnT>
                    <a:lnB w="9525" cap="flat" cmpd="sng" algn="ctr">
                      <a:solidFill>
                        <a:srgbClr val="D3DED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01400" y="6419088"/>
            <a:ext cx="59436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46</a:t>
            </a:fld>
            <a:endParaRPr lang="en-US"/>
          </a:p>
        </p:txBody>
      </p:sp>
    </p:spTree>
  </p:cSld>
  <p:clrMapOvr>
    <a:masterClrMapping/>
  </p:clrMapOvr>
</p:sld>
</file>

<file path=ppt/theme/theme1.xml><?xml version="1.0" encoding="utf-8"?>
<a:theme xmlns:a="http://schemas.openxmlformats.org/drawingml/2006/main" name="AgriBot Field">
  <a:themeElements>
    <a:clrScheme name="AgriBot Field">
      <a:dk1>
        <a:srgbClr val="1B2620"/>
      </a:dk1>
      <a:lt1>
        <a:srgbClr val="FFFFFF"/>
      </a:lt1>
      <a:dk2>
        <a:srgbClr val="173F2A"/>
      </a:dk2>
      <a:lt2>
        <a:srgbClr val="EEF4EC"/>
      </a:lt2>
      <a:accent1>
        <a:srgbClr val="2F7D46"/>
      </a:accent1>
      <a:accent2>
        <a:srgbClr val="8DC63F"/>
      </a:accent2>
      <a:accent3>
        <a:srgbClr val="C98A0B"/>
      </a:accent3>
      <a:accent4>
        <a:srgbClr val="B3261E"/>
      </a:accent4>
      <a:accent5>
        <a:srgbClr val="2B6F8E"/>
      </a:accent5>
      <a:accent6>
        <a:srgbClr val="6B7768"/>
      </a:accent6>
      <a:hlink>
        <a:srgbClr val="2B6F8E"/>
      </a:hlink>
      <a:folHlink>
        <a:srgbClr val="6B7768"/>
      </a:folHlink>
    </a:clrScheme>
    <a:fontScheme name="AgriBot Fie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7063</Words>
  <Application>Microsoft Office PowerPoint</Application>
  <PresentationFormat>Widescreen</PresentationFormat>
  <Paragraphs>824</Paragraphs>
  <Slides>46</Slides>
  <Notes>46</Notes>
  <HiddenSlides>0</HiddenSlides>
  <MMClips>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vt:lpstr>
      <vt:lpstr>AgriBot Field</vt:lpstr>
      <vt:lpstr>PowerPoint Presentation</vt:lpstr>
      <vt:lpstr>How This Review Is Organised</vt:lpstr>
      <vt:lpstr>Domain and Problem</vt:lpstr>
      <vt:lpstr>Crop Disease Is Costly, and Often Seen Too Late</vt:lpstr>
      <vt:lpstr>Which Platform Can Monitor Between Crop Rows?</vt:lpstr>
      <vt:lpstr>What 18 Papers Tell Us</vt:lpstr>
      <vt:lpstr>Research Gaps and How This Project Answers Them</vt:lpstr>
      <vt:lpstr>Objectives and Scope</vt:lpstr>
      <vt:lpstr>Methodology and Design</vt:lpstr>
      <vt:lpstr>Methodology: Analyse, Revise, Build, Validate</vt:lpstr>
      <vt:lpstr>Key Technical Decisions Since Review III</vt:lpstr>
      <vt:lpstr>System Architecture</vt:lpstr>
      <vt:lpstr>Data Flow: From Sensor to Tagged Diagnosis</vt:lpstr>
      <vt:lpstr>Sensor Node Hardware</vt:lpstr>
      <vt:lpstr>Firmware Algorithms</vt:lpstr>
      <vt:lpstr>Gated Leaf-Disease Classification</vt:lpstr>
      <vt:lpstr>Locomotion Design: Kinematics, Gait, Centre of Mass</vt:lpstr>
      <vt:lpstr>Simulation Model in MuJoCo</vt:lpstr>
      <vt:lpstr>Technology Stack</vt:lpstr>
      <vt:lpstr>Completion and Integration</vt:lpstr>
      <vt:lpstr>Scope Delivered</vt:lpstr>
      <vt:lpstr>The Assembled Robot</vt:lpstr>
      <vt:lpstr>Integrated Dashboard</vt:lpstr>
      <vt:lpstr>Stable Operation over Wi-Fi</vt:lpstr>
      <vt:lpstr>Live Demonstration</vt:lpstr>
      <vt:lpstr>Testing and Results</vt:lpstr>
      <vt:lpstr>Bench Validation of the Hardware</vt:lpstr>
      <vt:lpstr>Classifier Validation: The Gate Prevents False Diagnoses</vt:lpstr>
      <vt:lpstr>Live Scans Outdoors with the Robot's Camera</vt:lpstr>
      <vt:lpstr>Actuation Trials on the Physical Robot</vt:lpstr>
      <vt:lpstr>Simulated Autonomous Field Survey</vt:lpstr>
      <vt:lpstr>Gait Stability and the Servo Speed Limit</vt:lpstr>
      <vt:lpstr>Outcome Against Review III Expectations</vt:lpstr>
      <vt:lpstr>Innovation and Relevance</vt:lpstr>
      <vt:lpstr>Contributions</vt:lpstr>
      <vt:lpstr>Cost and Feasibility</vt:lpstr>
      <vt:lpstr>Ethical and Responsible Use</vt:lpstr>
      <vt:lpstr>Practical Applicability</vt:lpstr>
      <vt:lpstr>Limitations</vt:lpstr>
      <vt:lpstr>Future Work</vt:lpstr>
      <vt:lpstr>Conclusion</vt:lpstr>
      <vt:lpstr>References</vt:lpstr>
      <vt:lpstr>PowerPoint Presentation</vt:lpstr>
      <vt:lpstr>Literature Review, Papers 1–6</vt:lpstr>
      <vt:lpstr>Literature Review, Papers 7–12</vt:lpstr>
      <vt:lpstr>Literature Review, Papers 13–18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Precision Agriculture Monitoring Quadruped Robot Dog - Final Review</dc:title>
  <dc:subject>PptxGenJS Presentation</dc:subject>
  <dc:creator>Adithya Sankar Menon</dc:creator>
  <cp:lastModifiedBy>Adithya SM</cp:lastModifiedBy>
  <cp:revision>8</cp:revision>
  <dcterms:created xsi:type="dcterms:W3CDTF">2026-10-21T04:03:34Z</dcterms:created>
  <dcterms:modified xsi:type="dcterms:W3CDTF">2026-10-21T04:12:27Z</dcterms:modified>
</cp:coreProperties>
</file>