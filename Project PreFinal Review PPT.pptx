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summary: the robot platform is printed, the sensing payload is built and working end to end, and locomotion is validated in a physics simulator. The live demo follows the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gap: monitoring at crop level needs close-range sensing, and the platforms that can get there are either expensive or struggle on farm terrain. The FAO figure is the motivation for early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objectives, each of which maps to a demonstrable module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about the changes and the reasons. The scope was narrowed to what could be built and tested in the time available; locomotion is validated in simulation and continues as an MVP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data path left to right: the sensor node posts JSON every five seconds, the camera streams MJPEG, the laptop runs the dashboard, the logger and the classifier. All three sit on the laptop's Wi-Fi hotspot.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chassis is SpotMicro adapted for our payload; geometry was measured from the printed parts. The sensor node is already mounted on the printed top cover, shown in the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XIAO ESP32-S3 on its expansion board: two Grove I2C sensors live now, three more with firmware complete and wiring pending. Point out the divider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is a decision that came from testing. Two of them, the missing-sensor detection and the Wi-Fi diagnostics, fixed real faults found on the 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dashboard live after this slide. Each card has a good / moderate / high band; every reading is logged to CSV; any phone on the hotspot can view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model alone has no 'not a leaf' answer: pointed at the room it said Citrus Greening with 82-90 % confidence. The leaf check runs first and rejects those frames. Demonstrate both cases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measured on the bench, not modelled. The breath and finger tests are the ones to repeat live in front of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scratch in MuJoCo after Gazebo would not hold a stance. The robot is built from measured dimensions and its servos are capped at MG996R stall torque, so if it walks here, it is not because of unrealistic motors.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survey ran without a fall. The TVOC peak sits 0.2 m from the true source because the SGP30 takes about 2.5 s to respond while the robot keeps walking; a real effect worth discussing.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findings that change the physical build. First, the centre-of-mass offset: without correcting it the robot fell in all 24 gait settings. Second, MG996R torque sets a speed ceiling of about 0.18 m/s.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these before the panel asks. Each one is also listed in the repository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on the left is firmware-ready or a direct continuation; the deliverables on the right have fixed deadlines.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Everything here is in the public GitHub repository, with run instructions.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Carried over from Review III. Summarise the gap: no low-cost legged platform combines in-field environmental sensing with plant-disease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what is demonstrable today, then move to the live demo: dashboard, breath test, room scan rejected, leaf scan diagnosed, and the simulation.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ith\AppData\Local\Temp\claude\C--Users-adith-Downloads-Final-Year-Proj-New\54bf8999-fba9-4874-a934-ec659e917494\scratchpad\deck\img\v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01168"/>
            <a:ext cx="1572768" cy="5207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adith\AppData\Local\Temp\claude\C--Users-adith-Downloads-Final-Year-Proj-New\54bf8999-fba9-4874-a934-ec659e917494\scratchpad\deck\img\vit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01168"/>
            <a:ext cx="1572768" cy="520761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692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Agriculture Monitoring Quadruped Robot Dog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640080" y="2852928"/>
            <a:ext cx="338328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4B4FD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285292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  —  PRE-FINAL REVIEW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12-DOF printed quadruped with a distributed field-sensing payload: an ESP32-S3 sensor node, an ESP32-CAM camera node and leaf-disease classification on the laptop, with locomotion validated in MuJoCo physics simulation.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6400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Adithya Sankar Menon (23BRS1079)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Siddhesh Pushkraj Shinde (23BCE5048)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Rachit Gupta (23BCE1658)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Guide: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Lakshmanan K (54758)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67665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monitoring relies on manual scouting or drones; neither gives close-range, multi-parameter readings at crop level.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Wheeled and tracked rovers struggle in mud, soft soil and the narrow furrows between planted rows.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Disease is often noticed only once it is visible across the field, when treatment is costly.</a:t>
            </a:r>
            <a:endParaRPr lang="en-US" sz="17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7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agricultural robots remain too expensive for most small and medium farms.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7955280" y="1874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0" y="224028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20–40 %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15468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global crop production is lost to plant pests and diseases every year (FAO).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" y="174650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Mobility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2148840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low-cost 3D-printed 12-DOF quadruped whose gait is validated in physics simulation against real servo torque limits.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199632" y="160020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746504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Sensing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2148840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Close-range gas (TVOC, eCO₂), dust, temperature and distance sensing carried on the chassis.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41248" y="400507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Plant-health AI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4407408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Camera-based leaf-disease classification that first checks whether a leaf is in view at all.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199632" y="3858768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0" y="4005072"/>
            <a:ext cx="4946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4407408"/>
            <a:ext cx="494690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wireless dashboard that logs every reading and tags each leaf image with the air conditions at capture time.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Revision Since Review III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sensing payload moved off the Jetson onto two ESP32 nodes; locomotion moved to a physics simulator plus an MVP build.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57400"/>
          <a:ext cx="10927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94760"/>
                <a:gridCol w="43891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Review III plan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Built now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Reason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Jetson Orin Nano on the robot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XIAO ESP32-S3 + ESP32-CAM nodes; inference on the laptop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fall risks an expensive board; MG996R torque margin is thin; inference needs no onboard GPU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IMX219 CSI camera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ESP32-CAM (OV3660), Wi-Fi MJPEG stream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ESP32-S3 has no MIPI-CSI camera interface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ROS 2 + MQTT on board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Flask dashboard over the laptop hotspot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Fewer moving parts; every device on one local network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Gazebo dynamics model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MuJoCo physics simulation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Gazebo stance never stabilised; MuJoCo walks and reports metrics headless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Walking trials on hardware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Simulation results now; servo MVP next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Torque analysis showed walking needs CoM-centred footholds first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554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CBE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node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2103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XIAO ESP32-S3 + expansion board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SGP30 gas · I²C 0x58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MCP9808 temp · I²C 0x18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PPD42 dust · D0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HC-SR04 × 2 · D6–D9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OLED, buzzer, button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379976" y="1554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4F5FB"/>
          </a:solidFill>
          <a:ln w="12700">
            <a:solidFill>
              <a:srgbClr val="C9CBE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62856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Laptop  ·  192.168.137.1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62856" y="2103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hotspot, 2.4 GHz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dashboard :5000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CSV log of every reading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MobileNetV2 + leaf check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relay to all viewers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19872" y="1554480"/>
            <a:ext cx="342900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9CB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302752" y="1682496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node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302752" y="2103120"/>
            <a:ext cx="3063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ESP32-CAM, OV3660 sensor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MJPEG video on :81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photo on :80/capture</a:t>
            </a:r>
            <a:endParaRPr lang="en-US" sz="125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Registers itself at boot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069080" y="2971800"/>
            <a:ext cx="310896" cy="0"/>
          </a:xfrm>
          <a:prstGeom prst="line">
            <a:avLst/>
          </a:prstGeom>
          <a:noFill/>
          <a:ln w="25400">
            <a:solidFill>
              <a:srgbClr val="4B4FD1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 flipH="1">
            <a:off x="7808976" y="2971800"/>
            <a:ext cx="310896" cy="0"/>
          </a:xfrm>
          <a:prstGeom prst="line">
            <a:avLst/>
          </a:prstGeom>
          <a:noFill/>
          <a:ln w="25400">
            <a:solidFill>
              <a:srgbClr val="4B4FD1"/>
            </a:solidFill>
            <a:prstDash val="solid"/>
            <a:tailEnd type="triangle"/>
          </a:ln>
        </p:spPr>
      </p:sp>
      <p:sp>
        <p:nvSpPr>
          <p:cNvPr id="15" name="Text 12"/>
          <p:cNvSpPr txBox="1"/>
          <p:nvPr/>
        </p:nvSpPr>
        <p:spPr>
          <a:xfrm>
            <a:off x="640080" y="4498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every 5 s  →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119872" y="4498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←  MJPEG video, ~16–20 fps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40080" y="4983480"/>
            <a:ext cx="1090879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C9CBE8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868680" y="498348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 </a:t>
            </a:r>
            <a:pPr indent="0" marL="0"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SpotMicro-based printed chassis carrying both nodes · 12 × MG996R servos (stand-and-step MVP) · gait and torque limits validated in MuJoCo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6172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phone on the hotspot can open the dashboard at http://192.168.137.1:5000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Mechanical Build — Printed Chassis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51206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 parts printed and verified; base design SpotMicro (KDY0523, CC-BY), adapted for our payload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~700 g PLA+ structure, TPU foot pads · printing cost ₹5,200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Geometry measured from the prints: hip spacing 140 × 78 mm, femur 111 mm, tibia 125 mm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team-designed parts: top cover, sensor deck, PPD42 and SGP30 brackets</a:t>
            </a:r>
            <a:endParaRPr lang="en-US" sz="15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node now mounted on the printed top cover (photo)</a:t>
            </a:r>
            <a:endParaRPr lang="en-US" sz="1500" dirty="0"/>
          </a:p>
        </p:txBody>
      </p:sp>
      <p:pic>
        <p:nvPicPr>
          <p:cNvPr id="5" name="Image 0" descr="contact_shee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2405960"/>
            <a:ext cx="3520440" cy="2731879"/>
          </a:xfrm>
          <a:prstGeom prst="rect">
            <a:avLst/>
          </a:prstGeom>
        </p:spPr>
      </p:pic>
      <p:pic>
        <p:nvPicPr>
          <p:cNvPr id="6" name="Image 1" descr="photo_chassi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5480" y="1983740"/>
            <a:ext cx="2011680" cy="357632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897880" y="61264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 set (left) · sensor node on the top cover (right)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 Node Hardware</a:t>
            </a:r>
            <a:endParaRPr lang="en-US" sz="3400" dirty="0"/>
          </a:p>
        </p:txBody>
      </p:sp>
      <p:pic>
        <p:nvPicPr>
          <p:cNvPr id="4" name="Image 0" descr="photo_o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05915"/>
            <a:ext cx="4206240" cy="23660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40416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readings and IP address on the node's OLED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452628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5 V sensor output reaches the 3.3 V XIAO through a 1 kΩ / 2 kΩ divider: 5 V → 3.3 V, and the PPD42's 4 V → 2.7 V.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66360" y="1600200"/>
          <a:ext cx="64008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828800"/>
                <a:gridCol w="1874520"/>
                <a:gridCol w="128016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Sensor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Measures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Interface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SGP30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TVOC, eCO₂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I²C 0x58, Grove IIC 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MCP9808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Temperature ±0.25 °C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I²C 0x18, Grove IIC 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OLED, buzzer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Local display, alerts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 board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7A4C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Live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PPD42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Particles &gt; 1 µm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D0 via divider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67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Wiring pending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HC-SR04 #1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Obstacle / row end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D6 trig, D7 echo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67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Wiring pending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HC-SR04 #2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Canopy height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D8 trig, D9 echo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9A67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Wiring pending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5166360" y="54864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Firmware for the three pending sensors is written, compiled and uploaded; they report as absent until connected.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Firmware Engineering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Interrupt-timed dust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PPD42 low-pulse time is accumulated in an interrupt over 30 s windows, so sampling never blocks the loop.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06824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07992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Missing-sensor detection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07992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unplugged PPD42 read as 1,114,001 particles and sounded the alarm. A line held low with no pulses is now reported as absent.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73568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74736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Temperature-corrected range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74736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Speed of sound from the MCP9808: c = 331.3 + 0.606·T m/s. Fixed 343 m/s is ~3 % off at 35 °C.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Crosstalk-free ultrasonics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two HC-SR04s fire alternately, never together, and each reading is median-of-3 filtered.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306824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07992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Wi-Fi diagnostics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07992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Reports why a connection fails. It traced a −78 dBm link to a missing antenna; fitted, the link reads −26 dBm.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973568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74736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Self-registering camera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174736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ESP32-CAM sends its photo and stream URLs to the dashboard at boot, so a new IP address needs no setup.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Dashboard</a:t>
            </a:r>
            <a:endParaRPr lang="en-US" sz="3400" dirty="0"/>
          </a:p>
        </p:txBody>
      </p:sp>
      <p:pic>
        <p:nvPicPr>
          <p:cNvPr id="4" name="Image 0" descr="dash_card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10927080" cy="3677224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440680"/>
            <a:ext cx="10927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bands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TVOC per the German UBA guideline (220 / 660 ppb), eCO₂ 1,000 / 2,000 ppm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  </a:t>
            </a:r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reading to a daily CSV · 10-minute charts · no internet needed at runtime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Leaf-Disease Classification</a:t>
            </a:r>
            <a:endParaRPr lang="en-US" sz="3400" dirty="0"/>
          </a:p>
        </p:txBody>
      </p:sp>
      <p:pic>
        <p:nvPicPr>
          <p:cNvPr id="4" name="Image 0" descr="dash_diagnosi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035040" cy="352914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21208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scan through the ESP32-CAM: Cedar Apple Rust, 96 %, leaf coverage 60 %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6995160" y="1600200"/>
            <a:ext cx="457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 Frame from the ESP32-CAM stream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 Leaf check: ≥ 12 % of pixels leaf-coloured (hue 38–165°, saturation ≥ 0.2)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 MobileNetV2, PlantVillage: 38 classes, 14 crops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 Below 50 % confidence → reported as uncertain</a:t>
            </a:r>
            <a:endParaRPr lang="en-US" sz="135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 Image saved, tagged with crop, condition, gas and temperature</a:t>
            </a:r>
            <a:endParaRPr lang="en-US" sz="13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95160" y="3977640"/>
          <a:ext cx="457200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2971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Input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Room, no leaf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Rejected (0–0.1 % coverage). Model alone: “Citrus Greening 82–90 %”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 PlantVillage leaves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All accepted (27–76 % coverage)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Inference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30–80 ms per image on the laptop CPU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— Hardware Validation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working module was exercised on the bench; all values are from those runs.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92708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5120640"/>
                <a:gridCol w="32004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shows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SGP30, breath test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eCO₂ 400 → 746 ppm, TVOC 0 → 210 ppb within 5 s, back to baseline after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Gas sensing responds and recovers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MCP9808, finger contact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31.5 → 35.0 °C in ~10 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Temperature tracks a real change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XIAO Wi-Fi link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−78 dBm with auth time-outs → −26 dBm with antenna fitted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Diagnostics found the fault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video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~0.5 → 16–20 fps after moving to MJPEG streaming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Smooth live view for scanning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Camera onboarding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Registered itself on a new IP at every boot tested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manual network setup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Leaf check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Room view rejected; 12 / 12 leaf images accepted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disease reported without a leaf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Dust sensor absent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Reported as absent instead of a false 1.1 M count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false alarms from wiring faults</a:t>
                      </a:r>
                      <a:endParaRPr lang="en-US" sz="12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MuJoCo Physics Simulation</a:t>
            </a:r>
            <a:endParaRPr lang="en-US" sz="3400" dirty="0"/>
          </a:p>
        </p:txBody>
      </p:sp>
      <p:pic>
        <p:nvPicPr>
          <p:cNvPr id="4" name="Image 0" descr="frame_03_diseased_patc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6812280" cy="383190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468112"/>
            <a:ext cx="6812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Surveying the middle row gap; the trail turns red over the diseased plants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7726680" y="1600200"/>
            <a:ext cx="3840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Robot from measured geometry: 140 × 78 mm hips, 111 / 125 mm legs, 1.35 kg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position servos capped at 1.0 N·m (MG996R stall 0.92–1.08 N·m)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 IK checked against MuJoCo's own kinematics: 1,280 targets, 0.0000 mm error</a:t>
            </a:r>
            <a:endParaRPr lang="en-US" sz="13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Mission: stand up, trot each row gap, detect row ends by ultrasonic, turn, log gas, dust and temperature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— Autonomous Field Survey</a:t>
            </a:r>
            <a:endParaRPr lang="en-US" sz="3400" dirty="0"/>
          </a:p>
        </p:txBody>
      </p:sp>
      <p:pic>
        <p:nvPicPr>
          <p:cNvPr id="4" name="Image 0" descr="survey_m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08760"/>
            <a:ext cx="7498080" cy="344911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0080" y="50292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Path coloured by measured TVOC; squares mark row ends detected by the front ultrasonic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8458200" y="160020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16.7 m · 129 s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458200" y="216712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3 row gaps surveyed, no falls</a:t>
            </a:r>
            <a:endParaRPr lang="en-US" sz="1200" dirty="0"/>
          </a:p>
        </p:txBody>
      </p:sp>
      <p:sp>
        <p:nvSpPr>
          <p:cNvPr id="8" name="Text 4"/>
          <p:cNvSpPr txBox="1"/>
          <p:nvPr/>
        </p:nvSpPr>
        <p:spPr>
          <a:xfrm>
            <a:off x="8458200" y="26974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3</a:t>
            </a:r>
            <a:endParaRPr lang="en-US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8458200" y="326440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ends detected by the front ultrasonic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379476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≤ 2.7°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8458200" y="43616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body tilt throughout; servos at their limit 1.3 % of the time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458200" y="48920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23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535 ppb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458200" y="545896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TVOC peak, 0.2 m from the true source (SGP30 lag)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Findings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4754880" cy="4343400"/>
          </a:xfrm>
          <a:prstGeom prst="roundRect">
            <a:avLst>
              <a:gd name="adj" fmla="val 1684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" y="1746504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Centre of mass sits 12 mm aft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2148840"/>
            <a:ext cx="4352544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four knees point backward, as on SpotMicro, so the leg mass hangs rearward.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 footholds centred on the body, the trot tipped backward within 1–3 s in all 24 gait settings tried.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Placing the feet around the measured centre of mass made it stable: 0.7° tilt trotting in place. The same correction applies to the physical robot.</a:t>
            </a:r>
            <a:endParaRPr lang="en-US" sz="1350" dirty="0"/>
          </a:p>
        </p:txBody>
      </p:sp>
      <p:pic>
        <p:nvPicPr>
          <p:cNvPr id="7" name="Image 0" descr="speed_swee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554480"/>
            <a:ext cx="5897880" cy="294894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4617720"/>
          <a:ext cx="58978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42519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Speed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Result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0.08–0.18 m/s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Tracks the command within 7 %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0.20 m/s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Servos at limit 68 % of the time, tilt 12°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0.22 m/s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Falls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Limitations</a:t>
            </a:r>
            <a:endParaRPr lang="en-US" sz="3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3063240"/>
                <a:gridCol w="3931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Limitation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Effect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How it is handled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Simulated gas, dust and temperature come from modelled fields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Simulation shows the method, not field data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Hardware sensors validated on the bench; field logging next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Classifier trained on lab photos (PlantVillage), 14 crops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Lower accuracy on real field images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Leaf check and 50 % confidence threshold; field-image fine-tuning as future work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SGP30 eCO₂ is estimated from VOCs; PPD42 counts particles, not PM2.5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Relative readings, not regulatory values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Used for trends and alerts, not absolute limits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Walking not yet shown on hardware; MG996R margins are thin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Locomotion evidence is simulation-only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Servo MVP before the final review, with the CoM correction ready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Dust and ultrasonic sensors not yet wired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part of today's live demo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Firmware complete and uploaded; wiring next</a:t>
                      </a:r>
                      <a:endParaRPr lang="en-US" sz="13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Remaining Work Before the Final Review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45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417320" y="16916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 the PPD42 and both HC-SR04s through their dividers; firmware already handles them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85292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898648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Grove Relay v1.3: act on readings (irrigation pump or gas alert), with a dashboard control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05993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417320" y="4105656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Servo MVP: stand, sit and step, using the simulator's gait and centre-of-mass correction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675120" y="1600200"/>
            <a:ext cx="4892040" cy="3520440"/>
          </a:xfrm>
          <a:prstGeom prst="roundRect">
            <a:avLst>
              <a:gd name="adj" fmla="val 20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76288" y="1746504"/>
            <a:ext cx="4489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76288" y="2148840"/>
            <a:ext cx="44897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report in the BCSE497J template, with similarity ≤ 15 %, by 21 October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Journal / conference paper submission with acknowledgement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panel review demonstration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640080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41248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Hardware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41248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Seeed XIAO ESP32-S3 + expansion board · ESP32-CAM (OV3660) + MB · SGP30, MCP9808, PPD42, HC-SR04 × 2 · 12 × MG996R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306824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07992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Firmware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07992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Arduino-ESP32 3.3 · Adafruit SGP30 · U8g2 · esp_http_server (MJPEG)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973568" y="1600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74736" y="1746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&amp; AI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174736" y="2148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Flask · PyTorch · Hugging Face Transformers · MobileNetV2 (PlantVillage)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41248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MuJoCo 3 · NumPy · Matplotlib · headless video and metrics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306824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07992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Mechanical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507992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SpotMicro base (CC-BY) · PLA+ / TPU · parametric Python generators for the custom parts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973568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74736" y="4032504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Collaboration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8174736" y="4434840"/>
            <a:ext cx="316382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+ GitHub: firmware, dashboard, simulation, print files and results in one repository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(18 Papers)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2377440"/>
                <a:gridCol w="1600200"/>
                <a:gridCol w="2743200"/>
                <a:gridCol w="2697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Authors &amp; 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Title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Contribution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Gap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Bledt et al. (2018)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MIT Cheetah 3: Design and Control of a Robust, Dynamic Quadruped Robot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IEEE/RSJ IROS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Designed high-torque density proprioceptive actuators and Model Predictive Control (MPC) for dynamic walking over rough terrain without vision.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cost (~$50k+), complex custom planetary gearing, no environmental/agricultural sensing payload.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Kau et al. (2019)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Stanford Doggo: An Open-Source, Quasi-Direct-Drive Quadruped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ICRA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Developed an open-source 3D-printed quadruped platform using quasi-direct drive brushless motors for dynamic bounding.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Optimized purely for acrobatic jumps/speed; lacks on-board compute for perception and has &lt;10 min battery life.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Katz et al. (2019)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Mini Cheetah: A Hardware Design for Extremity Locomotion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ICRA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Modular 3-DOF leg design using low-cost backdrivable BLDC motors enabling agile omnidirectional gaits.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Focuses strictly on mechanical agility in laboratory environments; no autonomous navigation or edge AI pipeline.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Hutter et al. (2016)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ANYmal - A Unique Quadruped Robot for Autonomous Operation in Harsh Environments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IEEE/RSJ IROS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Industrial-grade quadruped with series elastic actuators (SEAs) and IP67 ruggedized body for outdoor inspection.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Prohibitively expensive ($100k+), heavy industrial form-factor unsuitable for smallholder precision farming.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Ding et al. (2021)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Learning to Walk on Uneven Terrain for Quadrupedal Robots using Reinforcement Learning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Transactions on Robotics (T-RO)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Trained neural network locomotion policies in simulation (Isaac Gym) with robust sim-to-real transfer over rugged slopes.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computational training overhead; policy does not integrate multi-sensor agronomic payloads or path tracking.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(18 Papers)</a:t>
            </a:r>
            <a:endParaRPr lang="en-US" sz="3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2377440"/>
                <a:gridCol w="1600200"/>
                <a:gridCol w="2743200"/>
                <a:gridCol w="2697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Authors &amp; 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Title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Contribution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Gap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Bellicoso et al. (2018)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Dynamic Locomotion Through Online Nonlinear Model Predictive Control for Quadrupedal Robots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Robotics &amp; Automation Letters (RA-L)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Real-time ZMP and CoM trajectory optimization enabling adaptive crawl and trot gaits over unmodeled obstacles.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Requires high-end x86 computer boards; difficult to run concurrently with edge vision models on low-power platforms.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Fehlmann et al. (2023)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Precision Agriculture Using Autonomous Ground Robots: A Review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Springer Precision Agriculture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Systematic review of wheeled and tracked agricultural rovers for weed control, phenotyping, and soil sampling.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Identifies severe mobility failure of wheeled rovers in wet mud, soft soil, and high-crop canopy furrows.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Roldán et al. (2018)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Mini-UAVs and Mobile Robots for Precision Agriculture: A Review of Multi-Robot Systems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Analyzed complementary roles of aerial drones (macro-surveys) and ground robots (micro-inspection).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Highlighted drone limitations: 20-min flight time, inability to inspect leaf undersides, and blind spots beneath crop canopies.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9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Bogue, R. (2016)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Robots in Agriculture: State of the Art and Future Directions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Industrial Robot: An International Journal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Surveyed commercial adoption of agricultural robotics, highlighting high ROI in crop health monitoring.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Commercial units are bulky, heavy, cause soil compaction, and require flat structured greenhouse tracks.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Vasconez et al. (2020)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Human–Robot Interaction in Agriculture: A Survey and Review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Investigated telemetry, UX dashboards, and safety mechanisms for farmer-robot interfaces in open fields.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Found most agricultural robotic interfaces are academic prototypes lacking real-time edge telemetry and alert maps.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(18 Papers)</a:t>
            </a:r>
            <a:endParaRPr lang="en-US" sz="3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2377440"/>
                <a:gridCol w="1600200"/>
                <a:gridCol w="2743200"/>
                <a:gridCol w="2697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Authors &amp; 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Title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Contribution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Gap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11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Mohanty et al. (2016)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Using Deep Learning for Image-Based Plant Disease Detection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Frontiers in Plant Science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Trained AlexNet and GoogLeNet on 54,306 images across 26 diseases with 99.35% classification accuracy.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Tested only on static laboratory-controlled leaf images with uniform backgrounds; lacks edge device deployment.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Ferentinos, K. P. (2018)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Deep Learning Models for Plant Disease Detection and Diagnosis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Evaluated VGG, ResNet, and AlexNet on 87,848 leaf images with real-world noise variations (99.5% accuracy).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parameter count (VGG/ResNet) causes severe latency and memory bottlenecks on embedded single-board computers.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13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Too et al. (2019)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Comparative Study of Fine-Tuning Deep Learning Architectures for Plant Disease Identification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Benchmarked MobileNetV2, DenseNet-121, and InceptionV3; proved MobileNetV2 achieves 97.4% accuracy with 10× fewer FLOPs.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Did not perform hardware-specific quantization (TensorRT / ONNX) or test real-time video stream ingestion.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14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Chen et al. (2020)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Using Deep Transfer Learning for Image-Based Plant Disease Identification on Embedded Devices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Deployed lightweight CNN on Raspberry Pi 3B+ using INT8 quantization, achieving 12 FPS at 92.1% accuracy.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Insufficient FPS for continuous mobile robot navigation; no integration with robotic gait or sensor fusion.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Saleem et al. (2019)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Plant Disease Detection and Classification by Deep Learning: A Review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Comprehensive meta-analysis of deep learning architectures, dataset biases, and real-time field challenges.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Concluded that field-ready solutions require mobile ground robots that bring cameras within 0.5m of plant leaves.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Literature Review (18 Papers)</a:t>
            </a:r>
            <a:endParaRPr lang="en-US" sz="3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2014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17320"/>
                <a:gridCol w="2377440"/>
                <a:gridCol w="1600200"/>
                <a:gridCol w="2743200"/>
                <a:gridCol w="2697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#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Authors &amp; Year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Paper Title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Venue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Key Contribution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0B0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Research Gap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16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Ray, P. P. (2017)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Internet of Things for Smart Agriculture: Technologies, Practices and Future Direction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Journal of Ambient Intelligence and Smart Environments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Proposed layered IoT architecture for soil moisture, microclimate, and particulate monitoring in precision farming.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Relied exclusively on stationary sensor nodes (motes), creating spatial coverage gaps across large farm tracts.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17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Elijah et al. (2018)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Overview of Internet of Things (IoT) and Data Analytics in Smart Agriculture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IEEE Internet of Things Journal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Investigated wireless sensor networks (WSNs) and cloud data pipelines for environmental anomaly detection.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infrastructure cost of deploying hundreds of stationary nodes; vulnerable to field vandalism and weather damage.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18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Bacco et al. (2019)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Smart Farming: Technologies, Applications and Challenges in Precision Agriculture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Computers and Electronics in Agriculture (Elsevier)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Explored multi-sensor data fusion (temperature, humidity, organic gases, optical imagery) for soil health profiling.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E344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Lacked mobile autonomous platforms to transport multi-sensor payloads dynamically throughout crop rows.</a:t>
                      </a:r>
                      <a:endParaRPr lang="en-US" sz="10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3500" marR="63500" marT="38100" marB="38100" anchor="t">
                    <a:lnL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B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[1] Bledt, G., et al. (2018). MIT Cheetah 3: Design and Control of a Robust, Dynamic Quadruped Robot. IEEE/RSJ IROS. DOI: 10.1109/IROS.2018.8593885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[2] Kau, N., et al. (2019). Stanford Doggo: An Open-Source, Quasi-Direct-Drive Quadruped. IEEE ICRA. DOI: 10.1109/ICRA.2019.8794436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[3] Katz, B., et al. (2019). Mini Cheetah: A Hardware Design for Extremity Locomotion. IEEE ICRA. DOI: 10.1109/ICRA.2019.8793865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[4] Hutter, M., et al. (2016). ANYmal — A Unique Quadruped Robot for Autonomous Operation. IEEE/RSJ IROS. DOI: 10.1109/IROS.2016.7758092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[5] Ding, Z., et al. (2021). Learning to Walk on Uneven Terrain for Quadrupedal Robots using RL. IEEE Transactions on Robotics, 37(4), 1120–1134.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[6] Bellicoso, C. D., et al. (2018). Dynamic Locomotion Through Online Nonlinear MPC for Quadrupedal Robots. IEEE Robotics and Automation Letters, 3(4). DOI: 10.1109/LRA.2018.2848303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[7] Fehlmann, S., et al. (2023). Precision Agriculture Using Autonomous Ground Robots: A Review. Springer Precision Agriculture, 24(2), 520–549.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[8] Roldán, J. J., et al. (2018). Robots in Agriculture: State of the Art and Future Directions. Computers and Electronics in Agriculture, 146, 76–89.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[9] Bogue, R. (2016). Robots in Agriculture: State of the Art and Future Directions. Industrial Robot, 43(1), 1–6.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6217920" y="1463040"/>
            <a:ext cx="544068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[10] Vasconez, J. P., et al. (2020). Human–Robot Interaction in Agriculture: A Survey and Review. Computers and Electronics in Agriculture, 175, 105500.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[11] Mohanty, S. P., et al. (2016). Using Deep Learning for Image-Based Plant Disease Detection. Frontiers in Plant Science, 7, 1419. DOI: 10.3389/fpls.2016.01419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[12] Ferentinos, K. P. (2018). Deep Learning Models for Plant Disease Detection and Diagnosis. Computers and Electronics in Agriculture, 145, 311–318.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[13] Too, E. C., et al. (2019). A Comparative Study of Fine-Tuning Deep Learning Architectures for Plant Disease Identification. Computers and Electronics in Agriculture, 161, 272–279.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[14] Chen, J., et al. (2020). Using Deep Transfer Learning for Image-Based Plant Disease Identification on Embedded Devices. Computers and Electronics in Agriculture, 176, 105653.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[15] Saleem, M. H., et al. (2019). Plant Disease Detection and Classification by Deep Learning: A Review. Computers and Electronics in Agriculture, 164, 104902.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[16] Ray, P. P. (2017). Internet of Things for Smart Agriculture: Technologies, Practices and Future Direction. Journal of Ambient Intelligence and Smart Environments, 9(4), 395–420.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[17] Elijah, O., et al. (2018). An Overview of Internet of Things (IoT) and Data Analytics in Smart Agriculture. IEEE Internet of Things Journal, 5(5), 3758–3773.</a:t>
            </a:r>
            <a:endParaRPr lang="en-US" sz="9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95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[18] Bacco, M., et al. (2019). Smart Farming: Technologies, Applications and Challenges. Computers and Electronics in Agriculture, 164, 104908.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640080" y="45720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600200"/>
            <a:ext cx="10881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sensing payload works end to end: two wireless nodes, a live dashboard, logging, and leaf-disease classification that refuses to guess without a leaf.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Locomotion is validated in physics simulation with real servo limits: a full autonomous row survey without a fall.</a:t>
            </a:r>
            <a:endParaRPr lang="en-US" sz="16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2E34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Simulation produced two findings for the physical build: centre-of-mass-centred footholds, and a ~0.18 m/s speed ceiling for MG996R servos.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640080" y="4206240"/>
            <a:ext cx="10927080" cy="960120"/>
          </a:xfrm>
          <a:prstGeom prst="roundRect">
            <a:avLst>
              <a:gd name="adj" fmla="val 7619"/>
            </a:avLst>
          </a:prstGeom>
          <a:solidFill>
            <a:srgbClr val="F4F5FB"/>
          </a:solidFill>
          <a:ln w="12700">
            <a:solidFill>
              <a:srgbClr val="F4F5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420624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Repository  </a:t>
            </a:r>
            <a:pPr indent="0" marL="0">
              <a:buNone/>
            </a:pPr>
            <a:r>
              <a:rPr lang="en-US" sz="1500" dirty="0">
                <a:solidFill>
                  <a:srgbClr val="4B4F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github.com/AdithyaSM31/Precision-Agriculture-Monitoring-Quadruped-Robot-Dog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486400"/>
            <a:ext cx="10927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B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38251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Precision Agriculture Monitoring Quadruped Robot Dog - Pre-Final Review</dc:title>
  <dc:subject>PptxGenJS Presentation</dc:subject>
  <dc:creator>Adithya Sankar Menon</dc:creator>
  <cp:lastModifiedBy>Adithya Sankar Menon</cp:lastModifiedBy>
  <cp:revision>1</cp:revision>
  <dcterms:created xsi:type="dcterms:W3CDTF">2026-10-14T18:23:55Z</dcterms:created>
  <dcterms:modified xsi:type="dcterms:W3CDTF">2026-10-14T18:23:55Z</dcterms:modified>
</cp:coreProperties>
</file>